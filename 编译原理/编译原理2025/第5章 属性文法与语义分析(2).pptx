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496" r:id="rId3"/>
    <p:sldId id="571" r:id="rId5"/>
    <p:sldId id="573" r:id="rId6"/>
    <p:sldId id="574" r:id="rId7"/>
    <p:sldId id="575" r:id="rId8"/>
    <p:sldId id="576" r:id="rId9"/>
    <p:sldId id="577" r:id="rId10"/>
    <p:sldId id="578" r:id="rId11"/>
    <p:sldId id="499" r:id="rId12"/>
    <p:sldId id="501" r:id="rId13"/>
    <p:sldId id="500" r:id="rId14"/>
    <p:sldId id="550" r:id="rId15"/>
    <p:sldId id="551" r:id="rId16"/>
    <p:sldId id="570" r:id="rId17"/>
    <p:sldId id="552" r:id="rId18"/>
    <p:sldId id="554" r:id="rId19"/>
    <p:sldId id="555" r:id="rId20"/>
    <p:sldId id="556" r:id="rId21"/>
    <p:sldId id="557" r:id="rId22"/>
    <p:sldId id="580" r:id="rId23"/>
    <p:sldId id="579" r:id="rId24"/>
    <p:sldId id="497" r:id="rId25"/>
    <p:sldId id="498" r:id="rId26"/>
    <p:sldId id="522" r:id="rId27"/>
    <p:sldId id="524" r:id="rId28"/>
    <p:sldId id="572" r:id="rId29"/>
  </p:sldIdLst>
  <p:sldSz cx="9144000" cy="6858000" type="screen4x3"/>
  <p:notesSz cx="6858000" cy="9144000"/>
  <p:custShowLst>
    <p:custShow name="符号表条目" id="0">
      <p:sldLst>
        <p:sld r:id="rId25"/>
        <p:sld r:id="rId26"/>
        <p:sld r:id="rId27"/>
        <p:sld r:id="rId28"/>
        <p:sld r:id="rId5"/>
        <p:sld r:id="rId29"/>
        <p:sld r:id="rId6"/>
      </p:sldLst>
    </p:custShow>
  </p:custShowLst>
  <p:custDataLst>
    <p:tags r:id="rId3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6600"/>
    <a:srgbClr val="A50021"/>
    <a:srgbClr val="0033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howGuides="1">
      <p:cViewPr>
        <p:scale>
          <a:sx n="70" d="100"/>
          <a:sy n="70" d="100"/>
        </p:scale>
        <p:origin x="-336" y="-10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9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4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36867" name="Rectangle 2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>
            <a:solidFill>
              <a:schemeClr val="tx1">
                <a:alpha val="100000"/>
              </a:schemeClr>
            </a:solidFill>
          </a:ln>
        </p:spPr>
      </p:sp>
      <p:sp>
        <p:nvSpPr>
          <p:cNvPr id="36868" name="Rectangle 3"/>
          <p:cNvSpPr/>
          <p:nvPr>
            <p:ph type="body" idx="1"/>
          </p:nvPr>
        </p:nvSpPr>
        <p:spPr/>
        <p:txBody>
          <a:bodyPr wrap="square" lIns="92075" tIns="46038" rIns="92075" bIns="46038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099" name="组合 15"/>
          <p:cNvGrpSpPr/>
          <p:nvPr/>
        </p:nvGrpSpPr>
        <p:grpSpPr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2" name="任意多边形 16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任意多边形 18"/>
            <p:cNvSpPr/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任意多边形 19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23" name="日期占位符 2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页脚占位符 18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灯片编号占位符 2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>
                <a:solidFill>
                  <a:srgbClr val="FFFFFF"/>
                </a:solidFill>
              </a:rPr>
            </a:fld>
            <a:endParaRPr lang="en-US" altLang="zh-CN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 bwMode="white"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3636963" y="3005138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 bwMode="white"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 bwMode="white"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 bwMode="white"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 bwMode="white"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 bwMode="white"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任意多边形 15"/>
          <p:cNvSpPr/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直角三角形 16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燕尾形 19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燕尾形 20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3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3" name="任意多边形 12"/>
          <p:cNvSpPr/>
          <p:nvPr userDrawn="1"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任意多边形 11"/>
          <p:cNvSpPr/>
          <p:nvPr userDrawn="1"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081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lstStyle>
            <a:lvl1pPr algn="r">
              <a:defRPr sz="1000" b="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" name="直角三角形 2"/>
          <p:cNvSpPr/>
          <p:nvPr userDrawn="1">
            <p:custDataLst>
              <p:tags r:id="rId12"/>
            </p:custDataLst>
          </p:nvPr>
        </p:nvSpPr>
        <p:spPr bwMode="auto">
          <a:xfrm>
            <a:off x="-6350" y="5791200"/>
            <a:ext cx="3402013" cy="1081088"/>
          </a:xfrm>
          <a:prstGeom prst="rtTriangle">
            <a:avLst/>
          </a:prstGeom>
          <a:solidFill>
            <a:schemeClr val="accent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2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772400" cy="609600"/>
          </a:xfrm>
          <a:noFill/>
          <a:ln>
            <a:noFill/>
          </a:ln>
          <a:effectLst/>
          <a:sp3d prstMaterial="plastic"/>
        </p:spPr>
        <p:txBody>
          <a:bodyPr vert="horz" lIns="92075" tIns="46038" rIns="92075" bIns="46038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5.2 </a:t>
            </a:r>
            <a:r>
              <a:rPr kumimoji="0" lang="zh-CN" altLang="en-US" sz="4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符号表</a:t>
            </a: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1267" name="Text Box 5"/>
          <p:cNvSpPr txBox="1"/>
          <p:nvPr/>
        </p:nvSpPr>
        <p:spPr>
          <a:xfrm>
            <a:off x="533400" y="1066800"/>
            <a:ext cx="8153400" cy="410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符号表</a:t>
            </a:r>
            <a:r>
              <a:rPr lang="zh-CN" altLang="en-US" sz="2800" dirty="0">
                <a:latin typeface="Times New Roman" panose="02020603050405020304" pitchFamily="18" charset="0"/>
              </a:rPr>
              <a:t>记录源程序中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各种名字的属性和特征</a:t>
            </a:r>
            <a:r>
              <a:rPr lang="zh-CN" altLang="en-US" sz="2800" dirty="0">
                <a:latin typeface="Times New Roman" panose="02020603050405020304" pitchFamily="18" charset="0"/>
              </a:rPr>
              <a:t>。每当扫描器识别出一个名字，编译程序就查符号表，看它是否在其中。如果不在，则填入（名字），其它信息以后陆续填入。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        符号表中的信息在编译不同阶段都要用到：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语义分析中，用于语义检查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zh-CN" altLang="en-US" sz="2800" dirty="0">
                <a:latin typeface="Times New Roman" panose="02020603050405020304" pitchFamily="18" charset="0"/>
              </a:rPr>
              <a:t> 中间代码生成中，用于生成中间代码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zh-CN" altLang="en-US" sz="2800" dirty="0">
                <a:latin typeface="Times New Roman" panose="02020603050405020304" pitchFamily="18" charset="0"/>
              </a:rPr>
              <a:t> 目标代码生成阶段，用于地址分配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8434" name="Rectangle 2"/>
          <p:cNvSpPr>
            <a:spLocks noChangeArrowheads="1"/>
          </p:cNvSpPr>
          <p:nvPr/>
        </p:nvSpPr>
        <p:spPr bwMode="auto">
          <a:xfrm>
            <a:off x="227965" y="533400"/>
            <a:ext cx="8458835" cy="5029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/>
          <a:lstStyle/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符号表内容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Char char="–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名字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符号表中的内容可以包括：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标识符（</a:t>
            </a:r>
            <a:r>
              <a:rPr kumimoji="1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常量名、类型名、变量名、域名、函数名、过程名、标号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）、特殊符号（如算符）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等。其中标识符是最多的一类。为了处理方便，符号表可以按上述分类划分为几张子表，如变量名表、过程名表等。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Char char="–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跟名字有关的信息。如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类型、地址、作用域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等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8434" name="Rectangle 2"/>
          <p:cNvSpPr>
            <a:spLocks noChangeArrowheads="1"/>
          </p:cNvSpPr>
          <p:nvPr/>
        </p:nvSpPr>
        <p:spPr bwMode="auto">
          <a:xfrm>
            <a:off x="533400" y="533400"/>
            <a:ext cx="8153400" cy="5029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/>
            </a:pP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实现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Char char="–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线性表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散列表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等。便于编译程序进行快速、有效的查找、插入、删除、修改，是符号表设计的基本目标。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extBox 1"/>
          <p:cNvSpPr txBox="1"/>
          <p:nvPr/>
        </p:nvSpPr>
        <p:spPr>
          <a:xfrm>
            <a:off x="714375" y="571500"/>
            <a:ext cx="485298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</a:rPr>
              <a:t>符号表的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操作</a:t>
            </a:r>
            <a:r>
              <a:rPr lang="zh-CN" altLang="en-US" sz="3200" dirty="0">
                <a:latin typeface="Times New Roman" panose="02020603050405020304" pitchFamily="18" charset="0"/>
              </a:rPr>
              <a:t>大致为五类</a:t>
            </a:r>
            <a:r>
              <a:rPr lang="en-US" altLang="zh-CN" sz="3200" dirty="0">
                <a:latin typeface="Times New Roman" panose="02020603050405020304" pitchFamily="18" charset="0"/>
              </a:rPr>
              <a:t>: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pic>
        <p:nvPicPr>
          <p:cNvPr id="14339" name="Picture 2"/>
          <p:cNvPicPr>
            <a:picLocks noChangeAspect="1"/>
          </p:cNvPicPr>
          <p:nvPr/>
        </p:nvPicPr>
        <p:blipFill>
          <a:blip r:embed="rId1"/>
          <a:srcRect l="7031" t="50385" r="16406" b="18666"/>
          <a:stretch>
            <a:fillRect/>
          </a:stretch>
        </p:blipFill>
        <p:spPr>
          <a:xfrm>
            <a:off x="428625" y="1214438"/>
            <a:ext cx="8302625" cy="36433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2" name="Picture 2"/>
          <p:cNvPicPr>
            <a:picLocks noChangeAspect="1"/>
          </p:cNvPicPr>
          <p:nvPr/>
        </p:nvPicPr>
        <p:blipFill>
          <a:blip r:embed="rId1"/>
          <a:srcRect l="8594" t="25192" r="7031" b="28023"/>
          <a:stretch>
            <a:fillRect/>
          </a:stretch>
        </p:blipFill>
        <p:spPr>
          <a:xfrm>
            <a:off x="357188" y="571500"/>
            <a:ext cx="8428037" cy="507206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1"/>
          <p:cNvCxnSpPr/>
          <p:nvPr/>
        </p:nvCxnSpPr>
        <p:spPr>
          <a:xfrm>
            <a:off x="4328795" y="2846070"/>
            <a:ext cx="3094355" cy="0"/>
          </a:xfrm>
          <a:prstGeom prst="line">
            <a:avLst/>
          </a:prstGeom>
          <a:ln w="508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>
            <a:off x="3252470" y="3402330"/>
            <a:ext cx="5057775" cy="0"/>
          </a:xfrm>
          <a:prstGeom prst="line">
            <a:avLst/>
          </a:prstGeom>
          <a:ln w="508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>
            <a:off x="611505" y="3933190"/>
            <a:ext cx="3094355" cy="0"/>
          </a:xfrm>
          <a:prstGeom prst="line">
            <a:avLst/>
          </a:prstGeom>
          <a:ln w="508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86" name="Picture 2"/>
          <p:cNvPicPr>
            <a:picLocks noChangeAspect="1"/>
          </p:cNvPicPr>
          <p:nvPr/>
        </p:nvPicPr>
        <p:blipFill>
          <a:blip r:embed="rId1"/>
          <a:srcRect l="19531" t="27351" r="15625" b="22984"/>
          <a:stretch>
            <a:fillRect/>
          </a:stretch>
        </p:blipFill>
        <p:spPr>
          <a:xfrm>
            <a:off x="1357313" y="0"/>
            <a:ext cx="5929312" cy="4929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7" name="TextBox 2"/>
          <p:cNvSpPr txBox="1"/>
          <p:nvPr/>
        </p:nvSpPr>
        <p:spPr>
          <a:xfrm>
            <a:off x="1428750" y="5286375"/>
            <a:ext cx="677545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latin typeface="Times New Roman" panose="02020603050405020304" pitchFamily="18" charset="0"/>
              </a:rPr>
              <a:t>它适合于规定标识符长度的程序语言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10" name="Picture 2"/>
          <p:cNvPicPr>
            <a:picLocks noChangeAspect="1"/>
          </p:cNvPicPr>
          <p:nvPr/>
        </p:nvPicPr>
        <p:blipFill>
          <a:blip r:embed="rId1"/>
          <a:srcRect l="9375" t="14395" r="5469" b="60413"/>
          <a:stretch>
            <a:fillRect/>
          </a:stretch>
        </p:blipFill>
        <p:spPr>
          <a:xfrm>
            <a:off x="571500" y="0"/>
            <a:ext cx="7786688" cy="250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1" name="Picture 3"/>
          <p:cNvPicPr>
            <a:picLocks noChangeAspect="1"/>
          </p:cNvPicPr>
          <p:nvPr/>
        </p:nvPicPr>
        <p:blipFill>
          <a:blip r:embed="rId2"/>
          <a:srcRect l="10938" t="38484" r="3906" b="20490"/>
          <a:stretch>
            <a:fillRect/>
          </a:stretch>
        </p:blipFill>
        <p:spPr>
          <a:xfrm>
            <a:off x="714375" y="2643188"/>
            <a:ext cx="7786688" cy="407193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3275965" y="476885"/>
            <a:ext cx="3467100" cy="0"/>
          </a:xfrm>
          <a:prstGeom prst="line">
            <a:avLst/>
          </a:prstGeom>
          <a:ln w="508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>
            <p:custDataLst>
              <p:tags r:id="rId4"/>
            </p:custDataLst>
          </p:nvPr>
        </p:nvCxnSpPr>
        <p:spPr>
          <a:xfrm>
            <a:off x="714375" y="1485265"/>
            <a:ext cx="1419225" cy="0"/>
          </a:xfrm>
          <a:prstGeom prst="line">
            <a:avLst/>
          </a:prstGeom>
          <a:ln w="508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5"/>
            </p:custDataLst>
          </p:nvPr>
        </p:nvCxnSpPr>
        <p:spPr>
          <a:xfrm>
            <a:off x="683260" y="1917065"/>
            <a:ext cx="1835150" cy="0"/>
          </a:xfrm>
          <a:prstGeom prst="line">
            <a:avLst/>
          </a:prstGeom>
          <a:ln w="508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434" name="Picture 2"/>
          <p:cNvPicPr>
            <a:picLocks noChangeAspect="1"/>
          </p:cNvPicPr>
          <p:nvPr/>
        </p:nvPicPr>
        <p:blipFill>
          <a:blip r:embed="rId1"/>
          <a:srcRect l="9375" t="33829" r="7031" b="55376"/>
          <a:stretch>
            <a:fillRect/>
          </a:stretch>
        </p:blipFill>
        <p:spPr>
          <a:xfrm>
            <a:off x="642938" y="142875"/>
            <a:ext cx="7643812" cy="1071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5" name="Picture 2"/>
          <p:cNvPicPr>
            <a:picLocks noChangeAspect="1"/>
          </p:cNvPicPr>
          <p:nvPr/>
        </p:nvPicPr>
        <p:blipFill>
          <a:blip r:embed="rId1"/>
          <a:srcRect l="9375" t="44624" r="35156" b="51056"/>
          <a:stretch>
            <a:fillRect/>
          </a:stretch>
        </p:blipFill>
        <p:spPr>
          <a:xfrm>
            <a:off x="642938" y="1214438"/>
            <a:ext cx="5072062" cy="42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6" name="Picture 3"/>
          <p:cNvPicPr>
            <a:picLocks noChangeAspect="1"/>
          </p:cNvPicPr>
          <p:nvPr/>
        </p:nvPicPr>
        <p:blipFill>
          <a:blip r:embed="rId2"/>
          <a:srcRect l="5469" t="26247" r="4688" b="21928"/>
          <a:stretch>
            <a:fillRect/>
          </a:stretch>
        </p:blipFill>
        <p:spPr>
          <a:xfrm>
            <a:off x="500063" y="1643063"/>
            <a:ext cx="8215312" cy="51435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067810" y="678815"/>
            <a:ext cx="2325370" cy="0"/>
          </a:xfrm>
          <a:prstGeom prst="line">
            <a:avLst/>
          </a:prstGeom>
          <a:ln w="508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>
            <p:custDataLst>
              <p:tags r:id="rId4"/>
            </p:custDataLst>
          </p:nvPr>
        </p:nvCxnSpPr>
        <p:spPr>
          <a:xfrm>
            <a:off x="3996055" y="1160780"/>
            <a:ext cx="2560320" cy="0"/>
          </a:xfrm>
          <a:prstGeom prst="line">
            <a:avLst/>
          </a:prstGeom>
          <a:ln w="508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/>
          <p:nvPr/>
        </p:nvSpPr>
        <p:spPr>
          <a:xfrm>
            <a:off x="299720" y="914400"/>
            <a:ext cx="8545195" cy="524319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266700" algn="just" eaLnBrk="0" hangingPunct="0">
              <a:lnSpc>
                <a:spcPct val="12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程序设计语言范围的划分可以有两种不同的方式，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并列的和嵌套的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。例如，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Pascal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语言的过程定义可以是嵌套的，即一个过程内部可以再定义另一个过程；而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C/C++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语言的过程只能是并列的，即过程中不能再定义过程。但是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C/C++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允许程序块（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block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）嵌套，每个程序块的范围以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{ }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界定， 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{ }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内可以再嵌套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{ } 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indent="266700" algn="just" eaLnBrk="0" hangingPunct="0">
              <a:lnSpc>
                <a:spcPct val="120000"/>
              </a:lnSpc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   名字起作用的范围被称为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名字的作用域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。定义在并列的两个范围内的名字其作用域互不相干，但是定义在嵌套的两个范围内的名字，其作用域的问题就需要制定规则来限定，以使任何一个名字在任何范围内含义都是无二义的。规定一个名字在什么样的范围内应该表示什么意义的原则，被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名字的作用域规则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9" name="Rectangle 43"/>
          <p:cNvSpPr/>
          <p:nvPr/>
        </p:nvSpPr>
        <p:spPr>
          <a:xfrm>
            <a:off x="304800" y="334963"/>
            <a:ext cx="6934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dirty="0">
                <a:latin typeface="Times New Roman" panose="02020603050405020304" pitchFamily="18" charset="0"/>
              </a:rPr>
              <a:t>5.2.1</a:t>
            </a:r>
            <a:r>
              <a:rPr lang="en-US" altLang="zh-CN" sz="3600" dirty="0">
                <a:latin typeface="宋体" panose="0201060003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名字的作用域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/>
          <p:nvPr/>
        </p:nvSpPr>
        <p:spPr>
          <a:xfrm>
            <a:off x="149225" y="92710"/>
            <a:ext cx="8808720" cy="63881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 algn="just" eaLnBrk="0" hangingPunct="0">
              <a:lnSpc>
                <a:spcPct val="15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通用的程序设计语言，如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Pascal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C/C++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Ada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等均遵守下述两条原则：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indent="266700"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）静态作用域原则（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static-scope rule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）：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algn="just" eaLnBrk="0" hangingPunct="0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编译时就可以确定名字的作用域。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266700"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）最近嵌套原则（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most closely nested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）：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algn="just" eaLnBrk="0" hangingPunct="0">
              <a:lnSpc>
                <a:spcPct val="150000"/>
              </a:lnSpc>
              <a:spcBef>
                <a:spcPct val="4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①  程序块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中声明的各名字的作用域包括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；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 algn="just" eaLnBrk="0" hangingPunct="0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② 如果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中引用的名字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不在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中声明，那么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可能在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的某几个外围程序块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B’1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B’2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…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中声明。如果某个含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声明的程序块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B’i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比其它任何含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声明的程序块更接近被嵌套的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，则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中的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是那个在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B’i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中声明的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。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/>
          <p:nvPr/>
        </p:nvSpPr>
        <p:spPr>
          <a:xfrm>
            <a:off x="152400" y="381000"/>
            <a:ext cx="8789035" cy="59391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 algn="just" eaLnBrk="0" hangingPunct="0"/>
            <a:r>
              <a:rPr lang="zh-CN" altLang="en-US" sz="2000" dirty="0">
                <a:latin typeface="Times New Roman" panose="02020603050405020304" pitchFamily="18" charset="0"/>
              </a:rPr>
              <a:t>例：下述源程序说明了</a:t>
            </a:r>
            <a:r>
              <a:rPr lang="en-US" altLang="zh-CN" sz="2000" b="0" dirty="0">
                <a:latin typeface="Times New Roman" panose="02020603050405020304" pitchFamily="18" charset="0"/>
              </a:rPr>
              <a:t>C</a:t>
            </a:r>
            <a:r>
              <a:rPr lang="zh-CN" altLang="en-US" sz="2000" b="0" dirty="0">
                <a:latin typeface="Times New Roman" panose="02020603050405020304" pitchFamily="18" charset="0"/>
              </a:rPr>
              <a:t>的程序块符合上述作用域规则。</a:t>
            </a:r>
            <a:endParaRPr lang="zh-CN" altLang="en-US" sz="2000" b="0" dirty="0"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latin typeface="Times New Roman" panose="02020603050405020304" pitchFamily="18" charset="0"/>
              </a:rPr>
              <a:t>main( )</a:t>
            </a:r>
            <a:endParaRPr lang="en-US" altLang="zh-CN" sz="2000" b="0" dirty="0"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latin typeface="Times New Roman" panose="02020603050405020304" pitchFamily="18" charset="0"/>
              </a:rPr>
              <a:t>{  int 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0" dirty="0">
                <a:latin typeface="Times New Roman" panose="02020603050405020304" pitchFamily="18" charset="0"/>
              </a:rPr>
              <a:t>=0; int 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0" dirty="0">
                <a:latin typeface="Times New Roman" panose="02020603050405020304" pitchFamily="18" charset="0"/>
              </a:rPr>
              <a:t>=0;		/* </a:t>
            </a:r>
            <a:r>
              <a:rPr lang="zh-CN" altLang="en-US" sz="2000" b="0" dirty="0">
                <a:latin typeface="Times New Roman" panose="02020603050405020304" pitchFamily="18" charset="0"/>
              </a:rPr>
              <a:t>最外层，不妨定为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B0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层</a:t>
            </a:r>
            <a:r>
              <a:rPr lang="zh-CN" altLang="en-US" sz="2000" b="0" dirty="0">
                <a:latin typeface="Times New Roman" panose="02020603050405020304" pitchFamily="18" charset="0"/>
              </a:rPr>
              <a:t> *</a:t>
            </a:r>
            <a:r>
              <a:rPr lang="en-US" altLang="zh-CN" sz="2000" b="0" dirty="0"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latin typeface="Times New Roman" panose="02020603050405020304" pitchFamily="18" charset="0"/>
              </a:rPr>
              <a:t>   {  int 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0" dirty="0">
                <a:latin typeface="Times New Roman" panose="02020603050405020304" pitchFamily="18" charset="0"/>
              </a:rPr>
              <a:t>=1;		              /*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 B1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层</a:t>
            </a:r>
            <a:r>
              <a:rPr lang="zh-CN" altLang="en-US" sz="2000" b="0" dirty="0">
                <a:latin typeface="Times New Roman" panose="02020603050405020304" pitchFamily="18" charset="0"/>
              </a:rPr>
              <a:t>，被</a:t>
            </a:r>
            <a:r>
              <a:rPr lang="en-US" altLang="zh-CN" sz="2000" b="0" dirty="0">
                <a:latin typeface="Times New Roman" panose="02020603050405020304" pitchFamily="18" charset="0"/>
              </a:rPr>
              <a:t>B0</a:t>
            </a:r>
            <a:r>
              <a:rPr lang="zh-CN" altLang="en-US" sz="2000" b="0" dirty="0">
                <a:latin typeface="Times New Roman" panose="02020603050405020304" pitchFamily="18" charset="0"/>
              </a:rPr>
              <a:t>嵌套 *</a:t>
            </a:r>
            <a:r>
              <a:rPr lang="en-US" altLang="zh-CN" sz="2000" b="0" dirty="0"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latin typeface="Times New Roman" panose="02020603050405020304" pitchFamily="18" charset="0"/>
            </a:endParaRPr>
          </a:p>
          <a:p>
            <a:pPr indent="266700" algn="just" eaLnBrk="0" hangingPunct="0"/>
            <a:endParaRPr lang="en-US" altLang="zh-CN" sz="2000" b="0" dirty="0"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latin typeface="Times New Roman" panose="02020603050405020304" pitchFamily="18" charset="0"/>
              </a:rPr>
              <a:t>      </a:t>
            </a:r>
            <a:r>
              <a:rPr lang="en-US" altLang="zh-CN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{  int a=2;  int c=4;  int d=5; 	/* 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B2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层</a:t>
            </a:r>
            <a:r>
              <a:rPr lang="zh-CN" altLang="en-US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000" b="0" u="sng" dirty="0">
                <a:solidFill>
                  <a:srgbClr val="006600"/>
                </a:solidFill>
                <a:latin typeface="Times New Roman" panose="02020603050405020304" pitchFamily="18" charset="0"/>
              </a:rPr>
              <a:t>被</a:t>
            </a:r>
            <a:r>
              <a:rPr lang="en-US" altLang="zh-CN" sz="2000" b="0" u="sng" dirty="0">
                <a:solidFill>
                  <a:srgbClr val="006600"/>
                </a:solidFill>
                <a:latin typeface="Times New Roman" panose="02020603050405020304" pitchFamily="18" charset="0"/>
              </a:rPr>
              <a:t>B1</a:t>
            </a:r>
            <a:r>
              <a:rPr lang="zh-CN" altLang="en-US" sz="2000" b="0" u="sng" dirty="0">
                <a:solidFill>
                  <a:srgbClr val="006600"/>
                </a:solidFill>
                <a:latin typeface="Times New Roman" panose="02020603050405020304" pitchFamily="18" charset="0"/>
              </a:rPr>
              <a:t>嵌套</a:t>
            </a:r>
            <a:r>
              <a:rPr lang="zh-CN" altLang="en-US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 *</a:t>
            </a:r>
            <a:r>
              <a:rPr lang="en-US" altLang="zh-CN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          printf("%d %d\n"</a:t>
            </a:r>
            <a:r>
              <a:rPr lang="zh-CN" altLang="en-US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);		</a:t>
            </a:r>
            <a:endParaRPr lang="en-US" altLang="zh-CN" sz="2000" b="0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       }</a:t>
            </a:r>
            <a:endParaRPr lang="en-US" altLang="zh-CN" sz="2000" b="0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indent="266700" algn="just" eaLnBrk="0" hangingPunct="0"/>
            <a:endParaRPr lang="en-US" altLang="zh-CN" sz="2000" b="0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latin typeface="Times New Roman" panose="02020603050405020304" pitchFamily="18" charset="0"/>
              </a:rPr>
              <a:t>       </a:t>
            </a:r>
            <a:r>
              <a:rPr lang="en-US" altLang="zh-CN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{ int b=3;   	    /* 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B3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层</a:t>
            </a:r>
            <a:r>
              <a:rPr lang="zh-CN" altLang="en-US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，与</a:t>
            </a:r>
            <a:r>
              <a:rPr lang="en-US" altLang="zh-CN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B2</a:t>
            </a:r>
            <a:r>
              <a:rPr lang="zh-CN" altLang="en-US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并列，并列的名字作用域不交 *</a:t>
            </a:r>
            <a:r>
              <a:rPr lang="en-US" altLang="zh-CN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          printf("%d %d\n"</a:t>
            </a:r>
            <a:r>
              <a:rPr lang="zh-CN" altLang="en-US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b); 		</a:t>
            </a:r>
            <a:endParaRPr lang="en-US" altLang="zh-CN" sz="2000" b="0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solidFill>
                  <a:srgbClr val="006600"/>
                </a:solidFill>
                <a:latin typeface="Times New Roman" panose="02020603050405020304" pitchFamily="18" charset="0"/>
              </a:rPr>
              <a:t>       }</a:t>
            </a:r>
            <a:endParaRPr lang="en-US" altLang="zh-CN" sz="2000" b="0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indent="266700" algn="just" eaLnBrk="0" hangingPunct="0"/>
            <a:endParaRPr lang="en-US" altLang="zh-CN" sz="2000" b="0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latin typeface="Times New Roman" panose="02020603050405020304" pitchFamily="18" charset="0"/>
              </a:rPr>
              <a:t>       printf("%d %d\n"</a:t>
            </a:r>
            <a:r>
              <a:rPr lang="zh-CN" altLang="en-US" sz="2000" b="0" dirty="0">
                <a:latin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b="0" dirty="0">
                <a:latin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0" dirty="0">
                <a:latin typeface="Times New Roman" panose="02020603050405020304" pitchFamily="18" charset="0"/>
              </a:rPr>
              <a:t>);		</a:t>
            </a:r>
            <a:endParaRPr lang="en-US" altLang="zh-CN" sz="2000" b="0" dirty="0"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latin typeface="Times New Roman" panose="02020603050405020304" pitchFamily="18" charset="0"/>
              </a:rPr>
              <a:t>   }</a:t>
            </a:r>
            <a:endParaRPr lang="en-US" altLang="zh-CN" sz="2000" b="0" dirty="0"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latin typeface="Times New Roman" panose="02020603050405020304" pitchFamily="18" charset="0"/>
              </a:rPr>
              <a:t>    </a:t>
            </a:r>
            <a:endParaRPr lang="en-US" altLang="zh-CN" sz="2000" b="0" dirty="0"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latin typeface="Times New Roman" panose="02020603050405020304" pitchFamily="18" charset="0"/>
              </a:rPr>
              <a:t>    printf("%d %d\n"</a:t>
            </a:r>
            <a:r>
              <a:rPr lang="zh-CN" altLang="en-US" sz="2000" b="0" dirty="0">
                <a:latin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0" dirty="0">
                <a:latin typeface="Times New Roman" panose="02020603050405020304" pitchFamily="18" charset="0"/>
              </a:rPr>
              <a:t>); 		</a:t>
            </a:r>
            <a:endParaRPr lang="en-US" altLang="zh-CN" sz="2000" b="0" dirty="0">
              <a:latin typeface="Times New Roman" panose="02020603050405020304" pitchFamily="18" charset="0"/>
            </a:endParaRPr>
          </a:p>
          <a:p>
            <a:pPr indent="266700" algn="just" eaLnBrk="0" hangingPunct="0"/>
            <a:r>
              <a:rPr lang="en-US" altLang="zh-CN" sz="2000" b="0" dirty="0">
                <a:latin typeface="Times New Roman" panose="02020603050405020304" pitchFamily="18" charset="0"/>
              </a:rPr>
              <a:t>}</a:t>
            </a:r>
            <a:endParaRPr lang="en-US" altLang="zh-CN" sz="2000" b="0" dirty="0">
              <a:latin typeface="Times New Roman" panose="02020603050405020304" pitchFamily="18" charset="0"/>
            </a:endParaRPr>
          </a:p>
          <a:p>
            <a:pPr indent="266700" eaLnBrk="0" hangingPunct="0"/>
            <a:endParaRPr lang="en-US" altLang="zh-CN" sz="2000" b="0" dirty="0">
              <a:latin typeface="Times New Roman" panose="02020603050405020304" pitchFamily="18" charset="0"/>
            </a:endParaRPr>
          </a:p>
        </p:txBody>
      </p:sp>
      <p:grpSp>
        <p:nvGrpSpPr>
          <p:cNvPr id="21507" name="Group 3"/>
          <p:cNvGrpSpPr/>
          <p:nvPr/>
        </p:nvGrpSpPr>
        <p:grpSpPr>
          <a:xfrm>
            <a:off x="4343400" y="3657600"/>
            <a:ext cx="3810000" cy="2743200"/>
            <a:chOff x="-3" y="3280"/>
            <a:chExt cx="1906" cy="2310"/>
          </a:xfrm>
        </p:grpSpPr>
        <p:grpSp>
          <p:nvGrpSpPr>
            <p:cNvPr id="21508" name="Group 4"/>
            <p:cNvGrpSpPr/>
            <p:nvPr/>
          </p:nvGrpSpPr>
          <p:grpSpPr>
            <a:xfrm>
              <a:off x="0" y="3283"/>
              <a:ext cx="1900" cy="2304"/>
              <a:chOff x="0" y="3283"/>
              <a:chExt cx="1900" cy="2304"/>
            </a:xfrm>
          </p:grpSpPr>
          <p:grpSp>
            <p:nvGrpSpPr>
              <p:cNvPr id="21510" name="Group 5"/>
              <p:cNvGrpSpPr/>
              <p:nvPr/>
            </p:nvGrpSpPr>
            <p:grpSpPr>
              <a:xfrm>
                <a:off x="0" y="3283"/>
                <a:ext cx="950" cy="384"/>
                <a:chOff x="0" y="3283"/>
                <a:chExt cx="950" cy="384"/>
              </a:xfrm>
            </p:grpSpPr>
            <p:sp>
              <p:nvSpPr>
                <p:cNvPr id="21544" name="Rectangle 6"/>
                <p:cNvSpPr/>
                <p:nvPr/>
              </p:nvSpPr>
              <p:spPr>
                <a:xfrm>
                  <a:off x="43" y="3283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sz="2000" dirty="0">
                      <a:latin typeface="Times New Roman" panose="02020603050405020304" pitchFamily="18" charset="0"/>
                    </a:rPr>
                    <a:t>声  明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45" name="Rectangle 7"/>
                <p:cNvSpPr/>
                <p:nvPr/>
              </p:nvSpPr>
              <p:spPr>
                <a:xfrm>
                  <a:off x="0" y="3283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511" name="Group 8"/>
              <p:cNvGrpSpPr/>
              <p:nvPr/>
            </p:nvGrpSpPr>
            <p:grpSpPr>
              <a:xfrm>
                <a:off x="950" y="3283"/>
                <a:ext cx="950" cy="384"/>
                <a:chOff x="950" y="3283"/>
                <a:chExt cx="950" cy="384"/>
              </a:xfrm>
            </p:grpSpPr>
            <p:sp>
              <p:nvSpPr>
                <p:cNvPr id="21542" name="Rectangle 9"/>
                <p:cNvSpPr/>
                <p:nvPr/>
              </p:nvSpPr>
              <p:spPr>
                <a:xfrm>
                  <a:off x="993" y="3283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/>
                  <a:r>
                    <a:rPr lang="zh-CN" altLang="en-US" sz="2000" dirty="0">
                      <a:latin typeface="Times New Roman" panose="02020603050405020304" pitchFamily="18" charset="0"/>
                    </a:rPr>
                    <a:t>作用域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43" name="Rectangle 10"/>
                <p:cNvSpPr/>
                <p:nvPr/>
              </p:nvSpPr>
              <p:spPr>
                <a:xfrm>
                  <a:off x="950" y="3283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512" name="Group 11"/>
              <p:cNvGrpSpPr/>
              <p:nvPr/>
            </p:nvGrpSpPr>
            <p:grpSpPr>
              <a:xfrm>
                <a:off x="0" y="3667"/>
                <a:ext cx="950" cy="384"/>
                <a:chOff x="0" y="3667"/>
                <a:chExt cx="950" cy="384"/>
              </a:xfrm>
            </p:grpSpPr>
            <p:sp>
              <p:nvSpPr>
                <p:cNvPr id="21540" name="Rectangle 12"/>
                <p:cNvSpPr/>
                <p:nvPr/>
              </p:nvSpPr>
              <p:spPr>
                <a:xfrm>
                  <a:off x="43" y="3667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en-US" altLang="zh-CN" sz="2000" dirty="0">
                      <a:latin typeface="Times New Roman" panose="02020603050405020304" pitchFamily="18" charset="0"/>
                    </a:rPr>
                    <a:t> int a=0 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41" name="Rectangle 13"/>
                <p:cNvSpPr/>
                <p:nvPr/>
              </p:nvSpPr>
              <p:spPr>
                <a:xfrm>
                  <a:off x="0" y="3667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513" name="Group 14"/>
              <p:cNvGrpSpPr/>
              <p:nvPr/>
            </p:nvGrpSpPr>
            <p:grpSpPr>
              <a:xfrm>
                <a:off x="950" y="3667"/>
                <a:ext cx="950" cy="384"/>
                <a:chOff x="950" y="3667"/>
                <a:chExt cx="950" cy="384"/>
              </a:xfrm>
            </p:grpSpPr>
            <p:sp>
              <p:nvSpPr>
                <p:cNvPr id="21538" name="Rectangle 15"/>
                <p:cNvSpPr/>
                <p:nvPr/>
              </p:nvSpPr>
              <p:spPr>
                <a:xfrm>
                  <a:off x="993" y="3667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en-US" altLang="zh-CN" sz="2000" dirty="0">
                      <a:latin typeface="Times New Roman" panose="02020603050405020304" pitchFamily="18" charset="0"/>
                    </a:rPr>
                    <a:t>  B0 </a:t>
                  </a:r>
                  <a:r>
                    <a:rPr lang="en-US" altLang="zh-C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–</a:t>
                  </a:r>
                  <a:r>
                    <a:rPr lang="en-US" altLang="zh-CN" sz="2000" dirty="0">
                      <a:latin typeface="Times New Roman" panose="02020603050405020304" pitchFamily="18" charset="0"/>
                    </a:rPr>
                    <a:t> B2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39" name="Rectangle 16"/>
                <p:cNvSpPr/>
                <p:nvPr/>
              </p:nvSpPr>
              <p:spPr>
                <a:xfrm>
                  <a:off x="950" y="3667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514" name="Group 17"/>
              <p:cNvGrpSpPr/>
              <p:nvPr/>
            </p:nvGrpSpPr>
            <p:grpSpPr>
              <a:xfrm>
                <a:off x="0" y="4051"/>
                <a:ext cx="950" cy="384"/>
                <a:chOff x="0" y="4051"/>
                <a:chExt cx="950" cy="384"/>
              </a:xfrm>
            </p:grpSpPr>
            <p:sp>
              <p:nvSpPr>
                <p:cNvPr id="21536" name="Rectangle 18"/>
                <p:cNvSpPr/>
                <p:nvPr/>
              </p:nvSpPr>
              <p:spPr>
                <a:xfrm>
                  <a:off x="43" y="4051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en-US" altLang="zh-CN" sz="2000" dirty="0">
                      <a:latin typeface="Times New Roman" panose="02020603050405020304" pitchFamily="18" charset="0"/>
                    </a:rPr>
                    <a:t> int b=0 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37" name="Rectangle 19"/>
                <p:cNvSpPr/>
                <p:nvPr/>
              </p:nvSpPr>
              <p:spPr>
                <a:xfrm>
                  <a:off x="0" y="4051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515" name="Group 20"/>
              <p:cNvGrpSpPr/>
              <p:nvPr/>
            </p:nvGrpSpPr>
            <p:grpSpPr>
              <a:xfrm>
                <a:off x="950" y="4051"/>
                <a:ext cx="950" cy="384"/>
                <a:chOff x="950" y="4051"/>
                <a:chExt cx="950" cy="384"/>
              </a:xfrm>
            </p:grpSpPr>
            <p:sp>
              <p:nvSpPr>
                <p:cNvPr id="21534" name="Rectangle 21"/>
                <p:cNvSpPr/>
                <p:nvPr/>
              </p:nvSpPr>
              <p:spPr>
                <a:xfrm>
                  <a:off x="993" y="4051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en-US" altLang="zh-CN" sz="2000" dirty="0">
                      <a:latin typeface="Times New Roman" panose="02020603050405020304" pitchFamily="18" charset="0"/>
                    </a:rPr>
                    <a:t>  B0 </a:t>
                  </a:r>
                  <a:r>
                    <a:rPr lang="en-US" altLang="zh-C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–</a:t>
                  </a:r>
                  <a:r>
                    <a:rPr lang="en-US" altLang="zh-CN" sz="2000" dirty="0">
                      <a:latin typeface="Times New Roman" panose="02020603050405020304" pitchFamily="18" charset="0"/>
                    </a:rPr>
                    <a:t> B1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35" name="Rectangle 22"/>
                <p:cNvSpPr/>
                <p:nvPr/>
              </p:nvSpPr>
              <p:spPr>
                <a:xfrm>
                  <a:off x="950" y="4051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516" name="Group 23"/>
              <p:cNvGrpSpPr/>
              <p:nvPr/>
            </p:nvGrpSpPr>
            <p:grpSpPr>
              <a:xfrm>
                <a:off x="0" y="4435"/>
                <a:ext cx="950" cy="384"/>
                <a:chOff x="0" y="4435"/>
                <a:chExt cx="950" cy="384"/>
              </a:xfrm>
            </p:grpSpPr>
            <p:sp>
              <p:nvSpPr>
                <p:cNvPr id="21532" name="Rectangle 24"/>
                <p:cNvSpPr/>
                <p:nvPr/>
              </p:nvSpPr>
              <p:spPr>
                <a:xfrm>
                  <a:off x="43" y="4435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en-US" altLang="zh-CN" sz="2000" dirty="0">
                      <a:latin typeface="Times New Roman" panose="02020603050405020304" pitchFamily="18" charset="0"/>
                    </a:rPr>
                    <a:t> int b=1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33" name="Rectangle 25"/>
                <p:cNvSpPr/>
                <p:nvPr/>
              </p:nvSpPr>
              <p:spPr>
                <a:xfrm>
                  <a:off x="0" y="4435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517" name="Group 26"/>
              <p:cNvGrpSpPr/>
              <p:nvPr/>
            </p:nvGrpSpPr>
            <p:grpSpPr>
              <a:xfrm>
                <a:off x="950" y="4435"/>
                <a:ext cx="950" cy="384"/>
                <a:chOff x="950" y="4435"/>
                <a:chExt cx="950" cy="384"/>
              </a:xfrm>
            </p:grpSpPr>
            <p:sp>
              <p:nvSpPr>
                <p:cNvPr id="21530" name="Rectangle 27"/>
                <p:cNvSpPr/>
                <p:nvPr/>
              </p:nvSpPr>
              <p:spPr>
                <a:xfrm>
                  <a:off x="993" y="4435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en-US" altLang="zh-CN" sz="2000" dirty="0">
                      <a:latin typeface="Times New Roman" panose="02020603050405020304" pitchFamily="18" charset="0"/>
                    </a:rPr>
                    <a:t>  B1 </a:t>
                  </a:r>
                  <a:r>
                    <a:rPr lang="en-US" altLang="zh-C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–</a:t>
                  </a:r>
                  <a:r>
                    <a:rPr lang="en-US" altLang="zh-CN" sz="2000" dirty="0">
                      <a:latin typeface="Times New Roman" panose="02020603050405020304" pitchFamily="18" charset="0"/>
                    </a:rPr>
                    <a:t> B3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31" name="Rectangle 28"/>
                <p:cNvSpPr/>
                <p:nvPr/>
              </p:nvSpPr>
              <p:spPr>
                <a:xfrm>
                  <a:off x="950" y="4435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518" name="Group 29"/>
              <p:cNvGrpSpPr/>
              <p:nvPr/>
            </p:nvGrpSpPr>
            <p:grpSpPr>
              <a:xfrm>
                <a:off x="0" y="4819"/>
                <a:ext cx="950" cy="384"/>
                <a:chOff x="0" y="4819"/>
                <a:chExt cx="950" cy="384"/>
              </a:xfrm>
            </p:grpSpPr>
            <p:sp>
              <p:nvSpPr>
                <p:cNvPr id="21528" name="Rectangle 30"/>
                <p:cNvSpPr/>
                <p:nvPr/>
              </p:nvSpPr>
              <p:spPr>
                <a:xfrm>
                  <a:off x="43" y="4819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en-US" altLang="zh-CN" sz="2000" dirty="0">
                      <a:latin typeface="Times New Roman" panose="02020603050405020304" pitchFamily="18" charset="0"/>
                    </a:rPr>
                    <a:t> int a=2 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29" name="Rectangle 31"/>
                <p:cNvSpPr/>
                <p:nvPr/>
              </p:nvSpPr>
              <p:spPr>
                <a:xfrm>
                  <a:off x="0" y="4819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519" name="Group 32"/>
              <p:cNvGrpSpPr/>
              <p:nvPr/>
            </p:nvGrpSpPr>
            <p:grpSpPr>
              <a:xfrm>
                <a:off x="950" y="4819"/>
                <a:ext cx="950" cy="384"/>
                <a:chOff x="950" y="4819"/>
                <a:chExt cx="950" cy="384"/>
              </a:xfrm>
            </p:grpSpPr>
            <p:sp>
              <p:nvSpPr>
                <p:cNvPr id="21526" name="Rectangle 33"/>
                <p:cNvSpPr/>
                <p:nvPr/>
              </p:nvSpPr>
              <p:spPr>
                <a:xfrm>
                  <a:off x="993" y="4819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en-US" altLang="zh-CN" sz="2000" dirty="0">
                      <a:latin typeface="Times New Roman" panose="02020603050405020304" pitchFamily="18" charset="0"/>
                    </a:rPr>
                    <a:t>  B2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27" name="Rectangle 34"/>
                <p:cNvSpPr/>
                <p:nvPr/>
              </p:nvSpPr>
              <p:spPr>
                <a:xfrm>
                  <a:off x="950" y="4819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520" name="Group 35"/>
              <p:cNvGrpSpPr/>
              <p:nvPr/>
            </p:nvGrpSpPr>
            <p:grpSpPr>
              <a:xfrm>
                <a:off x="0" y="5203"/>
                <a:ext cx="950" cy="384"/>
                <a:chOff x="0" y="5203"/>
                <a:chExt cx="950" cy="384"/>
              </a:xfrm>
            </p:grpSpPr>
            <p:sp>
              <p:nvSpPr>
                <p:cNvPr id="21524" name="Rectangle 36"/>
                <p:cNvSpPr/>
                <p:nvPr/>
              </p:nvSpPr>
              <p:spPr>
                <a:xfrm>
                  <a:off x="43" y="5203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en-US" altLang="zh-CN" sz="2000" dirty="0">
                      <a:latin typeface="Times New Roman" panose="02020603050405020304" pitchFamily="18" charset="0"/>
                    </a:rPr>
                    <a:t> int b=3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25" name="Rectangle 37"/>
                <p:cNvSpPr/>
                <p:nvPr/>
              </p:nvSpPr>
              <p:spPr>
                <a:xfrm>
                  <a:off x="0" y="5203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521" name="Group 38"/>
              <p:cNvGrpSpPr/>
              <p:nvPr/>
            </p:nvGrpSpPr>
            <p:grpSpPr>
              <a:xfrm>
                <a:off x="950" y="5203"/>
                <a:ext cx="950" cy="384"/>
                <a:chOff x="950" y="5203"/>
                <a:chExt cx="950" cy="384"/>
              </a:xfrm>
            </p:grpSpPr>
            <p:sp>
              <p:nvSpPr>
                <p:cNvPr id="21522" name="Rectangle 39"/>
                <p:cNvSpPr/>
                <p:nvPr/>
              </p:nvSpPr>
              <p:spPr>
                <a:xfrm>
                  <a:off x="993" y="5203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en-US" altLang="zh-CN" sz="2000" dirty="0">
                      <a:latin typeface="Times New Roman" panose="02020603050405020304" pitchFamily="18" charset="0"/>
                    </a:rPr>
                    <a:t>  B3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523" name="Rectangle 40"/>
                <p:cNvSpPr/>
                <p:nvPr/>
              </p:nvSpPr>
              <p:spPr>
                <a:xfrm>
                  <a:off x="950" y="5203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1509" name="Rectangle 41"/>
            <p:cNvSpPr/>
            <p:nvPr/>
          </p:nvSpPr>
          <p:spPr>
            <a:xfrm>
              <a:off x="-3" y="3280"/>
              <a:ext cx="1906" cy="2310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0786" name="Rectangle 2"/>
          <p:cNvSpPr>
            <a:spLocks noChangeArrowheads="1"/>
          </p:cNvSpPr>
          <p:nvPr/>
        </p:nvSpPr>
        <p:spPr bwMode="auto">
          <a:xfrm>
            <a:off x="457200" y="762000"/>
            <a:ext cx="8305800" cy="3155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3048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表处理技术请参考数据结构中的顺序查表法、折半查表法及散列查表法。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304800" algn="just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）线性表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3048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最简单和最容易实现符号表的数据结构是线性表。可以将线性表表示为一个数组，也可以表示为一个单链表。</a:t>
            </a:r>
            <a:r>
              <a:rPr kumimoji="1" lang="zh-CN" altLang="en-US" sz="24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为了正确反映名字的作用域，线性表应具有栈的性质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，即符号的加入和删除，均在线性表的一端进行。前面的例子对应符号表的线性表组织如下，可以将其看作是一个顶在下的栈。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1" name="Text Box 19"/>
          <p:cNvSpPr txBox="1"/>
          <p:nvPr/>
        </p:nvSpPr>
        <p:spPr>
          <a:xfrm>
            <a:off x="381000" y="242888"/>
            <a:ext cx="8305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5.2.2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符号表的实现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30839" name="Group 55"/>
          <p:cNvGraphicFramePr>
            <a:graphicFrameLocks noGrp="1"/>
          </p:cNvGraphicFramePr>
          <p:nvPr/>
        </p:nvGraphicFramePr>
        <p:xfrm>
          <a:off x="2971800" y="3962400"/>
          <a:ext cx="2895600" cy="2408238"/>
        </p:xfrm>
        <a:graphic>
          <a:graphicData uri="http://schemas.openxmlformats.org/drawingml/2006/table">
            <a:tbl>
              <a:tblPr/>
              <a:tblGrid>
                <a:gridCol w="1066800"/>
                <a:gridCol w="18288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   字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    性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a=0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b=0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int, B0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int, B0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8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b=1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c=4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d=5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a=2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int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B1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int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B2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int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B2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int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B2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/>
          <p:nvPr/>
        </p:nvSpPr>
        <p:spPr>
          <a:xfrm>
            <a:off x="304800" y="285750"/>
            <a:ext cx="8382000" cy="6297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304800" algn="just"/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对于任何一个名字，从栈顶开始，向栈底查找，遇到的第一个符合条件的名字，即是所要查找的符号。</a:t>
            </a:r>
            <a:r>
              <a:rPr lang="zh-CN" altLang="en-US" dirty="0">
                <a:latin typeface="Times New Roman" panose="02020603050405020304" pitchFamily="18" charset="0"/>
              </a:rPr>
              <a:t>当要插入一个名字的时候，也是首先在符号表中查找，若查到，则返回该名字在符号表中的位置（指针或下标），否则加入到栈顶。在上表中，如果当前分析到的作用域是</a:t>
            </a:r>
            <a:r>
              <a:rPr lang="en-US" altLang="zh-CN" dirty="0">
                <a:latin typeface="Times New Roman" panose="02020603050405020304" pitchFamily="18" charset="0"/>
              </a:rPr>
              <a:t>B2</a:t>
            </a:r>
            <a:r>
              <a:rPr lang="zh-CN" altLang="en-US" dirty="0">
                <a:latin typeface="Times New Roman" panose="02020603050405020304" pitchFamily="18" charset="0"/>
              </a:rPr>
              <a:t>，则栈顶条目是</a:t>
            </a:r>
            <a:r>
              <a:rPr lang="en-US" altLang="zh-CN" dirty="0">
                <a:latin typeface="Times New Roman" panose="02020603050405020304" pitchFamily="18" charset="0"/>
              </a:rPr>
              <a:t>a=2</a:t>
            </a:r>
            <a:r>
              <a:rPr lang="zh-CN" altLang="en-US" dirty="0">
                <a:latin typeface="Times New Roman" panose="02020603050405020304" pitchFamily="18" charset="0"/>
              </a:rPr>
              <a:t>，因此，在符号表中查找，遇到的第一个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分别是</a:t>
            </a:r>
            <a:r>
              <a:rPr lang="en-US" altLang="zh-CN" dirty="0">
                <a:latin typeface="Times New Roman" panose="02020603050405020304" pitchFamily="18" charset="0"/>
              </a:rPr>
              <a:t>a=2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b=1</a:t>
            </a:r>
            <a:r>
              <a:rPr lang="zh-CN" altLang="en-US" dirty="0">
                <a:latin typeface="Times New Roman" panose="02020603050405020304" pitchFamily="18" charset="0"/>
              </a:rPr>
              <a:t>，正好符合作用域规则。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304800" algn="just" eaLnBrk="0" hangingPunct="0">
              <a:spcBef>
                <a:spcPct val="4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当从某个作用域退出时，从栈顶把该作用域的所有名字全部摘走，存放在一个不活动的临时表中，以备后用。</a:t>
            </a:r>
            <a:r>
              <a:rPr lang="zh-CN" altLang="en-US" dirty="0">
                <a:latin typeface="Times New Roman" panose="02020603050405020304" pitchFamily="18" charset="0"/>
              </a:rPr>
              <a:t>例如，当分析从</a:t>
            </a:r>
            <a:r>
              <a:rPr lang="en-US" altLang="zh-CN" dirty="0">
                <a:latin typeface="Times New Roman" panose="02020603050405020304" pitchFamily="18" charset="0"/>
              </a:rPr>
              <a:t>B2</a:t>
            </a:r>
            <a:r>
              <a:rPr lang="zh-CN" altLang="en-US" dirty="0">
                <a:latin typeface="Times New Roman" panose="02020603050405020304" pitchFamily="18" charset="0"/>
              </a:rPr>
              <a:t>退出并进入</a:t>
            </a:r>
            <a:r>
              <a:rPr lang="en-US" altLang="zh-CN" dirty="0">
                <a:latin typeface="Times New Roman" panose="02020603050405020304" pitchFamily="18" charset="0"/>
              </a:rPr>
              <a:t>B3</a:t>
            </a:r>
            <a:r>
              <a:rPr lang="zh-CN" altLang="en-US" dirty="0">
                <a:latin typeface="Times New Roman" panose="02020603050405020304" pitchFamily="18" charset="0"/>
              </a:rPr>
              <a:t>时，则把栈顶条目</a:t>
            </a:r>
            <a:r>
              <a:rPr lang="en-US" altLang="zh-CN" dirty="0">
                <a:latin typeface="Times New Roman" panose="02020603050405020304" pitchFamily="18" charset="0"/>
              </a:rPr>
              <a:t>a=2</a:t>
            </a:r>
            <a:r>
              <a:rPr lang="zh-CN" altLang="en-US" dirty="0">
                <a:latin typeface="Times New Roman" panose="02020603050405020304" pitchFamily="18" charset="0"/>
              </a:rPr>
              <a:t>摘走，而将条目</a:t>
            </a:r>
            <a:r>
              <a:rPr lang="en-US" altLang="zh-CN" dirty="0">
                <a:latin typeface="Times New Roman" panose="02020603050405020304" pitchFamily="18" charset="0"/>
              </a:rPr>
              <a:t>b=3</a:t>
            </a:r>
            <a:r>
              <a:rPr lang="zh-CN" altLang="en-US" dirty="0">
                <a:latin typeface="Times New Roman" panose="02020603050405020304" pitchFamily="18" charset="0"/>
              </a:rPr>
              <a:t>加入。这种临时摘走的方式也称为临时删除或假删除，只有确认某名字永远不会再被使用，才被真正删除。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304800" algn="just" eaLnBrk="0" hangingPunct="0">
              <a:spcBef>
                <a:spcPct val="4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设符号表中有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个条目，那么成功查找的平均时间复杂度是</a:t>
            </a:r>
            <a:r>
              <a:rPr lang="en-US" altLang="zh-CN" dirty="0">
                <a:latin typeface="Times New Roman" panose="02020603050405020304" pitchFamily="18" charset="0"/>
              </a:rPr>
              <a:t>n/2</a:t>
            </a:r>
            <a:r>
              <a:rPr lang="zh-CN" altLang="en-US" dirty="0">
                <a:latin typeface="Times New Roman" panose="02020603050405020304" pitchFamily="18" charset="0"/>
              </a:rPr>
              <a:t>，不成功查找的时间复杂度是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＋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。因此，在符号表中插入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个名字和完成</a:t>
            </a:r>
            <a:r>
              <a:rPr lang="en-US" altLang="zh-CN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次查找的时间复杂度应该是</a:t>
            </a:r>
            <a:r>
              <a:rPr lang="en-US" altLang="zh-CN" dirty="0">
                <a:latin typeface="Times New Roman" panose="02020603050405020304" pitchFamily="18" charset="0"/>
              </a:rPr>
              <a:t>n(n+e)</a:t>
            </a:r>
            <a:r>
              <a:rPr lang="zh-CN" altLang="en-US" dirty="0">
                <a:latin typeface="Times New Roman" panose="02020603050405020304" pitchFamily="18" charset="0"/>
              </a:rPr>
              <a:t>。当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很大时，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在线性表上进行查找的效率显然很低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4338" name="Rectangle 2"/>
          <p:cNvSpPr>
            <a:spLocks noChangeArrowheads="1"/>
          </p:cNvSpPr>
          <p:nvPr/>
        </p:nvSpPr>
        <p:spPr bwMode="auto">
          <a:xfrm>
            <a:off x="381000" y="304800"/>
            <a:ext cx="8305800" cy="1570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3048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）二叉表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  <a:p>
            <a:pPr marL="0" marR="0" lvl="0" indent="3048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用二叉表实现符号表的实质是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把每个作用域的所有符号拿出来，形成一个个的子表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。作用域的组织仍采用栈的形式，而对每个子表则采用二叉表组织，查找时用折半查找法。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4339" name="Rectangle 3"/>
          <p:cNvSpPr>
            <a:spLocks noChangeArrowheads="1"/>
          </p:cNvSpPr>
          <p:nvPr/>
        </p:nvSpPr>
        <p:spPr bwMode="auto">
          <a:xfrm>
            <a:off x="381000" y="2057400"/>
            <a:ext cx="5029200" cy="4524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2667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） 散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列表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哈系符号表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)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散列表也将线性表分成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个子表。但它们不按作用域进行组织，而是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构造一个散列函数，使符号表中元素均匀地散布在这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个子表中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散列表的结构如图所示，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个子表的表头构成一个表头数组，它以散列函数的值（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hash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值）为下标，具有相同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hash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值的节点被散列在相同子表中，连接子表的链被称为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散列链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。如果散列均匀，则时间复杂度会降到原线性表的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1/m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26" name="Object 4"/>
          <p:cNvGraphicFramePr/>
          <p:nvPr/>
        </p:nvGraphicFramePr>
        <p:xfrm>
          <a:off x="5334000" y="3124200"/>
          <a:ext cx="38862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639695" imgH="2393315" progId="Visio.Drawing.6">
                  <p:embed/>
                </p:oleObj>
              </mc:Choice>
              <mc:Fallback>
                <p:oleObj name="" r:id="rId1" imgW="2639695" imgH="2393315" progId="Visio.Drawing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0" y="3124200"/>
                        <a:ext cx="3886200" cy="350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/>
          <p:nvPr/>
        </p:nvSpPr>
        <p:spPr>
          <a:xfrm>
            <a:off x="457200" y="457200"/>
            <a:ext cx="8229600" cy="5373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304800" algn="just"/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线性表</a:t>
            </a:r>
            <a:r>
              <a:rPr lang="zh-CN" altLang="en-US" dirty="0">
                <a:latin typeface="Times New Roman" panose="02020603050405020304" pitchFamily="18" charset="0"/>
              </a:rPr>
              <a:t>中，相同作用域中的名字，会相对集中地存放在线性表的某一段中，进入或退出某作用域时，此作用域中的所有名字会一同摘走。但是在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散列表</a:t>
            </a:r>
            <a:r>
              <a:rPr lang="zh-CN" altLang="en-US" dirty="0">
                <a:latin typeface="Times New Roman" panose="02020603050405020304" pitchFamily="18" charset="0"/>
              </a:rPr>
              <a:t>中，相同作用域的名字会被散列在不同的子表中，无法一同摘走。为了便于这样情况的删除，需要为每个元素在原来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散列链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hash link</a:t>
            </a:r>
            <a:r>
              <a:rPr lang="zh-CN" altLang="en-US" dirty="0">
                <a:latin typeface="Times New Roman" panose="02020603050405020304" pitchFamily="18" charset="0"/>
              </a:rPr>
              <a:t>）的基础上，再设立一个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作用域链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scope link</a:t>
            </a:r>
            <a:r>
              <a:rPr lang="zh-CN" altLang="en-US" dirty="0">
                <a:latin typeface="Times New Roman" panose="02020603050405020304" pitchFamily="18" charset="0"/>
              </a:rPr>
              <a:t>）。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algn="just" eaLnBrk="0" hangingPunct="0">
              <a:spcBef>
                <a:spcPct val="40000"/>
              </a:spcBef>
              <a:buFont typeface="Wingdings" panose="05000000000000000000" pitchFamily="2" charset="2"/>
              <a:buChar char="q"/>
            </a:pPr>
            <a:r>
              <a:rPr lang="zh-CN" altLang="en-US" b="0" dirty="0">
                <a:latin typeface="Times New Roman" panose="02020603050405020304" pitchFamily="18" charset="0"/>
              </a:rPr>
              <a:t>  </a:t>
            </a:r>
            <a:r>
              <a:rPr lang="en-US" altLang="zh-CN" b="0" dirty="0">
                <a:latin typeface="Times New Roman" panose="02020603050405020304" pitchFamily="18" charset="0"/>
              </a:rPr>
              <a:t>hash link</a:t>
            </a:r>
            <a:r>
              <a:rPr lang="zh-CN" altLang="en-US" b="0" dirty="0">
                <a:latin typeface="Times New Roman" panose="02020603050405020304" pitchFamily="18" charset="0"/>
              </a:rPr>
              <a:t>： </a:t>
            </a:r>
            <a:endParaRPr lang="zh-CN" altLang="en-US" b="0" dirty="0">
              <a:latin typeface="Times New Roman" panose="02020603050405020304" pitchFamily="18" charset="0"/>
            </a:endParaRPr>
          </a:p>
          <a:p>
            <a:pPr lvl="1" algn="just" eaLnBrk="0" hangingPunct="0"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b="0" dirty="0">
                <a:latin typeface="Times New Roman" panose="02020603050405020304" pitchFamily="18" charset="0"/>
              </a:rPr>
              <a:t>链接所有具有相同</a:t>
            </a:r>
            <a:r>
              <a:rPr lang="en-US" altLang="zh-CN" b="0" dirty="0">
                <a:latin typeface="Times New Roman" panose="02020603050405020304" pitchFamily="18" charset="0"/>
              </a:rPr>
              <a:t>hash</a:t>
            </a:r>
            <a:r>
              <a:rPr lang="zh-CN" altLang="en-US" b="0" dirty="0">
                <a:latin typeface="Times New Roman" panose="02020603050405020304" pitchFamily="18" charset="0"/>
              </a:rPr>
              <a:t>值的元素，表头在表头数组中。</a:t>
            </a:r>
            <a:endParaRPr lang="zh-CN" altLang="en-US" b="0" dirty="0">
              <a:latin typeface="Times New Roman" panose="02020603050405020304" pitchFamily="18" charset="0"/>
            </a:endParaRPr>
          </a:p>
          <a:p>
            <a:pPr lvl="1" algn="just" eaLnBrk="0" hangingPunct="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zh-CN" altLang="en-US" b="0" dirty="0">
                <a:latin typeface="Times New Roman" panose="02020603050405020304" pitchFamily="18" charset="0"/>
              </a:rPr>
              <a:t>  </a:t>
            </a:r>
            <a:r>
              <a:rPr lang="en-US" altLang="zh-CN" b="0" dirty="0">
                <a:latin typeface="Times New Roman" panose="02020603050405020304" pitchFamily="18" charset="0"/>
              </a:rPr>
              <a:t>scope link</a:t>
            </a:r>
            <a:r>
              <a:rPr lang="zh-CN" altLang="en-US" b="0" dirty="0">
                <a:latin typeface="Times New Roman" panose="02020603050405020304" pitchFamily="18" charset="0"/>
              </a:rPr>
              <a:t>：</a:t>
            </a:r>
            <a:endParaRPr lang="zh-CN" altLang="en-US" b="0" dirty="0">
              <a:latin typeface="Times New Roman" panose="02020603050405020304" pitchFamily="18" charset="0"/>
            </a:endParaRPr>
          </a:p>
          <a:p>
            <a:pPr lvl="1" algn="just" eaLnBrk="0" hangingPunct="0">
              <a:buFont typeface="Wingdings" panose="05000000000000000000" pitchFamily="2" charset="2"/>
            </a:pPr>
            <a:r>
              <a:rPr lang="zh-CN" altLang="en-US" b="0" dirty="0">
                <a:latin typeface="Times New Roman" panose="02020603050405020304" pitchFamily="18" charset="0"/>
              </a:rPr>
              <a:t>链接所有在同一作用域中的元素，表头在作用域链中。</a:t>
            </a:r>
            <a:endParaRPr lang="zh-CN" altLang="en-US" b="0" dirty="0">
              <a:latin typeface="Times New Roman" panose="02020603050405020304" pitchFamily="18" charset="0"/>
            </a:endParaRPr>
          </a:p>
          <a:p>
            <a:pPr indent="304800" algn="just" eaLnBrk="0" hangingPunct="0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dirty="0">
                <a:latin typeface="Times New Roman" panose="02020603050405020304" pitchFamily="18" charset="0"/>
              </a:rPr>
              <a:t>   为此需要为每个名字添加一个指示作用域的属性，如下图（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）所示，有一个属性存放当前作用域是在</a:t>
            </a:r>
            <a:r>
              <a:rPr lang="en-US" altLang="zh-CN" dirty="0">
                <a:latin typeface="Times New Roman" panose="02020603050405020304" pitchFamily="18" charset="0"/>
              </a:rPr>
              <a:t>B0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B1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B2</a:t>
            </a:r>
            <a:r>
              <a:rPr lang="zh-CN" altLang="en-US" dirty="0">
                <a:latin typeface="Times New Roman" panose="02020603050405020304" pitchFamily="18" charset="0"/>
              </a:rPr>
              <a:t>还是</a:t>
            </a:r>
            <a:r>
              <a:rPr lang="en-US" altLang="zh-CN" dirty="0">
                <a:latin typeface="Times New Roman" panose="02020603050405020304" pitchFamily="18" charset="0"/>
              </a:rPr>
              <a:t>B3</a:t>
            </a:r>
            <a:r>
              <a:rPr lang="zh-CN" altLang="en-US" dirty="0">
                <a:latin typeface="Times New Roman" panose="02020603050405020304" pitchFamily="18" charset="0"/>
              </a:rPr>
              <a:t>中。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050" name="Object 2"/>
          <p:cNvGraphicFramePr/>
          <p:nvPr/>
        </p:nvGraphicFramePr>
        <p:xfrm>
          <a:off x="381000" y="457200"/>
          <a:ext cx="8153400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386070" imgH="3559810" progId="Visio.Drawing.6">
                  <p:embed/>
                </p:oleObj>
              </mc:Choice>
              <mc:Fallback>
                <p:oleObj name="" r:id="rId1" imgW="5386070" imgH="3559810" progId="Visio.Drawing.6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" y="457200"/>
                        <a:ext cx="8153400" cy="533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Rectangle 3"/>
          <p:cNvSpPr/>
          <p:nvPr/>
        </p:nvSpPr>
        <p:spPr>
          <a:xfrm>
            <a:off x="5791200" y="3352800"/>
            <a:ext cx="30480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spcBef>
                <a:spcPct val="40000"/>
              </a:spcBef>
            </a:pPr>
            <a:r>
              <a:rPr lang="zh-CN" altLang="en-US" sz="2000" b="0" dirty="0">
                <a:latin typeface="Times New Roman" panose="02020603050405020304" pitchFamily="18" charset="0"/>
              </a:rPr>
              <a:t>假设散列函数的计算公式为</a:t>
            </a:r>
            <a:r>
              <a:rPr lang="en-US" altLang="zh-CN" sz="20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hash(s)=ord(s)-ord(‘a’)</a:t>
            </a:r>
            <a:r>
              <a:rPr lang="zh-CN" altLang="en-US" sz="2000" b="0" dirty="0">
                <a:latin typeface="Times New Roman" panose="02020603050405020304" pitchFamily="18" charset="0"/>
              </a:rPr>
              <a:t>，则前面</a:t>
            </a:r>
            <a:r>
              <a:rPr lang="en-US" altLang="zh-CN" sz="2000" b="0" dirty="0">
                <a:latin typeface="Times New Roman" panose="02020603050405020304" pitchFamily="18" charset="0"/>
              </a:rPr>
              <a:t>C</a:t>
            </a:r>
            <a:r>
              <a:rPr lang="zh-CN" altLang="en-US" sz="2000" b="0" dirty="0">
                <a:latin typeface="Times New Roman" panose="02020603050405020304" pitchFamily="18" charset="0"/>
              </a:rPr>
              <a:t>源程序的散列表结构如图所示。</a:t>
            </a:r>
            <a:endParaRPr lang="zh-CN" altLang="en-US" sz="2000" b="0" dirty="0">
              <a:latin typeface="Times New Roman" panose="02020603050405020304" pitchFamily="18" charset="0"/>
            </a:endParaRPr>
          </a:p>
        </p:txBody>
      </p:sp>
      <p:sp>
        <p:nvSpPr>
          <p:cNvPr id="2052" name="Rectangle 4"/>
          <p:cNvSpPr/>
          <p:nvPr/>
        </p:nvSpPr>
        <p:spPr>
          <a:xfrm>
            <a:off x="609600" y="5622925"/>
            <a:ext cx="8391525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0" dirty="0">
                <a:latin typeface="Times New Roman" panose="02020603050405020304" pitchFamily="18" charset="0"/>
              </a:rPr>
              <a:t>(a)</a:t>
            </a:r>
            <a:r>
              <a:rPr lang="zh-CN" altLang="en-US" sz="2000" b="0" dirty="0">
                <a:latin typeface="Times New Roman" panose="02020603050405020304" pitchFamily="18" charset="0"/>
              </a:rPr>
              <a:t>处在</a:t>
            </a:r>
            <a:r>
              <a:rPr lang="en-US" altLang="zh-CN" sz="2000" b="0" dirty="0">
                <a:latin typeface="Times New Roman" panose="02020603050405020304" pitchFamily="18" charset="0"/>
              </a:rPr>
              <a:t>B2</a:t>
            </a:r>
            <a:r>
              <a:rPr lang="zh-CN" altLang="en-US" sz="2000" b="0" dirty="0">
                <a:latin typeface="Times New Roman" panose="02020603050405020304" pitchFamily="18" charset="0"/>
              </a:rPr>
              <a:t>作用域中，而</a:t>
            </a:r>
            <a:r>
              <a:rPr lang="en-US" altLang="zh-CN" sz="2000" b="0" dirty="0">
                <a:latin typeface="Times New Roman" panose="02020603050405020304" pitchFamily="18" charset="0"/>
              </a:rPr>
              <a:t>(b)</a:t>
            </a:r>
            <a:r>
              <a:rPr lang="zh-CN" altLang="en-US" sz="2000" b="0" dirty="0">
                <a:latin typeface="Times New Roman" panose="02020603050405020304" pitchFamily="18" charset="0"/>
              </a:rPr>
              <a:t>处在</a:t>
            </a:r>
            <a:r>
              <a:rPr lang="en-US" altLang="zh-CN" sz="2000" b="0" dirty="0">
                <a:latin typeface="Times New Roman" panose="02020603050405020304" pitchFamily="18" charset="0"/>
              </a:rPr>
              <a:t>B3</a:t>
            </a:r>
            <a:r>
              <a:rPr lang="zh-CN" altLang="en-US" sz="2000" b="0" dirty="0">
                <a:latin typeface="Times New Roman" panose="02020603050405020304" pitchFamily="18" charset="0"/>
              </a:rPr>
              <a:t>作用域中，当分析从</a:t>
            </a:r>
            <a:r>
              <a:rPr lang="en-US" altLang="zh-CN" sz="2000" b="0" dirty="0">
                <a:latin typeface="Times New Roman" panose="02020603050405020304" pitchFamily="18" charset="0"/>
              </a:rPr>
              <a:t>B2</a:t>
            </a:r>
            <a:r>
              <a:rPr lang="zh-CN" altLang="en-US" sz="2000" b="0" dirty="0">
                <a:latin typeface="Times New Roman" panose="02020603050405020304" pitchFamily="18" charset="0"/>
              </a:rPr>
              <a:t>退出进入</a:t>
            </a:r>
            <a:r>
              <a:rPr lang="en-US" altLang="zh-CN" sz="2000" b="0" dirty="0">
                <a:latin typeface="Times New Roman" panose="02020603050405020304" pitchFamily="18" charset="0"/>
              </a:rPr>
              <a:t>B3</a:t>
            </a:r>
            <a:r>
              <a:rPr lang="zh-CN" altLang="en-US" sz="2000" b="0" dirty="0">
                <a:latin typeface="Times New Roman" panose="02020603050405020304" pitchFamily="18" charset="0"/>
              </a:rPr>
              <a:t>时，</a:t>
            </a:r>
            <a:r>
              <a:rPr lang="en-US" altLang="zh-CN" sz="2000" b="0" dirty="0">
                <a:latin typeface="Times New Roman" panose="02020603050405020304" pitchFamily="18" charset="0"/>
              </a:rPr>
              <a:t>(c)</a:t>
            </a:r>
            <a:r>
              <a:rPr lang="zh-CN" altLang="en-US" sz="2000" b="0" dirty="0">
                <a:latin typeface="Times New Roman" panose="02020603050405020304" pitchFamily="18" charset="0"/>
              </a:rPr>
              <a:t>所示的作用域表中</a:t>
            </a:r>
            <a:r>
              <a:rPr lang="en-US" altLang="zh-CN" sz="2000" b="0" dirty="0">
                <a:latin typeface="Times New Roman" panose="02020603050405020304" pitchFamily="18" charset="0"/>
              </a:rPr>
              <a:t>B2</a:t>
            </a:r>
            <a:r>
              <a:rPr lang="zh-CN" altLang="en-US" sz="2000" b="0" dirty="0">
                <a:latin typeface="Times New Roman" panose="02020603050405020304" pitchFamily="18" charset="0"/>
              </a:rPr>
              <a:t>节点的</a:t>
            </a:r>
            <a:r>
              <a:rPr lang="en-US" altLang="zh-CN" sz="2000" b="0" dirty="0">
                <a:latin typeface="Times New Roman" panose="02020603050405020304" pitchFamily="18" charset="0"/>
              </a:rPr>
              <a:t>scope link B2</a:t>
            </a:r>
            <a:r>
              <a:rPr lang="en-US" altLang="zh-CN" sz="2000" b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zh-CN" altLang="en-US" sz="2000" b="0" dirty="0">
                <a:latin typeface="Times New Roman" panose="02020603050405020304" pitchFamily="18" charset="0"/>
              </a:rPr>
              <a:t>串起</a:t>
            </a:r>
            <a:r>
              <a:rPr lang="en-US" altLang="zh-CN" sz="2000" b="0" dirty="0">
                <a:latin typeface="Times New Roman" panose="02020603050405020304" pitchFamily="18" charset="0"/>
              </a:rPr>
              <a:t>B2</a:t>
            </a:r>
            <a:r>
              <a:rPr lang="zh-CN" altLang="en-US" sz="2000" b="0" dirty="0">
                <a:latin typeface="Times New Roman" panose="02020603050405020304" pitchFamily="18" charset="0"/>
              </a:rPr>
              <a:t>中声明的所有名字。</a:t>
            </a:r>
            <a:endParaRPr lang="zh-CN" altLang="en-US" sz="20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/>
          <p:nvPr/>
        </p:nvSpPr>
        <p:spPr>
          <a:xfrm>
            <a:off x="381000" y="1085850"/>
            <a:ext cx="8382000" cy="44497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6700" algn="just" eaLnBrk="0" hangingPunct="0"/>
            <a:r>
              <a:rPr lang="zh-CN" altLang="en-US" dirty="0">
                <a:latin typeface="Times New Roman" panose="02020603050405020304" pitchFamily="18" charset="0"/>
              </a:rPr>
              <a:t>对于散列表中的操作，可以如下进行：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algn="just" eaLnBrk="0" hangingPunct="0"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查找：</a:t>
            </a:r>
            <a:r>
              <a:rPr lang="zh-CN" altLang="en-US" dirty="0">
                <a:latin typeface="Times New Roman" panose="02020603050405020304" pitchFamily="18" charset="0"/>
              </a:rPr>
              <a:t>计算散列函数，然后从散列函数所指示的入口进入某个线性表，在线性表中沿</a:t>
            </a:r>
            <a:r>
              <a:rPr lang="en-US" altLang="zh-CN" dirty="0">
                <a:latin typeface="Times New Roman" panose="02020603050405020304" pitchFamily="18" charset="0"/>
              </a:rPr>
              <a:t>hash link</a:t>
            </a:r>
            <a:r>
              <a:rPr lang="zh-CN" altLang="en-US" dirty="0">
                <a:latin typeface="Times New Roman" panose="02020603050405020304" pitchFamily="18" charset="0"/>
              </a:rPr>
              <a:t>查找。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algn="just" eaLnBrk="0" hangingPunct="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插入：</a:t>
            </a:r>
            <a:r>
              <a:rPr lang="zh-CN" altLang="en-US" dirty="0">
                <a:latin typeface="Times New Roman" panose="02020603050405020304" pitchFamily="18" charset="0"/>
              </a:rPr>
              <a:t>首先查找，以确定要插入的名字是否已在表中。若不在，则要分别沿</a:t>
            </a:r>
            <a:r>
              <a:rPr lang="en-US" altLang="zh-CN" dirty="0">
                <a:latin typeface="Times New Roman" panose="02020603050405020304" pitchFamily="18" charset="0"/>
              </a:rPr>
              <a:t>hash link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scope link</a:t>
            </a:r>
            <a:r>
              <a:rPr lang="zh-CN" altLang="en-US" dirty="0">
                <a:latin typeface="Times New Roman" panose="02020603050405020304" pitchFamily="18" charset="0"/>
              </a:rPr>
              <a:t>插入到两个链中，方法都是插在表头。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algn="just" eaLnBrk="0" hangingPunct="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删除：</a:t>
            </a:r>
            <a:r>
              <a:rPr lang="zh-CN" altLang="en-US" dirty="0">
                <a:latin typeface="Times New Roman" panose="02020603050405020304" pitchFamily="18" charset="0"/>
              </a:rPr>
              <a:t>因为只有在退出作用域时才删除，因此把以作用域链连在一起的所有元素从当前符号表中删除，但如果是临时删除，则保留此作用域链，以便下次使用时直接沿作用域链加入到散列链中即可。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266700" algn="just" eaLnBrk="0" hangingPunct="0">
              <a:spcBef>
                <a:spcPct val="4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03" name="Rectangle 3"/>
          <p:cNvSpPr/>
          <p:nvPr/>
        </p:nvSpPr>
        <p:spPr>
          <a:xfrm>
            <a:off x="304800" y="400050"/>
            <a:ext cx="5562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latin typeface="Times New Roman" panose="02020603050405020304" pitchFamily="18" charset="0"/>
              </a:rPr>
              <a:t>散列表上的操作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/>
          <p:nvPr/>
        </p:nvSpPr>
        <p:spPr>
          <a:xfrm>
            <a:off x="457200" y="1047750"/>
            <a:ext cx="8305800" cy="4524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304800" algn="just" eaLnBrk="0" hangingPunct="0"/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合理选择散列函数</a:t>
            </a:r>
            <a:r>
              <a:rPr lang="zh-CN" altLang="en-US" dirty="0">
                <a:latin typeface="Times New Roman" panose="02020603050405020304" pitchFamily="18" charset="0"/>
              </a:rPr>
              <a:t>，可使符号表中的名字均匀地散列在各个子表中，从而提高散列表上操作的速度。关于散列函数的计算方法，在有关数据结构的教材中均有详细介绍，此处仅根据符号表数据的特点，简单提一下散列函数计算的原则和有代表性的散列函数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304800" algn="just" eaLnBrk="0" hangingPunct="0"/>
            <a:r>
              <a:rPr lang="zh-CN" altLang="en-US" dirty="0">
                <a:latin typeface="Times New Roman" panose="02020603050405020304" pitchFamily="18" charset="0"/>
              </a:rPr>
              <a:t>    符号表中散列函数的计算，要考虑符号表中名字的特性，源程序中往往会出现很多接近的、且具有相同前缀或后缀的名字。例如，一个（设计不好的）源程序中可能出现</a:t>
            </a:r>
            <a:r>
              <a:rPr lang="en-US" altLang="zh-CN" dirty="0">
                <a:latin typeface="Times New Roman" panose="02020603050405020304" pitchFamily="18" charset="0"/>
              </a:rPr>
              <a:t>300</a:t>
            </a:r>
            <a:r>
              <a:rPr lang="zh-CN" altLang="en-US" dirty="0">
                <a:latin typeface="Times New Roman" panose="02020603050405020304" pitchFamily="18" charset="0"/>
              </a:rPr>
              <a:t>个如下的名字：</a:t>
            </a:r>
            <a:r>
              <a:rPr lang="en-US" altLang="zh-CN" dirty="0">
                <a:latin typeface="Times New Roman" panose="02020603050405020304" pitchFamily="18" charset="0"/>
              </a:rPr>
              <a:t>V001, V002, V003, … , V300</a:t>
            </a:r>
            <a:r>
              <a:rPr lang="zh-CN" altLang="en-US" dirty="0">
                <a:latin typeface="Times New Roman" panose="02020603050405020304" pitchFamily="18" charset="0"/>
              </a:rPr>
              <a:t>。如果散列函数设计不合适，如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取字符串的前缀或后缀作为散列函数等</a:t>
            </a:r>
            <a:r>
              <a:rPr lang="zh-CN" altLang="en-US" dirty="0">
                <a:latin typeface="Times New Roman" panose="02020603050405020304" pitchFamily="18" charset="0"/>
              </a:rPr>
              <a:t>，则可能使得名字集中在某些散列地址上，从而降低散列表的性能。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27" name="Rectangle 3"/>
          <p:cNvSpPr/>
          <p:nvPr/>
        </p:nvSpPr>
        <p:spPr>
          <a:xfrm>
            <a:off x="457200" y="307975"/>
            <a:ext cx="5562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latin typeface="宋体" panose="02010600030101010101" pitchFamily="2" charset="-122"/>
              </a:rPr>
              <a:t>散列函数的计算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/>
          <p:nvPr/>
        </p:nvSpPr>
        <p:spPr>
          <a:xfrm>
            <a:off x="214313" y="373063"/>
            <a:ext cx="8624887" cy="6321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从串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中的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,c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,…c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字符确定正整数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的计算可以简单的采用各字符的整数值相加，或者取</a:t>
            </a:r>
            <a:r>
              <a:rPr lang="en-US" altLang="zh-CN" dirty="0">
                <a:latin typeface="Times New Roman" panose="02020603050405020304" pitchFamily="18" charset="0"/>
              </a:rPr>
              <a:t>h</a:t>
            </a:r>
            <a:r>
              <a:rPr lang="en-US" altLang="zh-CN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=0, h</a:t>
            </a:r>
            <a:r>
              <a:rPr lang="en-US" altLang="zh-CN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=αh</a:t>
            </a:r>
            <a:r>
              <a:rPr lang="en-US" altLang="zh-CN" baseline="-30000" dirty="0">
                <a:latin typeface="Times New Roman" panose="02020603050405020304" pitchFamily="18" charset="0"/>
              </a:rPr>
              <a:t>i-1</a:t>
            </a:r>
            <a:r>
              <a:rPr lang="en-US" altLang="zh-CN" dirty="0">
                <a:latin typeface="Times New Roman" panose="02020603050405020304" pitchFamily="18" charset="0"/>
              </a:rPr>
              <a:t>+c</a:t>
            </a:r>
            <a:r>
              <a:rPr lang="en-US" altLang="zh-CN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, 1≤i≤k, h=h</a:t>
            </a:r>
            <a:r>
              <a:rPr lang="en-US" altLang="zh-CN" baseline="-30000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</a:rPr>
              <a:t>α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时就是简单相加的情况，更一般的是令</a:t>
            </a:r>
            <a:r>
              <a:rPr lang="en-US" altLang="zh-CN" dirty="0">
                <a:latin typeface="Times New Roman" panose="02020603050405020304" pitchFamily="18" charset="0"/>
              </a:rPr>
              <a:t>α</a:t>
            </a:r>
            <a:r>
              <a:rPr lang="zh-CN" altLang="en-US" dirty="0">
                <a:latin typeface="Times New Roman" panose="02020603050405020304" pitchFamily="18" charset="0"/>
              </a:rPr>
              <a:t>是一个大小合适的素数，如</a:t>
            </a:r>
            <a:r>
              <a:rPr lang="en-US" altLang="zh-CN" dirty="0">
                <a:latin typeface="Times New Roman" panose="02020603050405020304" pitchFamily="18" charset="0"/>
              </a:rPr>
              <a:t>α=65599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0" hangingPunct="0">
              <a:spcBef>
                <a:spcPct val="3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把上面确定的整数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变换成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m-1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之间的整数</a:t>
            </a:r>
            <a:r>
              <a:rPr lang="zh-CN" altLang="en-US" dirty="0">
                <a:latin typeface="Times New Roman" panose="02020603050405020304" pitchFamily="18" charset="0"/>
              </a:rPr>
              <a:t>。直接除以</a:t>
            </a:r>
            <a:r>
              <a:rPr lang="en-US" altLang="zh-CN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然后取余数。</a:t>
            </a:r>
            <a:r>
              <a:rPr lang="en-US" altLang="zh-CN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是散列表的大小，一般应为素数。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0" hangingPunct="0">
              <a:spcBef>
                <a:spcPct val="4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下边是一个散列函数，它用于</a:t>
            </a:r>
            <a:r>
              <a:rPr lang="en-US" altLang="zh-CN" dirty="0">
                <a:latin typeface="Times New Roman" panose="02020603050405020304" pitchFamily="18" charset="0"/>
              </a:rPr>
              <a:t>P.J.Weinberger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编译器。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2" eaLnBrk="0" hangingPunct="0">
              <a:spcBef>
                <a:spcPct val="1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#define PRIME 211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2" eaLnBrk="0" hangingPunct="0">
              <a:spcBef>
                <a:spcPct val="1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#define EOS ‘\0’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2" eaLnBrk="0" hangingPunct="0">
              <a:spcBef>
                <a:spcPct val="1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int hashpjw(char * s)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2" eaLnBrk="0" hangingPunct="0">
              <a:spcBef>
                <a:spcPct val="1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{ char * p;   unsigned h = 0,g;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2" eaLnBrk="0" hangingPunct="0">
              <a:spcBef>
                <a:spcPct val="1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  for ( p=s; *p !=EOS; p ++ ) {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2" eaLnBrk="0" hangingPunct="0">
              <a:spcBef>
                <a:spcPct val="1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     h = (h&lt;&lt;4)+(*p);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2" eaLnBrk="0" hangingPunct="0">
              <a:spcBef>
                <a:spcPct val="1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     if (g = h&amp;0xf0000000) { h = h^(g&gt;&gt;24);  h = h^g; }  //^</a:t>
            </a:r>
            <a:r>
              <a:rPr lang="zh-CN" altLang="en-US" sz="2000" dirty="0">
                <a:latin typeface="Times New Roman" panose="02020603050405020304" pitchFamily="18" charset="0"/>
              </a:rPr>
              <a:t>：按位异或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 lvl="2" eaLnBrk="0" hangingPunct="0">
              <a:spcBef>
                <a:spcPct val="1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</a:t>
            </a:r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2" eaLnBrk="0" hangingPunct="0">
              <a:spcBef>
                <a:spcPct val="1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  return h%PRIME;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2" eaLnBrk="0" hangingPunct="0">
              <a:spcBef>
                <a:spcPct val="1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27651" name="矩形 2"/>
          <p:cNvSpPr/>
          <p:nvPr/>
        </p:nvSpPr>
        <p:spPr>
          <a:xfrm>
            <a:off x="642938" y="0"/>
            <a:ext cx="65008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一般情况下，符号表中的散列函数可如下处理：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674" name="Picture 2"/>
          <p:cNvPicPr>
            <a:picLocks noChangeAspect="1"/>
          </p:cNvPicPr>
          <p:nvPr/>
        </p:nvPicPr>
        <p:blipFill>
          <a:blip r:embed="rId1"/>
          <a:srcRect l="9375" t="28790" r="7031" b="34502"/>
          <a:stretch>
            <a:fillRect/>
          </a:stretch>
        </p:blipFill>
        <p:spPr>
          <a:xfrm>
            <a:off x="642938" y="214313"/>
            <a:ext cx="7643812" cy="36433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5" name="Picture 3"/>
          <p:cNvPicPr>
            <a:picLocks noChangeAspect="1"/>
          </p:cNvPicPr>
          <p:nvPr/>
        </p:nvPicPr>
        <p:blipFill>
          <a:blip r:embed="rId2"/>
          <a:srcRect l="10156" t="27687" r="7031" b="46400"/>
          <a:stretch>
            <a:fillRect/>
          </a:stretch>
        </p:blipFill>
        <p:spPr>
          <a:xfrm>
            <a:off x="785813" y="3857625"/>
            <a:ext cx="7572375" cy="2571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8" name="Picture 2"/>
          <p:cNvPicPr>
            <a:picLocks noChangeAspect="1"/>
          </p:cNvPicPr>
          <p:nvPr/>
        </p:nvPicPr>
        <p:blipFill>
          <a:blip r:embed="rId1"/>
          <a:srcRect l="10156" t="35988" r="8594" b="7869"/>
          <a:stretch>
            <a:fillRect/>
          </a:stretch>
        </p:blipFill>
        <p:spPr>
          <a:xfrm>
            <a:off x="571500" y="428625"/>
            <a:ext cx="8001000" cy="600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/>
          <p:nvPr/>
        </p:nvSpPr>
        <p:spPr>
          <a:xfrm>
            <a:off x="381000" y="990600"/>
            <a:ext cx="8382000" cy="519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6700" algn="just" eaLnBrk="0" hangingPunct="0">
              <a:lnSpc>
                <a:spcPct val="12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   </a:t>
            </a:r>
            <a:r>
              <a:rPr lang="zh-CN" altLang="en-US" sz="2800" dirty="0">
                <a:latin typeface="宋体" panose="02010600030101010101" pitchFamily="2" charset="-122"/>
              </a:rPr>
              <a:t>每个名字在符号表中占一栏，称为一个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条目</a:t>
            </a:r>
            <a:r>
              <a:rPr lang="zh-CN" altLang="en-US" sz="2800" dirty="0">
                <a:latin typeface="宋体" panose="02010600030101010101" pitchFamily="2" charset="-122"/>
              </a:rPr>
              <a:t>。条目的格式无需统一，因为不同名字所需保存的信息不同。条目可以用连续的内存字构成的记录来实现。为了保持符号表记录的统一和较高的空间利用率，名字的有些信息可以另外存放，而把指向这些信息的指针放在符号表条目的某个域。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indent="266700" algn="just" eaLnBrk="0" hangingPunct="0">
              <a:lnSpc>
                <a:spcPct val="12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  当遇到一个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新名字</a:t>
            </a:r>
            <a:r>
              <a:rPr lang="zh-CN" altLang="en-US" sz="2800" dirty="0">
                <a:latin typeface="宋体" panose="02010600030101010101" pitchFamily="2" charset="-122"/>
              </a:rPr>
              <a:t>时，就为它建立一个新的条目，并把到目前为止已知的信息填写到属性中，而把暂时不知的属性空起来，等以后确定后再填（回填）。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30723" name="Rectangle 3"/>
          <p:cNvSpPr/>
          <p:nvPr/>
        </p:nvSpPr>
        <p:spPr>
          <a:xfrm>
            <a:off x="304800" y="304800"/>
            <a:ext cx="7772400" cy="609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r>
              <a:rPr lang="en-US" altLang="zh-CN" sz="3200" dirty="0">
                <a:latin typeface="宋体" panose="02010600030101010101" pitchFamily="2" charset="-122"/>
              </a:rPr>
              <a:t>5.2.3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宋体" panose="02010600030101010101" pitchFamily="2" charset="-122"/>
              </a:rPr>
              <a:t>符号表条目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/>
          <p:nvPr/>
        </p:nvSpPr>
        <p:spPr>
          <a:xfrm>
            <a:off x="381000" y="381000"/>
            <a:ext cx="8305800" cy="5605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因为不同作用域中的两个变量可以用同一个名字，因此条目中的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名字可以不唯一</a:t>
            </a:r>
            <a:r>
              <a:rPr lang="zh-CN" altLang="en-US" dirty="0">
                <a:latin typeface="宋体" panose="02010600030101010101" pitchFamily="2" charset="-122"/>
              </a:rPr>
              <a:t>。另外，有些语言也允许同一个作用域中，一个名字表示两个以上不同类型的对象，例如</a:t>
            </a:r>
            <a:r>
              <a:rPr lang="en-US" altLang="zh-CN" dirty="0">
                <a:latin typeface="宋体" panose="02010600030101010101" pitchFamily="2" charset="-122"/>
              </a:rPr>
              <a:t>C</a:t>
            </a:r>
            <a:r>
              <a:rPr lang="zh-CN" altLang="en-US" dirty="0">
                <a:latin typeface="宋体" panose="02010600030101010101" pitchFamily="2" charset="-122"/>
              </a:rPr>
              <a:t>的如下声明：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2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latin typeface="宋体" panose="02010600030101010101" pitchFamily="2" charset="-122"/>
              </a:rPr>
              <a:t>int x;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2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latin typeface="宋体" panose="02010600030101010101" pitchFamily="2" charset="-122"/>
              </a:rPr>
              <a:t>struct x { float y, z; };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0" hangingPunct="0">
              <a:lnSpc>
                <a:spcPct val="110000"/>
              </a:lnSpc>
              <a:spcBef>
                <a:spcPct val="2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那么在同一作用域中，</a:t>
            </a:r>
            <a:r>
              <a:rPr lang="en-US" altLang="zh-CN" dirty="0">
                <a:latin typeface="宋体" panose="02010600030101010101" pitchFamily="2" charset="-122"/>
              </a:rPr>
              <a:t>x</a:t>
            </a:r>
            <a:r>
              <a:rPr lang="zh-CN" altLang="en-US" dirty="0">
                <a:latin typeface="宋体" panose="02010600030101010101" pitchFamily="2" charset="-122"/>
              </a:rPr>
              <a:t>既可以表示一个整型对象，又可以表示一个结构对象。所以符号表中要为</a:t>
            </a:r>
            <a:r>
              <a:rPr lang="en-US" altLang="zh-CN" dirty="0">
                <a:latin typeface="宋体" panose="02010600030101010101" pitchFamily="2" charset="-122"/>
              </a:rPr>
              <a:t>x</a:t>
            </a:r>
            <a:r>
              <a:rPr lang="zh-CN" altLang="en-US" dirty="0">
                <a:latin typeface="宋体" panose="02010600030101010101" pitchFamily="2" charset="-122"/>
              </a:rPr>
              <a:t>建立两个条目，名字一样，但类型不同。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因此除名字外，还需要若干域合起来标记一个条目（组合关键字）</a:t>
            </a:r>
            <a:r>
              <a:rPr lang="zh-CN" altLang="en-US" dirty="0">
                <a:latin typeface="宋体" panose="02010600030101010101" pitchFamily="2" charset="-122"/>
              </a:rPr>
              <a:t>。例如，为</a:t>
            </a:r>
            <a:r>
              <a:rPr lang="en-US" altLang="zh-CN" dirty="0">
                <a:latin typeface="宋体" panose="02010600030101010101" pitchFamily="2" charset="-122"/>
              </a:rPr>
              <a:t>C</a:t>
            </a:r>
            <a:r>
              <a:rPr lang="zh-CN" altLang="en-US" dirty="0">
                <a:latin typeface="宋体" panose="02010600030101010101" pitchFamily="2" charset="-122"/>
              </a:rPr>
              <a:t>构造的符号表中，一个名字的组合关键字至少应该包括三项：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名字＋作用域＋类型</a:t>
            </a:r>
            <a:r>
              <a:rPr lang="zh-CN" altLang="en-US" dirty="0">
                <a:latin typeface="宋体" panose="02010600030101010101" pitchFamily="2" charset="-122"/>
              </a:rPr>
              <a:t>。有些程序设计语言在语法上规定了不允许这样的声明，以便简化编译时的处理。</a:t>
            </a:r>
            <a:r>
              <a:rPr lang="zh-CN" altLang="en-US" sz="2800" dirty="0">
                <a:latin typeface="宋体" panose="02010600030101010101" pitchFamily="2" charset="-122"/>
              </a:rPr>
              <a:t> 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2"/>
          <p:cNvSpPr txBox="1"/>
          <p:nvPr/>
        </p:nvSpPr>
        <p:spPr>
          <a:xfrm>
            <a:off x="304800" y="319088"/>
            <a:ext cx="8839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符号表条目的结构（符号的内部表示，以标识符为例）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2771" name="Text Box 3"/>
          <p:cNvSpPr txBox="1"/>
          <p:nvPr/>
        </p:nvSpPr>
        <p:spPr>
          <a:xfrm>
            <a:off x="457200" y="838200"/>
            <a:ext cx="8458200" cy="160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首先可写出如下类型声明：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TYPE  idKind =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spcBef>
                <a:spcPct val="1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     (  consKind,  typeKind,  varKind,  fieldKind,  procKind,  funKind  )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则各种标识符的内部表示可以是：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02419" name="Group 307"/>
          <p:cNvGraphicFramePr>
            <a:graphicFrameLocks noGrp="1"/>
          </p:cNvGraphicFramePr>
          <p:nvPr/>
        </p:nvGraphicFramePr>
        <p:xfrm>
          <a:off x="2057400" y="2743200"/>
          <a:ext cx="3657600" cy="3810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↑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consKind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02418" name="Group 306"/>
          <p:cNvGraphicFramePr>
            <a:graphicFrameLocks noGrp="1"/>
          </p:cNvGraphicFramePr>
          <p:nvPr/>
        </p:nvGraphicFramePr>
        <p:xfrm>
          <a:off x="2057400" y="3568700"/>
          <a:ext cx="3657600" cy="365125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↑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typeKind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02423" name="Group 311"/>
          <p:cNvGraphicFramePr>
            <a:graphicFrameLocks noGrp="1"/>
          </p:cNvGraphicFramePr>
          <p:nvPr/>
        </p:nvGraphicFramePr>
        <p:xfrm>
          <a:off x="2057400" y="4419600"/>
          <a:ext cx="6781800" cy="365125"/>
        </p:xfrm>
        <a:graphic>
          <a:graphicData uri="http://schemas.openxmlformats.org/drawingml/2006/table">
            <a:tbl>
              <a:tblPr/>
              <a:tblGrid>
                <a:gridCol w="1166813"/>
                <a:gridCol w="1166812"/>
                <a:gridCol w="1166813"/>
                <a:gridCol w="1300162"/>
                <a:gridCol w="1981200"/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↑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varKind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(dir,indir)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作用域层数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相对本层的偏移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02420" name="Group 308"/>
          <p:cNvGraphicFramePr>
            <a:graphicFrameLocks noGrp="1"/>
          </p:cNvGraphicFramePr>
          <p:nvPr/>
        </p:nvGraphicFramePr>
        <p:xfrm>
          <a:off x="2108200" y="3276600"/>
          <a:ext cx="3657600" cy="381000"/>
        </p:xfrm>
        <a:graphic>
          <a:graphicData uri="http://schemas.openxmlformats.org/drawingml/2006/table">
            <a:tbl>
              <a:tblPr/>
              <a:tblGrid>
                <a:gridCol w="1219200"/>
                <a:gridCol w="1168400"/>
                <a:gridCol w="12700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TypePtr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Kind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Forward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02312" name="Group 200"/>
          <p:cNvGraphicFramePr>
            <a:graphicFrameLocks noGrp="1"/>
          </p:cNvGraphicFramePr>
          <p:nvPr/>
        </p:nvGraphicFramePr>
        <p:xfrm>
          <a:off x="2057400" y="4124325"/>
          <a:ext cx="6096000" cy="3810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TypePtr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Kind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Access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Level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Off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02270" name="Group 158"/>
          <p:cNvGraphicFramePr>
            <a:graphicFrameLocks noGrp="1"/>
          </p:cNvGraphicFramePr>
          <p:nvPr/>
        </p:nvGraphicFramePr>
        <p:xfrm>
          <a:off x="2057400" y="2438400"/>
          <a:ext cx="3657600" cy="3810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TypePtr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Kind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20" name="Text Box 153"/>
          <p:cNvSpPr txBox="1"/>
          <p:nvPr/>
        </p:nvSpPr>
        <p:spPr>
          <a:xfrm>
            <a:off x="609600" y="2667000"/>
            <a:ext cx="1524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常量标识符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32821" name="Text Box 175"/>
          <p:cNvSpPr txBox="1"/>
          <p:nvPr/>
        </p:nvSpPr>
        <p:spPr>
          <a:xfrm>
            <a:off x="609600" y="3565525"/>
            <a:ext cx="1524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类型标识符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32822" name="Text Box 176"/>
          <p:cNvSpPr txBox="1"/>
          <p:nvPr/>
        </p:nvSpPr>
        <p:spPr>
          <a:xfrm>
            <a:off x="609600" y="4403725"/>
            <a:ext cx="1524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变量标识符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Text Box 2"/>
          <p:cNvSpPr txBox="1"/>
          <p:nvPr/>
        </p:nvSpPr>
        <p:spPr>
          <a:xfrm>
            <a:off x="533400" y="457200"/>
            <a:ext cx="8458200" cy="1908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假设有声明部分：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4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CONST  pai = 3.14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1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TYPE     vector = ARRAY [1..10] OF integer;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1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VAR       x,y: real;   r,s: vector;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spcBef>
                <a:spcPct val="1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则：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04300" name="Group 140"/>
          <p:cNvGraphicFramePr>
            <a:graphicFrameLocks noGrp="1"/>
          </p:cNvGraphicFramePr>
          <p:nvPr/>
        </p:nvGraphicFramePr>
        <p:xfrm>
          <a:off x="685800" y="2667000"/>
          <a:ext cx="4876800" cy="396875"/>
        </p:xfrm>
        <a:graphic>
          <a:graphicData uri="http://schemas.openxmlformats.org/drawingml/2006/table">
            <a:tbl>
              <a:tblPr/>
              <a:tblGrid>
                <a:gridCol w="990600"/>
                <a:gridCol w="1447800"/>
                <a:gridCol w="1219200"/>
                <a:gridCol w="12192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pai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realPtr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consKind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3.14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04301" name="Group 141"/>
          <p:cNvGraphicFramePr>
            <a:graphicFrameLocks noGrp="1"/>
          </p:cNvGraphicFramePr>
          <p:nvPr/>
        </p:nvGraphicFramePr>
        <p:xfrm>
          <a:off x="685800" y="3263900"/>
          <a:ext cx="4876800" cy="396875"/>
        </p:xfrm>
        <a:graphic>
          <a:graphicData uri="http://schemas.openxmlformats.org/drawingml/2006/table">
            <a:tbl>
              <a:tblPr/>
              <a:tblGrid>
                <a:gridCol w="990600"/>
                <a:gridCol w="1447800"/>
                <a:gridCol w="1219200"/>
                <a:gridCol w="1219200"/>
              </a:tblGrid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vector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aPtr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typeKind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819" name="表格 33818"/>
          <p:cNvGraphicFramePr/>
          <p:nvPr/>
        </p:nvGraphicFramePr>
        <p:xfrm>
          <a:off x="685800" y="3810000"/>
          <a:ext cx="8305800" cy="396875"/>
        </p:xfrm>
        <a:graphic>
          <a:graphicData uri="http://schemas.openxmlformats.org/drawingml/2006/table">
            <a:tbl>
              <a:tblPr/>
              <a:tblGrid>
                <a:gridCol w="990600"/>
                <a:gridCol w="1447800"/>
                <a:gridCol w="1219200"/>
                <a:gridCol w="1219200"/>
                <a:gridCol w="1219200"/>
                <a:gridCol w="2209800"/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2000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endParaRPr lang="en-US" altLang="zh-CN" sz="2000" dirty="0">
                        <a:solidFill>
                          <a:schemeClr val="hlink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realPtr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varKind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dir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L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0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835" name="表格 33834"/>
          <p:cNvGraphicFramePr/>
          <p:nvPr/>
        </p:nvGraphicFramePr>
        <p:xfrm>
          <a:off x="685800" y="4283075"/>
          <a:ext cx="8305800" cy="396875"/>
        </p:xfrm>
        <a:graphic>
          <a:graphicData uri="http://schemas.openxmlformats.org/drawingml/2006/table">
            <a:tbl>
              <a:tblPr/>
              <a:tblGrid>
                <a:gridCol w="990600"/>
                <a:gridCol w="1447800"/>
                <a:gridCol w="1219200"/>
                <a:gridCol w="1219200"/>
                <a:gridCol w="1219200"/>
                <a:gridCol w="2209800"/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2000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</a:rPr>
                        <a:t>y</a:t>
                      </a:r>
                      <a:endParaRPr lang="en-US" altLang="zh-CN" sz="2000" dirty="0">
                        <a:solidFill>
                          <a:schemeClr val="hlink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realPtr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varKind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dir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L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8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851" name="表格 33850"/>
          <p:cNvGraphicFramePr/>
          <p:nvPr/>
        </p:nvGraphicFramePr>
        <p:xfrm>
          <a:off x="685800" y="4800600"/>
          <a:ext cx="8305800" cy="396875"/>
        </p:xfrm>
        <a:graphic>
          <a:graphicData uri="http://schemas.openxmlformats.org/drawingml/2006/table">
            <a:tbl>
              <a:tblPr/>
              <a:tblGrid>
                <a:gridCol w="990600"/>
                <a:gridCol w="1447800"/>
                <a:gridCol w="1219200"/>
                <a:gridCol w="1219200"/>
                <a:gridCol w="1219200"/>
                <a:gridCol w="2209800"/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2000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</a:rPr>
                        <a:t>r</a:t>
                      </a:r>
                      <a:endParaRPr lang="en-US" altLang="zh-CN" sz="2000" dirty="0">
                        <a:solidFill>
                          <a:schemeClr val="hlink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aPtr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varKind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dir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L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16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867" name="表格 33866"/>
          <p:cNvGraphicFramePr/>
          <p:nvPr/>
        </p:nvGraphicFramePr>
        <p:xfrm>
          <a:off x="685800" y="5472113"/>
          <a:ext cx="8305800" cy="396875"/>
        </p:xfrm>
        <a:graphic>
          <a:graphicData uri="http://schemas.openxmlformats.org/drawingml/2006/table">
            <a:tbl>
              <a:tblPr/>
              <a:tblGrid>
                <a:gridCol w="990600"/>
                <a:gridCol w="1447800"/>
                <a:gridCol w="1219200"/>
                <a:gridCol w="1219200"/>
                <a:gridCol w="1219200"/>
                <a:gridCol w="2209800"/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2000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</a:rPr>
                        <a:t>s</a:t>
                      </a:r>
                      <a:endParaRPr lang="en-US" altLang="zh-CN" sz="2000" dirty="0">
                        <a:solidFill>
                          <a:schemeClr val="hlink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aPtr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varKind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dir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L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None/>
                      </a:pPr>
                      <a:r>
                        <a:rPr lang="en-US" altLang="zh-CN" sz="1800" b="0" dirty="0">
                          <a:latin typeface="Tahoma" panose="020B0604030504040204" pitchFamily="34" charset="0"/>
                        </a:rPr>
                        <a:t>56</a:t>
                      </a:r>
                      <a:endParaRPr lang="en-US" altLang="zh-CN" sz="1800" b="0" dirty="0">
                        <a:latin typeface="Tahom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3883" name="AutoShape 114"/>
          <p:cNvCxnSpPr/>
          <p:nvPr/>
        </p:nvCxnSpPr>
        <p:spPr>
          <a:xfrm rot="-5400000" flipV="1">
            <a:off x="339725" y="3806825"/>
            <a:ext cx="2405063" cy="1714500"/>
          </a:xfrm>
          <a:prstGeom prst="bentConnector4">
            <a:avLst>
              <a:gd name="adj1" fmla="val -9505"/>
              <a:gd name="adj2" fmla="val 113333"/>
            </a:avLst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triangle" w="med" len="med"/>
          </a:ln>
        </p:spPr>
      </p:cxnSp>
      <p:cxnSp>
        <p:nvCxnSpPr>
          <p:cNvPr id="33884" name="AutoShape 146"/>
          <p:cNvCxnSpPr/>
          <p:nvPr/>
        </p:nvCxnSpPr>
        <p:spPr>
          <a:xfrm rot="-5400000" flipV="1">
            <a:off x="676275" y="3471863"/>
            <a:ext cx="1733550" cy="1714500"/>
          </a:xfrm>
          <a:prstGeom prst="bentConnector4">
            <a:avLst>
              <a:gd name="adj1" fmla="val -7421"/>
              <a:gd name="adj2" fmla="val 107037"/>
            </a:avLst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triangle" w="med" len="med"/>
          </a:ln>
        </p:spPr>
      </p:cxn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3"/>
          <p:cNvSpPr/>
          <p:nvPr/>
        </p:nvSpPr>
        <p:spPr>
          <a:xfrm>
            <a:off x="533400" y="609600"/>
            <a:ext cx="8001000" cy="292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练习：设当前层数为</a:t>
            </a:r>
            <a:r>
              <a:rPr lang="en-US" altLang="zh-CN" sz="2000" dirty="0">
                <a:latin typeface="Times New Roman" panose="02020603050405020304" pitchFamily="18" charset="0"/>
              </a:rPr>
              <a:t>L</a:t>
            </a:r>
            <a:r>
              <a:rPr lang="zh-CN" altLang="en-US" sz="2000" dirty="0">
                <a:latin typeface="Times New Roman" panose="02020603050405020304" pitchFamily="18" charset="0"/>
              </a:rPr>
              <a:t>，可用偏移量</a:t>
            </a:r>
            <a:r>
              <a:rPr lang="en-US" altLang="zh-CN" sz="2000" dirty="0">
                <a:latin typeface="Times New Roman" panose="02020603050405020304" pitchFamily="18" charset="0"/>
              </a:rPr>
              <a:t>Offset</a:t>
            </a:r>
            <a:r>
              <a:rPr lang="zh-CN" altLang="en-US" sz="2000" dirty="0">
                <a:latin typeface="Times New Roman" panose="02020603050405020304" pitchFamily="18" charset="0"/>
              </a:rPr>
              <a:t>值为</a:t>
            </a:r>
            <a:r>
              <a:rPr lang="en-US" altLang="zh-CN" sz="2000" dirty="0">
                <a:latin typeface="Times New Roman" panose="02020603050405020304" pitchFamily="18" charset="0"/>
              </a:rPr>
              <a:t>101</a:t>
            </a:r>
            <a:r>
              <a:rPr lang="zh-CN" altLang="en-US" sz="2000" dirty="0">
                <a:latin typeface="Times New Roman" panose="02020603050405020304" pitchFamily="18" charset="0"/>
              </a:rPr>
              <a:t>，且有下面程序，写出本层符号表的内容。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 marL="457200" indent="-457200">
              <a:spcBef>
                <a:spcPct val="20000"/>
              </a:spcBef>
            </a:pPr>
            <a:endParaRPr lang="zh-CN" altLang="en-US" sz="2000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const  m = 333;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          n = 444;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type  at = array[1..10]  of  real;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        rt = array[1..10]  of  at;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914400" lvl="1" indent="-457200" eaLnBrk="1" hangingPunct="1"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VAR  a,b : rt;    x,y : real;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PP_MARK_KEY" val="6e8cc97d-7b05-4004-b422-cdf31f9c9d9f"/>
  <p:tag name="COMMONDATA" val="eyJoZGlkIjoiYWZhMDYyMDkyNmI0MzgzZTQ1NzlkOWQ4NjlhNmM1ZGU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4916</Words>
  <Application>WPS 演示</Application>
  <PresentationFormat>全屏显示(4:3)</PresentationFormat>
  <Paragraphs>294</Paragraphs>
  <Slides>26</Slides>
  <Notes>1</Notes>
  <HiddenSlides>0</HiddenSlides>
  <MMClips>0</MMClips>
  <ScaleCrop>false</ScaleCrop>
  <HeadingPairs>
    <vt:vector size="10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26</vt:i4>
      </vt:variant>
      <vt:variant>
        <vt:lpstr>自定义放映</vt:lpstr>
      </vt:variant>
      <vt:variant>
        <vt:i4>1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Lucida Sans Unicode</vt:lpstr>
      <vt:lpstr>黑体</vt:lpstr>
      <vt:lpstr>Wingdings 3</vt:lpstr>
      <vt:lpstr>Symbol</vt:lpstr>
      <vt:lpstr>Verdana</vt:lpstr>
      <vt:lpstr>Wingdings 2</vt:lpstr>
      <vt:lpstr>Wingdings</vt:lpstr>
      <vt:lpstr>Wingdings 2</vt:lpstr>
      <vt:lpstr>微软雅黑</vt:lpstr>
      <vt:lpstr>Arial Unicode MS</vt:lpstr>
      <vt:lpstr>Tahoma</vt:lpstr>
      <vt:lpstr>聚合</vt:lpstr>
      <vt:lpstr>Visio.Drawing.6</vt:lpstr>
      <vt:lpstr>Visio.Drawing.6</vt:lpstr>
      <vt:lpstr>5.2 符号表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符号表条目</vt:lpstr>
    </vt:vector>
  </TitlesOfParts>
  <Company>rgkj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 Viscual Basic6.0程序设       计实验指导与习题详解》</dc:title>
  <dc:creator>ws021</dc:creator>
  <cp:lastModifiedBy>Administrator</cp:lastModifiedBy>
  <cp:revision>702</cp:revision>
  <dcterms:created xsi:type="dcterms:W3CDTF">2001-08-16T12:48:00Z</dcterms:created>
  <dcterms:modified xsi:type="dcterms:W3CDTF">2023-05-06T03:24:48Z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D1F5F85A332B416997B41CBCF7F59C06_12</vt:lpwstr>
  </property>
  <property fmtid="{D5CDD505-2E9C-101B-9397-08002B2CF9AE}" pid="3" name="KSOProductBuildVer">
    <vt:lpwstr>2052-11.1.0.14036</vt:lpwstr>
  </property>
</Properties>
</file>