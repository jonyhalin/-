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handoutMasterIdLst>
    <p:handoutMasterId r:id="rId37"/>
  </p:handoutMasterIdLst>
  <p:sldIdLst>
    <p:sldId id="628" r:id="rId3"/>
    <p:sldId id="651" r:id="rId4"/>
    <p:sldId id="630" r:id="rId5"/>
    <p:sldId id="631" r:id="rId6"/>
    <p:sldId id="632" r:id="rId7"/>
    <p:sldId id="633" r:id="rId8"/>
    <p:sldId id="604" r:id="rId9"/>
    <p:sldId id="652" r:id="rId11"/>
    <p:sldId id="609" r:id="rId12"/>
    <p:sldId id="626" r:id="rId13"/>
    <p:sldId id="655" r:id="rId14"/>
    <p:sldId id="654" r:id="rId15"/>
    <p:sldId id="606" r:id="rId16"/>
    <p:sldId id="615" r:id="rId17"/>
    <p:sldId id="616" r:id="rId18"/>
    <p:sldId id="617" r:id="rId19"/>
    <p:sldId id="627" r:id="rId20"/>
    <p:sldId id="618" r:id="rId21"/>
    <p:sldId id="612" r:id="rId22"/>
    <p:sldId id="656" r:id="rId23"/>
    <p:sldId id="658" r:id="rId24"/>
    <p:sldId id="660" r:id="rId25"/>
    <p:sldId id="620" r:id="rId26"/>
    <p:sldId id="622" r:id="rId27"/>
    <p:sldId id="663" r:id="rId28"/>
    <p:sldId id="623" r:id="rId29"/>
    <p:sldId id="621" r:id="rId30"/>
    <p:sldId id="624" r:id="rId31"/>
    <p:sldId id="662" r:id="rId32"/>
    <p:sldId id="664" r:id="rId33"/>
    <p:sldId id="661" r:id="rId34"/>
    <p:sldId id="625" r:id="rId35"/>
    <p:sldId id="613" r:id="rId36"/>
  </p:sldIdLst>
  <p:sldSz cx="9144000" cy="6858000" type="screen4x3"/>
  <p:notesSz cx="6858000" cy="9144000"/>
  <p:custDataLst>
    <p:tags r:id="rId41"/>
  </p:custDataLst>
  <p:defaultTextStyle>
    <a:defPPr>
      <a:defRPr lang="zh-CN"/>
    </a:defPPr>
    <a:lvl1pPr algn="l" rtl="0" fontAlgn="base">
      <a:spcBef>
        <a:spcPct val="0"/>
      </a:spcBef>
      <a:spcAft>
        <a:spcPct val="0"/>
      </a:spcAft>
      <a:defRPr kumimoji="1" sz="2000" b="1" kern="1200">
        <a:solidFill>
          <a:schemeClr val="tx1"/>
        </a:solidFill>
        <a:latin typeface="Times New Roman" panose="02020603050405020304" charset="0"/>
        <a:ea typeface="宋体" panose="02010600030101010101" pitchFamily="2" charset="-122"/>
        <a:cs typeface="+mn-cs"/>
      </a:defRPr>
    </a:lvl1pPr>
    <a:lvl2pPr marL="457200" algn="l" rtl="0" fontAlgn="base">
      <a:spcBef>
        <a:spcPct val="0"/>
      </a:spcBef>
      <a:spcAft>
        <a:spcPct val="0"/>
      </a:spcAft>
      <a:defRPr kumimoji="1" sz="2000" b="1" kern="1200">
        <a:solidFill>
          <a:schemeClr val="tx1"/>
        </a:solidFill>
        <a:latin typeface="Times New Roman" panose="02020603050405020304" charset="0"/>
        <a:ea typeface="宋体" panose="02010600030101010101" pitchFamily="2" charset="-122"/>
        <a:cs typeface="+mn-cs"/>
      </a:defRPr>
    </a:lvl2pPr>
    <a:lvl3pPr marL="914400" algn="l" rtl="0" fontAlgn="base">
      <a:spcBef>
        <a:spcPct val="0"/>
      </a:spcBef>
      <a:spcAft>
        <a:spcPct val="0"/>
      </a:spcAft>
      <a:defRPr kumimoji="1" sz="2000" b="1" kern="1200">
        <a:solidFill>
          <a:schemeClr val="tx1"/>
        </a:solidFill>
        <a:latin typeface="Times New Roman" panose="02020603050405020304" charset="0"/>
        <a:ea typeface="宋体" panose="02010600030101010101" pitchFamily="2" charset="-122"/>
        <a:cs typeface="+mn-cs"/>
      </a:defRPr>
    </a:lvl3pPr>
    <a:lvl4pPr marL="1371600" algn="l" rtl="0" fontAlgn="base">
      <a:spcBef>
        <a:spcPct val="0"/>
      </a:spcBef>
      <a:spcAft>
        <a:spcPct val="0"/>
      </a:spcAft>
      <a:defRPr kumimoji="1" sz="2000" b="1" kern="1200">
        <a:solidFill>
          <a:schemeClr val="tx1"/>
        </a:solidFill>
        <a:latin typeface="Times New Roman" panose="02020603050405020304" charset="0"/>
        <a:ea typeface="宋体" panose="02010600030101010101" pitchFamily="2" charset="-122"/>
        <a:cs typeface="+mn-cs"/>
      </a:defRPr>
    </a:lvl4pPr>
    <a:lvl5pPr marL="1828800" algn="l" rtl="0" fontAlgn="base">
      <a:spcBef>
        <a:spcPct val="0"/>
      </a:spcBef>
      <a:spcAft>
        <a:spcPct val="0"/>
      </a:spcAft>
      <a:defRPr kumimoji="1" sz="2000" b="1" kern="1200">
        <a:solidFill>
          <a:schemeClr val="tx1"/>
        </a:solidFill>
        <a:latin typeface="Times New Roman" panose="02020603050405020304" charset="0"/>
        <a:ea typeface="宋体" panose="02010600030101010101" pitchFamily="2" charset="-122"/>
        <a:cs typeface="+mn-cs"/>
      </a:defRPr>
    </a:lvl5pPr>
    <a:lvl6pPr marL="2286000" algn="l" defTabSz="914400" rtl="0" eaLnBrk="1" latinLnBrk="0" hangingPunct="1">
      <a:defRPr kumimoji="1" sz="2000" b="1" kern="1200">
        <a:solidFill>
          <a:schemeClr val="tx1"/>
        </a:solidFill>
        <a:latin typeface="Times New Roman" panose="02020603050405020304" charset="0"/>
        <a:ea typeface="宋体" panose="02010600030101010101" pitchFamily="2" charset="-122"/>
        <a:cs typeface="+mn-cs"/>
      </a:defRPr>
    </a:lvl6pPr>
    <a:lvl7pPr marL="2743200" algn="l" defTabSz="914400" rtl="0" eaLnBrk="1" latinLnBrk="0" hangingPunct="1">
      <a:defRPr kumimoji="1" sz="2000" b="1" kern="1200">
        <a:solidFill>
          <a:schemeClr val="tx1"/>
        </a:solidFill>
        <a:latin typeface="Times New Roman" panose="02020603050405020304" charset="0"/>
        <a:ea typeface="宋体" panose="02010600030101010101" pitchFamily="2" charset="-122"/>
        <a:cs typeface="+mn-cs"/>
      </a:defRPr>
    </a:lvl7pPr>
    <a:lvl8pPr marL="3200400" algn="l" defTabSz="914400" rtl="0" eaLnBrk="1" latinLnBrk="0" hangingPunct="1">
      <a:defRPr kumimoji="1" sz="2000" b="1" kern="1200">
        <a:solidFill>
          <a:schemeClr val="tx1"/>
        </a:solidFill>
        <a:latin typeface="Times New Roman" panose="02020603050405020304" charset="0"/>
        <a:ea typeface="宋体" panose="02010600030101010101" pitchFamily="2" charset="-122"/>
        <a:cs typeface="+mn-cs"/>
      </a:defRPr>
    </a:lvl8pPr>
    <a:lvl9pPr marL="3657600" algn="l" defTabSz="914400" rtl="0" eaLnBrk="1" latinLnBrk="0" hangingPunct="1">
      <a:defRPr kumimoji="1" sz="2000" b="1" kern="1200">
        <a:solidFill>
          <a:schemeClr val="tx1"/>
        </a:solidFill>
        <a:latin typeface="Times New Roman" panose="0202060305040502030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4" userDrawn="1">
          <p15:clr>
            <a:srgbClr val="A4A3A4"/>
          </p15:clr>
        </p15:guide>
        <p15:guide id="2" pos="2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31904" autoAdjust="0"/>
    <p:restoredTop sz="90609" autoAdjust="0"/>
  </p:normalViewPr>
  <p:slideViewPr>
    <p:cSldViewPr showGuides="1">
      <p:cViewPr>
        <p:scale>
          <a:sx n="75" d="100"/>
          <a:sy n="75" d="100"/>
        </p:scale>
        <p:origin x="-594" y="-858"/>
      </p:cViewPr>
      <p:guideLst>
        <p:guide orient="horz" pos="2174"/>
        <p:guide pos="284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75" d="100"/>
        <a:sy n="75" d="100"/>
      </p:scale>
      <p:origin x="0" y="0"/>
    </p:cViewPr>
  </p:notesTextViewPr>
  <p:notesViewPr>
    <p:cSldViewPr>
      <p:cViewPr varScale="1">
        <p:scale>
          <a:sx n="56" d="100"/>
          <a:sy n="56" d="100"/>
        </p:scale>
        <p:origin x="-1686" y="-72"/>
      </p:cViewPr>
      <p:guideLst>
        <p:guide orient="horz" pos="2900"/>
        <p:guide pos="213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gs" Target="tags/tag6.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5" Type="http://schemas.openxmlformats.org/officeDocument/2006/relationships/slide" Target="slides/slide33.xml"/><Relationship Id="rId4" Type="http://schemas.openxmlformats.org/officeDocument/2006/relationships/slide" Target="slides/slide19.xml"/><Relationship Id="rId3" Type="http://schemas.openxmlformats.org/officeDocument/2006/relationships/slide" Target="slides/slide10.xml"/><Relationship Id="rId2" Type="http://schemas.openxmlformats.org/officeDocument/2006/relationships/slide" Target="slides/slide9.xml"/><Relationship Id="rId1"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0"/>
            </a:lvl1pPr>
          </a:lstStyle>
          <a:p>
            <a:endParaRPr lang="en-US" altLang="zh-CN"/>
          </a:p>
        </p:txBody>
      </p:sp>
      <p:sp>
        <p:nvSpPr>
          <p:cNvPr id="54275"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vl1pPr>
          </a:lstStyle>
          <a:p>
            <a:endParaRPr lang="en-US" altLang="zh-CN"/>
          </a:p>
        </p:txBody>
      </p:sp>
      <p:sp>
        <p:nvSpPr>
          <p:cNvPr id="54276"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0"/>
            </a:lvl1pPr>
          </a:lstStyle>
          <a:p>
            <a:endParaRPr lang="en-US" altLang="zh-CN"/>
          </a:p>
        </p:txBody>
      </p:sp>
      <p:sp>
        <p:nvSpPr>
          <p:cNvPr id="5427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a:lvl1pPr>
          </a:lstStyle>
          <a:p>
            <a:fld id="{0CAE43D8-93A2-4D34-AA00-178B9728EED9}"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0"/>
            </a:lvl1pPr>
          </a:lstStyle>
          <a:p>
            <a:endParaRPr lang="en-US" altLang="zh-CN"/>
          </a:p>
        </p:txBody>
      </p:sp>
      <p:sp>
        <p:nvSpPr>
          <p:cNvPr id="4710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vl1pPr>
          </a:lstStyle>
          <a:p>
            <a:endParaRPr lang="en-US" altLang="zh-CN"/>
          </a:p>
        </p:txBody>
      </p:sp>
      <p:sp>
        <p:nvSpPr>
          <p:cNvPr id="471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p:spPr>
      </p:sp>
      <p:sp>
        <p:nvSpPr>
          <p:cNvPr id="4710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711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0"/>
            </a:lvl1pPr>
          </a:lstStyle>
          <a:p>
            <a:endParaRPr lang="en-US" altLang="zh-CN"/>
          </a:p>
        </p:txBody>
      </p:sp>
      <p:sp>
        <p:nvSpPr>
          <p:cNvPr id="4711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a:lvl1pPr>
          </a:lstStyle>
          <a:p>
            <a:fld id="{7FF1E025-3C54-49FD-B0BB-789879344FFB}"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709C13A-7342-4384-962E-ABA68B7E6AEC}" type="slidenum">
              <a:rPr lang="en-US" altLang="zh-CN"/>
            </a:fld>
            <a:endParaRPr lang="en-US" altLang="zh-CN"/>
          </a:p>
        </p:txBody>
      </p:sp>
      <p:sp>
        <p:nvSpPr>
          <p:cNvPr id="57958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ln>
        </p:spPr>
      </p:sp>
      <p:sp>
        <p:nvSpPr>
          <p:cNvPr id="57958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ln>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95BFDBA-9A1F-45CC-8304-46413391F49F}" type="slidenum">
              <a:rPr lang="en-US" altLang="zh-CN"/>
            </a:fld>
            <a:endParaRPr lang="en-US" altLang="zh-CN"/>
          </a:p>
        </p:txBody>
      </p:sp>
      <p:sp>
        <p:nvSpPr>
          <p:cNvPr id="630786" name="Rectangle 2"/>
          <p:cNvSpPr>
            <a:spLocks noGrp="1" noRot="1" noChangeAspect="1" noChangeArrowheads="1" noTextEdit="1"/>
          </p:cNvSpPr>
          <p:nvPr>
            <p:ph type="sldImg"/>
          </p:nvPr>
        </p:nvSpPr>
        <p:spPr/>
      </p:sp>
      <p:sp>
        <p:nvSpPr>
          <p:cNvPr id="6307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775D41A-3A66-45B0-96BA-8DBFCE18080F}" type="slidenum">
              <a:rPr lang="en-US" altLang="zh-CN"/>
            </a:fld>
            <a:endParaRPr lang="en-US" altLang="zh-CN"/>
          </a:p>
        </p:txBody>
      </p:sp>
      <p:sp>
        <p:nvSpPr>
          <p:cNvPr id="631810" name="Rectangle 2"/>
          <p:cNvSpPr>
            <a:spLocks noGrp="1" noRot="1" noChangeAspect="1" noChangeArrowheads="1" noTextEdit="1"/>
          </p:cNvSpPr>
          <p:nvPr>
            <p:ph type="sldImg"/>
          </p:nvPr>
        </p:nvSpPr>
        <p:spPr/>
      </p:sp>
      <p:sp>
        <p:nvSpPr>
          <p:cNvPr id="6318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775D41A-3A66-45B0-96BA-8DBFCE18080F}" type="slidenum">
              <a:rPr lang="en-US" altLang="zh-CN"/>
            </a:fld>
            <a:endParaRPr lang="en-US" altLang="zh-CN"/>
          </a:p>
        </p:txBody>
      </p:sp>
      <p:sp>
        <p:nvSpPr>
          <p:cNvPr id="631810" name="Rectangle 2"/>
          <p:cNvSpPr>
            <a:spLocks noGrp="1" noRot="1" noChangeAspect="1" noChangeArrowheads="1" noTextEdit="1"/>
          </p:cNvSpPr>
          <p:nvPr>
            <p:ph type="sldImg"/>
          </p:nvPr>
        </p:nvSpPr>
        <p:spPr/>
      </p:sp>
      <p:sp>
        <p:nvSpPr>
          <p:cNvPr id="631811"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grpSp>
        <p:nvGrpSpPr>
          <p:cNvPr id="2" name="组合 1"/>
          <p:cNvGrpSpPr/>
          <p:nvPr/>
        </p:nvGrpSpPr>
        <p:grpSpPr>
          <a:xfrm>
            <a:off x="-3765" y="4953000"/>
            <a:ext cx="9147765" cy="1912088"/>
            <a:chOff x="-3765" y="4832896"/>
            <a:chExt cx="9147765" cy="2032192"/>
          </a:xfrm>
        </p:grpSpPr>
        <p:sp>
          <p:nvSpPr>
            <p:cNvPr id="7" name="任意多边形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lstStyle>
          <a:p>
            <a:endParaRPr lang="en-US" altLang="zh-CN"/>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lstStyle>
          <a:p>
            <a:endParaRPr lang="en-US" altLang="zh-CN"/>
          </a:p>
        </p:txBody>
      </p:sp>
      <p:sp>
        <p:nvSpPr>
          <p:cNvPr id="27" name="灯片编号占位符 26"/>
          <p:cNvSpPr>
            <a:spLocks noGrp="1"/>
          </p:cNvSpPr>
          <p:nvPr>
            <p:ph type="sldNum" sz="quarter" idx="12"/>
          </p:nvPr>
        </p:nvSpPr>
        <p:spPr/>
        <p:txBody>
          <a:bodyPr/>
          <a:lstStyle>
            <a:lvl1pPr>
              <a:defRPr>
                <a:solidFill>
                  <a:srgbClr val="FFFFFF"/>
                </a:solidFill>
              </a:defRPr>
            </a:lvl1pPr>
          </a:lstStyle>
          <a:p>
            <a:fld id="{89F33271-D25E-4CBF-B338-2E4CC145B8A3}" type="slidenum">
              <a:rPr lang="en-US" altLang="zh-CN" smtClean="0"/>
            </a:fld>
            <a:endParaRPr lang="en-US" altLang="zh-CN"/>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107C2BAF-FC69-4422-B9C6-C621FF8635D6}" type="slidenum">
              <a:rPr lang="en-US" altLang="zh-CN" smtClean="0"/>
            </a:fld>
            <a:endParaRPr lang="en-US" altLang="zh-CN"/>
          </a:p>
        </p:txBody>
      </p:sp>
      <p:sp>
        <p:nvSpPr>
          <p:cNvPr id="7" name="标题 6"/>
          <p:cNvSpPr>
            <a:spLocks noGrp="1"/>
          </p:cNvSpPr>
          <p:nvPr>
            <p:ph type="title"/>
          </p:nvPr>
        </p:nvSpPr>
        <p:spPr/>
        <p:txBody>
          <a:bodyPr rtlCol="0"/>
          <a:lstStyle/>
          <a:p>
            <a:r>
              <a:rPr kumimoji="0" lang="zh-CN" altLang="en-US" smtClean="0"/>
              <a:t>单击此处编辑母版标题样式</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endParaRPr kumimoji="0" lang="zh-CN" altLang="en-US" smtClean="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82D0E89E-E9EC-4D88-A2CF-BC3882BF82DF}" type="slidenum">
              <a:rPr lang="en-US" altLang="zh-CN" smtClean="0"/>
            </a:fld>
            <a:endParaRPr lang="en-US" altLang="zh-CN"/>
          </a:p>
        </p:txBody>
      </p:sp>
      <p:sp>
        <p:nvSpPr>
          <p:cNvPr id="7" name="燕尾形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燕尾形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DE3DAC3D-695A-40C2-A791-79E5BDA9D181}" type="slidenum">
              <a:rPr lang="en-US" altLang="zh-CN" smtClean="0"/>
            </a:fld>
            <a:endParaRPr lang="en-US" altLang="zh-CN"/>
          </a:p>
        </p:txBody>
      </p:sp>
      <p:sp>
        <p:nvSpPr>
          <p:cNvPr id="8" name="标题 7"/>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endParaRPr lang="en-US" altLang="zh-CN"/>
          </a:p>
        </p:txBody>
      </p:sp>
      <p:sp>
        <p:nvSpPr>
          <p:cNvPr id="8" name="页脚占位符 7"/>
          <p:cNvSpPr>
            <a:spLocks noGrp="1"/>
          </p:cNvSpPr>
          <p:nvPr>
            <p:ph type="ftr" sz="quarter" idx="11"/>
          </p:nvPr>
        </p:nvSpPr>
        <p:spPr/>
        <p:txBody>
          <a:bodyPr/>
          <a:lstStyle/>
          <a:p>
            <a:endParaRPr lang="en-US" altLang="zh-CN"/>
          </a:p>
        </p:txBody>
      </p:sp>
      <p:sp>
        <p:nvSpPr>
          <p:cNvPr id="9" name="灯片编号占位符 8"/>
          <p:cNvSpPr>
            <a:spLocks noGrp="1"/>
          </p:cNvSpPr>
          <p:nvPr>
            <p:ph type="sldNum" sz="quarter" idx="12"/>
          </p:nvPr>
        </p:nvSpPr>
        <p:spPr/>
        <p:txBody>
          <a:bodyPr/>
          <a:lstStyle/>
          <a:p>
            <a:fld id="{08ED01F4-3038-46B8-B006-15F0CDBE3E6A}" type="slidenum">
              <a:rPr lang="en-US" altLang="zh-CN" smtClean="0"/>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en-US" altLang="zh-CN"/>
          </a:p>
        </p:txBody>
      </p:sp>
      <p:sp>
        <p:nvSpPr>
          <p:cNvPr id="4" name="页脚占位符 3"/>
          <p:cNvSpPr>
            <a:spLocks noGrp="1"/>
          </p:cNvSpPr>
          <p:nvPr>
            <p:ph type="ftr" sz="quarter" idx="11"/>
          </p:nvPr>
        </p:nvSpPr>
        <p:spPr/>
        <p:txBody>
          <a:bodyPr/>
          <a:lstStyle/>
          <a:p>
            <a:endParaRPr lang="en-US" altLang="zh-CN"/>
          </a:p>
        </p:txBody>
      </p:sp>
      <p:sp>
        <p:nvSpPr>
          <p:cNvPr id="5" name="灯片编号占位符 4"/>
          <p:cNvSpPr>
            <a:spLocks noGrp="1"/>
          </p:cNvSpPr>
          <p:nvPr>
            <p:ph type="sldNum" sz="quarter" idx="12"/>
          </p:nvPr>
        </p:nvSpPr>
        <p:spPr/>
        <p:txBody>
          <a:bodyPr/>
          <a:lstStyle/>
          <a:p>
            <a:fld id="{CA75F72C-1425-413C-829B-86610DFE266D}" type="slidenum">
              <a:rPr lang="en-US" altLang="zh-CN" smtClean="0"/>
            </a:fld>
            <a:endParaRPr lang="en-US" altLang="zh-CN"/>
          </a:p>
        </p:txBody>
      </p:sp>
      <p:sp>
        <p:nvSpPr>
          <p:cNvPr id="6" name="标题 5"/>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p>
            <a:fld id="{2B1636CA-47CC-4DCF-83C9-B3B54B658821}" type="slidenum">
              <a:rPr lang="en-US" altLang="zh-CN" smtClean="0"/>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6727032" y="6407944"/>
            <a:ext cx="1920240" cy="365760"/>
          </a:xfrm>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EA902805-9088-4FE9-8051-C18FD01BED3F}" type="slidenum">
              <a:rPr lang="en-US" altLang="zh-CN" smtClean="0"/>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endParaRPr kumimoji="0" lang="zh-CN" altLang="en-US" smtClean="0"/>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zh-CN" altLang="en-US" smtClean="0"/>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lstStyle>
          <a:p>
            <a:endParaRPr lang="en-US" altLang="zh-CN"/>
          </a:p>
        </p:txBody>
      </p:sp>
      <p:sp>
        <p:nvSpPr>
          <p:cNvPr id="6" name="页脚占位符 5"/>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en-US" altLang="zh-CN"/>
          </a:p>
        </p:txBody>
      </p:sp>
      <p:sp>
        <p:nvSpPr>
          <p:cNvPr id="7" name="灯片编号占位符 6"/>
          <p:cNvSpPr>
            <a:spLocks noGrp="1"/>
          </p:cNvSpPr>
          <p:nvPr>
            <p:ph type="sldNum" sz="quarter" idx="12"/>
          </p:nvPr>
        </p:nvSpPr>
        <p:spPr/>
        <p:txBody>
          <a:bodyPr/>
          <a:lstStyle>
            <a:lvl1pPr>
              <a:defRPr>
                <a:solidFill>
                  <a:schemeClr val="tx1"/>
                </a:solidFill>
              </a:defRPr>
            </a:lvl1pPr>
          </a:lstStyle>
          <a:p>
            <a:fld id="{091B877E-4861-43C7-9B28-D35801ECAA5E}" type="slidenum">
              <a:rPr lang="en-US" altLang="zh-CN" smtClean="0"/>
            </a:fld>
            <a:endParaRPr lang="en-US" altLang="zh-CN"/>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zh-CN" altLang="en-US" smtClean="0"/>
              <a:t>单击此处编辑母版标题样式</a:t>
            </a:r>
            <a:endParaRPr kumimoji="0" lang="en-US"/>
          </a:p>
        </p:txBody>
      </p:sp>
      <p:sp>
        <p:nvSpPr>
          <p:cNvPr id="8" name="任意多边形 7"/>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任意多边形 8"/>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接连接符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燕尾形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8FBAFD8E-40C7-4DAC-8999-7313488E8FE8}" type="slidenum">
              <a:rPr lang="en-US" altLang="zh-CN" smtClean="0"/>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41"/>
            <a:ext cx="6324600" cy="5592760"/>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23E971DF-7E4A-421F-86D5-F1A3880C40CA}" type="slidenum">
              <a:rPr lang="en-US" altLang="zh-CN" smtClean="0"/>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334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019800"/>
            <a:ext cx="1905000" cy="457200"/>
          </a:xfrm>
        </p:spPr>
        <p:txBody>
          <a:bodyPr/>
          <a:lstStyle>
            <a:lvl1pPr>
              <a:defRPr/>
            </a:lvl1pPr>
          </a:lstStyle>
          <a:p>
            <a:endParaRPr lang="en-US" altLang="zh-CN"/>
          </a:p>
        </p:txBody>
      </p:sp>
      <p:sp>
        <p:nvSpPr>
          <p:cNvPr id="4" name="页脚占位符 3"/>
          <p:cNvSpPr>
            <a:spLocks noGrp="1"/>
          </p:cNvSpPr>
          <p:nvPr>
            <p:ph type="ftr" sz="quarter" idx="11"/>
          </p:nvPr>
        </p:nvSpPr>
        <p:spPr>
          <a:xfrm>
            <a:off x="3124200" y="6019800"/>
            <a:ext cx="2895600" cy="45720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6858000" y="6019800"/>
            <a:ext cx="1905000" cy="457200"/>
          </a:xfrm>
        </p:spPr>
        <p:txBody>
          <a:bodyPr/>
          <a:lstStyle>
            <a:lvl1pPr>
              <a:defRPr/>
            </a:lvl1pPr>
          </a:lstStyle>
          <a:p>
            <a:fld id="{3AC03840-FDB7-42BC-BDAD-0A92B4BA589B}" type="slidenum">
              <a:rPr lang="en-US" altLang="zh-CN"/>
            </a:fld>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p:nvPr userDrawn="1"/>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p:nvPr userDrawn="1"/>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cxnSp>
        <p:nvCxnSpPr>
          <p:cNvPr id="15" name="直接连接符 14"/>
          <p:cNvCxnSpPr/>
          <p:nvPr userDrawn="1"/>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endParaRPr lang="en-US" altLang="zh-CN"/>
          </a:p>
        </p:txBody>
      </p:sp>
      <p:sp>
        <p:nvSpPr>
          <p:cNvPr id="22" name="页脚占位符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en-US" altLang="zh-CN"/>
          </a:p>
        </p:txBody>
      </p:sp>
      <p:sp>
        <p:nvSpPr>
          <p:cNvPr id="18" name="灯片编号占位符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38B57218-7953-423B-AFD1-D83EED029513}" type="slidenum">
              <a:rPr lang="en-US" altLang="zh-CN" smtClean="0"/>
            </a:fld>
            <a:endParaRPr lang="en-US" altLang="zh-CN"/>
          </a:p>
        </p:txBody>
      </p:sp>
      <p:sp>
        <p:nvSpPr>
          <p:cNvPr id="3" name="直角三角形 2"/>
          <p:cNvSpPr/>
          <p:nvPr userDrawn="1">
            <p:custDataLst>
              <p:tags r:id="rId13"/>
            </p:custDataLst>
          </p:nvPr>
        </p:nvSpPr>
        <p:spPr bwMode="auto">
          <a:xfrm>
            <a:off x="-6350" y="5791200"/>
            <a:ext cx="3402013" cy="1081088"/>
          </a:xfrm>
          <a:prstGeom prst="rtTriangle">
            <a:avLst/>
          </a:prstGeom>
          <a:solidFill>
            <a:schemeClr val="accent1"/>
          </a:solidFill>
          <a:ln>
            <a:solidFill>
              <a:schemeClr val="bg2">
                <a:lumMod val="25000"/>
              </a:schemeClr>
            </a:solidFill>
          </a:ln>
        </p:spPr>
        <p:style>
          <a:lnRef idx="2">
            <a:schemeClr val="dk1"/>
          </a:lnRef>
          <a:fillRef idx="1">
            <a:schemeClr val="lt1"/>
          </a:fillRef>
          <a:effectRef idx="0">
            <a:schemeClr val="dk1"/>
          </a:effectRef>
          <a:fontRef idx="minor">
            <a:schemeClr val="dk1"/>
          </a:fontRef>
        </p:style>
        <p:txBody>
          <a:bodyPr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lt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tags" Target="../tags/tag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a:t>
            </a:r>
            <a:r>
              <a:rPr lang="en-US" altLang="zh-CN" dirty="0" smtClean="0"/>
              <a:t>9</a:t>
            </a:r>
            <a:r>
              <a:rPr lang="zh-CN" altLang="en-US" dirty="0" smtClean="0"/>
              <a:t>章 代码生成</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L="109855" lvl="0" indent="0">
              <a:buFont typeface="Wingdings" panose="05000000000000000000" charset="0"/>
              <a:buNone/>
            </a:pPr>
            <a:r>
              <a:rPr lang="zh-CN" altLang="en-US"/>
              <a:t>以</a:t>
            </a:r>
            <a:r>
              <a:rPr lang="zh-CN" altLang="en-US">
                <a:solidFill>
                  <a:srgbClr val="FF0000"/>
                </a:solidFill>
              </a:rPr>
              <a:t>基本块</a:t>
            </a:r>
            <a:r>
              <a:rPr lang="zh-CN" altLang="en-US"/>
              <a:t>为单位生成目标代码</a:t>
            </a:r>
            <a:endParaRPr lang="zh-CN" altLang="en-US"/>
          </a:p>
          <a:p>
            <a:pPr lvl="0">
              <a:buFont typeface="Wingdings" panose="05000000000000000000" charset="0"/>
              <a:buChar char="ü"/>
            </a:pPr>
            <a:r>
              <a:rPr lang="zh-CN" altLang="en-US"/>
              <a:t>依次把四元式的中间代码变换成目标代码</a:t>
            </a:r>
            <a:endParaRPr lang="zh-CN" altLang="en-US"/>
          </a:p>
          <a:p>
            <a:pPr lvl="0">
              <a:buFont typeface="Wingdings" panose="05000000000000000000" charset="0"/>
              <a:buChar char="ü"/>
            </a:pPr>
            <a:r>
              <a:rPr lang="zh-CN" altLang="en-US"/>
              <a:t>在</a:t>
            </a:r>
            <a:r>
              <a:rPr lang="zh-CN" altLang="en-US">
                <a:solidFill>
                  <a:srgbClr val="FF0000"/>
                </a:solidFill>
              </a:rPr>
              <a:t>基本块的范围内</a:t>
            </a:r>
            <a:r>
              <a:rPr lang="zh-CN" altLang="en-US"/>
              <a:t>考虑如何充分利用寄存器</a:t>
            </a:r>
            <a:endParaRPr lang="zh-CN" altLang="en-US"/>
          </a:p>
          <a:p>
            <a:pPr lvl="0">
              <a:buFont typeface="Wingdings" panose="05000000000000000000" charset="0"/>
              <a:buChar char="ü"/>
            </a:pPr>
            <a:r>
              <a:rPr lang="zh-CN" altLang="en-US"/>
              <a:t>进入基本块时，所有寄存器空闲</a:t>
            </a:r>
            <a:endParaRPr lang="zh-CN" altLang="en-US"/>
          </a:p>
          <a:p>
            <a:pPr lvl="0">
              <a:buFont typeface="Wingdings" panose="05000000000000000000" charset="0"/>
              <a:buChar char="ü"/>
            </a:pPr>
            <a:r>
              <a:rPr lang="zh-CN" altLang="en-US"/>
              <a:t>离开基本块时，把存在寄存器中的现行的值存回主存中，释放所有寄存器</a:t>
            </a:r>
            <a:endParaRPr lang="zh-CN" altLang="en-US"/>
          </a:p>
          <a:p>
            <a:pPr lvl="0">
              <a:buFont typeface="Wingdings" panose="05000000000000000000" charset="0"/>
              <a:buChar char="ü"/>
            </a:pPr>
            <a:r>
              <a:rPr lang="zh-CN" altLang="en-US"/>
              <a:t>不特别说明，所有说明变量在基本块出口之后均为非活跃变量</a:t>
            </a:r>
            <a:endParaRPr lang="zh-CN" altLang="en-US"/>
          </a:p>
        </p:txBody>
      </p:sp>
      <p:sp>
        <p:nvSpPr>
          <p:cNvPr id="3" name="标题 2"/>
          <p:cNvSpPr>
            <a:spLocks noGrp="1"/>
          </p:cNvSpPr>
          <p:nvPr>
            <p:ph type="title"/>
          </p:nvPr>
        </p:nvSpPr>
        <p:spPr/>
        <p:txBody>
          <a:bodyPr>
            <a:normAutofit/>
          </a:bodyPr>
          <a:p>
            <a:r>
              <a:rPr lang="zh-CN" altLang="en-US">
                <a:sym typeface="+mn-ea"/>
              </a:rPr>
              <a:t>代码生成原则</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050" name="Picture 2"/>
          <p:cNvPicPr>
            <a:picLocks noChangeAspect="1" noChangeArrowheads="1"/>
          </p:cNvPicPr>
          <p:nvPr/>
        </p:nvPicPr>
        <p:blipFill>
          <a:blip r:embed="rId1"/>
          <a:srcRect l="9199" t="29567" r="32900" b="16346"/>
          <a:stretch>
            <a:fillRect/>
          </a:stretch>
        </p:blipFill>
        <p:spPr bwMode="auto">
          <a:xfrm>
            <a:off x="571472" y="357166"/>
            <a:ext cx="8001056" cy="5608217"/>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3074" name="Picture 2"/>
          <p:cNvPicPr>
            <a:picLocks noChangeAspect="1" noChangeArrowheads="1"/>
          </p:cNvPicPr>
          <p:nvPr/>
        </p:nvPicPr>
        <p:blipFill>
          <a:blip r:embed="rId1"/>
          <a:srcRect l="11905" t="24519" r="43182" b="14904"/>
          <a:stretch>
            <a:fillRect/>
          </a:stretch>
        </p:blipFill>
        <p:spPr bwMode="auto">
          <a:xfrm>
            <a:off x="1571604" y="285727"/>
            <a:ext cx="6072230" cy="6145389"/>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4098" name="Picture 2"/>
          <p:cNvPicPr>
            <a:picLocks noChangeAspect="1" noChangeArrowheads="1"/>
          </p:cNvPicPr>
          <p:nvPr/>
        </p:nvPicPr>
        <p:blipFill>
          <a:blip r:embed="rId1"/>
          <a:srcRect l="9740" t="36058" r="32900" b="30769"/>
          <a:stretch>
            <a:fillRect/>
          </a:stretch>
        </p:blipFill>
        <p:spPr bwMode="auto">
          <a:xfrm>
            <a:off x="285720" y="1071546"/>
            <a:ext cx="8395579" cy="3643338"/>
          </a:xfrm>
          <a:prstGeom prst="rect">
            <a:avLst/>
          </a:prstGeom>
          <a:noFill/>
          <a:ln w="9525">
            <a:noFill/>
            <a:miter lim="800000"/>
            <a:headEnd/>
            <a:tailEnd/>
          </a:ln>
          <a:effectLst/>
        </p:spPr>
      </p:pic>
      <p:cxnSp>
        <p:nvCxnSpPr>
          <p:cNvPr id="5" name="直接连接符 4"/>
          <p:cNvCxnSpPr/>
          <p:nvPr/>
        </p:nvCxnSpPr>
        <p:spPr>
          <a:xfrm>
            <a:off x="357158" y="2212966"/>
            <a:ext cx="1571636"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5122" name="Picture 2"/>
          <p:cNvPicPr>
            <a:picLocks noChangeAspect="1" noChangeArrowheads="1"/>
          </p:cNvPicPr>
          <p:nvPr/>
        </p:nvPicPr>
        <p:blipFill>
          <a:blip r:embed="rId1"/>
          <a:srcRect l="8117" t="22356" r="29112" b="22836"/>
          <a:stretch>
            <a:fillRect/>
          </a:stretch>
        </p:blipFill>
        <p:spPr bwMode="auto">
          <a:xfrm>
            <a:off x="428279" y="428604"/>
            <a:ext cx="8286808" cy="5429288"/>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a:xfrm>
            <a:off x="457200" y="457200"/>
            <a:ext cx="7772400" cy="533400"/>
          </a:xfrm>
        </p:spPr>
        <p:txBody>
          <a:bodyPr>
            <a:normAutofit fontScale="90000"/>
          </a:bodyPr>
          <a:lstStyle/>
          <a:p>
            <a:r>
              <a:rPr lang="zh-CN" altLang="en-US" sz="3200" b="1" dirty="0">
                <a:solidFill>
                  <a:schemeClr val="tx1"/>
                </a:solidFill>
                <a:latin typeface="宋体" panose="02010600030101010101" pitchFamily="2" charset="-122"/>
              </a:rPr>
              <a:t>第九章    代码生成</a:t>
            </a:r>
            <a:endParaRPr lang="zh-CN" altLang="en-US" sz="3200" b="1" dirty="0">
              <a:solidFill>
                <a:schemeClr val="tx1"/>
              </a:solidFill>
              <a:latin typeface="宋体" panose="02010600030101010101" pitchFamily="2" charset="-122"/>
            </a:endParaRPr>
          </a:p>
        </p:txBody>
      </p:sp>
      <p:sp>
        <p:nvSpPr>
          <p:cNvPr id="578565" name="Rectangle 5"/>
          <p:cNvSpPr>
            <a:spLocks noChangeArrowheads="1"/>
          </p:cNvSpPr>
          <p:nvPr/>
        </p:nvSpPr>
        <p:spPr bwMode="auto">
          <a:xfrm>
            <a:off x="533400" y="1143000"/>
            <a:ext cx="8077200" cy="2651125"/>
          </a:xfrm>
          <a:prstGeom prst="rect">
            <a:avLst/>
          </a:prstGeom>
          <a:noFill/>
          <a:ln w="9525">
            <a:noFill/>
            <a:miter lim="800000"/>
          </a:ln>
          <a:effectLst/>
        </p:spPr>
        <p:txBody>
          <a:bodyPr>
            <a:spAutoFit/>
          </a:bodyPr>
          <a:lstStyle/>
          <a:p>
            <a:pPr>
              <a:lnSpc>
                <a:spcPct val="130000"/>
              </a:lnSpc>
            </a:pPr>
            <a:r>
              <a:rPr lang="en-US" altLang="zh-CN" sz="3200" dirty="0">
                <a:latin typeface="Tahoma" panose="020B0604030504040204" pitchFamily="34" charset="0"/>
              </a:rPr>
              <a:t>       </a:t>
            </a:r>
            <a:r>
              <a:rPr lang="zh-CN" altLang="en-US" sz="3200" dirty="0">
                <a:latin typeface="Tahoma" panose="020B0604030504040204" pitchFamily="34" charset="0"/>
              </a:rPr>
              <a:t>代码生成部分属于</a:t>
            </a:r>
            <a:r>
              <a:rPr lang="zh-CN" altLang="en-US" sz="3200" dirty="0">
                <a:solidFill>
                  <a:srgbClr val="FF0000"/>
                </a:solidFill>
                <a:latin typeface="Tahoma" panose="020B0604030504040204" pitchFamily="34" charset="0"/>
              </a:rPr>
              <a:t>编译器的后端</a:t>
            </a:r>
            <a:r>
              <a:rPr lang="zh-CN" altLang="en-US" sz="3200" dirty="0">
                <a:latin typeface="Tahoma" panose="020B0604030504040204" pitchFamily="34" charset="0"/>
              </a:rPr>
              <a:t>，它与目标机器和操作系统相关，目标代码生成的好坏直接影响</a:t>
            </a:r>
            <a:r>
              <a:rPr lang="zh-CN" altLang="en-US" sz="3200" dirty="0">
                <a:solidFill>
                  <a:srgbClr val="FF0000"/>
                </a:solidFill>
                <a:latin typeface="Tahoma" panose="020B0604030504040204" pitchFamily="34" charset="0"/>
              </a:rPr>
              <a:t>编译器的性能</a:t>
            </a:r>
            <a:r>
              <a:rPr lang="zh-CN" altLang="en-US" sz="3200" dirty="0">
                <a:latin typeface="Tahoma" panose="020B0604030504040204" pitchFamily="34" charset="0"/>
              </a:rPr>
              <a:t>。       </a:t>
            </a:r>
            <a:endParaRPr lang="zh-CN" altLang="en-US" sz="3200" dirty="0">
              <a:latin typeface="Tahoma" panose="020B0604030504040204" pitchFamily="34" charset="0"/>
            </a:endParaRPr>
          </a:p>
          <a:p>
            <a:pPr>
              <a:lnSpc>
                <a:spcPct val="130000"/>
              </a:lnSpc>
            </a:pPr>
            <a:r>
              <a:rPr lang="zh-CN" altLang="en-US" sz="3200" dirty="0">
                <a:latin typeface="Tahoma" panose="020B0604030504040204" pitchFamily="34" charset="0"/>
              </a:rPr>
              <a:t>       </a:t>
            </a:r>
            <a:endParaRPr lang="zh-CN" altLang="en-US" sz="3200" dirty="0">
              <a:latin typeface="Tahoma" panose="020B0604030504040204" pitchFamily="34" charset="0"/>
            </a:endParaRPr>
          </a:p>
        </p:txBody>
      </p:sp>
      <p:pic>
        <p:nvPicPr>
          <p:cNvPr id="100" name="图片 99"/>
          <p:cNvPicPr/>
          <p:nvPr>
            <p:custDataLst>
              <p:tags r:id="rId1"/>
            </p:custDataLst>
          </p:nvPr>
        </p:nvPicPr>
        <p:blipFill>
          <a:blip r:embed="rId2"/>
          <a:stretch>
            <a:fillRect/>
          </a:stretch>
        </p:blipFill>
        <p:spPr>
          <a:xfrm>
            <a:off x="0" y="3933190"/>
            <a:ext cx="9100185" cy="1503680"/>
          </a:xfrm>
          <a:prstGeom prst="rect">
            <a:avLst/>
          </a:prstGeom>
          <a:noFill/>
          <a:ln w="9525">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normAutofit fontScale="90000"/>
          </a:bodyPr>
          <a:p>
            <a:pPr fontAlgn="auto">
              <a:lnSpc>
                <a:spcPct val="150000"/>
              </a:lnSpc>
              <a:buFont typeface="Wingdings" panose="05000000000000000000" charset="0"/>
              <a:buChar char="ü"/>
            </a:pPr>
            <a:r>
              <a:rPr lang="zh-CN" altLang="en-US" dirty="0">
                <a:latin typeface="Tahoma" panose="020B0604030504040204" pitchFamily="34" charset="0"/>
                <a:sym typeface="+mn-ea"/>
              </a:rPr>
              <a:t>代码生成器的设计主要考虑如何生成高质量的目标代码。</a:t>
            </a:r>
            <a:r>
              <a:rPr lang="zh-CN" altLang="en-US" dirty="0">
                <a:latin typeface="Tahoma" panose="020B0604030504040204" pitchFamily="34" charset="0"/>
                <a:sym typeface="+mn-ea"/>
              </a:rPr>
              <a:t>衡量目标代码的质量主要从</a:t>
            </a:r>
            <a:r>
              <a:rPr lang="zh-CN" altLang="en-US" dirty="0">
                <a:solidFill>
                  <a:srgbClr val="FF0000"/>
                </a:solidFill>
                <a:latin typeface="Tahoma" panose="020B0604030504040204" pitchFamily="34" charset="0"/>
                <a:sym typeface="+mn-ea"/>
              </a:rPr>
              <a:t>占用空间</a:t>
            </a:r>
            <a:r>
              <a:rPr lang="zh-CN" altLang="en-US" dirty="0">
                <a:latin typeface="Tahoma" panose="020B0604030504040204" pitchFamily="34" charset="0"/>
                <a:sym typeface="+mn-ea"/>
              </a:rPr>
              <a:t>和</a:t>
            </a:r>
            <a:r>
              <a:rPr lang="zh-CN" altLang="en-US" dirty="0">
                <a:solidFill>
                  <a:srgbClr val="FF0000"/>
                </a:solidFill>
                <a:latin typeface="Tahoma" panose="020B0604030504040204" pitchFamily="34" charset="0"/>
                <a:sym typeface="+mn-ea"/>
              </a:rPr>
              <a:t>执行效率</a:t>
            </a:r>
            <a:r>
              <a:rPr lang="zh-CN" altLang="en-US" dirty="0">
                <a:latin typeface="Tahoma" panose="020B0604030504040204" pitchFamily="34" charset="0"/>
                <a:sym typeface="+mn-ea"/>
              </a:rPr>
              <a:t>上考虑：</a:t>
            </a:r>
            <a:endParaRPr lang="zh-CN" altLang="en-US" dirty="0">
              <a:latin typeface="Tahoma" panose="020B0604030504040204" pitchFamily="34" charset="0"/>
              <a:sym typeface="+mn-ea"/>
            </a:endParaRPr>
          </a:p>
          <a:p>
            <a:pPr marL="850265" lvl="1" indent="-457200" fontAlgn="auto">
              <a:lnSpc>
                <a:spcPct val="150000"/>
              </a:lnSpc>
              <a:buAutoNum type="arabicPeriod"/>
            </a:pPr>
            <a:r>
              <a:rPr lang="zh-CN" altLang="en-US" dirty="0">
                <a:latin typeface="Tahoma" panose="020B0604030504040204" pitchFamily="34" charset="0"/>
              </a:rPr>
              <a:t>如何使生成的目标代码较短</a:t>
            </a:r>
            <a:endParaRPr lang="zh-CN" altLang="en-US" dirty="0">
              <a:latin typeface="Tahoma" panose="020B0604030504040204" pitchFamily="34" charset="0"/>
            </a:endParaRPr>
          </a:p>
          <a:p>
            <a:pPr marL="850265" lvl="1" indent="-457200" fontAlgn="auto">
              <a:lnSpc>
                <a:spcPct val="150000"/>
              </a:lnSpc>
              <a:buAutoNum type="arabicPeriod"/>
            </a:pPr>
            <a:r>
              <a:rPr lang="zh-CN" altLang="en-US" dirty="0">
                <a:latin typeface="Tahoma" panose="020B0604030504040204" pitchFamily="34" charset="0"/>
              </a:rPr>
              <a:t>如何充分利用寄存器，减少目标代码访问存储单元次数</a:t>
            </a:r>
            <a:endParaRPr lang="zh-CN" altLang="en-US" dirty="0">
              <a:latin typeface="Tahoma" panose="020B0604030504040204" pitchFamily="34" charset="0"/>
            </a:endParaRPr>
          </a:p>
          <a:p>
            <a:pPr marL="850265" lvl="1" indent="-457200" fontAlgn="auto">
              <a:lnSpc>
                <a:spcPct val="150000"/>
              </a:lnSpc>
              <a:buAutoNum type="arabicPeriod"/>
            </a:pPr>
            <a:r>
              <a:rPr lang="zh-CN" altLang="en-US" dirty="0">
                <a:latin typeface="Tahoma" panose="020B0604030504040204" pitchFamily="34" charset="0"/>
              </a:rPr>
              <a:t>如何充分利用指令系统的特点</a:t>
            </a:r>
            <a:endParaRPr lang="zh-CN" altLang="en-US" dirty="0">
              <a:latin typeface="Tahoma" panose="020B0604030504040204" pitchFamily="34" charset="0"/>
            </a:endParaRPr>
          </a:p>
          <a:p>
            <a:pPr lvl="0" fontAlgn="auto">
              <a:lnSpc>
                <a:spcPct val="150000"/>
              </a:lnSpc>
              <a:buFont typeface="Wingdings" panose="05000000000000000000" charset="0"/>
              <a:buChar char="ü"/>
            </a:pPr>
            <a:r>
              <a:rPr lang="zh-CN" altLang="en-US" dirty="0">
                <a:latin typeface="Tahoma" panose="020B0604030504040204" pitchFamily="34" charset="0"/>
                <a:sym typeface="+mn-ea"/>
              </a:rPr>
              <a:t>其中最难处理和开销最大的问题就是</a:t>
            </a:r>
            <a:r>
              <a:rPr lang="zh-CN" altLang="en-US" dirty="0">
                <a:solidFill>
                  <a:srgbClr val="FF0000"/>
                </a:solidFill>
                <a:latin typeface="Tahoma" panose="020B0604030504040204" pitchFamily="34" charset="0"/>
                <a:sym typeface="+mn-ea"/>
              </a:rPr>
              <a:t>寄存器的分配问题</a:t>
            </a:r>
            <a:r>
              <a:rPr lang="zh-CN" altLang="en-US" dirty="0">
                <a:latin typeface="Tahoma" panose="020B0604030504040204" pitchFamily="34" charset="0"/>
                <a:sym typeface="+mn-ea"/>
              </a:rPr>
              <a:t>（寄存器是</a:t>
            </a:r>
            <a:r>
              <a:rPr lang="en-US" altLang="zh-CN" dirty="0">
                <a:latin typeface="Tahoma" panose="020B0604030504040204" pitchFamily="34" charset="0"/>
                <a:sym typeface="+mn-ea"/>
              </a:rPr>
              <a:t>CPU</a:t>
            </a:r>
            <a:r>
              <a:rPr lang="zh-CN" altLang="en-US" dirty="0">
                <a:latin typeface="Tahoma" panose="020B0604030504040204" pitchFamily="34" charset="0"/>
                <a:sym typeface="+mn-ea"/>
              </a:rPr>
              <a:t>内部的元件，拥有非常高的读写速度，可用来暂存指令、数据和位址）</a:t>
            </a:r>
            <a:endParaRPr lang="zh-CN" altLang="en-US" dirty="0">
              <a:latin typeface="Tahoma" panose="020B0604030504040204" pitchFamily="34" charset="0"/>
              <a:sym typeface="+mn-ea"/>
            </a:endParaRPr>
          </a:p>
          <a:p>
            <a:pPr fontAlgn="auto">
              <a:lnSpc>
                <a:spcPct val="150000"/>
              </a:lnSpc>
              <a:buFont typeface="Wingdings" panose="05000000000000000000" charset="0"/>
              <a:buChar char="ü"/>
            </a:pPr>
            <a:endParaRPr lang="zh-CN" altLang="en-US" dirty="0">
              <a:latin typeface="Tahoma" panose="020B0604030504040204" pitchFamily="34" charset="0"/>
            </a:endParaRPr>
          </a:p>
        </p:txBody>
      </p:sp>
      <p:sp>
        <p:nvSpPr>
          <p:cNvPr id="3" name="标题 2"/>
          <p:cNvSpPr>
            <a:spLocks noGrp="1"/>
          </p:cNvSpPr>
          <p:nvPr>
            <p:ph type="title"/>
          </p:nvPr>
        </p:nvSpPr>
        <p:spPr/>
        <p:txBody>
          <a:bodyPr/>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9" name="Rectangle 3"/>
          <p:cNvSpPr>
            <a:spLocks noGrp="1" noChangeArrowheads="1"/>
          </p:cNvSpPr>
          <p:nvPr>
            <p:ph idx="1"/>
          </p:nvPr>
        </p:nvSpPr>
        <p:spPr>
          <a:xfrm>
            <a:off x="257175" y="304800"/>
            <a:ext cx="8601710" cy="6116320"/>
          </a:xfrm>
        </p:spPr>
        <p:txBody>
          <a:bodyPr>
            <a:normAutofit fontScale="80000"/>
          </a:bodyPr>
          <a:lstStyle/>
          <a:p>
            <a:pPr algn="just">
              <a:lnSpc>
                <a:spcPct val="120000"/>
              </a:lnSpc>
              <a:buFont typeface="Wingdings" panose="05000000000000000000" charset="0"/>
              <a:buChar char="ü"/>
            </a:pPr>
            <a:r>
              <a:rPr lang="zh-CN" altLang="en-US" sz="3200" b="1" dirty="0">
                <a:effectLst>
                  <a:outerShdw blurRad="38100" dist="38100" dir="2700000" algn="tl">
                    <a:srgbClr val="000000"/>
                  </a:outerShdw>
                </a:effectLst>
                <a:latin typeface="宋体" panose="02010600030101010101" pitchFamily="2" charset="-122"/>
              </a:rPr>
              <a:t>输入：</a:t>
            </a:r>
            <a:endParaRPr lang="zh-CN" altLang="en-US" sz="3200" b="1" dirty="0">
              <a:effectLst>
                <a:outerShdw blurRad="38100" dist="38100" dir="2700000" algn="tl">
                  <a:srgbClr val="000000"/>
                </a:outerShdw>
              </a:effectLst>
              <a:latin typeface="宋体" panose="02010600030101010101" pitchFamily="2" charset="-122"/>
            </a:endParaRPr>
          </a:p>
          <a:p>
            <a:pPr lvl="1" algn="just">
              <a:lnSpc>
                <a:spcPct val="120000"/>
              </a:lnSpc>
            </a:pPr>
            <a:r>
              <a:rPr lang="zh-CN" altLang="en-US" sz="3200" dirty="0">
                <a:solidFill>
                  <a:srgbClr val="FF0000"/>
                </a:solidFill>
                <a:latin typeface="宋体" panose="02010600030101010101" pitchFamily="2" charset="-122"/>
              </a:rPr>
              <a:t>中间代码序列</a:t>
            </a:r>
            <a:r>
              <a:rPr lang="zh-CN" altLang="en-US" sz="3200" dirty="0">
                <a:latin typeface="宋体" panose="02010600030101010101" pitchFamily="2" charset="-122"/>
              </a:rPr>
              <a:t>：后缀式、三地址代码、树</a:t>
            </a:r>
            <a:endParaRPr lang="zh-CN" altLang="en-US" sz="3200" dirty="0">
              <a:latin typeface="宋体" panose="02010600030101010101" pitchFamily="2" charset="-122"/>
            </a:endParaRPr>
          </a:p>
          <a:p>
            <a:pPr lvl="1" algn="just">
              <a:lnSpc>
                <a:spcPct val="120000"/>
              </a:lnSpc>
              <a:spcBef>
                <a:spcPct val="0"/>
              </a:spcBef>
            </a:pPr>
            <a:r>
              <a:rPr lang="zh-CN" altLang="en-US" sz="3200" dirty="0">
                <a:solidFill>
                  <a:srgbClr val="FF0000"/>
                </a:solidFill>
                <a:latin typeface="宋体" panose="02010600030101010101" pitchFamily="2" charset="-122"/>
              </a:rPr>
              <a:t>符号表</a:t>
            </a:r>
            <a:r>
              <a:rPr lang="zh-CN" altLang="en-US" sz="3200" dirty="0">
                <a:latin typeface="宋体" panose="02010600030101010101" pitchFamily="2" charset="-122"/>
              </a:rPr>
              <a:t>中的信息</a:t>
            </a:r>
            <a:r>
              <a:rPr lang="en-US" altLang="zh-CN" sz="3200" dirty="0">
                <a:latin typeface="宋体" panose="02010600030101010101" pitchFamily="2" charset="-122"/>
              </a:rPr>
              <a:t>:</a:t>
            </a:r>
            <a:r>
              <a:rPr lang="zh-CN" altLang="zh-CN" sz="3200" dirty="0">
                <a:latin typeface="宋体" panose="02010600030101010101" pitchFamily="2" charset="-122"/>
              </a:rPr>
              <a:t>据此可确定数据区中的</a:t>
            </a:r>
            <a:r>
              <a:rPr lang="zh-CN" altLang="zh-CN" sz="3200" dirty="0">
                <a:solidFill>
                  <a:srgbClr val="FF0000"/>
                </a:solidFill>
                <a:latin typeface="宋体" panose="02010600030101010101" pitchFamily="2" charset="-122"/>
              </a:rPr>
              <a:t>相对地址</a:t>
            </a:r>
            <a:r>
              <a:rPr lang="zh-CN" altLang="zh-CN" sz="3200" dirty="0">
                <a:latin typeface="宋体" panose="02010600030101010101" pitchFamily="2" charset="-122"/>
              </a:rPr>
              <a:t>，进而可以决定名字所指示的</a:t>
            </a:r>
            <a:r>
              <a:rPr lang="zh-CN" altLang="zh-CN" sz="3200" dirty="0">
                <a:solidFill>
                  <a:srgbClr val="FF0000"/>
                </a:solidFill>
                <a:latin typeface="宋体" panose="02010600030101010101" pitchFamily="2" charset="-122"/>
              </a:rPr>
              <a:t>数据对象</a:t>
            </a:r>
            <a:r>
              <a:rPr lang="zh-CN" altLang="zh-CN" sz="3200" dirty="0">
                <a:latin typeface="宋体" panose="02010600030101010101" pitchFamily="2" charset="-122"/>
              </a:rPr>
              <a:t>的</a:t>
            </a:r>
            <a:r>
              <a:rPr lang="zh-CN" altLang="zh-CN" sz="3200" dirty="0">
                <a:solidFill>
                  <a:srgbClr val="FF0000"/>
                </a:solidFill>
                <a:latin typeface="宋体" panose="02010600030101010101" pitchFamily="2" charset="-122"/>
              </a:rPr>
              <a:t>运行时地址</a:t>
            </a:r>
            <a:endParaRPr lang="zh-CN" altLang="en-US" sz="3200" dirty="0">
              <a:latin typeface="宋体" panose="02010600030101010101" pitchFamily="2" charset="-122"/>
            </a:endParaRPr>
          </a:p>
          <a:p>
            <a:pPr algn="just">
              <a:lnSpc>
                <a:spcPct val="120000"/>
              </a:lnSpc>
              <a:spcBef>
                <a:spcPct val="50000"/>
              </a:spcBef>
              <a:buFont typeface="Wingdings" panose="05000000000000000000" charset="0"/>
              <a:buChar char="ü"/>
            </a:pPr>
            <a:r>
              <a:rPr lang="zh-CN" altLang="en-US" sz="3200" b="1" dirty="0">
                <a:effectLst>
                  <a:outerShdw blurRad="38100" dist="38100" dir="2700000" algn="tl">
                    <a:srgbClr val="000000"/>
                  </a:outerShdw>
                </a:effectLst>
                <a:latin typeface="宋体" panose="02010600030101010101" pitchFamily="2" charset="-122"/>
              </a:rPr>
              <a:t>输出：目标代码</a:t>
            </a:r>
            <a:endParaRPr lang="zh-CN" altLang="en-US" sz="3200" b="1" dirty="0">
              <a:effectLst>
                <a:outerShdw blurRad="38100" dist="38100" dir="2700000" algn="tl">
                  <a:srgbClr val="000000"/>
                </a:outerShdw>
              </a:effectLst>
              <a:latin typeface="宋体" panose="02010600030101010101" pitchFamily="2" charset="-122"/>
            </a:endParaRPr>
          </a:p>
          <a:p>
            <a:pPr lvl="1" algn="just">
              <a:lnSpc>
                <a:spcPct val="120000"/>
              </a:lnSpc>
            </a:pPr>
            <a:r>
              <a:rPr lang="zh-CN" altLang="en-US" sz="3200" dirty="0">
                <a:solidFill>
                  <a:srgbClr val="FF0000"/>
                </a:solidFill>
                <a:latin typeface="宋体" panose="02010600030101010101" pitchFamily="2" charset="-122"/>
              </a:rPr>
              <a:t>绝对机器代码</a:t>
            </a:r>
            <a:r>
              <a:rPr lang="zh-CN" altLang="en-US" sz="3200" dirty="0">
                <a:latin typeface="宋体" panose="02010600030101010101" pitchFamily="2" charset="-122"/>
              </a:rPr>
              <a:t>：所有地址均已定位，可立即执行</a:t>
            </a:r>
            <a:endParaRPr lang="zh-CN" altLang="en-US" sz="3200" dirty="0">
              <a:latin typeface="宋体" panose="02010600030101010101" pitchFamily="2" charset="-122"/>
            </a:endParaRPr>
          </a:p>
          <a:p>
            <a:pPr lvl="1" algn="just">
              <a:lnSpc>
                <a:spcPct val="120000"/>
              </a:lnSpc>
              <a:spcBef>
                <a:spcPct val="0"/>
              </a:spcBef>
            </a:pPr>
            <a:r>
              <a:rPr lang="zh-CN" altLang="en-US" sz="3200" dirty="0">
                <a:solidFill>
                  <a:srgbClr val="FF0000"/>
                </a:solidFill>
                <a:latin typeface="宋体" panose="02010600030101010101" pitchFamily="2" charset="-122"/>
              </a:rPr>
              <a:t>可再定位机器指令代码</a:t>
            </a:r>
            <a:r>
              <a:rPr lang="zh-CN" altLang="en-US" sz="3200" dirty="0">
                <a:latin typeface="宋体" panose="02010600030101010101" pitchFamily="2" charset="-122"/>
              </a:rPr>
              <a:t>：连接定位后，转换为可执行的机器语言代码，可立即执行</a:t>
            </a:r>
            <a:endParaRPr lang="zh-CN" altLang="en-US" sz="3200" dirty="0">
              <a:latin typeface="宋体" panose="02010600030101010101" pitchFamily="2" charset="-122"/>
            </a:endParaRPr>
          </a:p>
          <a:p>
            <a:pPr lvl="1" algn="just">
              <a:lnSpc>
                <a:spcPct val="120000"/>
              </a:lnSpc>
              <a:spcBef>
                <a:spcPct val="0"/>
              </a:spcBef>
            </a:pPr>
            <a:r>
              <a:rPr lang="zh-CN" altLang="en-US" sz="3200" dirty="0">
                <a:solidFill>
                  <a:srgbClr val="FF0000"/>
                </a:solidFill>
                <a:latin typeface="宋体" panose="02010600030101010101" pitchFamily="2" charset="-122"/>
              </a:rPr>
              <a:t>汇编指令代码</a:t>
            </a:r>
            <a:r>
              <a:rPr lang="zh-CN" altLang="en-US" sz="3200" dirty="0">
                <a:latin typeface="宋体" panose="02010600030101010101" pitchFamily="2" charset="-122"/>
              </a:rPr>
              <a:t>：需要</a:t>
            </a:r>
            <a:r>
              <a:rPr lang="zh-CN" altLang="en-US" sz="3200" dirty="0">
                <a:solidFill>
                  <a:srgbClr val="FF0000"/>
                </a:solidFill>
                <a:latin typeface="宋体" panose="02010600030101010101" pitchFamily="2" charset="-122"/>
              </a:rPr>
              <a:t>汇编程序</a:t>
            </a:r>
            <a:r>
              <a:rPr lang="zh-CN" altLang="en-US" sz="3200" dirty="0">
                <a:latin typeface="宋体" panose="02010600030101010101" pitchFamily="2" charset="-122"/>
              </a:rPr>
              <a:t>汇编，产生可执行的机器语言代码，不需按二进制形式生成代码，只需要生成相应的</a:t>
            </a:r>
            <a:r>
              <a:rPr lang="zh-CN" altLang="en-US" sz="3200" dirty="0">
                <a:solidFill>
                  <a:srgbClr val="FF0000"/>
                </a:solidFill>
                <a:latin typeface="宋体" panose="02010600030101010101" pitchFamily="2" charset="-122"/>
              </a:rPr>
              <a:t>符号化指令</a:t>
            </a:r>
            <a:r>
              <a:rPr lang="zh-CN" altLang="en-US" sz="3200" dirty="0">
                <a:latin typeface="宋体" panose="02010600030101010101" pitchFamily="2" charset="-122"/>
              </a:rPr>
              <a:t>，最易生成</a:t>
            </a:r>
            <a:endParaRPr lang="zh-CN" altLang="en-US" sz="32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9" name="Rectangle 3"/>
          <p:cNvSpPr>
            <a:spLocks noGrp="1" noChangeArrowheads="1"/>
          </p:cNvSpPr>
          <p:nvPr>
            <p:ph idx="1"/>
          </p:nvPr>
        </p:nvSpPr>
        <p:spPr>
          <a:xfrm>
            <a:off x="213995" y="805180"/>
            <a:ext cx="8763000" cy="5647690"/>
          </a:xfrm>
        </p:spPr>
        <p:txBody>
          <a:bodyPr>
            <a:normAutofit lnSpcReduction="20000"/>
          </a:bodyPr>
          <a:lstStyle/>
          <a:p>
            <a:pPr algn="just" fontAlgn="auto">
              <a:lnSpc>
                <a:spcPct val="130000"/>
              </a:lnSpc>
              <a:spcBef>
                <a:spcPct val="50000"/>
              </a:spcBef>
              <a:buFont typeface="Wingdings" panose="05000000000000000000" charset="0"/>
              <a:buChar char="ü"/>
            </a:pPr>
            <a:r>
              <a:rPr lang="zh-CN" altLang="en-US" sz="3200" b="1" dirty="0" smtClean="0">
                <a:effectLst>
                  <a:outerShdw blurRad="38100" dist="38100" dir="2700000" algn="tl">
                    <a:srgbClr val="000000"/>
                  </a:outerShdw>
                </a:effectLst>
                <a:latin typeface="宋体" panose="02010600030101010101" pitchFamily="2" charset="-122"/>
              </a:rPr>
              <a:t>目标机</a:t>
            </a:r>
            <a:r>
              <a:rPr lang="zh-CN" altLang="en-US" sz="3200" b="1" dirty="0">
                <a:effectLst>
                  <a:outerShdw blurRad="38100" dist="38100" dir="2700000" algn="tl">
                    <a:srgbClr val="000000"/>
                  </a:outerShdw>
                </a:effectLst>
                <a:latin typeface="宋体" panose="02010600030101010101" pitchFamily="2" charset="-122"/>
              </a:rPr>
              <a:t>：</a:t>
            </a:r>
            <a:endParaRPr lang="zh-CN" altLang="en-US" sz="3200" b="1" dirty="0">
              <a:effectLst>
                <a:outerShdw blurRad="38100" dist="38100" dir="2700000" algn="tl">
                  <a:srgbClr val="000000"/>
                </a:outerShdw>
              </a:effectLst>
              <a:latin typeface="宋体" panose="02010600030101010101" pitchFamily="2" charset="-122"/>
            </a:endParaRPr>
          </a:p>
          <a:p>
            <a:pPr lvl="1" algn="just" fontAlgn="auto">
              <a:lnSpc>
                <a:spcPct val="130000"/>
              </a:lnSpc>
            </a:pPr>
            <a:r>
              <a:rPr lang="zh-CN" altLang="en-US" sz="3200" dirty="0">
                <a:latin typeface="宋体" panose="02010600030101010101" pitchFamily="2" charset="-122"/>
              </a:rPr>
              <a:t>包含</a:t>
            </a:r>
            <a:r>
              <a:rPr lang="zh-CN" altLang="en-US" sz="3200" dirty="0">
                <a:solidFill>
                  <a:srgbClr val="FF0000"/>
                </a:solidFill>
                <a:latin typeface="宋体" panose="02010600030101010101" pitchFamily="2" charset="-122"/>
              </a:rPr>
              <a:t>多通用寄存器、控制栈、堆</a:t>
            </a:r>
            <a:endParaRPr lang="zh-CN" altLang="en-US" sz="3200" dirty="0">
              <a:solidFill>
                <a:srgbClr val="FF0000"/>
              </a:solidFill>
              <a:latin typeface="宋体" panose="02010600030101010101" pitchFamily="2" charset="-122"/>
            </a:endParaRPr>
          </a:p>
          <a:p>
            <a:pPr lvl="1" algn="just" fontAlgn="auto">
              <a:lnSpc>
                <a:spcPct val="130000"/>
              </a:lnSpc>
              <a:spcBef>
                <a:spcPct val="0"/>
              </a:spcBef>
            </a:pPr>
            <a:r>
              <a:rPr lang="zh-CN" altLang="en-US" sz="3200" dirty="0">
                <a:solidFill>
                  <a:srgbClr val="FF0000"/>
                </a:solidFill>
                <a:latin typeface="宋体" panose="02010600030101010101" pitchFamily="2" charset="-122"/>
              </a:rPr>
              <a:t>指令的选择</a:t>
            </a:r>
            <a:r>
              <a:rPr lang="zh-CN" altLang="en-US" sz="3200" dirty="0">
                <a:latin typeface="宋体" panose="02010600030101010101" pitchFamily="2" charset="-122"/>
              </a:rPr>
              <a:t>：例如代码 </a:t>
            </a:r>
            <a:r>
              <a:rPr lang="en-US" altLang="zh-CN" sz="3200" dirty="0" smtClean="0">
                <a:latin typeface="宋体" panose="02010600030101010101" pitchFamily="2" charset="-122"/>
              </a:rPr>
              <a:t>a=a+1</a:t>
            </a:r>
            <a:r>
              <a:rPr lang="zh-CN" altLang="en-US" sz="3200" dirty="0">
                <a:latin typeface="宋体" panose="02010600030101010101" pitchFamily="2" charset="-122"/>
              </a:rPr>
              <a:t>的实现</a:t>
            </a:r>
            <a:endParaRPr lang="zh-CN" altLang="en-US" sz="3200" dirty="0">
              <a:latin typeface="宋体" panose="02010600030101010101" pitchFamily="2" charset="-122"/>
            </a:endParaRPr>
          </a:p>
          <a:p>
            <a:pPr marL="393065" lvl="1" indent="0" algn="just" fontAlgn="auto">
              <a:lnSpc>
                <a:spcPct val="130000"/>
              </a:lnSpc>
              <a:spcBef>
                <a:spcPct val="0"/>
              </a:spcBef>
              <a:buNone/>
            </a:pPr>
            <a:r>
              <a:rPr lang="zh-CN" altLang="en-US" sz="3200" dirty="0">
                <a:latin typeface="宋体" panose="02010600030101010101" pitchFamily="2" charset="-122"/>
              </a:rPr>
              <a:t> </a:t>
            </a:r>
            <a:r>
              <a:rPr lang="en-US" altLang="zh-CN" sz="3200" dirty="0">
                <a:latin typeface="宋体" panose="02010600030101010101" pitchFamily="2" charset="-122"/>
              </a:rPr>
              <a:t> </a:t>
            </a:r>
            <a:r>
              <a:rPr lang="zh-CN" altLang="en-US" sz="3200" dirty="0">
                <a:latin typeface="宋体" panose="02010600030101010101" pitchFamily="2" charset="-122"/>
              </a:rPr>
              <a:t>指令集的</a:t>
            </a:r>
            <a:r>
              <a:rPr lang="zh-CN" altLang="en-US" sz="3200" dirty="0">
                <a:solidFill>
                  <a:srgbClr val="FF0000"/>
                </a:solidFill>
                <a:latin typeface="宋体" panose="02010600030101010101" pitchFamily="2" charset="-122"/>
              </a:rPr>
              <a:t>一致性</a:t>
            </a:r>
            <a:r>
              <a:rPr lang="zh-CN" altLang="en-US" sz="3200" dirty="0">
                <a:latin typeface="宋体" panose="02010600030101010101" pitchFamily="2" charset="-122"/>
              </a:rPr>
              <a:t>和</a:t>
            </a:r>
            <a:r>
              <a:rPr lang="zh-CN" altLang="en-US" sz="3200" dirty="0">
                <a:solidFill>
                  <a:srgbClr val="FF0000"/>
                </a:solidFill>
                <a:latin typeface="宋体" panose="02010600030101010101" pitchFamily="2" charset="-122"/>
              </a:rPr>
              <a:t>完整性</a:t>
            </a:r>
            <a:endParaRPr lang="zh-CN" altLang="en-US" sz="3200" dirty="0">
              <a:latin typeface="宋体" panose="02010600030101010101" pitchFamily="2" charset="-122"/>
            </a:endParaRPr>
          </a:p>
          <a:p>
            <a:pPr marL="393065" lvl="1" indent="0" algn="just" fontAlgn="auto">
              <a:lnSpc>
                <a:spcPct val="130000"/>
              </a:lnSpc>
              <a:spcBef>
                <a:spcPct val="0"/>
              </a:spcBef>
              <a:buNone/>
            </a:pPr>
            <a:r>
              <a:rPr lang="zh-CN" altLang="en-US" sz="3200" dirty="0">
                <a:latin typeface="宋体" panose="02010600030101010101" pitchFamily="2" charset="-122"/>
              </a:rPr>
              <a:t> </a:t>
            </a:r>
            <a:r>
              <a:rPr lang="en-US" altLang="zh-CN" sz="3200" dirty="0">
                <a:latin typeface="宋体" panose="02010600030101010101" pitchFamily="2" charset="-122"/>
              </a:rPr>
              <a:t> </a:t>
            </a:r>
            <a:r>
              <a:rPr lang="zh-CN" altLang="en-US" sz="3200" dirty="0">
                <a:solidFill>
                  <a:srgbClr val="FF0000"/>
                </a:solidFill>
                <a:latin typeface="宋体" panose="02010600030101010101" pitchFamily="2" charset="-122"/>
              </a:rPr>
              <a:t>指令速度</a:t>
            </a:r>
            <a:r>
              <a:rPr lang="zh-CN" altLang="en-US" sz="3200" dirty="0">
                <a:latin typeface="宋体" panose="02010600030101010101" pitchFamily="2" charset="-122"/>
              </a:rPr>
              <a:t>和机器用语</a:t>
            </a:r>
            <a:endParaRPr lang="zh-CN" altLang="en-US" sz="3200" dirty="0">
              <a:latin typeface="宋体" panose="02010600030101010101" pitchFamily="2" charset="-122"/>
            </a:endParaRPr>
          </a:p>
          <a:p>
            <a:pPr marL="393065" lvl="1" indent="0" algn="just" fontAlgn="auto">
              <a:lnSpc>
                <a:spcPct val="130000"/>
              </a:lnSpc>
              <a:spcBef>
                <a:spcPct val="0"/>
              </a:spcBef>
              <a:buNone/>
            </a:pPr>
            <a:r>
              <a:rPr lang="zh-CN" altLang="en-US" sz="3200" dirty="0">
                <a:latin typeface="宋体" panose="02010600030101010101" pitchFamily="2" charset="-122"/>
              </a:rPr>
              <a:t> </a:t>
            </a:r>
            <a:r>
              <a:rPr lang="en-US" altLang="zh-CN" sz="3200" dirty="0">
                <a:latin typeface="宋体" panose="02010600030101010101" pitchFamily="2" charset="-122"/>
              </a:rPr>
              <a:t> </a:t>
            </a:r>
            <a:r>
              <a:rPr lang="zh-CN" altLang="en-US" sz="3200" dirty="0">
                <a:latin typeface="宋体" panose="02010600030101010101" pitchFamily="2" charset="-122"/>
              </a:rPr>
              <a:t>每种类型中间代码的</a:t>
            </a:r>
            <a:r>
              <a:rPr lang="zh-CN" altLang="en-US" sz="3200" dirty="0">
                <a:solidFill>
                  <a:srgbClr val="FF0000"/>
                </a:solidFill>
                <a:latin typeface="宋体" panose="02010600030101010101" pitchFamily="2" charset="-122"/>
              </a:rPr>
              <a:t>代码框架</a:t>
            </a:r>
            <a:endParaRPr lang="zh-CN" altLang="en-US" sz="3200" dirty="0">
              <a:latin typeface="宋体" panose="02010600030101010101" pitchFamily="2" charset="-122"/>
            </a:endParaRPr>
          </a:p>
          <a:p>
            <a:pPr marL="393065" lvl="1" indent="0" algn="just" fontAlgn="auto">
              <a:lnSpc>
                <a:spcPct val="130000"/>
              </a:lnSpc>
              <a:spcBef>
                <a:spcPct val="0"/>
              </a:spcBef>
              <a:buNone/>
            </a:pPr>
            <a:r>
              <a:rPr lang="zh-CN" altLang="en-US" sz="3200" dirty="0">
                <a:latin typeface="宋体" panose="02010600030101010101" pitchFamily="2" charset="-122"/>
              </a:rPr>
              <a:t> </a:t>
            </a:r>
            <a:r>
              <a:rPr lang="en-US" altLang="zh-CN" sz="3200" dirty="0">
                <a:latin typeface="宋体" panose="02010600030101010101" pitchFamily="2" charset="-122"/>
              </a:rPr>
              <a:t> </a:t>
            </a:r>
            <a:r>
              <a:rPr lang="zh-CN" altLang="en-US" sz="3200" dirty="0">
                <a:latin typeface="宋体" panose="02010600030101010101" pitchFamily="2" charset="-122"/>
              </a:rPr>
              <a:t>生成的</a:t>
            </a:r>
            <a:r>
              <a:rPr lang="zh-CN" altLang="en-US" sz="3200" dirty="0">
                <a:solidFill>
                  <a:srgbClr val="FF0000"/>
                </a:solidFill>
                <a:latin typeface="宋体" panose="02010600030101010101" pitchFamily="2" charset="-122"/>
              </a:rPr>
              <a:t>代码质量</a:t>
            </a:r>
            <a:r>
              <a:rPr lang="en-US" altLang="zh-CN" sz="3200" dirty="0">
                <a:latin typeface="宋体" panose="02010600030101010101" pitchFamily="2" charset="-122"/>
              </a:rPr>
              <a:t>--</a:t>
            </a:r>
            <a:r>
              <a:rPr lang="zh-CN" altLang="en-US" sz="3200" dirty="0">
                <a:latin typeface="宋体" panose="02010600030101010101" pitchFamily="2" charset="-122"/>
              </a:rPr>
              <a:t>取决于代码的速度和大小</a:t>
            </a:r>
            <a:endParaRPr lang="zh-CN" altLang="en-US" sz="3200" dirty="0">
              <a:latin typeface="宋体" panose="02010600030101010101" pitchFamily="2" charset="-122"/>
            </a:endParaRPr>
          </a:p>
          <a:p>
            <a:pPr lvl="1" algn="just" fontAlgn="auto">
              <a:lnSpc>
                <a:spcPct val="130000"/>
              </a:lnSpc>
              <a:spcBef>
                <a:spcPct val="0"/>
              </a:spcBef>
            </a:pPr>
            <a:r>
              <a:rPr lang="zh-CN" altLang="en-US" sz="3200" dirty="0">
                <a:solidFill>
                  <a:srgbClr val="FF0000"/>
                </a:solidFill>
                <a:latin typeface="宋体" panose="02010600030101010101" pitchFamily="2" charset="-122"/>
              </a:rPr>
              <a:t>寄存器的分配</a:t>
            </a:r>
            <a:r>
              <a:rPr lang="zh-CN" altLang="en-US" sz="3200" dirty="0">
                <a:latin typeface="宋体" panose="02010600030101010101" pitchFamily="2" charset="-122"/>
              </a:rPr>
              <a:t>：选择哪些变量驻留在寄存器中及具体寄存器的选择</a:t>
            </a:r>
            <a:endParaRPr lang="zh-CN" altLang="en-US" sz="32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a:xfrm>
            <a:off x="457200" y="1481455"/>
            <a:ext cx="8229600" cy="5065395"/>
          </a:xfrm>
        </p:spPr>
        <p:txBody>
          <a:bodyPr/>
          <a:p>
            <a:pPr fontAlgn="auto">
              <a:lnSpc>
                <a:spcPct val="130000"/>
              </a:lnSpc>
              <a:buFont typeface="Wingdings" panose="05000000000000000000" charset="0"/>
              <a:buChar char="ü"/>
            </a:pPr>
            <a:r>
              <a:rPr lang="zh-CN" altLang="en-US"/>
              <a:t>充分利用计算机的寄存器对于生成好的代码是非常重要的。</a:t>
            </a:r>
            <a:endParaRPr lang="zh-CN" altLang="en-US"/>
          </a:p>
          <a:p>
            <a:pPr fontAlgn="auto">
              <a:lnSpc>
                <a:spcPct val="130000"/>
              </a:lnSpc>
              <a:buFont typeface="Wingdings" panose="05000000000000000000" charset="0"/>
              <a:buChar char="ü"/>
            </a:pPr>
            <a:r>
              <a:rPr lang="zh-CN" altLang="en-US"/>
              <a:t>寄存器的使用分为两个子问题：</a:t>
            </a:r>
            <a:endParaRPr lang="zh-CN" altLang="en-US"/>
          </a:p>
          <a:p>
            <a:pPr marL="109855" indent="0" fontAlgn="auto">
              <a:lnSpc>
                <a:spcPct val="130000"/>
              </a:lnSpc>
              <a:buFont typeface="Wingdings" panose="05000000000000000000" charset="0"/>
              <a:buNone/>
            </a:pPr>
            <a:r>
              <a:rPr lang="en-US" altLang="zh-CN"/>
              <a:t>   </a:t>
            </a:r>
            <a:r>
              <a:rPr lang="zh-CN" altLang="en-US"/>
              <a:t>（</a:t>
            </a:r>
            <a:r>
              <a:rPr lang="en-US" altLang="zh-CN"/>
              <a:t>1</a:t>
            </a:r>
            <a:r>
              <a:rPr lang="zh-CN" altLang="en-US"/>
              <a:t>）在</a:t>
            </a:r>
            <a:r>
              <a:rPr lang="zh-CN" altLang="en-US">
                <a:solidFill>
                  <a:srgbClr val="FF0000"/>
                </a:solidFill>
              </a:rPr>
              <a:t>寄存器分配期间</a:t>
            </a:r>
            <a:r>
              <a:rPr lang="zh-CN" altLang="en-US"/>
              <a:t>，为程序的某一点选择驻留在寄存器中的一组变量</a:t>
            </a:r>
            <a:endParaRPr lang="zh-CN" altLang="en-US"/>
          </a:p>
          <a:p>
            <a:pPr marL="109855" indent="0" fontAlgn="auto">
              <a:lnSpc>
                <a:spcPct val="130000"/>
              </a:lnSpc>
              <a:buFont typeface="Wingdings" panose="05000000000000000000" charset="0"/>
              <a:buNone/>
            </a:pPr>
            <a:r>
              <a:rPr lang="en-US" altLang="zh-CN"/>
              <a:t>   </a:t>
            </a:r>
            <a:r>
              <a:rPr lang="zh-CN" altLang="en-US"/>
              <a:t>（</a:t>
            </a:r>
            <a:r>
              <a:rPr lang="en-US" altLang="zh-CN"/>
              <a:t>2</a:t>
            </a:r>
            <a:r>
              <a:rPr lang="zh-CN" altLang="en-US"/>
              <a:t>）在随后的</a:t>
            </a:r>
            <a:r>
              <a:rPr lang="zh-CN" altLang="en-US">
                <a:solidFill>
                  <a:srgbClr val="FF0000"/>
                </a:solidFill>
              </a:rPr>
              <a:t>寄存器指派阶段</a:t>
            </a:r>
            <a:r>
              <a:rPr lang="zh-CN" altLang="en-US"/>
              <a:t>，挑出变量将要驻留的具体寄存器</a:t>
            </a:r>
            <a:endParaRPr lang="zh-CN" altLang="en-US"/>
          </a:p>
          <a:p>
            <a:pPr fontAlgn="auto">
              <a:lnSpc>
                <a:spcPct val="130000"/>
              </a:lnSpc>
              <a:buFont typeface="Wingdings" panose="05000000000000000000" charset="0"/>
              <a:buChar char="ü"/>
            </a:pPr>
            <a:r>
              <a:rPr lang="zh-CN" altLang="en-US"/>
              <a:t>选择最优的寄存器指派方案是困难的。</a:t>
            </a:r>
            <a:endParaRPr lang="zh-CN" altLang="en-US"/>
          </a:p>
        </p:txBody>
      </p:sp>
      <p:sp>
        <p:nvSpPr>
          <p:cNvPr id="3" name="标题 2"/>
          <p:cNvSpPr>
            <a:spLocks noGrp="1"/>
          </p:cNvSpPr>
          <p:nvPr>
            <p:ph type="title"/>
          </p:nvPr>
        </p:nvSpPr>
        <p:spPr/>
        <p:txBody>
          <a:bodyPr/>
          <a:p>
            <a:r>
              <a:rPr lang="zh-CN" altLang="en-US"/>
              <a:t>寄存器分配</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9" name="Rectangle 3"/>
          <p:cNvSpPr>
            <a:spLocks noGrp="1" noChangeArrowheads="1"/>
          </p:cNvSpPr>
          <p:nvPr>
            <p:ph idx="1"/>
          </p:nvPr>
        </p:nvSpPr>
        <p:spPr>
          <a:xfrm>
            <a:off x="214282" y="804866"/>
            <a:ext cx="8548718" cy="5053026"/>
          </a:xfrm>
        </p:spPr>
        <p:txBody>
          <a:bodyPr>
            <a:normAutofit/>
          </a:bodyPr>
          <a:lstStyle/>
          <a:p>
            <a:pPr algn="just">
              <a:lnSpc>
                <a:spcPct val="120000"/>
              </a:lnSpc>
              <a:spcBef>
                <a:spcPct val="50000"/>
              </a:spcBef>
              <a:buFont typeface="Wingdings" panose="05000000000000000000" charset="0"/>
              <a:buChar char="ü"/>
            </a:pPr>
            <a:r>
              <a:rPr lang="zh-CN" altLang="en-US" sz="3200" b="1" dirty="0">
                <a:effectLst>
                  <a:outerShdw blurRad="38100" dist="38100" dir="2700000" algn="tl">
                    <a:srgbClr val="000000"/>
                  </a:outerShdw>
                </a:effectLst>
                <a:latin typeface="宋体" panose="02010600030101010101" pitchFamily="2" charset="-122"/>
              </a:rPr>
              <a:t>计算顺序的选择：</a:t>
            </a:r>
            <a:r>
              <a:rPr lang="zh-CN" altLang="en-US" sz="3200" dirty="0">
                <a:latin typeface="宋体" panose="02010600030101010101" pitchFamily="2" charset="-122"/>
              </a:rPr>
              <a:t>计算完成的顺序会影响目标代码的有效性</a:t>
            </a:r>
            <a:endParaRPr lang="zh-CN" altLang="en-US" sz="3200" dirty="0">
              <a:latin typeface="宋体" panose="02010600030101010101" pitchFamily="2" charset="-122"/>
            </a:endParaRPr>
          </a:p>
          <a:p>
            <a:pPr lvl="1" algn="just">
              <a:lnSpc>
                <a:spcPct val="120000"/>
              </a:lnSpc>
            </a:pPr>
            <a:r>
              <a:rPr lang="zh-CN" altLang="en-US" sz="3200" dirty="0">
                <a:latin typeface="宋体" panose="02010600030101010101" pitchFamily="2" charset="-122"/>
              </a:rPr>
              <a:t>可改变</a:t>
            </a:r>
            <a:r>
              <a:rPr lang="zh-CN" altLang="en-US" sz="3200" dirty="0">
                <a:solidFill>
                  <a:srgbClr val="FF0000"/>
                </a:solidFill>
                <a:latin typeface="宋体" panose="02010600030101010101" pitchFamily="2" charset="-122"/>
              </a:rPr>
              <a:t>计算顺序</a:t>
            </a:r>
            <a:r>
              <a:rPr lang="zh-CN" altLang="en-US" sz="3200" dirty="0">
                <a:latin typeface="宋体" panose="02010600030101010101" pitchFamily="2" charset="-122"/>
              </a:rPr>
              <a:t>来优化目标代码</a:t>
            </a:r>
            <a:endParaRPr lang="zh-CN" altLang="en-US" sz="3200" dirty="0">
              <a:latin typeface="宋体" panose="02010600030101010101" pitchFamily="2" charset="-122"/>
            </a:endParaRPr>
          </a:p>
          <a:p>
            <a:pPr lvl="1" algn="just">
              <a:lnSpc>
                <a:spcPct val="120000"/>
              </a:lnSpc>
            </a:pPr>
            <a:r>
              <a:rPr lang="zh-CN" altLang="en-US" sz="3200" dirty="0">
                <a:latin typeface="宋体" panose="02010600030101010101" pitchFamily="2" charset="-122"/>
                <a:sym typeface="+mn-ea"/>
              </a:rPr>
              <a:t>有些顺序用到较少寄存器，从而能提高效率</a:t>
            </a:r>
            <a:endParaRPr lang="zh-CN" altLang="en-US" sz="32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5" name="Rectangle 3"/>
          <p:cNvSpPr>
            <a:spLocks noChangeArrowheads="1"/>
          </p:cNvSpPr>
          <p:nvPr/>
        </p:nvSpPr>
        <p:spPr bwMode="auto">
          <a:xfrm>
            <a:off x="457200" y="381000"/>
            <a:ext cx="5334000" cy="427038"/>
          </a:xfrm>
          <a:prstGeom prst="rect">
            <a:avLst/>
          </a:prstGeom>
          <a:noFill/>
          <a:ln w="9525">
            <a:noFill/>
            <a:miter lim="800000"/>
          </a:ln>
        </p:spPr>
        <p:txBody>
          <a:bodyPr lIns="0" tIns="0" rIns="0" bIns="0">
            <a:spAutoFit/>
          </a:bodyPr>
          <a:lstStyle/>
          <a:p>
            <a:r>
              <a:rPr lang="en-US" altLang="zh-CN" sz="2800">
                <a:latin typeface="宋体" panose="02010600030101010101" pitchFamily="2" charset="-122"/>
              </a:rPr>
              <a:t>9.1</a:t>
            </a:r>
            <a:r>
              <a:rPr lang="zh-CN" altLang="en-US" sz="2800">
                <a:latin typeface="宋体" panose="02010600030101010101" pitchFamily="2" charset="-122"/>
              </a:rPr>
              <a:t>、目标代码的种类</a:t>
            </a:r>
            <a:endParaRPr lang="zh-CN" altLang="en-US" sz="2800">
              <a:latin typeface="宋体" panose="02010600030101010101" pitchFamily="2" charset="-122"/>
            </a:endParaRPr>
          </a:p>
        </p:txBody>
      </p:sp>
      <p:sp>
        <p:nvSpPr>
          <p:cNvPr id="581644" name="Rectangle 12"/>
          <p:cNvSpPr>
            <a:spLocks noChangeArrowheads="1"/>
          </p:cNvSpPr>
          <p:nvPr/>
        </p:nvSpPr>
        <p:spPr bwMode="auto">
          <a:xfrm>
            <a:off x="184785" y="990600"/>
            <a:ext cx="8756650" cy="5775960"/>
          </a:xfrm>
          <a:prstGeom prst="rect">
            <a:avLst/>
          </a:prstGeom>
          <a:noFill/>
          <a:ln w="9525">
            <a:noFill/>
            <a:miter lim="800000"/>
          </a:ln>
          <a:effectLst/>
        </p:spPr>
        <p:txBody>
          <a:bodyPr wrap="square">
            <a:spAutoFit/>
          </a:bodyPr>
          <a:lstStyle/>
          <a:p>
            <a:pPr indent="0" eaLnBrk="0" latinLnBrk="0" hangingPunct="0">
              <a:lnSpc>
                <a:spcPct val="120000"/>
              </a:lnSpc>
              <a:spcBef>
                <a:spcPts val="0"/>
              </a:spcBef>
            </a:pPr>
            <a:r>
              <a:rPr lang="zh-CN" altLang="en-US" sz="2800" dirty="0">
                <a:effectLst>
                  <a:outerShdw blurRad="38100" dist="38100" dir="2700000" algn="tl">
                    <a:srgbClr val="000000"/>
                  </a:outerShdw>
                </a:effectLst>
              </a:rPr>
              <a:t>（</a:t>
            </a:r>
            <a:r>
              <a:rPr lang="en-US" altLang="zh-CN" sz="2800" dirty="0">
                <a:effectLst>
                  <a:outerShdw blurRad="38100" dist="38100" dir="2700000" algn="tl">
                    <a:srgbClr val="000000"/>
                  </a:outerShdw>
                </a:effectLst>
              </a:rPr>
              <a:t>1</a:t>
            </a:r>
            <a:r>
              <a:rPr lang="zh-CN" altLang="en-US" sz="2800" dirty="0">
                <a:effectLst>
                  <a:outerShdw blurRad="38100" dist="38100" dir="2700000" algn="tl">
                    <a:srgbClr val="000000"/>
                  </a:outerShdw>
                </a:effectLst>
              </a:rPr>
              <a:t>）</a:t>
            </a:r>
            <a:r>
              <a:rPr lang="zh-CN" altLang="en-US" sz="2800" dirty="0">
                <a:solidFill>
                  <a:srgbClr val="FF0000"/>
                </a:solidFill>
                <a:effectLst>
                  <a:outerShdw blurRad="38100" dist="38100" dir="2700000" algn="tl">
                    <a:srgbClr val="000000"/>
                  </a:outerShdw>
                </a:effectLst>
              </a:rPr>
              <a:t>虚拟目标代码</a:t>
            </a:r>
            <a:r>
              <a:rPr lang="zh-CN" altLang="en-US" sz="2800" dirty="0">
                <a:solidFill>
                  <a:schemeClr val="tx1"/>
                </a:solidFill>
                <a:effectLst>
                  <a:outerShdw blurRad="38100" dist="38100" dir="2700000" algn="tl">
                    <a:srgbClr val="000000"/>
                  </a:outerShdw>
                </a:effectLst>
              </a:rPr>
              <a:t>：</a:t>
            </a:r>
            <a:r>
              <a:rPr lang="zh-CN" altLang="en-US" sz="2800" dirty="0">
                <a:solidFill>
                  <a:schemeClr val="tx1"/>
                </a:solidFill>
                <a:effectLst/>
              </a:rPr>
              <a:t>虚拟机上的目标程序</a:t>
            </a:r>
            <a:endParaRPr lang="zh-CN" altLang="en-US" sz="2800" dirty="0">
              <a:solidFill>
                <a:srgbClr val="FF0000"/>
              </a:solidFill>
              <a:effectLst>
                <a:outerShdw blurRad="38100" dist="38100" dir="2700000" algn="tl">
                  <a:srgbClr val="000000"/>
                </a:outerShdw>
              </a:effectLst>
            </a:endParaRPr>
          </a:p>
          <a:p>
            <a:pPr lvl="1" indent="0" eaLnBrk="0" latinLnBrk="0" hangingPunct="0">
              <a:lnSpc>
                <a:spcPct val="120000"/>
              </a:lnSpc>
              <a:spcBef>
                <a:spcPts val="0"/>
              </a:spcBef>
            </a:pPr>
            <a:r>
              <a:rPr lang="zh-CN" altLang="en-US" sz="2800" dirty="0" smtClean="0"/>
              <a:t>产生</a:t>
            </a:r>
            <a:r>
              <a:rPr lang="zh-CN" altLang="en-US" sz="2800" dirty="0"/>
              <a:t>虚拟目标代码（针对并不存在的机器编写）的好处是便于</a:t>
            </a:r>
            <a:r>
              <a:rPr lang="zh-CN" altLang="en-US" sz="2800" dirty="0">
                <a:solidFill>
                  <a:srgbClr val="FF0000"/>
                </a:solidFill>
              </a:rPr>
              <a:t>编译器的移植</a:t>
            </a:r>
            <a:r>
              <a:rPr lang="zh-CN" altLang="en-US" sz="2800" dirty="0"/>
              <a:t>。</a:t>
            </a:r>
            <a:endParaRPr lang="zh-CN" altLang="en-US" sz="2800" dirty="0"/>
          </a:p>
          <a:p>
            <a:pPr indent="0" eaLnBrk="0" latinLnBrk="0" hangingPunct="0">
              <a:lnSpc>
                <a:spcPct val="120000"/>
              </a:lnSpc>
              <a:spcBef>
                <a:spcPts val="0"/>
              </a:spcBef>
            </a:pPr>
            <a:r>
              <a:rPr lang="zh-CN" altLang="en-US" sz="2800" dirty="0">
                <a:effectLst>
                  <a:outerShdw blurRad="38100" dist="38100" dir="2700000" algn="tl">
                    <a:srgbClr val="000000"/>
                  </a:outerShdw>
                </a:effectLst>
              </a:rPr>
              <a:t>（</a:t>
            </a:r>
            <a:r>
              <a:rPr lang="en-US" altLang="zh-CN" sz="2800" dirty="0">
                <a:effectLst>
                  <a:outerShdw blurRad="38100" dist="38100" dir="2700000" algn="tl">
                    <a:srgbClr val="000000"/>
                  </a:outerShdw>
                </a:effectLst>
              </a:rPr>
              <a:t>2</a:t>
            </a:r>
            <a:r>
              <a:rPr lang="zh-CN" altLang="en-US" sz="2800" dirty="0">
                <a:effectLst>
                  <a:outerShdw blurRad="38100" dist="38100" dir="2700000" algn="tl">
                    <a:srgbClr val="000000"/>
                  </a:outerShdw>
                </a:effectLst>
              </a:rPr>
              <a:t>）</a:t>
            </a:r>
            <a:r>
              <a:rPr lang="zh-CN" altLang="en-US" sz="2800" dirty="0">
                <a:solidFill>
                  <a:srgbClr val="FF0000"/>
                </a:solidFill>
                <a:effectLst>
                  <a:outerShdw blurRad="38100" dist="38100" dir="2700000" algn="tl">
                    <a:srgbClr val="000000"/>
                  </a:outerShdw>
                </a:effectLst>
              </a:rPr>
              <a:t>实际目标代码</a:t>
            </a:r>
            <a:r>
              <a:rPr lang="zh-CN" altLang="en-US" sz="2800" dirty="0">
                <a:solidFill>
                  <a:schemeClr val="tx1"/>
                </a:solidFill>
                <a:effectLst>
                  <a:outerShdw blurRad="38100" dist="38100" dir="2700000" algn="tl">
                    <a:srgbClr val="000000"/>
                  </a:outerShdw>
                </a:effectLst>
              </a:rPr>
              <a:t>：</a:t>
            </a:r>
            <a:r>
              <a:rPr lang="zh-CN" altLang="en-US" sz="2800" dirty="0">
                <a:solidFill>
                  <a:schemeClr val="tx1"/>
                </a:solidFill>
                <a:effectLst/>
              </a:rPr>
              <a:t>实际机器上的指令序列（绝对地址机器代码，可重定位的机器代码，汇编代码）</a:t>
            </a:r>
            <a:endParaRPr lang="zh-CN" altLang="en-US" sz="2800" dirty="0">
              <a:solidFill>
                <a:srgbClr val="FF0000"/>
              </a:solidFill>
              <a:effectLst/>
            </a:endParaRPr>
          </a:p>
          <a:p>
            <a:pPr lvl="1" indent="0" eaLnBrk="0" latinLnBrk="0" hangingPunct="0">
              <a:lnSpc>
                <a:spcPct val="120000"/>
              </a:lnSpc>
              <a:spcBef>
                <a:spcPts val="0"/>
              </a:spcBef>
            </a:pPr>
            <a:r>
              <a:rPr lang="zh-CN" altLang="en-US" sz="2800" dirty="0" smtClean="0"/>
              <a:t>与</a:t>
            </a:r>
            <a:r>
              <a:rPr lang="zh-CN" altLang="en-US" sz="2800" dirty="0"/>
              <a:t>虚拟目标代码不同，</a:t>
            </a:r>
            <a:r>
              <a:rPr lang="zh-CN" altLang="en-US" sz="2800" dirty="0">
                <a:solidFill>
                  <a:srgbClr val="FF0000"/>
                </a:solidFill>
              </a:rPr>
              <a:t>实际目标代码</a:t>
            </a:r>
            <a:r>
              <a:rPr lang="zh-CN" altLang="en-US" sz="2800" dirty="0"/>
              <a:t>是针对实际存在的机器设计的，因此需要有将虚拟代码转换成实际目标机代码的</a:t>
            </a:r>
            <a:r>
              <a:rPr lang="zh-CN" altLang="en-US" sz="2800" dirty="0">
                <a:solidFill>
                  <a:srgbClr val="FF0000"/>
                </a:solidFill>
              </a:rPr>
              <a:t>代码生成器</a:t>
            </a:r>
            <a:r>
              <a:rPr lang="zh-CN" altLang="en-US" sz="2800" dirty="0"/>
              <a:t>。</a:t>
            </a:r>
            <a:endParaRPr lang="zh-CN" altLang="en-US" sz="2800" dirty="0"/>
          </a:p>
          <a:p>
            <a:pPr lvl="1" indent="0" eaLnBrk="0" latinLnBrk="0" hangingPunct="0">
              <a:lnSpc>
                <a:spcPct val="120000"/>
              </a:lnSpc>
              <a:spcBef>
                <a:spcPts val="0"/>
              </a:spcBef>
            </a:pPr>
            <a:r>
              <a:rPr lang="zh-CN" altLang="en-US" sz="2800" dirty="0" smtClean="0"/>
              <a:t>生成</a:t>
            </a:r>
            <a:r>
              <a:rPr lang="zh-CN" altLang="en-US" sz="2800" dirty="0"/>
              <a:t>实际的目标机代码需结合</a:t>
            </a:r>
            <a:r>
              <a:rPr lang="zh-CN" altLang="en-US" sz="2800" dirty="0">
                <a:solidFill>
                  <a:srgbClr val="FF0000"/>
                </a:solidFill>
              </a:rPr>
              <a:t>目标机</a:t>
            </a:r>
            <a:r>
              <a:rPr lang="zh-CN" altLang="en-US" sz="2800" dirty="0"/>
              <a:t>进行。例如：有无间接寻址、寄存器是否够、有无较好的特殊指令等。</a:t>
            </a:r>
            <a:endParaRPr lang="zh-CN" altLang="en-US" sz="2800" dirty="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ChangeArrowheads="1"/>
          </p:cNvSpPr>
          <p:nvPr/>
        </p:nvSpPr>
        <p:spPr bwMode="auto">
          <a:xfrm>
            <a:off x="457200" y="381000"/>
            <a:ext cx="6705600" cy="427038"/>
          </a:xfrm>
          <a:prstGeom prst="rect">
            <a:avLst/>
          </a:prstGeom>
          <a:noFill/>
          <a:ln w="9525">
            <a:noFill/>
            <a:miter lim="800000"/>
          </a:ln>
        </p:spPr>
        <p:txBody>
          <a:bodyPr lIns="0" tIns="0" rIns="0" bIns="0">
            <a:spAutoFit/>
          </a:bodyPr>
          <a:lstStyle/>
          <a:p>
            <a:r>
              <a:rPr lang="en-US" altLang="zh-CN" sz="2800">
                <a:latin typeface="宋体" panose="02010600030101010101" pitchFamily="2" charset="-122"/>
              </a:rPr>
              <a:t>9.2</a:t>
            </a:r>
            <a:r>
              <a:rPr lang="zh-CN" altLang="en-US" sz="2800">
                <a:latin typeface="宋体" panose="02010600030101010101" pitchFamily="2" charset="-122"/>
              </a:rPr>
              <a:t>、临时变量</a:t>
            </a:r>
            <a:endParaRPr lang="zh-CN" altLang="en-US" sz="2800">
              <a:latin typeface="宋体" panose="02010600030101010101" pitchFamily="2" charset="-122"/>
            </a:endParaRPr>
          </a:p>
        </p:txBody>
      </p:sp>
      <p:sp>
        <p:nvSpPr>
          <p:cNvPr id="624643" name="Rectangle 3"/>
          <p:cNvSpPr>
            <a:spLocks noChangeArrowheads="1"/>
          </p:cNvSpPr>
          <p:nvPr/>
        </p:nvSpPr>
        <p:spPr bwMode="auto">
          <a:xfrm>
            <a:off x="457200" y="857232"/>
            <a:ext cx="8229600" cy="5439694"/>
          </a:xfrm>
          <a:prstGeom prst="rect">
            <a:avLst/>
          </a:prstGeom>
          <a:noFill/>
          <a:ln w="9525">
            <a:noFill/>
            <a:miter lim="800000"/>
          </a:ln>
          <a:effectLst/>
        </p:spPr>
        <p:txBody>
          <a:bodyPr wrap="square">
            <a:spAutoFit/>
          </a:bodyPr>
          <a:lstStyle/>
          <a:p>
            <a:pPr eaLnBrk="0" hangingPunct="0">
              <a:lnSpc>
                <a:spcPct val="110000"/>
              </a:lnSpc>
              <a:spcBef>
                <a:spcPct val="50000"/>
              </a:spcBef>
            </a:pPr>
            <a:r>
              <a:rPr lang="zh-CN" altLang="en-US" sz="2800" dirty="0">
                <a:solidFill>
                  <a:srgbClr val="FF0000"/>
                </a:solidFill>
                <a:effectLst>
                  <a:outerShdw blurRad="38100" dist="38100" dir="2700000" algn="tl">
                    <a:srgbClr val="000000"/>
                  </a:outerShdw>
                </a:effectLst>
              </a:rPr>
              <a:t>（</a:t>
            </a:r>
            <a:r>
              <a:rPr lang="en-US" altLang="zh-CN" sz="2800" dirty="0">
                <a:solidFill>
                  <a:srgbClr val="FF0000"/>
                </a:solidFill>
                <a:effectLst>
                  <a:outerShdw blurRad="38100" dist="38100" dir="2700000" algn="tl">
                    <a:srgbClr val="000000"/>
                  </a:outerShdw>
                </a:effectLst>
              </a:rPr>
              <a:t>1</a:t>
            </a:r>
            <a:r>
              <a:rPr lang="zh-CN" altLang="en-US" sz="2800" dirty="0">
                <a:solidFill>
                  <a:srgbClr val="FF0000"/>
                </a:solidFill>
                <a:effectLst>
                  <a:outerShdw blurRad="38100" dist="38100" dir="2700000" algn="tl">
                    <a:srgbClr val="000000"/>
                  </a:outerShdw>
                </a:effectLst>
              </a:rPr>
              <a:t>）临时变量的特点</a:t>
            </a:r>
            <a:endParaRPr lang="zh-CN" altLang="en-US" sz="2800" dirty="0">
              <a:solidFill>
                <a:srgbClr val="FF0000"/>
              </a:solidFill>
              <a:effectLst>
                <a:outerShdw blurRad="38100" dist="38100" dir="2700000" algn="tl">
                  <a:srgbClr val="000000"/>
                </a:outerShdw>
              </a:effectLst>
            </a:endParaRPr>
          </a:p>
          <a:p>
            <a:pPr lvl="1" eaLnBrk="0" hangingPunct="0">
              <a:lnSpc>
                <a:spcPct val="110000"/>
              </a:lnSpc>
              <a:spcBef>
                <a:spcPct val="50000"/>
              </a:spcBef>
            </a:pPr>
            <a:r>
              <a:rPr lang="zh-CN" altLang="en-US" sz="2800" dirty="0"/>
              <a:t>        最大的特点是</a:t>
            </a:r>
            <a:r>
              <a:rPr lang="zh-CN" altLang="en-US" sz="2800" dirty="0">
                <a:solidFill>
                  <a:srgbClr val="FF0000"/>
                </a:solidFill>
              </a:rPr>
              <a:t>寿命短</a:t>
            </a:r>
            <a:r>
              <a:rPr lang="zh-CN" altLang="en-US" sz="2800" dirty="0"/>
              <a:t>。因此，可采取与源变量不同的空间分配和释放方法，即：不等到作用域结束，而是</a:t>
            </a:r>
            <a:r>
              <a:rPr lang="zh-CN" altLang="en-US" sz="2800" dirty="0">
                <a:solidFill>
                  <a:srgbClr val="FF0000"/>
                </a:solidFill>
              </a:rPr>
              <a:t>用完立即释放</a:t>
            </a:r>
            <a:r>
              <a:rPr lang="zh-CN" altLang="en-US" sz="2800" dirty="0"/>
              <a:t>，这样就可以实现存储单元的共享。</a:t>
            </a:r>
            <a:endParaRPr lang="zh-CN" altLang="en-US" sz="2800" dirty="0"/>
          </a:p>
          <a:p>
            <a:pPr eaLnBrk="0" hangingPunct="0">
              <a:lnSpc>
                <a:spcPct val="110000"/>
              </a:lnSpc>
              <a:spcBef>
                <a:spcPct val="50000"/>
              </a:spcBef>
            </a:pPr>
            <a:r>
              <a:rPr lang="zh-CN" altLang="en-US" sz="2800" dirty="0">
                <a:solidFill>
                  <a:srgbClr val="FF0000"/>
                </a:solidFill>
                <a:effectLst>
                  <a:outerShdw blurRad="38100" dist="38100" dir="2700000" algn="tl">
                    <a:srgbClr val="000000"/>
                  </a:outerShdw>
                </a:effectLst>
              </a:rPr>
              <a:t>（</a:t>
            </a:r>
            <a:r>
              <a:rPr lang="en-US" altLang="zh-CN" sz="2800" dirty="0">
                <a:solidFill>
                  <a:srgbClr val="FF0000"/>
                </a:solidFill>
                <a:effectLst>
                  <a:outerShdw blurRad="38100" dist="38100" dir="2700000" algn="tl">
                    <a:srgbClr val="000000"/>
                  </a:outerShdw>
                </a:effectLst>
              </a:rPr>
              <a:t>2</a:t>
            </a:r>
            <a:r>
              <a:rPr lang="zh-CN" altLang="en-US" sz="2800" dirty="0">
                <a:solidFill>
                  <a:srgbClr val="FF0000"/>
                </a:solidFill>
                <a:effectLst>
                  <a:outerShdw blurRad="38100" dist="38100" dir="2700000" algn="tl">
                    <a:srgbClr val="000000"/>
                  </a:outerShdw>
                </a:effectLst>
              </a:rPr>
              <a:t>）临时变量的存储空间</a:t>
            </a:r>
            <a:endParaRPr lang="zh-CN" altLang="en-US" sz="2800" dirty="0">
              <a:solidFill>
                <a:srgbClr val="FF0000"/>
              </a:solidFill>
              <a:effectLst>
                <a:outerShdw blurRad="38100" dist="38100" dir="2700000" algn="tl">
                  <a:srgbClr val="000000"/>
                </a:outerShdw>
              </a:effectLst>
            </a:endParaRPr>
          </a:p>
          <a:p>
            <a:pPr lvl="1" eaLnBrk="0" hangingPunct="0">
              <a:lnSpc>
                <a:spcPct val="110000"/>
              </a:lnSpc>
              <a:spcBef>
                <a:spcPct val="50000"/>
              </a:spcBef>
            </a:pPr>
            <a:r>
              <a:rPr lang="zh-CN" altLang="en-US" sz="2800" dirty="0"/>
              <a:t>        </a:t>
            </a:r>
            <a:r>
              <a:rPr lang="zh-CN" altLang="en-US" sz="2800" dirty="0">
                <a:solidFill>
                  <a:srgbClr val="FF0000"/>
                </a:solidFill>
              </a:rPr>
              <a:t>代码生成阶段</a:t>
            </a:r>
            <a:r>
              <a:rPr lang="zh-CN" altLang="en-US" sz="2800" dirty="0"/>
              <a:t>必须指定各变量应占存储中的哪个单元，因此它也必须计算</a:t>
            </a:r>
            <a:r>
              <a:rPr lang="zh-CN" altLang="en-US" sz="2800" dirty="0">
                <a:solidFill>
                  <a:srgbClr val="FF0000"/>
                </a:solidFill>
              </a:rPr>
              <a:t>临时变量</a:t>
            </a:r>
            <a:r>
              <a:rPr lang="zh-CN" altLang="en-US" sz="2800" dirty="0"/>
              <a:t>所需的存储空间大小，才能分配存储单元。（注：源变量的空间在生成符号表时已计算出）</a:t>
            </a:r>
            <a:endParaRPr lang="zh-CN" altLang="en-US" sz="2800" dirty="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p:cNvSpPr>
            <a:spLocks noChangeArrowheads="1"/>
          </p:cNvSpPr>
          <p:nvPr/>
        </p:nvSpPr>
        <p:spPr bwMode="auto">
          <a:xfrm>
            <a:off x="457200" y="381000"/>
            <a:ext cx="8229600" cy="5607689"/>
          </a:xfrm>
          <a:prstGeom prst="rect">
            <a:avLst/>
          </a:prstGeom>
          <a:noFill/>
          <a:ln w="9525">
            <a:noFill/>
            <a:miter lim="800000"/>
          </a:ln>
          <a:effectLst/>
        </p:spPr>
        <p:txBody>
          <a:bodyPr>
            <a:spAutoFit/>
          </a:bodyPr>
          <a:lstStyle/>
          <a:p>
            <a:pPr eaLnBrk="0" hangingPunct="0">
              <a:lnSpc>
                <a:spcPct val="150000"/>
              </a:lnSpc>
              <a:spcBef>
                <a:spcPct val="50000"/>
              </a:spcBef>
            </a:pPr>
            <a:r>
              <a:rPr lang="zh-CN" altLang="en-US" sz="2800" dirty="0"/>
              <a:t>我们在学习“运行时的存储空间”一章时知道，在一个</a:t>
            </a:r>
            <a:r>
              <a:rPr lang="zh-CN" altLang="en-US" sz="2800" dirty="0">
                <a:solidFill>
                  <a:srgbClr val="FF0000"/>
                </a:solidFill>
              </a:rPr>
              <a:t>过程内被声明的变量都要占栈区的</a:t>
            </a:r>
            <a:r>
              <a:rPr lang="en-US" altLang="zh-CN" sz="2800" dirty="0">
                <a:solidFill>
                  <a:srgbClr val="FF0000"/>
                </a:solidFill>
              </a:rPr>
              <a:t>AR</a:t>
            </a:r>
            <a:r>
              <a:rPr lang="zh-CN" altLang="en-US" sz="2800" dirty="0">
                <a:solidFill>
                  <a:srgbClr val="FF0000"/>
                </a:solidFill>
              </a:rPr>
              <a:t>单元</a:t>
            </a:r>
            <a:r>
              <a:rPr lang="zh-CN" altLang="en-US" sz="2800" dirty="0"/>
              <a:t>，且不能共享。但对于</a:t>
            </a:r>
            <a:r>
              <a:rPr lang="zh-CN" altLang="en-US" sz="2800" dirty="0">
                <a:solidFill>
                  <a:srgbClr val="FF0000"/>
                </a:solidFill>
              </a:rPr>
              <a:t>临时变量</a:t>
            </a:r>
            <a:r>
              <a:rPr lang="zh-CN" altLang="en-US" sz="2800" dirty="0"/>
              <a:t>来说则不同，</a:t>
            </a:r>
            <a:r>
              <a:rPr lang="zh-CN" altLang="en-US" sz="2800" dirty="0">
                <a:solidFill>
                  <a:srgbClr val="FF0000"/>
                </a:solidFill>
              </a:rPr>
              <a:t>应尽量共享</a:t>
            </a:r>
            <a:r>
              <a:rPr lang="zh-CN" altLang="en-US" sz="2800" dirty="0"/>
              <a:t>。这时可有两种处理方法：</a:t>
            </a:r>
            <a:endParaRPr lang="zh-CN" altLang="en-US" sz="2800" dirty="0"/>
          </a:p>
          <a:p>
            <a:pPr lvl="1" eaLnBrk="0" hangingPunct="0">
              <a:lnSpc>
                <a:spcPct val="150000"/>
              </a:lnSpc>
              <a:spcBef>
                <a:spcPct val="50000"/>
              </a:spcBef>
              <a:buFont typeface="Wingdings" panose="05000000000000000000" pitchFamily="2" charset="2"/>
              <a:buChar char="ü"/>
            </a:pPr>
            <a:r>
              <a:rPr lang="zh-CN" altLang="en-US" sz="2800" dirty="0"/>
              <a:t>  </a:t>
            </a:r>
            <a:r>
              <a:rPr lang="zh-CN" altLang="en-US" sz="2800" dirty="0">
                <a:solidFill>
                  <a:srgbClr val="FF0000"/>
                </a:solidFill>
              </a:rPr>
              <a:t>静态分配</a:t>
            </a:r>
            <a:r>
              <a:rPr lang="zh-CN" altLang="en-US" sz="2800" dirty="0"/>
              <a:t>：给每个临时变量一律分配一个</a:t>
            </a:r>
            <a:r>
              <a:rPr lang="en-US" altLang="zh-CN" sz="2800" dirty="0"/>
              <a:t>AR</a:t>
            </a:r>
            <a:endParaRPr lang="en-US" altLang="zh-CN" sz="2800" dirty="0"/>
          </a:p>
          <a:p>
            <a:pPr lvl="1" eaLnBrk="0" hangingPunct="0">
              <a:lnSpc>
                <a:spcPct val="150000"/>
              </a:lnSpc>
              <a:spcBef>
                <a:spcPct val="10000"/>
              </a:spcBef>
              <a:buFont typeface="Wingdings" panose="05000000000000000000" pitchFamily="2" charset="2"/>
              <a:buNone/>
            </a:pPr>
            <a:r>
              <a:rPr lang="en-US" altLang="zh-CN" sz="2800" dirty="0"/>
              <a:t>     </a:t>
            </a:r>
            <a:r>
              <a:rPr lang="zh-CN" altLang="en-US" sz="2800" dirty="0"/>
              <a:t>单元（按</a:t>
            </a:r>
            <a:r>
              <a:rPr lang="zh-CN" altLang="en-US" sz="2800" dirty="0">
                <a:solidFill>
                  <a:srgbClr val="FF0000"/>
                </a:solidFill>
              </a:rPr>
              <a:t>共享法</a:t>
            </a:r>
            <a:r>
              <a:rPr lang="zh-CN" altLang="en-US" sz="2800" dirty="0"/>
              <a:t>静态分配）</a:t>
            </a:r>
            <a:endParaRPr lang="zh-CN" altLang="en-US" sz="2800" dirty="0"/>
          </a:p>
          <a:p>
            <a:pPr lvl="1" eaLnBrk="0" hangingPunct="0">
              <a:lnSpc>
                <a:spcPct val="150000"/>
              </a:lnSpc>
              <a:spcBef>
                <a:spcPct val="10000"/>
              </a:spcBef>
              <a:buFont typeface="Wingdings" panose="05000000000000000000" pitchFamily="2" charset="2"/>
              <a:buChar char="ü"/>
            </a:pPr>
            <a:r>
              <a:rPr lang="zh-CN" altLang="en-US" sz="2800" dirty="0"/>
              <a:t>  </a:t>
            </a:r>
            <a:r>
              <a:rPr lang="zh-CN" altLang="en-US" sz="2800" dirty="0">
                <a:solidFill>
                  <a:srgbClr val="FF0000"/>
                </a:solidFill>
              </a:rPr>
              <a:t>动态分配</a:t>
            </a:r>
            <a:r>
              <a:rPr lang="zh-CN" altLang="en-US" sz="2800" dirty="0"/>
              <a:t>：只当需要保存于内存中时才分配</a:t>
            </a:r>
            <a:endParaRPr lang="zh-CN" altLang="en-US" sz="2800" dirty="0"/>
          </a:p>
          <a:p>
            <a:pPr lvl="1" eaLnBrk="0" hangingPunct="0">
              <a:lnSpc>
                <a:spcPct val="150000"/>
              </a:lnSpc>
              <a:spcBef>
                <a:spcPct val="10000"/>
              </a:spcBef>
              <a:buFont typeface="Wingdings" panose="05000000000000000000" pitchFamily="2" charset="2"/>
              <a:buNone/>
            </a:pPr>
            <a:r>
              <a:rPr lang="zh-CN" altLang="en-US" sz="2800" dirty="0"/>
              <a:t>     ，其余时候仅使用寄存器。</a:t>
            </a:r>
            <a:endParaRPr lang="zh-CN" altLang="en-US" sz="2800" dirty="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Rectangle 2"/>
          <p:cNvSpPr>
            <a:spLocks noChangeArrowheads="1"/>
          </p:cNvSpPr>
          <p:nvPr/>
        </p:nvSpPr>
        <p:spPr bwMode="auto">
          <a:xfrm>
            <a:off x="314324" y="71414"/>
            <a:ext cx="8472518" cy="6249035"/>
          </a:xfrm>
          <a:prstGeom prst="rect">
            <a:avLst/>
          </a:prstGeom>
          <a:noFill/>
          <a:ln w="9525">
            <a:noFill/>
            <a:miter lim="800000"/>
          </a:ln>
          <a:effectLst/>
        </p:spPr>
        <p:txBody>
          <a:bodyPr wrap="square">
            <a:spAutoFit/>
          </a:bodyPr>
          <a:lstStyle/>
          <a:p>
            <a:pPr eaLnBrk="0" hangingPunct="0">
              <a:lnSpc>
                <a:spcPct val="130000"/>
              </a:lnSpc>
              <a:spcBef>
                <a:spcPts val="0"/>
              </a:spcBef>
            </a:pPr>
            <a:r>
              <a:rPr lang="zh-CN" altLang="en-US" sz="2800" dirty="0"/>
              <a:t>考虑</a:t>
            </a:r>
            <a:r>
              <a:rPr lang="zh-CN" altLang="en-US" sz="2800" dirty="0">
                <a:solidFill>
                  <a:srgbClr val="FF0000"/>
                </a:solidFill>
              </a:rPr>
              <a:t>静态分配</a:t>
            </a:r>
            <a:r>
              <a:rPr lang="zh-CN" altLang="en-US" sz="2800" dirty="0"/>
              <a:t>情况下，临时变量的存储分配问题：</a:t>
            </a:r>
            <a:endParaRPr lang="zh-CN" altLang="en-US" sz="2800" dirty="0"/>
          </a:p>
          <a:p>
            <a:pPr marL="457200" lvl="0" indent="-457200" eaLnBrk="0" hangingPunct="0">
              <a:lnSpc>
                <a:spcPct val="130000"/>
              </a:lnSpc>
              <a:spcBef>
                <a:spcPts val="0"/>
              </a:spcBef>
              <a:buFont typeface="Wingdings" panose="05000000000000000000" charset="0"/>
              <a:buChar char="ü"/>
            </a:pPr>
            <a:r>
              <a:rPr lang="zh-CN" altLang="en-US" sz="2800" dirty="0">
                <a:solidFill>
                  <a:srgbClr val="FF0000"/>
                </a:solidFill>
              </a:rPr>
              <a:t>定值点</a:t>
            </a:r>
            <a:r>
              <a:rPr lang="zh-CN" altLang="en-US" sz="2800" dirty="0"/>
              <a:t>：如果 </a:t>
            </a:r>
            <a:r>
              <a:rPr lang="en-US" altLang="zh-CN" sz="2800" dirty="0" err="1"/>
              <a:t>i</a:t>
            </a:r>
            <a:r>
              <a:rPr lang="zh-CN" altLang="en-US" sz="2800" dirty="0"/>
              <a:t>中间代码给临时变量</a:t>
            </a:r>
            <a:r>
              <a:rPr lang="en-US" altLang="zh-CN" sz="2800" dirty="0"/>
              <a:t>T</a:t>
            </a:r>
            <a:r>
              <a:rPr lang="zh-CN" altLang="en-US" sz="2800" dirty="0"/>
              <a:t>定值，则称 </a:t>
            </a:r>
            <a:r>
              <a:rPr lang="en-US" altLang="zh-CN" sz="2800" dirty="0" err="1"/>
              <a:t>i</a:t>
            </a:r>
            <a:r>
              <a:rPr lang="en-US" altLang="zh-CN" sz="2800" dirty="0"/>
              <a:t> </a:t>
            </a:r>
            <a:r>
              <a:rPr lang="zh-CN" altLang="en-US" sz="2800" dirty="0"/>
              <a:t>为 </a:t>
            </a:r>
            <a:r>
              <a:rPr lang="en-US" altLang="zh-CN" sz="2800" dirty="0"/>
              <a:t>T </a:t>
            </a:r>
            <a:r>
              <a:rPr lang="zh-CN" altLang="en-US" sz="2800" dirty="0"/>
              <a:t>的定值</a:t>
            </a:r>
            <a:r>
              <a:rPr lang="zh-CN" altLang="en-US" sz="2800" dirty="0" smtClean="0"/>
              <a:t>点。</a:t>
            </a:r>
            <a:endParaRPr lang="zh-CN" altLang="en-US" sz="2800" dirty="0"/>
          </a:p>
          <a:p>
            <a:pPr marL="457200" lvl="0" indent="-457200" eaLnBrk="0" hangingPunct="0">
              <a:lnSpc>
                <a:spcPct val="130000"/>
              </a:lnSpc>
              <a:spcBef>
                <a:spcPts val="0"/>
              </a:spcBef>
              <a:buFont typeface="Wingdings" panose="05000000000000000000" charset="0"/>
              <a:buChar char="ü"/>
            </a:pPr>
            <a:r>
              <a:rPr lang="zh-CN" altLang="en-US" sz="2800" dirty="0">
                <a:solidFill>
                  <a:srgbClr val="FF0000"/>
                </a:solidFill>
              </a:rPr>
              <a:t>引用点</a:t>
            </a:r>
            <a:r>
              <a:rPr lang="zh-CN" altLang="en-US" sz="2800" dirty="0"/>
              <a:t>：如果 </a:t>
            </a:r>
            <a:r>
              <a:rPr lang="en-US" altLang="zh-CN" sz="2800" dirty="0"/>
              <a:t>j </a:t>
            </a:r>
            <a:r>
              <a:rPr lang="zh-CN" altLang="en-US" sz="2800" dirty="0"/>
              <a:t>中间代码使用临时变量</a:t>
            </a:r>
            <a:r>
              <a:rPr lang="en-US" altLang="zh-CN" sz="2800" dirty="0"/>
              <a:t>T</a:t>
            </a:r>
            <a:r>
              <a:rPr lang="zh-CN" altLang="en-US" sz="2800" dirty="0"/>
              <a:t>，则称 </a:t>
            </a:r>
            <a:r>
              <a:rPr lang="en-US" altLang="zh-CN" sz="2800" dirty="0"/>
              <a:t>j </a:t>
            </a:r>
            <a:r>
              <a:rPr lang="zh-CN" altLang="en-US" sz="2800" dirty="0"/>
              <a:t>为 </a:t>
            </a:r>
            <a:r>
              <a:rPr lang="en-US" altLang="zh-CN" sz="2800" dirty="0"/>
              <a:t>T </a:t>
            </a:r>
            <a:r>
              <a:rPr lang="zh-CN" altLang="en-US" sz="2800" dirty="0"/>
              <a:t>的引用点。</a:t>
            </a:r>
            <a:endParaRPr lang="zh-CN" altLang="en-US" sz="2800" dirty="0"/>
          </a:p>
          <a:p>
            <a:pPr marL="457200" lvl="0" indent="-457200" eaLnBrk="0" hangingPunct="0">
              <a:lnSpc>
                <a:spcPct val="130000"/>
              </a:lnSpc>
              <a:spcBef>
                <a:spcPts val="0"/>
              </a:spcBef>
              <a:buFont typeface="Wingdings" panose="05000000000000000000" charset="0"/>
              <a:buChar char="ü"/>
            </a:pPr>
            <a:r>
              <a:rPr lang="zh-CN" altLang="en-US" sz="2800" dirty="0">
                <a:solidFill>
                  <a:srgbClr val="FF0000"/>
                </a:solidFill>
              </a:rPr>
              <a:t>活动区间</a:t>
            </a:r>
            <a:r>
              <a:rPr lang="zh-CN" altLang="en-US" sz="2800" dirty="0"/>
              <a:t>：如果 </a:t>
            </a:r>
            <a:r>
              <a:rPr lang="en-US" altLang="zh-CN" sz="2800" dirty="0" err="1"/>
              <a:t>i</a:t>
            </a:r>
            <a:r>
              <a:rPr lang="en-US" altLang="zh-CN" sz="2800" dirty="0"/>
              <a:t> </a:t>
            </a:r>
            <a:r>
              <a:rPr lang="zh-CN" altLang="en-US" sz="2800" dirty="0"/>
              <a:t>是</a:t>
            </a:r>
            <a:r>
              <a:rPr lang="en-US" altLang="zh-CN" sz="2800" dirty="0"/>
              <a:t>T</a:t>
            </a:r>
            <a:r>
              <a:rPr lang="zh-CN" altLang="en-US" sz="2800" dirty="0"/>
              <a:t>的定值点，</a:t>
            </a:r>
            <a:r>
              <a:rPr lang="en-US" altLang="zh-CN" sz="2800" dirty="0"/>
              <a:t>j </a:t>
            </a:r>
            <a:r>
              <a:rPr lang="zh-CN" altLang="en-US" sz="2800" dirty="0"/>
              <a:t>是</a:t>
            </a:r>
            <a:r>
              <a:rPr lang="en-US" altLang="zh-CN" sz="2800" dirty="0"/>
              <a:t>T</a:t>
            </a:r>
            <a:r>
              <a:rPr lang="zh-CN" altLang="en-US" sz="2800" dirty="0"/>
              <a:t>的最后引用点，称</a:t>
            </a:r>
            <a:r>
              <a:rPr lang="en-US" altLang="zh-CN" sz="2800" dirty="0"/>
              <a:t>[</a:t>
            </a:r>
            <a:r>
              <a:rPr lang="en-US" altLang="zh-CN" sz="2800" dirty="0" err="1"/>
              <a:t>i</a:t>
            </a:r>
            <a:r>
              <a:rPr lang="zh-CN" altLang="en-US" sz="2800" dirty="0"/>
              <a:t>，</a:t>
            </a:r>
            <a:r>
              <a:rPr lang="en-US" altLang="zh-CN" sz="2800" dirty="0"/>
              <a:t>j]</a:t>
            </a:r>
            <a:r>
              <a:rPr lang="zh-CN" altLang="en-US" sz="2800" dirty="0"/>
              <a:t>为</a:t>
            </a:r>
            <a:r>
              <a:rPr lang="en-US" altLang="zh-CN" sz="2800" dirty="0"/>
              <a:t>T</a:t>
            </a:r>
            <a:r>
              <a:rPr lang="zh-CN" altLang="en-US" sz="2800" dirty="0"/>
              <a:t>的活动区间。</a:t>
            </a:r>
            <a:endParaRPr lang="zh-CN" altLang="en-US" sz="2800" dirty="0"/>
          </a:p>
          <a:p>
            <a:pPr marL="457200" lvl="0" indent="-457200" eaLnBrk="0" hangingPunct="0">
              <a:lnSpc>
                <a:spcPct val="130000"/>
              </a:lnSpc>
              <a:spcBef>
                <a:spcPts val="0"/>
              </a:spcBef>
              <a:buFont typeface="Wingdings" panose="05000000000000000000" charset="0"/>
              <a:buChar char="ü"/>
            </a:pPr>
            <a:r>
              <a:rPr lang="zh-CN" altLang="en-US" sz="2800" dirty="0">
                <a:solidFill>
                  <a:srgbClr val="FF0000"/>
                </a:solidFill>
              </a:rPr>
              <a:t>活动区间不严格相交</a:t>
            </a:r>
            <a:r>
              <a:rPr lang="zh-CN" altLang="en-US" sz="2800" dirty="0"/>
              <a:t>：有活动区间</a:t>
            </a:r>
            <a:r>
              <a:rPr lang="en-US" altLang="zh-CN" sz="2800" dirty="0"/>
              <a:t>[</a:t>
            </a:r>
            <a:r>
              <a:rPr lang="en-US" altLang="zh-CN" sz="2800" dirty="0" err="1"/>
              <a:t>i</a:t>
            </a:r>
            <a:r>
              <a:rPr lang="zh-CN" altLang="en-US" sz="2800" dirty="0"/>
              <a:t>，</a:t>
            </a:r>
            <a:r>
              <a:rPr lang="en-US" altLang="zh-CN" sz="2800" dirty="0"/>
              <a:t>j]</a:t>
            </a:r>
            <a:r>
              <a:rPr lang="zh-CN" altLang="en-US" sz="2800" dirty="0"/>
              <a:t>和</a:t>
            </a:r>
            <a:r>
              <a:rPr lang="en-US" altLang="zh-CN" sz="2800" dirty="0"/>
              <a:t>[m</a:t>
            </a:r>
            <a:r>
              <a:rPr lang="zh-CN" altLang="en-US" sz="2800" dirty="0"/>
              <a:t>，</a:t>
            </a:r>
            <a:r>
              <a:rPr lang="en-US" altLang="zh-CN" sz="2800" dirty="0"/>
              <a:t>n]</a:t>
            </a:r>
            <a:r>
              <a:rPr lang="zh-CN" altLang="en-US" sz="2800" dirty="0"/>
              <a:t>，如果</a:t>
            </a:r>
            <a:r>
              <a:rPr lang="en-US" altLang="zh-CN" sz="2800" dirty="0" err="1"/>
              <a:t>j≤m</a:t>
            </a:r>
            <a:r>
              <a:rPr lang="zh-CN" altLang="en-US" sz="2800" dirty="0"/>
              <a:t>或</a:t>
            </a:r>
            <a:r>
              <a:rPr lang="en-US" altLang="zh-CN" sz="2800" dirty="0" err="1"/>
              <a:t>n≤i</a:t>
            </a:r>
            <a:r>
              <a:rPr lang="zh-CN" altLang="en-US" sz="2800" dirty="0"/>
              <a:t>，则称它们不严格相交。</a:t>
            </a:r>
            <a:endParaRPr lang="zh-CN" altLang="en-US" sz="2800" dirty="0"/>
          </a:p>
          <a:p>
            <a:pPr marL="457200" lvl="0" indent="-457200" eaLnBrk="0" hangingPunct="0">
              <a:lnSpc>
                <a:spcPct val="130000"/>
              </a:lnSpc>
              <a:spcBef>
                <a:spcPts val="0"/>
              </a:spcBef>
              <a:buFont typeface="Wingdings" panose="05000000000000000000" charset="0"/>
              <a:buChar char="ü"/>
            </a:pPr>
            <a:r>
              <a:rPr lang="zh-CN" altLang="en-US" sz="2800" dirty="0">
                <a:solidFill>
                  <a:srgbClr val="FF0000"/>
                </a:solidFill>
              </a:rPr>
              <a:t>静态分配的基本思想</a:t>
            </a:r>
            <a:r>
              <a:rPr lang="zh-CN" altLang="en-US" sz="2800" dirty="0"/>
              <a:t>：如果两个临时变量的活动区间不严格相交，则可以</a:t>
            </a:r>
            <a:r>
              <a:rPr lang="zh-CN" altLang="en-US" sz="2800" dirty="0">
                <a:solidFill>
                  <a:srgbClr val="FF0000"/>
                </a:solidFill>
              </a:rPr>
              <a:t>共享单元</a:t>
            </a:r>
            <a:r>
              <a:rPr lang="zh-CN" altLang="en-US" sz="2800" dirty="0"/>
              <a:t>。</a:t>
            </a:r>
            <a:endParaRPr lang="zh-CN" altLang="en-US" sz="2800"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1" name="Text Box 3"/>
          <p:cNvSpPr txBox="1">
            <a:spLocks noChangeArrowheads="1"/>
          </p:cNvSpPr>
          <p:nvPr/>
        </p:nvSpPr>
        <p:spPr bwMode="auto">
          <a:xfrm>
            <a:off x="357158" y="1142984"/>
            <a:ext cx="8077200" cy="3145476"/>
          </a:xfrm>
          <a:prstGeom prst="rect">
            <a:avLst/>
          </a:prstGeom>
          <a:noFill/>
          <a:ln w="9525">
            <a:noFill/>
            <a:miter lim="800000"/>
          </a:ln>
          <a:effectLst/>
        </p:spPr>
        <p:txBody>
          <a:bodyPr wrap="square">
            <a:spAutoFit/>
          </a:bodyPr>
          <a:lstStyle/>
          <a:p>
            <a:pPr>
              <a:spcBef>
                <a:spcPct val="50000"/>
              </a:spcBef>
            </a:pPr>
            <a:r>
              <a:rPr lang="zh-CN" altLang="en-US" sz="3200" dirty="0"/>
              <a:t>例</a:t>
            </a:r>
            <a:r>
              <a:rPr lang="en-US" altLang="zh-CN" sz="3200" dirty="0"/>
              <a:t>1</a:t>
            </a:r>
            <a:r>
              <a:rPr lang="zh-CN" altLang="en-US" sz="3200" dirty="0"/>
              <a:t>：有</a:t>
            </a:r>
            <a:r>
              <a:rPr lang="en-US" altLang="zh-CN" sz="3200" dirty="0"/>
              <a:t>x := d× (a</a:t>
            </a:r>
            <a:r>
              <a:rPr lang="zh-CN" altLang="en-US" sz="3200" dirty="0"/>
              <a:t>＋</a:t>
            </a:r>
            <a:r>
              <a:rPr lang="en-US" altLang="zh-CN" sz="3200" dirty="0"/>
              <a:t>b</a:t>
            </a:r>
            <a:r>
              <a:rPr lang="zh-CN" altLang="en-US" sz="3200" dirty="0"/>
              <a:t>－</a:t>
            </a:r>
            <a:r>
              <a:rPr lang="en-US" altLang="zh-CN" sz="3200" dirty="0"/>
              <a:t>c)</a:t>
            </a:r>
            <a:r>
              <a:rPr lang="zh-CN" altLang="en-US" sz="3200" dirty="0"/>
              <a:t>，其中间代码为：</a:t>
            </a:r>
            <a:endParaRPr lang="zh-CN" altLang="en-US" sz="3200" dirty="0"/>
          </a:p>
          <a:p>
            <a:pPr lvl="1">
              <a:spcBef>
                <a:spcPct val="30000"/>
              </a:spcBef>
            </a:pPr>
            <a:r>
              <a:rPr lang="en-US" altLang="zh-CN" sz="3200" dirty="0"/>
              <a:t>1: ( +, a, b, t1 ) </a:t>
            </a:r>
            <a:r>
              <a:rPr lang="en-US" altLang="zh-CN" sz="3200" dirty="0" smtClean="0"/>
              <a:t>      t1</a:t>
            </a:r>
            <a:r>
              <a:rPr lang="en-US" altLang="zh-CN" sz="3200" dirty="0"/>
              <a:t>: [1,2]</a:t>
            </a:r>
            <a:endParaRPr lang="en-US" altLang="zh-CN" sz="3200" dirty="0"/>
          </a:p>
          <a:p>
            <a:pPr lvl="1">
              <a:spcBef>
                <a:spcPct val="30000"/>
              </a:spcBef>
            </a:pPr>
            <a:r>
              <a:rPr lang="en-US" altLang="zh-CN" sz="3200" dirty="0"/>
              <a:t>2: ( -, t1,  c, t2 )      </a:t>
            </a:r>
            <a:r>
              <a:rPr lang="en-US" altLang="zh-CN" sz="3200" dirty="0" smtClean="0"/>
              <a:t>t2</a:t>
            </a:r>
            <a:r>
              <a:rPr lang="en-US" altLang="zh-CN" sz="3200" dirty="0"/>
              <a:t>: [2,3]</a:t>
            </a:r>
            <a:endParaRPr lang="en-US" altLang="zh-CN" sz="3200" dirty="0"/>
          </a:p>
          <a:p>
            <a:pPr lvl="1">
              <a:spcBef>
                <a:spcPct val="30000"/>
              </a:spcBef>
            </a:pPr>
            <a:r>
              <a:rPr lang="en-US" altLang="zh-CN" sz="3200" dirty="0"/>
              <a:t>3: (×, t2, d, t3 )    </a:t>
            </a:r>
            <a:r>
              <a:rPr lang="en-US" altLang="zh-CN" sz="3200" dirty="0" smtClean="0"/>
              <a:t> t3</a:t>
            </a:r>
            <a:r>
              <a:rPr lang="en-US" altLang="zh-CN" sz="3200" dirty="0"/>
              <a:t>: [3,4] </a:t>
            </a:r>
            <a:endParaRPr lang="en-US" altLang="zh-CN" sz="3200" dirty="0"/>
          </a:p>
          <a:p>
            <a:pPr lvl="1">
              <a:spcBef>
                <a:spcPct val="30000"/>
              </a:spcBef>
            </a:pPr>
            <a:r>
              <a:rPr lang="en-US" altLang="zh-CN" sz="3200" dirty="0"/>
              <a:t>4: ( :=,  t3, x ) </a:t>
            </a:r>
            <a:endParaRPr lang="en-US" altLang="zh-CN" sz="3200" dirty="0"/>
          </a:p>
        </p:txBody>
      </p:sp>
      <p:sp>
        <p:nvSpPr>
          <p:cNvPr id="626692" name="Rectangle 4"/>
          <p:cNvSpPr>
            <a:spLocks noChangeArrowheads="1"/>
          </p:cNvSpPr>
          <p:nvPr/>
        </p:nvSpPr>
        <p:spPr bwMode="auto">
          <a:xfrm>
            <a:off x="6000760" y="1928802"/>
            <a:ext cx="2786082" cy="1384995"/>
          </a:xfrm>
          <a:prstGeom prst="rect">
            <a:avLst/>
          </a:prstGeom>
          <a:noFill/>
          <a:ln w="9525">
            <a:noFill/>
            <a:miter lim="800000"/>
          </a:ln>
          <a:effectLst/>
        </p:spPr>
        <p:txBody>
          <a:bodyPr wrap="square">
            <a:spAutoFit/>
          </a:bodyPr>
          <a:lstStyle/>
          <a:p>
            <a:pPr>
              <a:spcBef>
                <a:spcPct val="50000"/>
              </a:spcBef>
            </a:pPr>
            <a:r>
              <a:rPr lang="zh-CN" altLang="en-US" sz="2800" dirty="0"/>
              <a:t>则它们的活动区间彼此不严格相交，</a:t>
            </a:r>
            <a:r>
              <a:rPr lang="zh-CN" altLang="en-US" sz="2800" dirty="0">
                <a:solidFill>
                  <a:srgbClr val="FF0000"/>
                </a:solidFill>
              </a:rPr>
              <a:t>可共享</a:t>
            </a:r>
            <a:endParaRPr lang="zh-CN" altLang="en-US" sz="2800" dirty="0">
              <a:solidFill>
                <a:srgbClr val="FF0000"/>
              </a:solidFill>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26" name="Text Box 14"/>
          <p:cNvSpPr txBox="1">
            <a:spLocks noChangeArrowheads="1"/>
          </p:cNvSpPr>
          <p:nvPr/>
        </p:nvSpPr>
        <p:spPr bwMode="auto">
          <a:xfrm>
            <a:off x="4267200" y="2755900"/>
            <a:ext cx="3352800" cy="396875"/>
          </a:xfrm>
          <a:prstGeom prst="rect">
            <a:avLst/>
          </a:prstGeom>
          <a:noFill/>
          <a:ln w="9525">
            <a:noFill/>
            <a:miter lim="800000"/>
          </a:ln>
          <a:effectLst/>
        </p:spPr>
        <p:txBody>
          <a:bodyPr>
            <a:spAutoFit/>
          </a:bodyPr>
          <a:lstStyle/>
          <a:p>
            <a:pPr>
              <a:spcBef>
                <a:spcPct val="50000"/>
              </a:spcBef>
            </a:pPr>
            <a:r>
              <a:rPr lang="en-US" altLang="zh-CN" dirty="0"/>
              <a:t>t1:[1, i+2]           Offset = m</a:t>
            </a:r>
            <a:endParaRPr lang="en-US" altLang="zh-CN" dirty="0"/>
          </a:p>
        </p:txBody>
      </p:sp>
      <p:sp>
        <p:nvSpPr>
          <p:cNvPr id="627727" name="Rectangle 15"/>
          <p:cNvSpPr>
            <a:spLocks noChangeArrowheads="1"/>
          </p:cNvSpPr>
          <p:nvPr/>
        </p:nvSpPr>
        <p:spPr bwMode="auto">
          <a:xfrm>
            <a:off x="4267200" y="3213100"/>
            <a:ext cx="4038600" cy="396875"/>
          </a:xfrm>
          <a:prstGeom prst="rect">
            <a:avLst/>
          </a:prstGeom>
          <a:noFill/>
          <a:ln w="9525">
            <a:noFill/>
            <a:miter lim="800000"/>
          </a:ln>
          <a:effectLst/>
        </p:spPr>
        <p:txBody>
          <a:bodyPr>
            <a:spAutoFit/>
          </a:bodyPr>
          <a:lstStyle/>
          <a:p>
            <a:r>
              <a:rPr lang="en-US" altLang="zh-CN"/>
              <a:t>t2:[2, i]               Offset = m+1</a:t>
            </a:r>
            <a:endParaRPr lang="en-US" altLang="zh-CN"/>
          </a:p>
        </p:txBody>
      </p:sp>
      <p:sp>
        <p:nvSpPr>
          <p:cNvPr id="627729" name="Rectangle 17"/>
          <p:cNvSpPr>
            <a:spLocks noChangeArrowheads="1"/>
          </p:cNvSpPr>
          <p:nvPr/>
        </p:nvSpPr>
        <p:spPr bwMode="auto">
          <a:xfrm>
            <a:off x="4267200" y="4584700"/>
            <a:ext cx="3810000" cy="396875"/>
          </a:xfrm>
          <a:prstGeom prst="rect">
            <a:avLst/>
          </a:prstGeom>
          <a:noFill/>
          <a:ln w="9525">
            <a:noFill/>
            <a:miter lim="800000"/>
          </a:ln>
          <a:effectLst/>
        </p:spPr>
        <p:txBody>
          <a:bodyPr>
            <a:spAutoFit/>
          </a:bodyPr>
          <a:lstStyle/>
          <a:p>
            <a:r>
              <a:rPr lang="en-US" altLang="zh-CN"/>
              <a:t>t4:[i+3, k+1]       Offset = m</a:t>
            </a:r>
            <a:endParaRPr lang="en-US" altLang="zh-CN"/>
          </a:p>
        </p:txBody>
      </p:sp>
      <p:sp>
        <p:nvSpPr>
          <p:cNvPr id="627730" name="Text Box 18"/>
          <p:cNvSpPr txBox="1">
            <a:spLocks noChangeArrowheads="1"/>
          </p:cNvSpPr>
          <p:nvPr/>
        </p:nvSpPr>
        <p:spPr bwMode="auto">
          <a:xfrm>
            <a:off x="4267200" y="5346700"/>
            <a:ext cx="3657600" cy="396875"/>
          </a:xfrm>
          <a:prstGeom prst="rect">
            <a:avLst/>
          </a:prstGeom>
          <a:noFill/>
          <a:ln w="9525">
            <a:noFill/>
            <a:miter lim="800000"/>
          </a:ln>
          <a:effectLst/>
        </p:spPr>
        <p:txBody>
          <a:bodyPr>
            <a:spAutoFit/>
          </a:bodyPr>
          <a:lstStyle/>
          <a:p>
            <a:pPr>
              <a:spcBef>
                <a:spcPct val="50000"/>
              </a:spcBef>
            </a:pPr>
            <a:r>
              <a:rPr lang="en-US" altLang="zh-CN"/>
              <a:t>t5:[j+1, k]           Offset = m+1</a:t>
            </a:r>
            <a:endParaRPr lang="en-US" altLang="zh-CN"/>
          </a:p>
        </p:txBody>
      </p:sp>
      <p:grpSp>
        <p:nvGrpSpPr>
          <p:cNvPr id="627734" name="Group 22"/>
          <p:cNvGrpSpPr/>
          <p:nvPr/>
        </p:nvGrpSpPr>
        <p:grpSpPr bwMode="auto">
          <a:xfrm>
            <a:off x="1905000" y="2438400"/>
            <a:ext cx="2132013" cy="3536950"/>
            <a:chOff x="1057" y="1912"/>
            <a:chExt cx="1343" cy="2228"/>
          </a:xfrm>
        </p:grpSpPr>
        <p:sp>
          <p:nvSpPr>
            <p:cNvPr id="627716" name="AutoShape 4"/>
            <p:cNvSpPr/>
            <p:nvPr/>
          </p:nvSpPr>
          <p:spPr bwMode="auto">
            <a:xfrm>
              <a:off x="1297" y="2064"/>
              <a:ext cx="336" cy="864"/>
            </a:xfrm>
            <a:prstGeom prst="leftBracket">
              <a:avLst>
                <a:gd name="adj" fmla="val 21429"/>
              </a:avLst>
            </a:prstGeom>
            <a:noFill/>
            <a:ln w="9525">
              <a:solidFill>
                <a:schemeClr val="tx1"/>
              </a:solidFill>
              <a:round/>
            </a:ln>
            <a:effectLst/>
          </p:spPr>
          <p:txBody>
            <a:bodyPr wrap="none" anchor="ctr"/>
            <a:lstStyle/>
            <a:p>
              <a:endParaRPr lang="zh-CN" altLang="en-US"/>
            </a:p>
          </p:txBody>
        </p:sp>
        <p:sp>
          <p:nvSpPr>
            <p:cNvPr id="627717" name="AutoShape 5"/>
            <p:cNvSpPr/>
            <p:nvPr/>
          </p:nvSpPr>
          <p:spPr bwMode="auto">
            <a:xfrm>
              <a:off x="1393" y="2208"/>
              <a:ext cx="192" cy="336"/>
            </a:xfrm>
            <a:prstGeom prst="leftBracket">
              <a:avLst>
                <a:gd name="adj" fmla="val 14583"/>
              </a:avLst>
            </a:prstGeom>
            <a:noFill/>
            <a:ln w="9525">
              <a:solidFill>
                <a:schemeClr val="tx1"/>
              </a:solidFill>
              <a:round/>
            </a:ln>
            <a:effectLst/>
          </p:spPr>
          <p:txBody>
            <a:bodyPr wrap="none" anchor="ctr"/>
            <a:lstStyle/>
            <a:p>
              <a:endParaRPr lang="zh-CN" altLang="en-US"/>
            </a:p>
          </p:txBody>
        </p:sp>
        <p:sp>
          <p:nvSpPr>
            <p:cNvPr id="627718" name="AutoShape 6"/>
            <p:cNvSpPr/>
            <p:nvPr/>
          </p:nvSpPr>
          <p:spPr bwMode="auto">
            <a:xfrm>
              <a:off x="1393" y="3552"/>
              <a:ext cx="192" cy="288"/>
            </a:xfrm>
            <a:prstGeom prst="leftBracket">
              <a:avLst>
                <a:gd name="adj" fmla="val 12500"/>
              </a:avLst>
            </a:prstGeom>
            <a:noFill/>
            <a:ln w="9525">
              <a:solidFill>
                <a:schemeClr val="tx1"/>
              </a:solidFill>
              <a:round/>
            </a:ln>
            <a:effectLst/>
          </p:spPr>
          <p:txBody>
            <a:bodyPr wrap="none" anchor="ctr"/>
            <a:lstStyle/>
            <a:p>
              <a:endParaRPr lang="zh-CN" altLang="en-US"/>
            </a:p>
          </p:txBody>
        </p:sp>
        <p:sp>
          <p:nvSpPr>
            <p:cNvPr id="627719" name="AutoShape 7"/>
            <p:cNvSpPr/>
            <p:nvPr/>
          </p:nvSpPr>
          <p:spPr bwMode="auto">
            <a:xfrm>
              <a:off x="1393" y="2688"/>
              <a:ext cx="192" cy="720"/>
            </a:xfrm>
            <a:prstGeom prst="leftBracket">
              <a:avLst>
                <a:gd name="adj" fmla="val 31250"/>
              </a:avLst>
            </a:prstGeom>
            <a:noFill/>
            <a:ln w="9525">
              <a:solidFill>
                <a:schemeClr val="tx1"/>
              </a:solidFill>
              <a:round/>
            </a:ln>
            <a:effectLst/>
          </p:spPr>
          <p:txBody>
            <a:bodyPr wrap="none" anchor="ctr"/>
            <a:lstStyle/>
            <a:p>
              <a:endParaRPr lang="zh-CN" altLang="en-US"/>
            </a:p>
          </p:txBody>
        </p:sp>
        <p:sp>
          <p:nvSpPr>
            <p:cNvPr id="627720" name="AutoShape 8"/>
            <p:cNvSpPr/>
            <p:nvPr/>
          </p:nvSpPr>
          <p:spPr bwMode="auto">
            <a:xfrm>
              <a:off x="1297" y="3120"/>
              <a:ext cx="336" cy="864"/>
            </a:xfrm>
            <a:prstGeom prst="leftBracket">
              <a:avLst>
                <a:gd name="adj" fmla="val 21429"/>
              </a:avLst>
            </a:prstGeom>
            <a:noFill/>
            <a:ln w="9525">
              <a:solidFill>
                <a:schemeClr val="tx1"/>
              </a:solidFill>
              <a:round/>
            </a:ln>
            <a:effectLst/>
          </p:spPr>
          <p:txBody>
            <a:bodyPr wrap="none" anchor="ctr"/>
            <a:lstStyle/>
            <a:p>
              <a:endParaRPr lang="zh-CN" altLang="en-US"/>
            </a:p>
          </p:txBody>
        </p:sp>
        <p:sp>
          <p:nvSpPr>
            <p:cNvPr id="627721" name="Text Box 9"/>
            <p:cNvSpPr txBox="1">
              <a:spLocks noChangeArrowheads="1"/>
            </p:cNvSpPr>
            <p:nvPr/>
          </p:nvSpPr>
          <p:spPr bwMode="auto">
            <a:xfrm>
              <a:off x="1081" y="2352"/>
              <a:ext cx="336" cy="250"/>
            </a:xfrm>
            <a:prstGeom prst="rect">
              <a:avLst/>
            </a:prstGeom>
            <a:noFill/>
            <a:ln w="9525">
              <a:noFill/>
              <a:miter lim="800000"/>
            </a:ln>
            <a:effectLst/>
          </p:spPr>
          <p:txBody>
            <a:bodyPr>
              <a:spAutoFit/>
            </a:bodyPr>
            <a:lstStyle/>
            <a:p>
              <a:pPr>
                <a:spcBef>
                  <a:spcPct val="50000"/>
                </a:spcBef>
              </a:pPr>
              <a:r>
                <a:rPr lang="en-US" altLang="zh-CN"/>
                <a:t>t1</a:t>
              </a:r>
              <a:endParaRPr lang="en-US" altLang="zh-CN"/>
            </a:p>
          </p:txBody>
        </p:sp>
        <p:sp>
          <p:nvSpPr>
            <p:cNvPr id="627722" name="Text Box 10"/>
            <p:cNvSpPr txBox="1">
              <a:spLocks noChangeArrowheads="1"/>
            </p:cNvSpPr>
            <p:nvPr/>
          </p:nvSpPr>
          <p:spPr bwMode="auto">
            <a:xfrm>
              <a:off x="1393" y="2256"/>
              <a:ext cx="336" cy="250"/>
            </a:xfrm>
            <a:prstGeom prst="rect">
              <a:avLst/>
            </a:prstGeom>
            <a:noFill/>
            <a:ln w="9525">
              <a:noFill/>
              <a:miter lim="800000"/>
            </a:ln>
            <a:effectLst/>
          </p:spPr>
          <p:txBody>
            <a:bodyPr>
              <a:spAutoFit/>
            </a:bodyPr>
            <a:lstStyle/>
            <a:p>
              <a:pPr>
                <a:spcBef>
                  <a:spcPct val="50000"/>
                </a:spcBef>
              </a:pPr>
              <a:r>
                <a:rPr lang="en-US" altLang="zh-CN"/>
                <a:t>t2</a:t>
              </a:r>
              <a:endParaRPr lang="en-US" altLang="zh-CN"/>
            </a:p>
          </p:txBody>
        </p:sp>
        <p:sp>
          <p:nvSpPr>
            <p:cNvPr id="627723" name="Text Box 11"/>
            <p:cNvSpPr txBox="1">
              <a:spLocks noChangeArrowheads="1"/>
            </p:cNvSpPr>
            <p:nvPr/>
          </p:nvSpPr>
          <p:spPr bwMode="auto">
            <a:xfrm>
              <a:off x="1393" y="2904"/>
              <a:ext cx="336" cy="250"/>
            </a:xfrm>
            <a:prstGeom prst="rect">
              <a:avLst/>
            </a:prstGeom>
            <a:noFill/>
            <a:ln w="9525">
              <a:noFill/>
              <a:miter lim="800000"/>
            </a:ln>
            <a:effectLst/>
          </p:spPr>
          <p:txBody>
            <a:bodyPr>
              <a:spAutoFit/>
            </a:bodyPr>
            <a:lstStyle/>
            <a:p>
              <a:pPr>
                <a:spcBef>
                  <a:spcPct val="50000"/>
                </a:spcBef>
              </a:pPr>
              <a:r>
                <a:rPr lang="en-US" altLang="zh-CN"/>
                <a:t>t3</a:t>
              </a:r>
              <a:endParaRPr lang="en-US" altLang="zh-CN"/>
            </a:p>
          </p:txBody>
        </p:sp>
        <p:sp>
          <p:nvSpPr>
            <p:cNvPr id="627724" name="Text Box 12"/>
            <p:cNvSpPr txBox="1">
              <a:spLocks noChangeArrowheads="1"/>
            </p:cNvSpPr>
            <p:nvPr/>
          </p:nvSpPr>
          <p:spPr bwMode="auto">
            <a:xfrm>
              <a:off x="1057" y="3408"/>
              <a:ext cx="336" cy="250"/>
            </a:xfrm>
            <a:prstGeom prst="rect">
              <a:avLst/>
            </a:prstGeom>
            <a:noFill/>
            <a:ln w="9525">
              <a:noFill/>
              <a:miter lim="800000"/>
            </a:ln>
            <a:effectLst/>
          </p:spPr>
          <p:txBody>
            <a:bodyPr>
              <a:spAutoFit/>
            </a:bodyPr>
            <a:lstStyle/>
            <a:p>
              <a:pPr>
                <a:spcBef>
                  <a:spcPct val="50000"/>
                </a:spcBef>
              </a:pPr>
              <a:r>
                <a:rPr lang="en-US" altLang="zh-CN"/>
                <a:t>t4</a:t>
              </a:r>
              <a:endParaRPr lang="en-US" altLang="zh-CN"/>
            </a:p>
          </p:txBody>
        </p:sp>
        <p:sp>
          <p:nvSpPr>
            <p:cNvPr id="627725" name="Text Box 13"/>
            <p:cNvSpPr txBox="1">
              <a:spLocks noChangeArrowheads="1"/>
            </p:cNvSpPr>
            <p:nvPr/>
          </p:nvSpPr>
          <p:spPr bwMode="auto">
            <a:xfrm>
              <a:off x="1393" y="3588"/>
              <a:ext cx="336" cy="250"/>
            </a:xfrm>
            <a:prstGeom prst="rect">
              <a:avLst/>
            </a:prstGeom>
            <a:noFill/>
            <a:ln w="9525">
              <a:noFill/>
              <a:miter lim="800000"/>
            </a:ln>
            <a:effectLst/>
          </p:spPr>
          <p:txBody>
            <a:bodyPr>
              <a:spAutoFit/>
            </a:bodyPr>
            <a:lstStyle/>
            <a:p>
              <a:pPr>
                <a:spcBef>
                  <a:spcPct val="50000"/>
                </a:spcBef>
              </a:pPr>
              <a:r>
                <a:rPr lang="en-US" altLang="zh-CN"/>
                <a:t>t5</a:t>
              </a:r>
              <a:endParaRPr lang="en-US" altLang="zh-CN"/>
            </a:p>
          </p:txBody>
        </p:sp>
        <p:sp>
          <p:nvSpPr>
            <p:cNvPr id="627732" name="Text Box 20"/>
            <p:cNvSpPr txBox="1">
              <a:spLocks noChangeArrowheads="1"/>
            </p:cNvSpPr>
            <p:nvPr/>
          </p:nvSpPr>
          <p:spPr bwMode="auto">
            <a:xfrm>
              <a:off x="1632" y="1912"/>
              <a:ext cx="768" cy="2228"/>
            </a:xfrm>
            <a:prstGeom prst="rect">
              <a:avLst/>
            </a:prstGeom>
            <a:noFill/>
            <a:ln w="9525">
              <a:noFill/>
              <a:miter lim="800000"/>
            </a:ln>
            <a:effectLst/>
          </p:spPr>
          <p:txBody>
            <a:bodyPr>
              <a:spAutoFit/>
            </a:bodyPr>
            <a:lstStyle/>
            <a:p>
              <a:r>
                <a:rPr lang="en-US" altLang="zh-CN" dirty="0"/>
                <a:t>1</a:t>
              </a:r>
              <a:endParaRPr lang="en-US" altLang="zh-CN" dirty="0"/>
            </a:p>
            <a:p>
              <a:r>
                <a:rPr lang="en-US" altLang="zh-CN" dirty="0"/>
                <a:t>2</a:t>
              </a:r>
              <a:endParaRPr lang="en-US" altLang="zh-CN" dirty="0"/>
            </a:p>
            <a:p>
              <a:pPr>
                <a:spcBef>
                  <a:spcPct val="50000"/>
                </a:spcBef>
              </a:pPr>
              <a:r>
                <a:rPr lang="en-US" altLang="zh-CN" dirty="0" err="1"/>
                <a:t>i</a:t>
              </a:r>
              <a:r>
                <a:rPr lang="en-US" altLang="zh-CN" dirty="0"/>
                <a:t>  (</a:t>
              </a:r>
              <a:r>
                <a:rPr lang="en-US" altLang="zh-CN" dirty="0" err="1"/>
                <a:t>i</a:t>
              </a:r>
              <a:r>
                <a:rPr lang="en-US" altLang="zh-CN" dirty="0"/>
                <a:t>&gt;2)</a:t>
              </a:r>
              <a:endParaRPr lang="en-US" altLang="zh-CN" dirty="0"/>
            </a:p>
            <a:p>
              <a:r>
                <a:rPr lang="en-US" altLang="zh-CN" dirty="0"/>
                <a:t>i+1</a:t>
              </a:r>
              <a:endParaRPr lang="en-US" altLang="zh-CN" dirty="0"/>
            </a:p>
            <a:p>
              <a:r>
                <a:rPr lang="en-US" altLang="zh-CN" dirty="0"/>
                <a:t>i+2</a:t>
              </a:r>
              <a:endParaRPr lang="en-US" altLang="zh-CN" dirty="0"/>
            </a:p>
            <a:p>
              <a:r>
                <a:rPr lang="en-US" altLang="zh-CN" dirty="0"/>
                <a:t>i+3</a:t>
              </a:r>
              <a:endParaRPr lang="en-US" altLang="zh-CN" dirty="0"/>
            </a:p>
            <a:p>
              <a:pPr>
                <a:spcBef>
                  <a:spcPct val="50000"/>
                </a:spcBef>
              </a:pPr>
              <a:r>
                <a:rPr lang="en-US" altLang="zh-CN" dirty="0"/>
                <a:t>j (j&gt;i+3)</a:t>
              </a:r>
              <a:endParaRPr lang="en-US" altLang="zh-CN" dirty="0"/>
            </a:p>
            <a:p>
              <a:r>
                <a:rPr lang="en-US" altLang="zh-CN" dirty="0"/>
                <a:t>j+1</a:t>
              </a:r>
              <a:endParaRPr lang="en-US" altLang="zh-CN" dirty="0"/>
            </a:p>
            <a:p>
              <a:pPr>
                <a:spcBef>
                  <a:spcPct val="30000"/>
                </a:spcBef>
              </a:pPr>
              <a:r>
                <a:rPr lang="en-US" altLang="zh-CN" dirty="0"/>
                <a:t>k (k&gt;j+1)</a:t>
              </a:r>
              <a:endParaRPr lang="en-US" altLang="zh-CN" dirty="0"/>
            </a:p>
            <a:p>
              <a:r>
                <a:rPr lang="en-US" altLang="zh-CN" dirty="0"/>
                <a:t>k+1</a:t>
              </a:r>
              <a:endParaRPr lang="en-US" altLang="zh-CN" dirty="0"/>
            </a:p>
          </p:txBody>
        </p:sp>
      </p:grpSp>
      <p:sp>
        <p:nvSpPr>
          <p:cNvPr id="627735" name="Rectangle 23"/>
          <p:cNvSpPr>
            <a:spLocks noChangeArrowheads="1"/>
          </p:cNvSpPr>
          <p:nvPr/>
        </p:nvSpPr>
        <p:spPr bwMode="auto">
          <a:xfrm>
            <a:off x="4267200" y="3959225"/>
            <a:ext cx="4038600" cy="396875"/>
          </a:xfrm>
          <a:prstGeom prst="rect">
            <a:avLst/>
          </a:prstGeom>
          <a:noFill/>
          <a:ln w="9525">
            <a:noFill/>
            <a:miter lim="800000"/>
          </a:ln>
          <a:effectLst/>
        </p:spPr>
        <p:txBody>
          <a:bodyPr>
            <a:spAutoFit/>
          </a:bodyPr>
          <a:lstStyle/>
          <a:p>
            <a:r>
              <a:rPr lang="en-US" altLang="zh-CN"/>
              <a:t>t3:[i+1, j]            Offset = m+1</a:t>
            </a:r>
            <a:endParaRPr lang="en-US" altLang="zh-CN"/>
          </a:p>
        </p:txBody>
      </p:sp>
      <p:sp>
        <p:nvSpPr>
          <p:cNvPr id="627737" name="Text Box 25"/>
          <p:cNvSpPr txBox="1">
            <a:spLocks noChangeArrowheads="1"/>
          </p:cNvSpPr>
          <p:nvPr/>
        </p:nvSpPr>
        <p:spPr bwMode="auto">
          <a:xfrm>
            <a:off x="533400" y="285728"/>
            <a:ext cx="8077200" cy="2111091"/>
          </a:xfrm>
          <a:prstGeom prst="rect">
            <a:avLst/>
          </a:prstGeom>
          <a:noFill/>
          <a:ln w="9525">
            <a:noFill/>
            <a:miter lim="800000"/>
          </a:ln>
          <a:effectLst/>
        </p:spPr>
        <p:txBody>
          <a:bodyPr>
            <a:spAutoFit/>
          </a:bodyPr>
          <a:lstStyle/>
          <a:p>
            <a:pPr>
              <a:lnSpc>
                <a:spcPct val="120000"/>
              </a:lnSpc>
              <a:spcBef>
                <a:spcPct val="50000"/>
              </a:spcBef>
            </a:pPr>
            <a:r>
              <a:rPr lang="en-US" altLang="zh-CN" sz="2800" dirty="0"/>
              <a:t>        </a:t>
            </a:r>
            <a:r>
              <a:rPr lang="zh-CN" altLang="en-US" sz="2800" dirty="0">
                <a:solidFill>
                  <a:srgbClr val="FF0000"/>
                </a:solidFill>
              </a:rPr>
              <a:t>临时变量的作用域</a:t>
            </a:r>
            <a:r>
              <a:rPr lang="zh-CN" altLang="en-US" sz="2800" dirty="0"/>
              <a:t>如同配对的括号序列所管辖的区域一样是</a:t>
            </a:r>
            <a:r>
              <a:rPr lang="zh-CN" altLang="en-US" sz="2800" dirty="0">
                <a:solidFill>
                  <a:srgbClr val="FF0000"/>
                </a:solidFill>
              </a:rPr>
              <a:t>层次嵌套</a:t>
            </a:r>
            <a:r>
              <a:rPr lang="zh-CN" altLang="en-US" sz="2800" dirty="0"/>
              <a:t>的。因此，可以设想用一个</a:t>
            </a:r>
            <a:r>
              <a:rPr lang="zh-CN" altLang="en-US" sz="2800" dirty="0">
                <a:solidFill>
                  <a:srgbClr val="FF0000"/>
                </a:solidFill>
              </a:rPr>
              <a:t>栈</a:t>
            </a:r>
            <a:r>
              <a:rPr lang="zh-CN" altLang="en-US" sz="2800" dirty="0"/>
              <a:t>来存放这类临时变量的值。为简单起见，假定所有临时变量值只需要一种同一长度的栈单元。</a:t>
            </a:r>
            <a:endParaRPr lang="zh-CN" altLang="en-US" sz="2800" dirty="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1" name="Rectangle 3"/>
          <p:cNvSpPr>
            <a:spLocks noGrp="1" noChangeArrowheads="1"/>
          </p:cNvSpPr>
          <p:nvPr>
            <p:ph idx="1"/>
          </p:nvPr>
        </p:nvSpPr>
        <p:spPr>
          <a:xfrm>
            <a:off x="685800" y="1073150"/>
            <a:ext cx="8001000" cy="3364230"/>
          </a:xfrm>
        </p:spPr>
        <p:txBody>
          <a:bodyPr>
            <a:noAutofit/>
          </a:bodyPr>
          <a:lstStyle/>
          <a:p>
            <a:pPr>
              <a:lnSpc>
                <a:spcPct val="120000"/>
              </a:lnSpc>
              <a:buFontTx/>
              <a:buNone/>
            </a:pPr>
            <a:r>
              <a:rPr lang="zh-CN" altLang="en-US" sz="2800" b="1" dirty="0">
                <a:solidFill>
                  <a:srgbClr val="FF0000"/>
                </a:solidFill>
                <a:effectLst>
                  <a:outerShdw blurRad="38100" dist="38100" dir="2700000" algn="tl">
                    <a:srgbClr val="000000"/>
                  </a:outerShdw>
                </a:effectLst>
              </a:rPr>
              <a:t>步骤：</a:t>
            </a:r>
            <a:endParaRPr lang="zh-CN" altLang="en-US" sz="2800" b="1" dirty="0">
              <a:solidFill>
                <a:srgbClr val="FF0000"/>
              </a:solidFill>
              <a:effectLst>
                <a:outerShdw blurRad="38100" dist="38100" dir="2700000" algn="tl">
                  <a:srgbClr val="000000"/>
                </a:outerShdw>
              </a:effectLst>
            </a:endParaRPr>
          </a:p>
          <a:p>
            <a:pPr>
              <a:lnSpc>
                <a:spcPct val="120000"/>
              </a:lnSpc>
              <a:buFont typeface="Wingdings" panose="05000000000000000000" charset="0"/>
              <a:buChar char="ü"/>
            </a:pPr>
            <a:r>
              <a:rPr lang="zh-CN" altLang="en-US" sz="2800" b="1" dirty="0"/>
              <a:t>为中间代码中的</a:t>
            </a:r>
            <a:r>
              <a:rPr lang="zh-CN" altLang="en-US" sz="2800" b="1" dirty="0">
                <a:solidFill>
                  <a:srgbClr val="FF0000"/>
                </a:solidFill>
              </a:rPr>
              <a:t>各变量</a:t>
            </a:r>
            <a:r>
              <a:rPr lang="zh-CN" altLang="en-US" sz="2800" b="1" dirty="0"/>
              <a:t>（包括源变量和临时变量）</a:t>
            </a:r>
            <a:r>
              <a:rPr lang="zh-CN" altLang="en-US" sz="2800" b="1" dirty="0">
                <a:solidFill>
                  <a:srgbClr val="FF0000"/>
                </a:solidFill>
              </a:rPr>
              <a:t>分配寄存器</a:t>
            </a:r>
            <a:endParaRPr lang="zh-CN" altLang="en-US" sz="2800" b="1" dirty="0">
              <a:solidFill>
                <a:srgbClr val="FF0000"/>
              </a:solidFill>
            </a:endParaRPr>
          </a:p>
          <a:p>
            <a:pPr>
              <a:lnSpc>
                <a:spcPct val="120000"/>
              </a:lnSpc>
              <a:buFont typeface="Wingdings" panose="05000000000000000000" charset="0"/>
              <a:buChar char="ü"/>
            </a:pPr>
            <a:r>
              <a:rPr lang="zh-CN" altLang="en-US" sz="2800" b="1" dirty="0"/>
              <a:t>对于每条</a:t>
            </a:r>
            <a:r>
              <a:rPr lang="zh-CN" altLang="en-US" sz="2800" b="1" dirty="0">
                <a:solidFill>
                  <a:srgbClr val="FF0000"/>
                </a:solidFill>
              </a:rPr>
              <a:t>中间代码</a:t>
            </a:r>
            <a:r>
              <a:rPr lang="zh-CN" altLang="en-US" sz="2800" b="1" dirty="0"/>
              <a:t>，参照目标机允许的代码形式，</a:t>
            </a:r>
            <a:r>
              <a:rPr lang="zh-CN" altLang="en-US" sz="2800" b="1" dirty="0">
                <a:solidFill>
                  <a:srgbClr val="FF0000"/>
                </a:solidFill>
              </a:rPr>
              <a:t>进行翻译</a:t>
            </a:r>
            <a:endParaRPr lang="zh-CN" altLang="en-US" sz="2800" b="1" dirty="0">
              <a:solidFill>
                <a:srgbClr val="FF0000"/>
              </a:solidFill>
            </a:endParaRPr>
          </a:p>
        </p:txBody>
      </p:sp>
      <p:sp>
        <p:nvSpPr>
          <p:cNvPr id="621570" name="Rectangle 2"/>
          <p:cNvSpPr>
            <a:spLocks noGrp="1" noChangeArrowheads="1"/>
          </p:cNvSpPr>
          <p:nvPr>
            <p:ph type="title"/>
          </p:nvPr>
        </p:nvSpPr>
        <p:spPr>
          <a:xfrm>
            <a:off x="533400" y="381000"/>
            <a:ext cx="7772400" cy="457200"/>
          </a:xfrm>
        </p:spPr>
        <p:txBody>
          <a:bodyPr>
            <a:normAutofit fontScale="90000"/>
          </a:bodyPr>
          <a:lstStyle/>
          <a:p>
            <a:r>
              <a:rPr lang="en-US" altLang="zh-CN" sz="2800" b="1" dirty="0">
                <a:solidFill>
                  <a:schemeClr val="tx1"/>
                </a:solidFill>
                <a:latin typeface="宋体" panose="02010600030101010101" pitchFamily="2" charset="-122"/>
              </a:rPr>
              <a:t>9.3</a:t>
            </a:r>
            <a:r>
              <a:rPr lang="zh-CN" altLang="en-US" sz="2800" b="1" dirty="0">
                <a:solidFill>
                  <a:schemeClr val="tx1"/>
                </a:solidFill>
                <a:latin typeface="宋体" panose="02010600030101010101" pitchFamily="2" charset="-122"/>
              </a:rPr>
              <a:t>、代码生成概要</a:t>
            </a:r>
            <a:endParaRPr lang="zh-CN" altLang="en-US" sz="2800" b="1"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Grp="1" noChangeArrowheads="1"/>
          </p:cNvSpPr>
          <p:nvPr>
            <p:ph type="title"/>
          </p:nvPr>
        </p:nvSpPr>
        <p:spPr>
          <a:xfrm>
            <a:off x="533400" y="381000"/>
            <a:ext cx="7772400" cy="457200"/>
          </a:xfrm>
        </p:spPr>
        <p:txBody>
          <a:bodyPr>
            <a:normAutofit fontScale="90000"/>
          </a:bodyPr>
          <a:lstStyle/>
          <a:p>
            <a:r>
              <a:rPr lang="en-US" altLang="zh-CN" sz="2800" b="1" dirty="0">
                <a:solidFill>
                  <a:schemeClr val="tx1"/>
                </a:solidFill>
                <a:latin typeface="宋体" panose="02010600030101010101" pitchFamily="2" charset="-122"/>
              </a:rPr>
              <a:t>9.3</a:t>
            </a:r>
            <a:r>
              <a:rPr lang="zh-CN" altLang="en-US" sz="2800" b="1" dirty="0">
                <a:solidFill>
                  <a:schemeClr val="tx1"/>
                </a:solidFill>
                <a:latin typeface="宋体" panose="02010600030101010101" pitchFamily="2" charset="-122"/>
              </a:rPr>
              <a:t>、代码生成概要</a:t>
            </a:r>
            <a:endParaRPr lang="zh-CN" altLang="en-US" sz="2800" b="1" dirty="0">
              <a:solidFill>
                <a:schemeClr val="tx1"/>
              </a:solidFill>
              <a:latin typeface="宋体" panose="02010600030101010101" pitchFamily="2" charset="-122"/>
            </a:endParaRPr>
          </a:p>
        </p:txBody>
      </p:sp>
      <p:sp>
        <p:nvSpPr>
          <p:cNvPr id="621573" name="Rectangle 5"/>
          <p:cNvSpPr>
            <a:spLocks noChangeArrowheads="1"/>
          </p:cNvSpPr>
          <p:nvPr/>
        </p:nvSpPr>
        <p:spPr bwMode="auto">
          <a:xfrm>
            <a:off x="685800" y="922678"/>
            <a:ext cx="8001000" cy="3352800"/>
          </a:xfrm>
          <a:prstGeom prst="rect">
            <a:avLst/>
          </a:prstGeom>
          <a:noFill/>
          <a:ln w="9525">
            <a:noFill/>
            <a:miter lim="800000"/>
          </a:ln>
          <a:effectLst/>
        </p:spPr>
        <p:txBody>
          <a:bodyPr/>
          <a:lstStyle/>
          <a:p>
            <a:pPr marL="342900" indent="-342900">
              <a:lnSpc>
                <a:spcPct val="90000"/>
              </a:lnSpc>
              <a:spcBef>
                <a:spcPct val="20000"/>
              </a:spcBef>
              <a:buClr>
                <a:schemeClr val="accent1"/>
              </a:buClr>
            </a:pPr>
            <a:r>
              <a:rPr lang="zh-CN" altLang="en-US" sz="2400" dirty="0">
                <a:solidFill>
                  <a:srgbClr val="FF0000"/>
                </a:solidFill>
                <a:effectLst>
                  <a:outerShdw blurRad="38100" dist="38100" dir="2700000" algn="tl">
                    <a:srgbClr val="000000"/>
                  </a:outerShdw>
                </a:effectLst>
                <a:latin typeface="Tahoma" panose="020B0604030504040204" pitchFamily="34" charset="0"/>
              </a:rPr>
              <a:t>目标机器模型：</a:t>
            </a:r>
            <a:endParaRPr lang="zh-CN" altLang="en-US" sz="2400" dirty="0">
              <a:solidFill>
                <a:srgbClr val="FF0000"/>
              </a:solidFill>
              <a:effectLst>
                <a:outerShdw blurRad="38100" dist="38100" dir="2700000" algn="tl">
                  <a:srgbClr val="000000"/>
                </a:outerShdw>
              </a:effectLst>
              <a:latin typeface="Tahoma" panose="020B0604030504040204" pitchFamily="34" charset="0"/>
            </a:endParaRPr>
          </a:p>
          <a:p>
            <a:pPr marL="342900" indent="-342900">
              <a:spcBef>
                <a:spcPct val="20000"/>
              </a:spcBef>
              <a:buClr>
                <a:schemeClr val="accent1"/>
              </a:buClr>
              <a:buFontTx/>
              <a:buChar char="•"/>
            </a:pPr>
            <a:r>
              <a:rPr lang="zh-CN" altLang="en-US" sz="2400" dirty="0">
                <a:latin typeface="Tahoma" panose="020B0604030504040204" pitchFamily="34" charset="0"/>
              </a:rPr>
              <a:t>指令形式：</a:t>
            </a:r>
            <a:endParaRPr lang="zh-CN" altLang="en-US" sz="2400" dirty="0">
              <a:latin typeface="Tahoma" panose="020B0604030504040204" pitchFamily="34" charset="0"/>
            </a:endParaRPr>
          </a:p>
          <a:p>
            <a:pPr marL="342900" indent="-342900">
              <a:spcBef>
                <a:spcPct val="20000"/>
              </a:spcBef>
              <a:buClr>
                <a:schemeClr val="accent1"/>
              </a:buClr>
              <a:buFontTx/>
              <a:buChar char="•"/>
            </a:pPr>
            <a:endParaRPr lang="zh-CN" altLang="en-US" dirty="0">
              <a:latin typeface="Tahoma" panose="020B0604030504040204" pitchFamily="34" charset="0"/>
            </a:endParaRPr>
          </a:p>
        </p:txBody>
      </p:sp>
      <p:pic>
        <p:nvPicPr>
          <p:cNvPr id="4" name="内容占位符 3"/>
          <p:cNvPicPr>
            <a:picLocks noChangeAspect="1"/>
          </p:cNvPicPr>
          <p:nvPr>
            <p:ph idx="1"/>
            <p:custDataLst>
              <p:tags r:id="rId1"/>
            </p:custDataLst>
          </p:nvPr>
        </p:nvPicPr>
        <p:blipFill>
          <a:blip r:embed="rId2"/>
          <a:srcRect l="3484" t="29562" r="5882" b="20626"/>
          <a:stretch>
            <a:fillRect/>
          </a:stretch>
        </p:blipFill>
        <p:spPr>
          <a:xfrm>
            <a:off x="539750" y="1773555"/>
            <a:ext cx="7901305" cy="468058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endParaRPr lang="zh-CN" altLang="en-US"/>
          </a:p>
        </p:txBody>
      </p:sp>
      <p:pic>
        <p:nvPicPr>
          <p:cNvPr id="4" name="内容占位符 3"/>
          <p:cNvPicPr>
            <a:picLocks noChangeAspect="1"/>
          </p:cNvPicPr>
          <p:nvPr>
            <p:ph idx="1"/>
            <p:custDataLst>
              <p:tags r:id="rId1"/>
            </p:custDataLst>
          </p:nvPr>
        </p:nvPicPr>
        <p:blipFill>
          <a:blip r:embed="rId2"/>
          <a:srcRect l="6711" t="30420" r="17618" b="15048"/>
          <a:stretch>
            <a:fillRect/>
          </a:stretch>
        </p:blipFill>
        <p:spPr>
          <a:xfrm>
            <a:off x="395605" y="404495"/>
            <a:ext cx="7704455" cy="59156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Grp="1" noChangeArrowheads="1"/>
          </p:cNvSpPr>
          <p:nvPr>
            <p:ph type="title"/>
          </p:nvPr>
        </p:nvSpPr>
        <p:spPr>
          <a:xfrm>
            <a:off x="533400" y="381000"/>
            <a:ext cx="7772400" cy="457200"/>
          </a:xfrm>
        </p:spPr>
        <p:txBody>
          <a:bodyPr>
            <a:normAutofit fontScale="90000"/>
          </a:bodyPr>
          <a:lstStyle/>
          <a:p>
            <a:r>
              <a:rPr lang="en-US" altLang="zh-CN" sz="2800" b="1" dirty="0">
                <a:solidFill>
                  <a:schemeClr val="tx1"/>
                </a:solidFill>
                <a:latin typeface="宋体" panose="02010600030101010101" pitchFamily="2" charset="-122"/>
              </a:rPr>
              <a:t>9.3</a:t>
            </a:r>
            <a:r>
              <a:rPr lang="zh-CN" altLang="en-US" sz="2800" b="1" dirty="0">
                <a:solidFill>
                  <a:schemeClr val="tx1"/>
                </a:solidFill>
                <a:latin typeface="宋体" panose="02010600030101010101" pitchFamily="2" charset="-122"/>
              </a:rPr>
              <a:t>、代码生成概要</a:t>
            </a:r>
            <a:endParaRPr lang="zh-CN" altLang="en-US" sz="2800" b="1" dirty="0">
              <a:solidFill>
                <a:schemeClr val="tx1"/>
              </a:solidFill>
              <a:latin typeface="宋体" panose="02010600030101010101" pitchFamily="2" charset="-122"/>
            </a:endParaRPr>
          </a:p>
        </p:txBody>
      </p:sp>
      <p:sp>
        <p:nvSpPr>
          <p:cNvPr id="621573" name="Rectangle 5"/>
          <p:cNvSpPr>
            <a:spLocks noChangeArrowheads="1"/>
          </p:cNvSpPr>
          <p:nvPr/>
        </p:nvSpPr>
        <p:spPr bwMode="auto">
          <a:xfrm>
            <a:off x="333375" y="1711960"/>
            <a:ext cx="8639175" cy="1948180"/>
          </a:xfrm>
          <a:prstGeom prst="rect">
            <a:avLst/>
          </a:prstGeom>
          <a:noFill/>
          <a:ln w="9525">
            <a:noFill/>
            <a:miter lim="800000"/>
          </a:ln>
          <a:effectLst/>
        </p:spPr>
        <p:txBody>
          <a:bodyPr/>
          <a:lstStyle/>
          <a:p>
            <a:pPr marL="742950" lvl="1" indent="-285750">
              <a:spcBef>
                <a:spcPct val="20000"/>
              </a:spcBef>
              <a:buClr>
                <a:schemeClr val="accent1"/>
              </a:buClr>
            </a:pPr>
            <a:r>
              <a:rPr lang="en-US" altLang="zh-CN" sz="2800" dirty="0">
                <a:latin typeface="Tahoma" panose="020B0604030504040204" pitchFamily="34" charset="0"/>
              </a:rPr>
              <a:t>LD     </a:t>
            </a:r>
            <a:r>
              <a:rPr lang="en-US" altLang="zh-CN" sz="2800" dirty="0" err="1">
                <a:latin typeface="Tahoma" panose="020B0604030504040204" pitchFamily="34" charset="0"/>
              </a:rPr>
              <a:t>R</a:t>
            </a:r>
            <a:r>
              <a:rPr lang="en-US" altLang="zh-CN" sz="2800" baseline="-25000" dirty="0" err="1">
                <a:latin typeface="Tahoma" panose="020B0604030504040204" pitchFamily="34" charset="0"/>
              </a:rPr>
              <a:t>i</a:t>
            </a:r>
            <a:r>
              <a:rPr lang="en-US" altLang="zh-CN" sz="2800" baseline="-25000" dirty="0">
                <a:latin typeface="Tahoma" panose="020B0604030504040204" pitchFamily="34" charset="0"/>
              </a:rPr>
              <a:t> </a:t>
            </a:r>
            <a:r>
              <a:rPr lang="en-US" altLang="zh-CN" sz="2800" dirty="0">
                <a:latin typeface="Tahoma" panose="020B0604030504040204" pitchFamily="34" charset="0"/>
              </a:rPr>
              <a:t>, B     </a:t>
            </a:r>
            <a:r>
              <a:rPr lang="zh-CN" altLang="en-US" sz="2800" dirty="0">
                <a:latin typeface="Tahoma" panose="020B0604030504040204" pitchFamily="34" charset="0"/>
              </a:rPr>
              <a:t>把</a:t>
            </a:r>
            <a:r>
              <a:rPr lang="en-US" altLang="zh-CN" sz="2800" dirty="0">
                <a:latin typeface="Tahoma" panose="020B0604030504040204" pitchFamily="34" charset="0"/>
              </a:rPr>
              <a:t>B</a:t>
            </a:r>
            <a:r>
              <a:rPr lang="zh-CN" altLang="en-US" sz="2800" dirty="0">
                <a:latin typeface="Tahoma" panose="020B0604030504040204" pitchFamily="34" charset="0"/>
              </a:rPr>
              <a:t>单元内容取到寄存器</a:t>
            </a:r>
            <a:r>
              <a:rPr lang="en-US" altLang="zh-CN" sz="2800" dirty="0" err="1">
                <a:latin typeface="Tahoma" panose="020B0604030504040204" pitchFamily="34" charset="0"/>
              </a:rPr>
              <a:t>R</a:t>
            </a:r>
            <a:r>
              <a:rPr lang="en-US" altLang="zh-CN" sz="2800" baseline="-25000" dirty="0" err="1">
                <a:latin typeface="Tahoma" panose="020B0604030504040204" pitchFamily="34" charset="0"/>
              </a:rPr>
              <a:t>i</a:t>
            </a:r>
            <a:r>
              <a:rPr lang="zh-CN" altLang="en-US" sz="2800" dirty="0">
                <a:latin typeface="Tahoma" panose="020B0604030504040204" pitchFamily="34" charset="0"/>
              </a:rPr>
              <a:t>中</a:t>
            </a:r>
            <a:endParaRPr lang="zh-CN" altLang="en-US" sz="2800" dirty="0">
              <a:latin typeface="Tahoma" panose="020B0604030504040204" pitchFamily="34" charset="0"/>
            </a:endParaRPr>
          </a:p>
          <a:p>
            <a:pPr marL="742950" lvl="1" indent="-285750">
              <a:buClr>
                <a:schemeClr val="accent1"/>
              </a:buClr>
            </a:pPr>
            <a:r>
              <a:rPr lang="en-US" altLang="zh-CN" sz="2800" dirty="0">
                <a:latin typeface="Tahoma" panose="020B0604030504040204" pitchFamily="34" charset="0"/>
              </a:rPr>
              <a:t>ST     </a:t>
            </a:r>
            <a:r>
              <a:rPr lang="en-US" altLang="zh-CN" sz="2800" dirty="0" err="1">
                <a:latin typeface="Tahoma" panose="020B0604030504040204" pitchFamily="34" charset="0"/>
              </a:rPr>
              <a:t>R</a:t>
            </a:r>
            <a:r>
              <a:rPr lang="en-US" altLang="zh-CN" sz="2800" baseline="-25000" dirty="0" err="1">
                <a:latin typeface="Tahoma" panose="020B0604030504040204" pitchFamily="34" charset="0"/>
              </a:rPr>
              <a:t>i</a:t>
            </a:r>
            <a:r>
              <a:rPr lang="en-US" altLang="zh-CN" sz="2800" baseline="-25000" dirty="0">
                <a:latin typeface="Tahoma" panose="020B0604030504040204" pitchFamily="34" charset="0"/>
              </a:rPr>
              <a:t> </a:t>
            </a:r>
            <a:r>
              <a:rPr lang="en-US" altLang="zh-CN" sz="2800" dirty="0">
                <a:latin typeface="Tahoma" panose="020B0604030504040204" pitchFamily="34" charset="0"/>
              </a:rPr>
              <a:t>, B     </a:t>
            </a:r>
            <a:r>
              <a:rPr lang="zh-CN" altLang="en-US" sz="2800" dirty="0">
                <a:latin typeface="Tahoma" panose="020B0604030504040204" pitchFamily="34" charset="0"/>
              </a:rPr>
              <a:t>把寄存器</a:t>
            </a:r>
            <a:r>
              <a:rPr lang="en-US" altLang="zh-CN" sz="2800" dirty="0" err="1">
                <a:latin typeface="Tahoma" panose="020B0604030504040204" pitchFamily="34" charset="0"/>
              </a:rPr>
              <a:t>R</a:t>
            </a:r>
            <a:r>
              <a:rPr lang="en-US" altLang="zh-CN" sz="2800" baseline="-25000" dirty="0" err="1">
                <a:latin typeface="Tahoma" panose="020B0604030504040204" pitchFamily="34" charset="0"/>
              </a:rPr>
              <a:t>i</a:t>
            </a:r>
            <a:r>
              <a:rPr lang="en-US" altLang="zh-CN" sz="2800" dirty="0">
                <a:latin typeface="Tahoma" panose="020B0604030504040204" pitchFamily="34" charset="0"/>
              </a:rPr>
              <a:t> </a:t>
            </a:r>
            <a:r>
              <a:rPr lang="zh-CN" altLang="en-US" sz="2800" dirty="0">
                <a:latin typeface="Tahoma" panose="020B0604030504040204" pitchFamily="34" charset="0"/>
              </a:rPr>
              <a:t>的内容存到</a:t>
            </a:r>
            <a:r>
              <a:rPr lang="en-US" altLang="zh-CN" sz="2800" dirty="0">
                <a:latin typeface="Tahoma" panose="020B0604030504040204" pitchFamily="34" charset="0"/>
              </a:rPr>
              <a:t>B</a:t>
            </a:r>
            <a:r>
              <a:rPr lang="zh-CN" altLang="en-US" sz="2800" dirty="0">
                <a:latin typeface="Tahoma" panose="020B0604030504040204" pitchFamily="34" charset="0"/>
              </a:rPr>
              <a:t>单元</a:t>
            </a:r>
            <a:endParaRPr lang="zh-CN" altLang="en-US" sz="2800" dirty="0">
              <a:latin typeface="Tahoma" panose="020B0604030504040204" pitchFamily="34" charset="0"/>
            </a:endParaRPr>
          </a:p>
          <a:p>
            <a:pPr marL="742950" lvl="1" indent="-285750">
              <a:buClr>
                <a:schemeClr val="accent1"/>
              </a:buClr>
            </a:pPr>
            <a:r>
              <a:rPr lang="zh-CN" altLang="en-US" sz="2800" dirty="0">
                <a:latin typeface="Tahoma" panose="020B0604030504040204" pitchFamily="34" charset="0"/>
              </a:rPr>
              <a:t> </a:t>
            </a:r>
            <a:r>
              <a:rPr lang="en-US" altLang="zh-CN" sz="2800" dirty="0">
                <a:latin typeface="Tahoma" panose="020B0604030504040204" pitchFamily="34" charset="0"/>
              </a:rPr>
              <a:t>J       X          </a:t>
            </a:r>
            <a:r>
              <a:rPr lang="zh-CN" altLang="en-US" sz="2800" dirty="0">
                <a:latin typeface="Tahoma" panose="020B0604030504040204" pitchFamily="34" charset="0"/>
              </a:rPr>
              <a:t>无条件转向</a:t>
            </a:r>
            <a:r>
              <a:rPr lang="en-US" altLang="zh-CN" sz="2800" dirty="0">
                <a:latin typeface="Tahoma" panose="020B0604030504040204" pitchFamily="34" charset="0"/>
              </a:rPr>
              <a:t>X</a:t>
            </a:r>
            <a:r>
              <a:rPr lang="zh-CN" altLang="en-US" sz="2800" dirty="0">
                <a:latin typeface="Tahoma" panose="020B0604030504040204" pitchFamily="34" charset="0"/>
              </a:rPr>
              <a:t>单元（</a:t>
            </a:r>
            <a:r>
              <a:rPr lang="en-US" altLang="zh-CN" sz="2800" dirty="0">
                <a:latin typeface="Tahoma" panose="020B0604030504040204" pitchFamily="34" charset="0"/>
              </a:rPr>
              <a:t>JLE</a:t>
            </a:r>
            <a:r>
              <a:rPr lang="zh-CN" altLang="en-US" sz="2800" dirty="0">
                <a:latin typeface="Tahoma" panose="020B0604030504040204" pitchFamily="34" charset="0"/>
              </a:rPr>
              <a:t>为</a:t>
            </a:r>
            <a:r>
              <a:rPr lang="en-US" altLang="zh-CN" sz="2800" dirty="0">
                <a:latin typeface="Tahoma" panose="020B0604030504040204" pitchFamily="34" charset="0"/>
              </a:rPr>
              <a:t>&gt;=</a:t>
            </a:r>
            <a:r>
              <a:rPr lang="zh-CN" altLang="en-US" sz="2800" dirty="0">
                <a:latin typeface="Tahoma" panose="020B0604030504040204" pitchFamily="34" charset="0"/>
              </a:rPr>
              <a:t>跳转）</a:t>
            </a:r>
            <a:endParaRPr lang="zh-CN" altLang="en-US" sz="2800" dirty="0">
              <a:latin typeface="Tahoma" panose="020B0604030504040204" pitchFamily="34" charset="0"/>
            </a:endParaRPr>
          </a:p>
          <a:p>
            <a:pPr marL="742950" lvl="1" indent="-285750">
              <a:buClr>
                <a:schemeClr val="accent1"/>
              </a:buClr>
            </a:pPr>
            <a:r>
              <a:rPr lang="en-US" altLang="zh-CN" sz="2800" dirty="0">
                <a:latin typeface="Tahoma" panose="020B0604030504040204" pitchFamily="34" charset="0"/>
              </a:rPr>
              <a:t>CMP  A, B      A</a:t>
            </a:r>
            <a:r>
              <a:rPr lang="zh-CN" altLang="en-US" sz="2800" dirty="0">
                <a:latin typeface="Tahoma" panose="020B0604030504040204" pitchFamily="34" charset="0"/>
              </a:rPr>
              <a:t>、</a:t>
            </a:r>
            <a:r>
              <a:rPr lang="en-US" altLang="zh-CN" sz="2800" dirty="0">
                <a:latin typeface="Tahoma" panose="020B0604030504040204" pitchFamily="34" charset="0"/>
              </a:rPr>
              <a:t>B</a:t>
            </a:r>
            <a:r>
              <a:rPr lang="zh-CN" altLang="en-US" sz="2800" dirty="0">
                <a:latin typeface="Tahoma" panose="020B0604030504040204" pitchFamily="34" charset="0"/>
              </a:rPr>
              <a:t>单元内容比较，根据比较结果</a:t>
            </a:r>
            <a:endParaRPr lang="zh-CN" altLang="en-US" sz="2800" dirty="0">
              <a:latin typeface="Tahoma" panose="020B0604030504040204" pitchFamily="34" charset="0"/>
            </a:endParaRPr>
          </a:p>
          <a:p>
            <a:pPr marL="742950" lvl="1" indent="-285750">
              <a:buClr>
                <a:schemeClr val="accent1"/>
              </a:buClr>
            </a:pPr>
            <a:r>
              <a:rPr lang="zh-CN" altLang="en-US" sz="2800" dirty="0">
                <a:latin typeface="Tahoma" panose="020B0604030504040204" pitchFamily="34" charset="0"/>
              </a:rPr>
              <a:t> </a:t>
            </a:r>
            <a:r>
              <a:rPr lang="en-US" altLang="zh-CN" sz="2800" dirty="0">
                <a:latin typeface="Tahoma" panose="020B0604030504040204" pitchFamily="34" charset="0"/>
              </a:rPr>
              <a:t>                   </a:t>
            </a:r>
            <a:r>
              <a:rPr lang="zh-CN" altLang="en-US" sz="2800" dirty="0">
                <a:latin typeface="Tahoma" panose="020B0604030504040204" pitchFamily="34" charset="0"/>
              </a:rPr>
              <a:t>置机器内部特征寄存器</a:t>
            </a:r>
            <a:r>
              <a:rPr lang="en-US" altLang="zh-CN" sz="2800" dirty="0">
                <a:latin typeface="Tahoma" panose="020B0604030504040204" pitchFamily="34" charset="0"/>
              </a:rPr>
              <a:t>CT</a:t>
            </a:r>
            <a:r>
              <a:rPr lang="zh-CN" altLang="en-US" sz="2800" dirty="0">
                <a:latin typeface="Tahoma" panose="020B0604030504040204" pitchFamily="34" charset="0"/>
              </a:rPr>
              <a:t>为相应状态</a:t>
            </a:r>
            <a:endParaRPr lang="zh-CN" altLang="en-US" sz="2800" dirty="0">
              <a:latin typeface="Tahoma" panose="020B060403050404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p:cNvSpPr>
            <a:spLocks noChangeArrowheads="1"/>
          </p:cNvSpPr>
          <p:nvPr/>
        </p:nvSpPr>
        <p:spPr bwMode="auto">
          <a:xfrm>
            <a:off x="214282" y="214290"/>
            <a:ext cx="8472518" cy="3662541"/>
          </a:xfrm>
          <a:prstGeom prst="rect">
            <a:avLst/>
          </a:prstGeom>
          <a:noFill/>
          <a:ln w="9525">
            <a:noFill/>
            <a:miter lim="800000"/>
          </a:ln>
        </p:spPr>
        <p:txBody>
          <a:bodyPr wrap="square" lIns="0" tIns="0" rIns="0" bIns="0">
            <a:spAutoFit/>
          </a:bodyPr>
          <a:lstStyle/>
          <a:p>
            <a:r>
              <a:rPr lang="en-US" altLang="zh-CN" sz="2800" dirty="0">
                <a:latin typeface="宋体" panose="02010600030101010101" pitchFamily="2" charset="-122"/>
              </a:rPr>
              <a:t>9.4</a:t>
            </a:r>
            <a:r>
              <a:rPr lang="zh-CN" altLang="en-US" sz="2800" dirty="0">
                <a:latin typeface="宋体" panose="02010600030101010101" pitchFamily="2" charset="-122"/>
              </a:rPr>
              <a:t>、寄存器</a:t>
            </a:r>
            <a:endParaRPr lang="zh-CN" altLang="en-US" sz="2800" dirty="0">
              <a:latin typeface="宋体" panose="02010600030101010101" pitchFamily="2" charset="-122"/>
            </a:endParaRPr>
          </a:p>
          <a:p>
            <a:pPr eaLnBrk="0" hangingPunct="0">
              <a:spcBef>
                <a:spcPct val="50000"/>
              </a:spcBef>
            </a:pPr>
            <a:r>
              <a:rPr lang="zh-CN" altLang="en-US" sz="2800" dirty="0">
                <a:solidFill>
                  <a:srgbClr val="FF0000"/>
                </a:solidFill>
                <a:effectLst>
                  <a:outerShdw blurRad="38100" dist="38100" dir="2700000" algn="tl">
                    <a:srgbClr val="000000"/>
                  </a:outerShdw>
                </a:effectLst>
              </a:rPr>
              <a:t>（</a:t>
            </a:r>
            <a:r>
              <a:rPr lang="en-US" altLang="zh-CN" sz="2800" dirty="0">
                <a:solidFill>
                  <a:srgbClr val="FF0000"/>
                </a:solidFill>
                <a:effectLst>
                  <a:outerShdw blurRad="38100" dist="38100" dir="2700000" algn="tl">
                    <a:srgbClr val="000000"/>
                  </a:outerShdw>
                </a:effectLst>
              </a:rPr>
              <a:t>1</a:t>
            </a:r>
            <a:r>
              <a:rPr lang="zh-CN" altLang="en-US" sz="2800" dirty="0">
                <a:solidFill>
                  <a:srgbClr val="FF0000"/>
                </a:solidFill>
                <a:effectLst>
                  <a:outerShdw blurRad="38100" dist="38100" dir="2700000" algn="tl">
                    <a:srgbClr val="000000"/>
                  </a:outerShdw>
                </a:effectLst>
              </a:rPr>
              <a:t>）寄存器分类</a:t>
            </a:r>
            <a:endParaRPr lang="zh-CN" altLang="en-US" sz="2800" dirty="0">
              <a:solidFill>
                <a:srgbClr val="FF0000"/>
              </a:solidFill>
              <a:effectLst>
                <a:outerShdw blurRad="38100" dist="38100" dir="2700000" algn="tl">
                  <a:srgbClr val="000000"/>
                </a:outerShdw>
              </a:effectLst>
            </a:endParaRPr>
          </a:p>
          <a:p>
            <a:pPr lvl="1" eaLnBrk="0" hangingPunct="0">
              <a:spcBef>
                <a:spcPct val="20000"/>
              </a:spcBef>
            </a:pPr>
            <a:r>
              <a:rPr lang="zh-CN" altLang="en-US" sz="2800" dirty="0"/>
              <a:t>        </a:t>
            </a:r>
            <a:r>
              <a:rPr lang="zh-CN" altLang="en-US" sz="2400" dirty="0"/>
              <a:t>编译器通常把寄存器分为三组使用：</a:t>
            </a:r>
            <a:endParaRPr lang="zh-CN" altLang="en-US" sz="2400" dirty="0"/>
          </a:p>
          <a:p>
            <a:pPr lvl="2" eaLnBrk="0" hangingPunct="0">
              <a:spcBef>
                <a:spcPct val="20000"/>
              </a:spcBef>
              <a:buFont typeface="Wingdings" panose="05000000000000000000" pitchFamily="2" charset="2"/>
              <a:buChar char="ü"/>
            </a:pPr>
            <a:r>
              <a:rPr lang="zh-CN" altLang="en-US" sz="2400" dirty="0">
                <a:solidFill>
                  <a:srgbClr val="FF0000"/>
                </a:solidFill>
              </a:rPr>
              <a:t>  可分配寄存器</a:t>
            </a:r>
            <a:r>
              <a:rPr lang="zh-CN" altLang="en-US" sz="2400" dirty="0"/>
              <a:t>：分配给变量，通过调用子程序</a:t>
            </a:r>
            <a:r>
              <a:rPr lang="zh-CN" altLang="en-US" sz="2400" dirty="0" smtClean="0"/>
              <a:t>的方</a:t>
            </a:r>
            <a:endParaRPr lang="zh-CN" altLang="en-US" sz="2400" dirty="0" smtClean="0"/>
          </a:p>
          <a:p>
            <a:pPr lvl="2" eaLnBrk="0" hangingPunct="0">
              <a:buFont typeface="Wingdings" panose="05000000000000000000" pitchFamily="2" charset="2"/>
              <a:buNone/>
            </a:pPr>
            <a:r>
              <a:rPr lang="zh-CN" altLang="en-US" sz="2400" dirty="0" smtClean="0"/>
              <a:t>     式申请</a:t>
            </a:r>
            <a:endParaRPr lang="zh-CN" altLang="en-US" sz="2400" dirty="0" smtClean="0"/>
          </a:p>
          <a:p>
            <a:pPr lvl="2" eaLnBrk="0" hangingPunct="0">
              <a:spcBef>
                <a:spcPct val="20000"/>
              </a:spcBef>
              <a:buFont typeface="Wingdings" panose="05000000000000000000" pitchFamily="2" charset="2"/>
              <a:buChar char="ü"/>
            </a:pPr>
            <a:r>
              <a:rPr lang="zh-CN" altLang="en-US" sz="2400" dirty="0" smtClean="0"/>
              <a:t>  </a:t>
            </a:r>
            <a:r>
              <a:rPr lang="zh-CN" altLang="en-US" sz="2400" dirty="0">
                <a:solidFill>
                  <a:srgbClr val="FF0000"/>
                </a:solidFill>
              </a:rPr>
              <a:t>保留寄存器</a:t>
            </a:r>
            <a:r>
              <a:rPr lang="zh-CN" altLang="en-US" sz="2400" dirty="0"/>
              <a:t>：为特殊任务保留，如栈指针寄存器、</a:t>
            </a:r>
            <a:endParaRPr lang="zh-CN" altLang="en-US" sz="2400" dirty="0"/>
          </a:p>
          <a:p>
            <a:pPr lvl="2" eaLnBrk="0" hangingPunct="0">
              <a:buFont typeface="Wingdings" panose="05000000000000000000" pitchFamily="2" charset="2"/>
              <a:buNone/>
            </a:pPr>
            <a:r>
              <a:rPr lang="zh-CN" altLang="en-US" sz="2400" dirty="0"/>
              <a:t>      </a:t>
            </a:r>
            <a:r>
              <a:rPr lang="en-US" altLang="zh-CN" sz="2400" dirty="0"/>
              <a:t>Display</a:t>
            </a:r>
            <a:r>
              <a:rPr lang="zh-CN" altLang="en-US" sz="2400" dirty="0"/>
              <a:t>寄存器等。专用，不参加分配</a:t>
            </a:r>
            <a:endParaRPr lang="zh-CN" altLang="en-US" sz="2400" dirty="0"/>
          </a:p>
          <a:p>
            <a:pPr lvl="2" eaLnBrk="0" hangingPunct="0">
              <a:spcBef>
                <a:spcPct val="20000"/>
              </a:spcBef>
              <a:buFont typeface="Wingdings" panose="05000000000000000000" pitchFamily="2" charset="2"/>
              <a:buChar char="ü"/>
            </a:pPr>
            <a:r>
              <a:rPr lang="zh-CN" altLang="en-US" sz="2400" dirty="0"/>
              <a:t>  </a:t>
            </a:r>
            <a:r>
              <a:rPr lang="zh-CN" altLang="en-US" sz="2400" dirty="0">
                <a:solidFill>
                  <a:srgbClr val="FF0000"/>
                </a:solidFill>
              </a:rPr>
              <a:t>零用寄存器</a:t>
            </a:r>
            <a:r>
              <a:rPr lang="zh-CN" altLang="en-US" sz="2400" dirty="0"/>
              <a:t>：寿命较短。不参加分配，仅按需使用</a:t>
            </a:r>
            <a:endParaRPr lang="zh-CN" altLang="en-US" sz="2400" dirty="0">
              <a:latin typeface="宋体" panose="02010600030101010101" pitchFamily="2" charset="-122"/>
            </a:endParaRPr>
          </a:p>
        </p:txBody>
      </p:sp>
      <p:sp>
        <p:nvSpPr>
          <p:cNvPr id="629763" name="Rectangle 3"/>
          <p:cNvSpPr>
            <a:spLocks noChangeArrowheads="1"/>
          </p:cNvSpPr>
          <p:nvPr/>
        </p:nvSpPr>
        <p:spPr bwMode="auto">
          <a:xfrm>
            <a:off x="393700" y="3929066"/>
            <a:ext cx="8445500" cy="2332946"/>
          </a:xfrm>
          <a:prstGeom prst="rect">
            <a:avLst/>
          </a:prstGeom>
          <a:noFill/>
          <a:ln w="9525">
            <a:noFill/>
            <a:miter lim="800000"/>
          </a:ln>
          <a:effectLst/>
        </p:spPr>
        <p:txBody>
          <a:bodyPr wrap="square">
            <a:spAutoFit/>
          </a:bodyPr>
          <a:lstStyle/>
          <a:p>
            <a:pPr eaLnBrk="0" hangingPunct="0">
              <a:spcBef>
                <a:spcPct val="50000"/>
              </a:spcBef>
            </a:pPr>
            <a:r>
              <a:rPr lang="zh-CN" altLang="en-US" sz="2800" dirty="0">
                <a:solidFill>
                  <a:srgbClr val="FF0000"/>
                </a:solidFill>
                <a:effectLst>
                  <a:outerShdw blurRad="38100" dist="38100" dir="2700000" algn="tl">
                    <a:srgbClr val="000000"/>
                  </a:outerShdw>
                </a:effectLst>
              </a:rPr>
              <a:t>（</a:t>
            </a:r>
            <a:r>
              <a:rPr lang="en-US" altLang="zh-CN" sz="2800" dirty="0">
                <a:solidFill>
                  <a:srgbClr val="FF0000"/>
                </a:solidFill>
                <a:effectLst>
                  <a:outerShdw blurRad="38100" dist="38100" dir="2700000" algn="tl">
                    <a:srgbClr val="000000"/>
                  </a:outerShdw>
                </a:effectLst>
              </a:rPr>
              <a:t>2</a:t>
            </a:r>
            <a:r>
              <a:rPr lang="zh-CN" altLang="en-US" sz="2800" dirty="0">
                <a:solidFill>
                  <a:srgbClr val="FF0000"/>
                </a:solidFill>
                <a:effectLst>
                  <a:outerShdw blurRad="38100" dist="38100" dir="2700000" algn="tl">
                    <a:srgbClr val="000000"/>
                  </a:outerShdw>
                </a:effectLst>
              </a:rPr>
              <a:t>）寄存器的状态描述</a:t>
            </a:r>
            <a:endParaRPr lang="zh-CN" altLang="en-US" sz="2800" dirty="0">
              <a:solidFill>
                <a:srgbClr val="FF0000"/>
              </a:solidFill>
              <a:effectLst>
                <a:outerShdw blurRad="38100" dist="38100" dir="2700000" algn="tl">
                  <a:srgbClr val="000000"/>
                </a:outerShdw>
              </a:effectLst>
            </a:endParaRPr>
          </a:p>
          <a:p>
            <a:pPr lvl="1">
              <a:lnSpc>
                <a:spcPct val="110000"/>
              </a:lnSpc>
              <a:spcBef>
                <a:spcPct val="50000"/>
              </a:spcBef>
            </a:pPr>
            <a:r>
              <a:rPr lang="zh-CN" altLang="en-US" sz="2400" dirty="0">
                <a:latin typeface="宋体" panose="02010600030101010101" pitchFamily="2" charset="-122"/>
              </a:rPr>
              <a:t>    如果系统有取之不尽的寄存器，问题就简单得多，因为不用剥夺正被占用的寄存器。但使问题复杂化的原因正是寄存器不够。为了正确且有效地使用可分配的寄存器，需要记录</a:t>
            </a:r>
            <a:r>
              <a:rPr lang="zh-CN" altLang="en-US" sz="2400" dirty="0">
                <a:solidFill>
                  <a:srgbClr val="FF0000"/>
                </a:solidFill>
                <a:latin typeface="宋体" panose="02010600030101010101" pitchFamily="2" charset="-122"/>
              </a:rPr>
              <a:t>寄存器的状态</a:t>
            </a:r>
            <a:r>
              <a:rPr lang="zh-CN" altLang="en-US" sz="2400" dirty="0">
                <a:latin typeface="宋体" panose="02010600030101010101" pitchFamily="2" charset="-122"/>
              </a:rPr>
              <a:t>。</a:t>
            </a:r>
            <a:endParaRPr lang="zh-CN" altLang="en-US" sz="2400" dirty="0">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9763"/>
                                        </p:tgtEl>
                                        <p:attrNameLst>
                                          <p:attrName>style.visibility</p:attrName>
                                        </p:attrNameLst>
                                      </p:cBhvr>
                                      <p:to>
                                        <p:strVal val="visible"/>
                                      </p:to>
                                    </p:set>
                                    <p:anim calcmode="lin" valueType="num">
                                      <p:cBhvr additive="base">
                                        <p:cTn id="7" dur="500" fill="hold"/>
                                        <p:tgtEl>
                                          <p:spTgt spid="629763"/>
                                        </p:tgtEl>
                                        <p:attrNameLst>
                                          <p:attrName>ppt_x</p:attrName>
                                        </p:attrNameLst>
                                      </p:cBhvr>
                                      <p:tavLst>
                                        <p:tav tm="0">
                                          <p:val>
                                            <p:strVal val="0-#ppt_w/2"/>
                                          </p:val>
                                        </p:tav>
                                        <p:tav tm="100000">
                                          <p:val>
                                            <p:strVal val="#ppt_x"/>
                                          </p:val>
                                        </p:tav>
                                      </p:tavLst>
                                    </p:anim>
                                    <p:anim calcmode="lin" valueType="num">
                                      <p:cBhvr additive="base">
                                        <p:cTn id="8" dur="500" fill="hold"/>
                                        <p:tgtEl>
                                          <p:spTgt spid="6297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9" name="Rectangle 3"/>
          <p:cNvSpPr>
            <a:spLocks noChangeArrowheads="1"/>
          </p:cNvSpPr>
          <p:nvPr/>
        </p:nvSpPr>
        <p:spPr bwMode="auto">
          <a:xfrm>
            <a:off x="0" y="-78105"/>
            <a:ext cx="9102090" cy="6380480"/>
          </a:xfrm>
          <a:prstGeom prst="rect">
            <a:avLst/>
          </a:prstGeom>
          <a:noFill/>
          <a:ln w="9525">
            <a:noFill/>
            <a:miter lim="800000"/>
          </a:ln>
          <a:effectLst/>
        </p:spPr>
        <p:txBody>
          <a:bodyPr wrap="square">
            <a:spAutoFit/>
          </a:bodyPr>
          <a:lstStyle/>
          <a:p>
            <a:pPr marL="457200" indent="-457200" eaLnBrk="0" hangingPunct="0">
              <a:lnSpc>
                <a:spcPct val="110000"/>
              </a:lnSpc>
              <a:spcBef>
                <a:spcPct val="50000"/>
              </a:spcBef>
            </a:pPr>
            <a:r>
              <a:rPr lang="zh-CN" altLang="en-US" sz="2800" dirty="0">
                <a:solidFill>
                  <a:srgbClr val="FF0000"/>
                </a:solidFill>
              </a:rPr>
              <a:t>寄存器的状态表</a:t>
            </a:r>
            <a:endParaRPr lang="zh-CN" altLang="en-US" sz="2800" dirty="0">
              <a:solidFill>
                <a:srgbClr val="FF0000"/>
              </a:solidFill>
            </a:endParaRPr>
          </a:p>
          <a:p>
            <a:pPr marL="457200" indent="-457200">
              <a:lnSpc>
                <a:spcPct val="110000"/>
              </a:lnSpc>
            </a:pPr>
            <a:r>
              <a:rPr lang="zh-CN" altLang="en-US" sz="2400" dirty="0">
                <a:latin typeface="宋体" panose="02010600030101010101" pitchFamily="2" charset="-122"/>
              </a:rPr>
              <a:t>    </a:t>
            </a:r>
            <a:r>
              <a:rPr lang="zh-CN" altLang="en-US" sz="2800" dirty="0">
                <a:latin typeface="宋体" panose="02010600030101010101" pitchFamily="2" charset="-122"/>
              </a:rPr>
              <a:t>为实现以上准则，需要对寄存器的状态表进行有效的管理和分配，我们将考虑基本块上的</a:t>
            </a:r>
            <a:r>
              <a:rPr lang="zh-CN" altLang="en-US" sz="2800" dirty="0">
                <a:solidFill>
                  <a:srgbClr val="FF0000"/>
                </a:solidFill>
                <a:latin typeface="宋体" panose="02010600030101010101" pitchFamily="2" charset="-122"/>
              </a:rPr>
              <a:t>寄存器分配</a:t>
            </a:r>
            <a:r>
              <a:rPr lang="zh-CN" altLang="en-US" sz="2800" dirty="0">
                <a:latin typeface="宋体" panose="02010600030101010101" pitchFamily="2" charset="-122"/>
              </a:rPr>
              <a:t>。对于某个基本块中的中间代码 </a:t>
            </a:r>
            <a:r>
              <a:rPr lang="en-US" altLang="zh-CN" sz="2800" dirty="0">
                <a:latin typeface="宋体" panose="02010600030101010101" pitchFamily="2" charset="-122"/>
              </a:rPr>
              <a:t>K: (Op, A, B, C) ,</a:t>
            </a:r>
            <a:r>
              <a:rPr lang="zh-CN" altLang="en-US" sz="2800" dirty="0">
                <a:latin typeface="宋体" panose="02010600030101010101" pitchFamily="2" charset="-122"/>
              </a:rPr>
              <a:t>假设寄存器中存放了变量</a:t>
            </a:r>
            <a:r>
              <a:rPr lang="en-US" altLang="zh-CN" sz="2800" dirty="0">
                <a:latin typeface="宋体" panose="02010600030101010101" pitchFamily="2" charset="-122"/>
              </a:rPr>
              <a:t>A</a:t>
            </a:r>
            <a:r>
              <a:rPr lang="zh-CN" altLang="en-US" sz="2800" dirty="0">
                <a:latin typeface="宋体" panose="02010600030101010101" pitchFamily="2" charset="-122"/>
              </a:rPr>
              <a:t>，则</a:t>
            </a:r>
            <a:r>
              <a:rPr lang="zh-CN" altLang="en-US" sz="2800" dirty="0">
                <a:solidFill>
                  <a:schemeClr val="tx1"/>
                </a:solidFill>
                <a:latin typeface="宋体" panose="02010600030101010101" pitchFamily="2" charset="-122"/>
              </a:rPr>
              <a:t>用二元组</a:t>
            </a:r>
            <a:r>
              <a:rPr lang="en-US" altLang="zh-CN" sz="2800" dirty="0">
                <a:solidFill>
                  <a:schemeClr val="tx1"/>
                </a:solidFill>
                <a:latin typeface="宋体" panose="02010600030101010101" pitchFamily="2" charset="-122"/>
              </a:rPr>
              <a:t>(DL, SNS)</a:t>
            </a:r>
            <a:r>
              <a:rPr lang="zh-CN" altLang="en-US" sz="2800" dirty="0">
                <a:solidFill>
                  <a:schemeClr val="tx1"/>
                </a:solidFill>
                <a:latin typeface="宋体" panose="02010600030101010101" pitchFamily="2" charset="-122"/>
              </a:rPr>
              <a:t>表示</a:t>
            </a:r>
            <a:r>
              <a:rPr lang="zh-CN" altLang="en-US" sz="2800" dirty="0">
                <a:solidFill>
                  <a:srgbClr val="FF0000"/>
                </a:solidFill>
                <a:latin typeface="宋体" panose="02010600030101010101" pitchFamily="2" charset="-122"/>
              </a:rPr>
              <a:t>变量</a:t>
            </a:r>
            <a:r>
              <a:rPr lang="en-US" altLang="zh-CN" sz="2800" dirty="0">
                <a:solidFill>
                  <a:srgbClr val="FF0000"/>
                </a:solidFill>
                <a:latin typeface="宋体" panose="02010600030101010101" pitchFamily="2" charset="-122"/>
              </a:rPr>
              <a:t>A</a:t>
            </a:r>
            <a:r>
              <a:rPr lang="zh-CN" altLang="en-US" sz="2800" dirty="0">
                <a:solidFill>
                  <a:srgbClr val="FF0000"/>
                </a:solidFill>
                <a:latin typeface="宋体" panose="02010600030101010101" pitchFamily="2" charset="-122"/>
              </a:rPr>
              <a:t>的状态</a:t>
            </a:r>
            <a:r>
              <a:rPr lang="zh-CN" altLang="en-US" sz="2800" dirty="0">
                <a:latin typeface="宋体" panose="02010600030101010101" pitchFamily="2" charset="-122"/>
              </a:rPr>
              <a:t>：</a:t>
            </a:r>
            <a:endParaRPr lang="zh-CN" altLang="en-US" sz="2800" dirty="0">
              <a:latin typeface="宋体" panose="02010600030101010101" pitchFamily="2" charset="-122"/>
            </a:endParaRPr>
          </a:p>
          <a:p>
            <a:pPr marL="914400" lvl="1" indent="-457200">
              <a:lnSpc>
                <a:spcPct val="110000"/>
              </a:lnSpc>
              <a:spcBef>
                <a:spcPct val="30000"/>
              </a:spcBef>
              <a:buFont typeface="Wingdings" panose="05000000000000000000" pitchFamily="2" charset="2"/>
              <a:buChar char="q"/>
            </a:pPr>
            <a:r>
              <a:rPr lang="en-US" altLang="zh-CN" sz="2800" dirty="0">
                <a:solidFill>
                  <a:srgbClr val="FF0000"/>
                </a:solidFill>
                <a:latin typeface="宋体" panose="02010600030101010101" pitchFamily="2" charset="-122"/>
              </a:rPr>
              <a:t>DL</a:t>
            </a:r>
            <a:r>
              <a:rPr lang="zh-CN" altLang="en-US" sz="2800" dirty="0">
                <a:latin typeface="宋体" panose="02010600030101010101" pitchFamily="2" charset="-122"/>
              </a:rPr>
              <a:t>：取</a:t>
            </a:r>
            <a:r>
              <a:rPr lang="en-US" altLang="zh-CN" sz="2800" dirty="0">
                <a:solidFill>
                  <a:srgbClr val="FF0000"/>
                </a:solidFill>
                <a:latin typeface="宋体" panose="02010600030101010101" pitchFamily="2" charset="-122"/>
              </a:rPr>
              <a:t>D</a:t>
            </a:r>
            <a:r>
              <a:rPr lang="zh-CN" altLang="en-US" sz="2800" dirty="0">
                <a:latin typeface="宋体" panose="02010600030101010101" pitchFamily="2" charset="-122"/>
              </a:rPr>
              <a:t>（</a:t>
            </a:r>
            <a:r>
              <a:rPr lang="en-US" altLang="zh-CN" sz="2800" dirty="0">
                <a:latin typeface="宋体" panose="02010600030101010101" pitchFamily="2" charset="-122"/>
              </a:rPr>
              <a:t>Dead</a:t>
            </a:r>
            <a:r>
              <a:rPr lang="zh-CN" altLang="en-US" sz="2800" dirty="0">
                <a:latin typeface="宋体" panose="02010600030101010101" pitchFamily="2" charset="-122"/>
              </a:rPr>
              <a:t>）或 </a:t>
            </a:r>
            <a:r>
              <a:rPr lang="en-US" altLang="zh-CN" sz="2800" dirty="0">
                <a:solidFill>
                  <a:srgbClr val="FF0000"/>
                </a:solidFill>
                <a:latin typeface="宋体" panose="02010600030101010101" pitchFamily="2" charset="-122"/>
              </a:rPr>
              <a:t>L</a:t>
            </a:r>
            <a:r>
              <a:rPr lang="zh-CN" altLang="en-US" sz="2800" dirty="0">
                <a:latin typeface="宋体" panose="02010600030101010101" pitchFamily="2" charset="-122"/>
              </a:rPr>
              <a:t>（</a:t>
            </a:r>
            <a:r>
              <a:rPr lang="en-US" altLang="zh-CN" sz="2800" dirty="0">
                <a:latin typeface="宋体" panose="02010600030101010101" pitchFamily="2" charset="-122"/>
              </a:rPr>
              <a:t>Live</a:t>
            </a:r>
            <a:r>
              <a:rPr lang="zh-CN" altLang="en-US" sz="2800" dirty="0">
                <a:latin typeface="宋体" panose="02010600030101010101" pitchFamily="2" charset="-122"/>
              </a:rPr>
              <a:t>）。如果从</a:t>
            </a:r>
            <a:r>
              <a:rPr lang="en-US" altLang="zh-CN" sz="2800" dirty="0">
                <a:latin typeface="宋体" panose="02010600030101010101" pitchFamily="2" charset="-122"/>
              </a:rPr>
              <a:t>K+1</a:t>
            </a:r>
            <a:r>
              <a:rPr lang="zh-CN" altLang="en-US" sz="2800" dirty="0">
                <a:latin typeface="宋体" panose="02010600030101010101" pitchFamily="2" charset="-122"/>
              </a:rPr>
              <a:t>中间代码开始，到</a:t>
            </a:r>
            <a:r>
              <a:rPr lang="en-US" altLang="zh-CN" sz="2800" dirty="0">
                <a:latin typeface="宋体" panose="02010600030101010101" pitchFamily="2" charset="-122"/>
              </a:rPr>
              <a:t>A</a:t>
            </a:r>
            <a:r>
              <a:rPr lang="zh-CN" altLang="en-US" sz="2800" dirty="0">
                <a:solidFill>
                  <a:srgbClr val="FF0000"/>
                </a:solidFill>
                <a:latin typeface="宋体" panose="02010600030101010101" pitchFamily="2" charset="-122"/>
              </a:rPr>
              <a:t>重新被赋值</a:t>
            </a:r>
            <a:r>
              <a:rPr lang="zh-CN" altLang="en-US" sz="2800" dirty="0">
                <a:latin typeface="宋体" panose="02010600030101010101" pitchFamily="2" charset="-122"/>
              </a:rPr>
              <a:t>或</a:t>
            </a:r>
            <a:r>
              <a:rPr lang="zh-CN" altLang="en-US" sz="2800" dirty="0">
                <a:solidFill>
                  <a:srgbClr val="FF0000"/>
                </a:solidFill>
                <a:latin typeface="宋体" panose="02010600030101010101" pitchFamily="2" charset="-122"/>
              </a:rPr>
              <a:t>基本块结束</a:t>
            </a:r>
            <a:r>
              <a:rPr lang="zh-CN" altLang="en-US" sz="2800" dirty="0">
                <a:latin typeface="宋体" panose="02010600030101010101" pitchFamily="2" charset="-122"/>
              </a:rPr>
              <a:t>都没有引用</a:t>
            </a:r>
            <a:r>
              <a:rPr lang="en-US" altLang="zh-CN" sz="2800" dirty="0">
                <a:latin typeface="宋体" panose="02010600030101010101" pitchFamily="2" charset="-122"/>
              </a:rPr>
              <a:t>A</a:t>
            </a:r>
            <a:r>
              <a:rPr lang="zh-CN" altLang="en-US" sz="2800" dirty="0">
                <a:latin typeface="宋体" panose="02010600030101010101" pitchFamily="2" charset="-122"/>
              </a:rPr>
              <a:t>，则</a:t>
            </a:r>
            <a:r>
              <a:rPr lang="en-US" altLang="zh-CN" sz="2800" dirty="0">
                <a:latin typeface="宋体" panose="02010600030101010101" pitchFamily="2" charset="-122"/>
              </a:rPr>
              <a:t>A</a:t>
            </a:r>
            <a:r>
              <a:rPr lang="zh-CN" altLang="en-US" sz="2800" dirty="0">
                <a:latin typeface="宋体" panose="02010600030101010101" pitchFamily="2" charset="-122"/>
              </a:rPr>
              <a:t>的</a:t>
            </a:r>
            <a:r>
              <a:rPr lang="en-US" altLang="zh-CN" sz="2800" dirty="0">
                <a:latin typeface="宋体" panose="02010600030101010101" pitchFamily="2" charset="-122"/>
              </a:rPr>
              <a:t>DL</a:t>
            </a:r>
            <a:r>
              <a:rPr lang="zh-CN" altLang="en-US" sz="2800" dirty="0">
                <a:latin typeface="宋体" panose="02010600030101010101" pitchFamily="2" charset="-122"/>
              </a:rPr>
              <a:t>值为</a:t>
            </a:r>
            <a:r>
              <a:rPr lang="en-US" altLang="zh-CN" sz="2800" dirty="0">
                <a:latin typeface="宋体" panose="02010600030101010101" pitchFamily="2" charset="-122"/>
              </a:rPr>
              <a:t>D</a:t>
            </a:r>
            <a:r>
              <a:rPr lang="zh-CN" altLang="en-US" sz="2800" dirty="0">
                <a:latin typeface="宋体" panose="02010600030101010101" pitchFamily="2" charset="-122"/>
              </a:rPr>
              <a:t>；否则为</a:t>
            </a:r>
            <a:r>
              <a:rPr lang="en-US" altLang="zh-CN" sz="2800" dirty="0">
                <a:latin typeface="宋体" panose="02010600030101010101" pitchFamily="2" charset="-122"/>
              </a:rPr>
              <a:t>L</a:t>
            </a:r>
            <a:r>
              <a:rPr lang="zh-CN" altLang="en-US" sz="2800" dirty="0">
                <a:latin typeface="宋体" panose="02010600030101010101" pitchFamily="2" charset="-122"/>
              </a:rPr>
              <a:t>。</a:t>
            </a:r>
            <a:r>
              <a:rPr lang="en-US" altLang="zh-CN" sz="2800" dirty="0">
                <a:latin typeface="宋体" panose="02010600030101010101" pitchFamily="2" charset="-122"/>
              </a:rPr>
              <a:t>DL</a:t>
            </a:r>
            <a:r>
              <a:rPr lang="zh-CN" altLang="en-US" sz="2800" dirty="0">
                <a:latin typeface="宋体" panose="02010600030101010101" pitchFamily="2" charset="-122"/>
              </a:rPr>
              <a:t>值在</a:t>
            </a:r>
            <a:r>
              <a:rPr lang="zh-CN" altLang="en-US" sz="2800" dirty="0">
                <a:solidFill>
                  <a:srgbClr val="FF0000"/>
                </a:solidFill>
                <a:latin typeface="宋体" panose="02010600030101010101" pitchFamily="2" charset="-122"/>
              </a:rPr>
              <a:t>中间代码</a:t>
            </a:r>
            <a:r>
              <a:rPr lang="zh-CN" altLang="en-US" sz="2800" dirty="0">
                <a:latin typeface="宋体" panose="02010600030101010101" pitchFamily="2" charset="-122"/>
              </a:rPr>
              <a:t>步骤确定。</a:t>
            </a:r>
            <a:r>
              <a:rPr lang="en-US" altLang="zh-CN" sz="2800" dirty="0">
                <a:latin typeface="宋体" panose="02010600030101010101" pitchFamily="2" charset="-122"/>
              </a:rPr>
              <a:t>1.</a:t>
            </a:r>
            <a:r>
              <a:rPr lang="en-US" altLang="zh-CN" sz="2800" dirty="0"/>
              <a:t>(+</a:t>
            </a:r>
            <a:r>
              <a:rPr lang="zh-CN" altLang="en-US" sz="2800" dirty="0"/>
              <a:t>，</a:t>
            </a:r>
            <a:r>
              <a:rPr lang="en-US" altLang="zh-CN" sz="2800" dirty="0"/>
              <a:t>a</a:t>
            </a:r>
            <a:r>
              <a:rPr lang="zh-CN" altLang="en-US" sz="2800" dirty="0"/>
              <a:t>，</a:t>
            </a:r>
            <a:r>
              <a:rPr lang="en-US" altLang="zh-CN" sz="2800" dirty="0"/>
              <a:t>b</a:t>
            </a:r>
            <a:r>
              <a:rPr lang="zh-CN" altLang="en-US" sz="2800" dirty="0"/>
              <a:t>，</a:t>
            </a:r>
            <a:r>
              <a:rPr lang="en-US" altLang="zh-CN" sz="2800" dirty="0"/>
              <a:t>t1)             (+</a:t>
            </a:r>
            <a:r>
              <a:rPr lang="zh-CN" altLang="en-US" sz="2800" dirty="0"/>
              <a:t>，</a:t>
            </a:r>
            <a:r>
              <a:rPr lang="en-US" altLang="zh-CN" sz="2800" dirty="0"/>
              <a:t>D</a:t>
            </a:r>
            <a:r>
              <a:rPr lang="zh-CN" altLang="en-US" sz="2800" dirty="0"/>
              <a:t>，</a:t>
            </a:r>
            <a:r>
              <a:rPr lang="en-US" altLang="zh-CN" sz="2800" dirty="0"/>
              <a:t>L</a:t>
            </a:r>
            <a:r>
              <a:rPr lang="zh-CN" altLang="en-US" sz="2800" dirty="0"/>
              <a:t>，</a:t>
            </a:r>
            <a:r>
              <a:rPr lang="en-US" altLang="zh-CN" sz="2800" dirty="0"/>
              <a:t>L)</a:t>
            </a:r>
            <a:endParaRPr lang="en-US" altLang="zh-CN" sz="2800" dirty="0"/>
          </a:p>
          <a:p>
            <a:pPr marL="1371600" lvl="4" indent="0">
              <a:lnSpc>
                <a:spcPct val="110000"/>
              </a:lnSpc>
              <a:buFontTx/>
              <a:buNone/>
            </a:pPr>
            <a:r>
              <a:rPr lang="en-US" altLang="zh-CN" sz="2800" dirty="0"/>
              <a:t>   2. (-</a:t>
            </a:r>
            <a:r>
              <a:rPr lang="zh-CN" altLang="en-US" sz="2800" dirty="0"/>
              <a:t>，</a:t>
            </a:r>
            <a:r>
              <a:rPr lang="en-US" altLang="zh-CN" sz="2800" dirty="0"/>
              <a:t>t1</a:t>
            </a:r>
            <a:r>
              <a:rPr lang="zh-CN" altLang="en-US" sz="2800" dirty="0"/>
              <a:t>，</a:t>
            </a:r>
            <a:r>
              <a:rPr lang="en-US" altLang="zh-CN" sz="2800" dirty="0"/>
              <a:t>c</a:t>
            </a:r>
            <a:r>
              <a:rPr lang="zh-CN" altLang="en-US" sz="2800" dirty="0"/>
              <a:t>，</a:t>
            </a:r>
            <a:r>
              <a:rPr lang="en-US" altLang="zh-CN" sz="2800" dirty="0"/>
              <a:t>t2)             (-</a:t>
            </a:r>
            <a:r>
              <a:rPr lang="zh-CN" altLang="en-US" sz="2800" dirty="0"/>
              <a:t>，</a:t>
            </a:r>
            <a:r>
              <a:rPr lang="en-US" altLang="zh-CN" sz="2800" dirty="0"/>
              <a:t>D</a:t>
            </a:r>
            <a:r>
              <a:rPr lang="zh-CN" altLang="en-US" sz="2800" dirty="0"/>
              <a:t>，</a:t>
            </a:r>
            <a:r>
              <a:rPr lang="en-US" altLang="zh-CN" sz="2800" dirty="0"/>
              <a:t>D</a:t>
            </a:r>
            <a:r>
              <a:rPr lang="zh-CN" altLang="en-US" sz="2800" dirty="0"/>
              <a:t>，</a:t>
            </a:r>
            <a:r>
              <a:rPr lang="en-US" altLang="zh-CN" sz="2800" dirty="0"/>
              <a:t>L)</a:t>
            </a:r>
            <a:endParaRPr lang="en-US" altLang="zh-CN" sz="2800" dirty="0"/>
          </a:p>
          <a:p>
            <a:pPr marL="1371600" lvl="4" indent="0">
              <a:lnSpc>
                <a:spcPct val="110000"/>
              </a:lnSpc>
              <a:buFontTx/>
              <a:buNone/>
            </a:pPr>
            <a:r>
              <a:rPr lang="en-US" altLang="zh-CN" sz="2800" dirty="0"/>
              <a:t>  3.  (</a:t>
            </a:r>
            <a:r>
              <a:rPr lang="en-US" altLang="zh-CN" sz="2800" dirty="0">
                <a:latin typeface="宋体" panose="02010600030101010101" pitchFamily="2" charset="-122"/>
              </a:rPr>
              <a:t>×</a:t>
            </a:r>
            <a:r>
              <a:rPr lang="zh-CN" altLang="en-US" sz="2800" dirty="0"/>
              <a:t>，</a:t>
            </a:r>
            <a:r>
              <a:rPr lang="en-US" altLang="zh-CN" sz="2800" dirty="0"/>
              <a:t>t2</a:t>
            </a:r>
            <a:r>
              <a:rPr lang="zh-CN" altLang="en-US" sz="2800" dirty="0"/>
              <a:t>，</a:t>
            </a:r>
            <a:r>
              <a:rPr lang="en-US" altLang="zh-CN" sz="2800" dirty="0"/>
              <a:t>b</a:t>
            </a:r>
            <a:r>
              <a:rPr lang="zh-CN" altLang="en-US" sz="2800" dirty="0"/>
              <a:t>，</a:t>
            </a:r>
            <a:r>
              <a:rPr lang="en-US" altLang="zh-CN" sz="2800" dirty="0"/>
              <a:t>t3)          (</a:t>
            </a:r>
            <a:r>
              <a:rPr lang="en-US" altLang="zh-CN" sz="2800" dirty="0">
                <a:latin typeface="宋体" panose="02010600030101010101" pitchFamily="2" charset="-122"/>
              </a:rPr>
              <a:t>×</a:t>
            </a:r>
            <a:r>
              <a:rPr lang="zh-CN" altLang="en-US" sz="2800" dirty="0"/>
              <a:t>，</a:t>
            </a:r>
            <a:r>
              <a:rPr lang="en-US" altLang="zh-CN" sz="2800" dirty="0"/>
              <a:t>D</a:t>
            </a:r>
            <a:r>
              <a:rPr lang="zh-CN" altLang="en-US" sz="2800" dirty="0"/>
              <a:t>，</a:t>
            </a:r>
            <a:r>
              <a:rPr lang="en-US" altLang="zh-CN" sz="2800" dirty="0"/>
              <a:t>D</a:t>
            </a:r>
            <a:r>
              <a:rPr lang="zh-CN" altLang="en-US" sz="2800" dirty="0"/>
              <a:t>，</a:t>
            </a:r>
            <a:r>
              <a:rPr lang="en-US" altLang="zh-CN" sz="2800" dirty="0"/>
              <a:t>L)</a:t>
            </a:r>
            <a:endParaRPr lang="en-US" altLang="zh-CN" sz="2800" dirty="0"/>
          </a:p>
          <a:p>
            <a:pPr marL="1371600" lvl="4" indent="0">
              <a:lnSpc>
                <a:spcPct val="110000"/>
              </a:lnSpc>
              <a:buFontTx/>
              <a:buNone/>
            </a:pPr>
            <a:r>
              <a:rPr lang="en-US" altLang="zh-CN" sz="2800" dirty="0"/>
              <a:t>  4.  (:=</a:t>
            </a:r>
            <a:r>
              <a:rPr lang="zh-CN" altLang="en-US" sz="2800" dirty="0"/>
              <a:t>，</a:t>
            </a:r>
            <a:r>
              <a:rPr lang="en-US" altLang="zh-CN" sz="2800" dirty="0"/>
              <a:t>t3</a:t>
            </a:r>
            <a:r>
              <a:rPr lang="zh-CN" altLang="en-US" sz="2800" dirty="0"/>
              <a:t>，</a:t>
            </a:r>
            <a:r>
              <a:rPr lang="en-US" altLang="zh-CN" sz="2800" dirty="0"/>
              <a:t>x)                  (:=</a:t>
            </a:r>
            <a:r>
              <a:rPr lang="zh-CN" altLang="en-US" sz="2800" dirty="0"/>
              <a:t>，</a:t>
            </a:r>
            <a:r>
              <a:rPr lang="en-US" altLang="zh-CN" sz="2800" dirty="0"/>
              <a:t>D</a:t>
            </a:r>
            <a:r>
              <a:rPr lang="zh-CN" altLang="en-US" sz="2800" dirty="0"/>
              <a:t>，</a:t>
            </a:r>
            <a:r>
              <a:rPr lang="en-US" altLang="zh-CN" sz="2800" dirty="0"/>
              <a:t>D)</a:t>
            </a:r>
            <a:endParaRPr lang="zh-CN" altLang="en-US" sz="2800" dirty="0">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9" name="Rectangle 3"/>
          <p:cNvSpPr>
            <a:spLocks noChangeArrowheads="1"/>
          </p:cNvSpPr>
          <p:nvPr/>
        </p:nvSpPr>
        <p:spPr bwMode="auto">
          <a:xfrm>
            <a:off x="214282" y="567766"/>
            <a:ext cx="8715436" cy="2336165"/>
          </a:xfrm>
          <a:prstGeom prst="rect">
            <a:avLst/>
          </a:prstGeom>
          <a:noFill/>
          <a:ln w="9525">
            <a:noFill/>
            <a:miter lim="800000"/>
          </a:ln>
          <a:effectLst/>
        </p:spPr>
        <p:txBody>
          <a:bodyPr wrap="square">
            <a:spAutoFit/>
          </a:bodyPr>
          <a:lstStyle/>
          <a:p>
            <a:pPr marL="457200" indent="-457200" eaLnBrk="0" hangingPunct="0">
              <a:lnSpc>
                <a:spcPct val="110000"/>
              </a:lnSpc>
              <a:spcBef>
                <a:spcPct val="50000"/>
              </a:spcBef>
            </a:pPr>
            <a:r>
              <a:rPr lang="zh-CN" altLang="en-US" sz="2800" dirty="0">
                <a:solidFill>
                  <a:srgbClr val="FF0000"/>
                </a:solidFill>
              </a:rPr>
              <a:t>寄存器的状态表</a:t>
            </a:r>
            <a:endParaRPr lang="zh-CN" altLang="en-US" sz="2800" dirty="0">
              <a:solidFill>
                <a:srgbClr val="FF0000"/>
              </a:solidFill>
            </a:endParaRPr>
          </a:p>
          <a:p>
            <a:pPr marL="457200" indent="-457200" eaLnBrk="1" latinLnBrk="0" hangingPunct="1">
              <a:lnSpc>
                <a:spcPct val="130000"/>
              </a:lnSpc>
            </a:pPr>
            <a:r>
              <a:rPr lang="zh-CN" altLang="en-US" sz="2400" dirty="0">
                <a:latin typeface="宋体" panose="02010600030101010101" pitchFamily="2" charset="-122"/>
              </a:rPr>
              <a:t>    </a:t>
            </a:r>
            <a:r>
              <a:rPr lang="zh-CN" altLang="en-US" sz="2400" dirty="0">
                <a:solidFill>
                  <a:schemeClr val="tx1"/>
                </a:solidFill>
                <a:latin typeface="宋体" panose="02010600030101010101" pitchFamily="2" charset="-122"/>
              </a:rPr>
              <a:t>二元组</a:t>
            </a:r>
            <a:r>
              <a:rPr lang="en-US" altLang="zh-CN" sz="2400" dirty="0">
                <a:solidFill>
                  <a:schemeClr val="tx1"/>
                </a:solidFill>
                <a:latin typeface="宋体" panose="02010600030101010101" pitchFamily="2" charset="-122"/>
              </a:rPr>
              <a:t>(DL, SNS)</a:t>
            </a:r>
            <a:r>
              <a:rPr lang="zh-CN" altLang="en-US" sz="2400" dirty="0">
                <a:solidFill>
                  <a:schemeClr val="tx1"/>
                </a:solidFill>
                <a:latin typeface="宋体" panose="02010600030101010101" pitchFamily="2" charset="-122"/>
              </a:rPr>
              <a:t>表示</a:t>
            </a:r>
            <a:r>
              <a:rPr lang="zh-CN" altLang="en-US" sz="2400" dirty="0">
                <a:solidFill>
                  <a:srgbClr val="FF0000"/>
                </a:solidFill>
                <a:latin typeface="宋体" panose="02010600030101010101" pitchFamily="2" charset="-122"/>
              </a:rPr>
              <a:t>变量</a:t>
            </a:r>
            <a:r>
              <a:rPr lang="en-US" altLang="zh-CN" sz="2400" dirty="0">
                <a:solidFill>
                  <a:srgbClr val="FF0000"/>
                </a:solidFill>
                <a:latin typeface="宋体" panose="02010600030101010101" pitchFamily="2" charset="-122"/>
              </a:rPr>
              <a:t>A</a:t>
            </a:r>
            <a:r>
              <a:rPr lang="zh-CN" altLang="en-US" sz="2400" dirty="0">
                <a:solidFill>
                  <a:srgbClr val="FF0000"/>
                </a:solidFill>
                <a:latin typeface="宋体" panose="02010600030101010101" pitchFamily="2" charset="-122"/>
              </a:rPr>
              <a:t>的状态</a:t>
            </a:r>
            <a:r>
              <a:rPr lang="zh-CN" altLang="en-US" sz="2400" dirty="0">
                <a:latin typeface="宋体" panose="02010600030101010101" pitchFamily="2" charset="-122"/>
              </a:rPr>
              <a:t>：</a:t>
            </a:r>
            <a:endParaRPr lang="zh-CN" altLang="en-US" sz="2400" dirty="0">
              <a:latin typeface="宋体" panose="02010600030101010101" pitchFamily="2" charset="-122"/>
            </a:endParaRPr>
          </a:p>
          <a:p>
            <a:pPr marL="914400" lvl="1" indent="-457200">
              <a:lnSpc>
                <a:spcPct val="110000"/>
              </a:lnSpc>
              <a:spcBef>
                <a:spcPct val="20000"/>
              </a:spcBef>
              <a:buFont typeface="Wingdings" panose="05000000000000000000" pitchFamily="2" charset="2"/>
              <a:buChar char="q"/>
            </a:pPr>
            <a:r>
              <a:rPr lang="en-US" altLang="zh-CN" sz="2400" dirty="0">
                <a:solidFill>
                  <a:srgbClr val="FF0000"/>
                </a:solidFill>
                <a:latin typeface="宋体" panose="02010600030101010101" pitchFamily="2" charset="-122"/>
              </a:rPr>
              <a:t> SNS</a:t>
            </a:r>
            <a:r>
              <a:rPr lang="zh-CN" altLang="en-US" sz="2400" dirty="0">
                <a:latin typeface="宋体" panose="02010600030101010101" pitchFamily="2" charset="-122"/>
              </a:rPr>
              <a:t>：取</a:t>
            </a:r>
            <a:r>
              <a:rPr lang="en-US" altLang="zh-CN" sz="2400" dirty="0">
                <a:solidFill>
                  <a:srgbClr val="FF0000"/>
                </a:solidFill>
                <a:latin typeface="宋体" panose="02010600030101010101" pitchFamily="2" charset="-122"/>
              </a:rPr>
              <a:t>S</a:t>
            </a:r>
            <a:r>
              <a:rPr lang="zh-CN" altLang="en-US" sz="2400" dirty="0">
                <a:latin typeface="宋体" panose="02010600030101010101" pitchFamily="2" charset="-122"/>
              </a:rPr>
              <a:t>（</a:t>
            </a:r>
            <a:r>
              <a:rPr lang="en-US" altLang="zh-CN" sz="2400" dirty="0">
                <a:latin typeface="宋体" panose="02010600030101010101" pitchFamily="2" charset="-122"/>
              </a:rPr>
              <a:t>Store</a:t>
            </a:r>
            <a:r>
              <a:rPr lang="zh-CN" altLang="en-US" sz="2400" dirty="0">
                <a:latin typeface="宋体" panose="02010600030101010101" pitchFamily="2" charset="-122"/>
              </a:rPr>
              <a:t>）或 </a:t>
            </a:r>
            <a:r>
              <a:rPr lang="en-US" altLang="zh-CN" sz="2400" dirty="0">
                <a:solidFill>
                  <a:srgbClr val="FF0000"/>
                </a:solidFill>
                <a:latin typeface="宋体" panose="02010600030101010101" pitchFamily="2" charset="-122"/>
              </a:rPr>
              <a:t>NS</a:t>
            </a:r>
            <a:r>
              <a:rPr lang="zh-CN" altLang="en-US" sz="2400" dirty="0">
                <a:latin typeface="宋体" panose="02010600030101010101" pitchFamily="2" charset="-122"/>
              </a:rPr>
              <a:t>。如果存放</a:t>
            </a:r>
            <a:r>
              <a:rPr lang="en-US" altLang="zh-CN" sz="2400" dirty="0">
                <a:latin typeface="宋体" panose="02010600030101010101" pitchFamily="2" charset="-122"/>
              </a:rPr>
              <a:t>A</a:t>
            </a:r>
            <a:r>
              <a:rPr lang="zh-CN" altLang="en-US" sz="2400" dirty="0">
                <a:latin typeface="宋体" panose="02010600030101010101" pitchFamily="2" charset="-122"/>
              </a:rPr>
              <a:t>的寄存器要被剥夺，且</a:t>
            </a:r>
            <a:r>
              <a:rPr lang="en-US" altLang="zh-CN" sz="2400" dirty="0">
                <a:latin typeface="宋体" panose="02010600030101010101" pitchFamily="2" charset="-122"/>
              </a:rPr>
              <a:t>A</a:t>
            </a:r>
            <a:r>
              <a:rPr lang="zh-CN" altLang="en-US" sz="2400" dirty="0">
                <a:latin typeface="宋体" panose="02010600030101010101" pitchFamily="2" charset="-122"/>
              </a:rPr>
              <a:t>当前值要进行保存，则</a:t>
            </a:r>
            <a:r>
              <a:rPr lang="en-US" altLang="zh-CN" sz="2400" dirty="0">
                <a:latin typeface="宋体" panose="02010600030101010101" pitchFamily="2" charset="-122"/>
              </a:rPr>
              <a:t>A</a:t>
            </a:r>
            <a:r>
              <a:rPr lang="zh-CN" altLang="en-US" sz="2400" dirty="0">
                <a:latin typeface="宋体" panose="02010600030101010101" pitchFamily="2" charset="-122"/>
              </a:rPr>
              <a:t>的</a:t>
            </a:r>
            <a:r>
              <a:rPr lang="en-US" altLang="zh-CN" sz="2400" dirty="0">
                <a:latin typeface="宋体" panose="02010600030101010101" pitchFamily="2" charset="-122"/>
              </a:rPr>
              <a:t>SNS</a:t>
            </a:r>
            <a:r>
              <a:rPr lang="zh-CN" altLang="en-US" sz="2400" dirty="0">
                <a:latin typeface="宋体" panose="02010600030101010101" pitchFamily="2" charset="-122"/>
              </a:rPr>
              <a:t>值要取</a:t>
            </a:r>
            <a:r>
              <a:rPr lang="en-US" altLang="zh-CN" sz="2400" dirty="0">
                <a:latin typeface="宋体" panose="02010600030101010101" pitchFamily="2" charset="-122"/>
              </a:rPr>
              <a:t>S</a:t>
            </a:r>
            <a:r>
              <a:rPr lang="zh-CN" altLang="en-US" sz="2400" dirty="0">
                <a:latin typeface="宋体" panose="02010600030101010101" pitchFamily="2" charset="-122"/>
              </a:rPr>
              <a:t>，否则取</a:t>
            </a:r>
            <a:r>
              <a:rPr lang="en-US" altLang="zh-CN" sz="2400" dirty="0">
                <a:solidFill>
                  <a:srgbClr val="FF0000"/>
                </a:solidFill>
                <a:latin typeface="宋体" panose="02010600030101010101" pitchFamily="2" charset="-122"/>
              </a:rPr>
              <a:t>NS</a:t>
            </a:r>
            <a:r>
              <a:rPr lang="zh-CN" altLang="en-US" sz="2400" dirty="0">
                <a:latin typeface="宋体" panose="02010600030101010101" pitchFamily="2" charset="-122"/>
              </a:rPr>
              <a:t>。</a:t>
            </a:r>
            <a:r>
              <a:rPr lang="en-US" altLang="zh-CN" sz="2400" dirty="0">
                <a:latin typeface="宋体" panose="02010600030101010101" pitchFamily="2" charset="-122"/>
              </a:rPr>
              <a:t>SNS</a:t>
            </a:r>
            <a:r>
              <a:rPr lang="zh-CN" altLang="en-US" sz="2400" dirty="0">
                <a:latin typeface="宋体" panose="02010600030101010101" pitchFamily="2" charset="-122"/>
              </a:rPr>
              <a:t>值要在</a:t>
            </a:r>
            <a:r>
              <a:rPr lang="zh-CN" altLang="en-US" sz="2400" dirty="0">
                <a:solidFill>
                  <a:srgbClr val="FF0000"/>
                </a:solidFill>
                <a:latin typeface="宋体" panose="02010600030101010101" pitchFamily="2" charset="-122"/>
              </a:rPr>
              <a:t>目标代码</a:t>
            </a:r>
            <a:r>
              <a:rPr lang="zh-CN" altLang="en-US" sz="2400" dirty="0">
                <a:latin typeface="宋体" panose="02010600030101010101" pitchFamily="2" charset="-122"/>
              </a:rPr>
              <a:t>步骤确定。</a:t>
            </a:r>
            <a:endParaRPr lang="zh-CN" altLang="en-US" sz="2400" dirty="0">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3" name="Text Box 3"/>
          <p:cNvSpPr txBox="1">
            <a:spLocks noChangeArrowheads="1"/>
          </p:cNvSpPr>
          <p:nvPr/>
        </p:nvSpPr>
        <p:spPr bwMode="auto">
          <a:xfrm>
            <a:off x="457200" y="501677"/>
            <a:ext cx="8229600" cy="3641703"/>
          </a:xfrm>
          <a:prstGeom prst="rect">
            <a:avLst/>
          </a:prstGeom>
          <a:noFill/>
          <a:ln w="9525">
            <a:noFill/>
            <a:miter lim="800000"/>
          </a:ln>
          <a:effectLst/>
        </p:spPr>
        <p:txBody>
          <a:bodyPr>
            <a:spAutoFit/>
          </a:bodyPr>
          <a:lstStyle/>
          <a:p>
            <a:pPr>
              <a:lnSpc>
                <a:spcPct val="110000"/>
              </a:lnSpc>
              <a:spcBef>
                <a:spcPct val="50000"/>
              </a:spcBef>
            </a:pPr>
            <a:r>
              <a:rPr lang="en-US" altLang="zh-CN" sz="2400" dirty="0"/>
              <a:t>    </a:t>
            </a:r>
            <a:r>
              <a:rPr lang="zh-CN" altLang="en-US" sz="2400" dirty="0"/>
              <a:t>既然</a:t>
            </a:r>
            <a:r>
              <a:rPr lang="en-US" altLang="zh-CN" sz="2400" dirty="0">
                <a:solidFill>
                  <a:srgbClr val="FF0000"/>
                </a:solidFill>
              </a:rPr>
              <a:t>DL</a:t>
            </a:r>
            <a:r>
              <a:rPr lang="zh-CN" altLang="en-US" sz="2400" dirty="0">
                <a:solidFill>
                  <a:srgbClr val="FF0000"/>
                </a:solidFill>
              </a:rPr>
              <a:t>值</a:t>
            </a:r>
            <a:r>
              <a:rPr lang="zh-CN" altLang="en-US" sz="2400" dirty="0"/>
              <a:t>可从</a:t>
            </a:r>
            <a:r>
              <a:rPr lang="zh-CN" altLang="en-US" sz="2400" dirty="0">
                <a:solidFill>
                  <a:srgbClr val="FF0000"/>
                </a:solidFill>
              </a:rPr>
              <a:t>中间代码</a:t>
            </a:r>
            <a:r>
              <a:rPr lang="zh-CN" altLang="en-US" sz="2400" dirty="0"/>
              <a:t>精确求到，那么关键的是</a:t>
            </a:r>
            <a:r>
              <a:rPr lang="en-US" altLang="zh-CN" sz="2400" dirty="0"/>
              <a:t>SNS</a:t>
            </a:r>
            <a:r>
              <a:rPr lang="zh-CN" altLang="en-US" sz="2400" dirty="0"/>
              <a:t>值的确定问题。即：什么时候要把寄存器的值送回内存呢？我们有如下结论：</a:t>
            </a:r>
            <a:endParaRPr lang="zh-CN" altLang="en-US" sz="2400" dirty="0"/>
          </a:p>
          <a:p>
            <a:pPr lvl="1">
              <a:lnSpc>
                <a:spcPct val="110000"/>
              </a:lnSpc>
              <a:spcBef>
                <a:spcPct val="50000"/>
              </a:spcBef>
              <a:buFont typeface="Wingdings" panose="05000000000000000000" pitchFamily="2" charset="2"/>
              <a:buChar char="q"/>
            </a:pPr>
            <a:r>
              <a:rPr lang="zh-CN" altLang="en-US" sz="2400" dirty="0">
                <a:solidFill>
                  <a:srgbClr val="FF0000"/>
                </a:solidFill>
              </a:rPr>
              <a:t> 如果现行值已在内存中，则不需要回送</a:t>
            </a:r>
            <a:endParaRPr lang="zh-CN" altLang="en-US" sz="2400" dirty="0">
              <a:solidFill>
                <a:srgbClr val="FF0000"/>
              </a:solidFill>
            </a:endParaRPr>
          </a:p>
          <a:p>
            <a:pPr lvl="1">
              <a:lnSpc>
                <a:spcPct val="110000"/>
              </a:lnSpc>
              <a:spcBef>
                <a:spcPct val="10000"/>
              </a:spcBef>
              <a:buFont typeface="Wingdings" panose="05000000000000000000" pitchFamily="2" charset="2"/>
              <a:buChar char="q"/>
            </a:pPr>
            <a:r>
              <a:rPr lang="zh-CN" altLang="en-US" sz="2400" dirty="0">
                <a:solidFill>
                  <a:srgbClr val="FF0000"/>
                </a:solidFill>
              </a:rPr>
              <a:t> 现行值不在内存，但该现行值再没有下次的引用，则</a:t>
            </a:r>
            <a:endParaRPr lang="zh-CN" altLang="en-US" sz="2400" dirty="0">
              <a:solidFill>
                <a:srgbClr val="FF0000"/>
              </a:solidFill>
            </a:endParaRPr>
          </a:p>
          <a:p>
            <a:pPr lvl="1">
              <a:lnSpc>
                <a:spcPct val="110000"/>
              </a:lnSpc>
              <a:buFont typeface="Wingdings" panose="05000000000000000000" pitchFamily="2" charset="2"/>
              <a:buNone/>
            </a:pPr>
            <a:r>
              <a:rPr lang="zh-CN" altLang="en-US" sz="2400" dirty="0">
                <a:solidFill>
                  <a:srgbClr val="FF0000"/>
                </a:solidFill>
              </a:rPr>
              <a:t>    也不需要回送。</a:t>
            </a:r>
            <a:endParaRPr lang="zh-CN" altLang="en-US" sz="2400" dirty="0">
              <a:solidFill>
                <a:srgbClr val="FF0000"/>
              </a:solidFill>
            </a:endParaRPr>
          </a:p>
          <a:p>
            <a:pPr>
              <a:lnSpc>
                <a:spcPct val="110000"/>
              </a:lnSpc>
              <a:spcBef>
                <a:spcPct val="30000"/>
              </a:spcBef>
              <a:buFont typeface="Wingdings" panose="05000000000000000000" pitchFamily="2" charset="2"/>
              <a:buNone/>
            </a:pPr>
            <a:r>
              <a:rPr lang="zh-CN" altLang="en-US" sz="2400" dirty="0"/>
              <a:t>    其中第一条容易实现；而第二条中则如何确定一个基本块内变量值没有下次引用则是一个很复杂的问题。</a:t>
            </a:r>
            <a:endParaRPr lang="zh-CN" altLang="en-US" sz="2400" dirty="0"/>
          </a:p>
        </p:txBody>
      </p:sp>
      <p:sp>
        <p:nvSpPr>
          <p:cNvPr id="634884" name="Rectangle 4"/>
          <p:cNvSpPr>
            <a:spLocks noChangeArrowheads="1"/>
          </p:cNvSpPr>
          <p:nvPr/>
        </p:nvSpPr>
        <p:spPr bwMode="auto">
          <a:xfrm>
            <a:off x="609600" y="4191000"/>
            <a:ext cx="8248680" cy="1865126"/>
          </a:xfrm>
          <a:prstGeom prst="rect">
            <a:avLst/>
          </a:prstGeom>
          <a:noFill/>
          <a:ln w="9525">
            <a:noFill/>
            <a:miter lim="800000"/>
          </a:ln>
          <a:effectLst/>
        </p:spPr>
        <p:txBody>
          <a:bodyPr wrap="square">
            <a:spAutoFit/>
          </a:bodyPr>
          <a:lstStyle/>
          <a:p>
            <a:pPr>
              <a:lnSpc>
                <a:spcPct val="120000"/>
              </a:lnSpc>
            </a:pPr>
            <a:r>
              <a:rPr lang="en-US" altLang="zh-CN" sz="2400" dirty="0"/>
              <a:t>        </a:t>
            </a:r>
            <a:r>
              <a:rPr lang="zh-CN" altLang="en-US" sz="2400" dirty="0"/>
              <a:t>由以上描述可知，随着目标代码的执行，寄存器的状态随之改变。这种随目标代码的执行而改变寄存器状态的做法称为</a:t>
            </a:r>
            <a:r>
              <a:rPr lang="zh-CN" altLang="en-US" sz="2400" dirty="0">
                <a:solidFill>
                  <a:srgbClr val="FF0000"/>
                </a:solidFill>
              </a:rPr>
              <a:t>寄存器状态追踪法</a:t>
            </a:r>
            <a:r>
              <a:rPr lang="zh-CN" altLang="en-US" sz="2400" dirty="0"/>
              <a:t>。因此设计目标代码生成器的关键是建立好</a:t>
            </a:r>
            <a:r>
              <a:rPr lang="zh-CN" altLang="en-US" sz="2400" dirty="0">
                <a:solidFill>
                  <a:srgbClr val="FF0000"/>
                </a:solidFill>
              </a:rPr>
              <a:t>寄存器状态描述</a:t>
            </a:r>
            <a:r>
              <a:rPr lang="zh-CN" altLang="en-US" sz="2400" dirty="0"/>
              <a:t>及</a:t>
            </a:r>
            <a:r>
              <a:rPr lang="zh-CN" altLang="en-US" sz="2400" dirty="0">
                <a:solidFill>
                  <a:srgbClr val="FF0000"/>
                </a:solidFill>
              </a:rPr>
              <a:t>寄存器状态追踪</a:t>
            </a:r>
            <a:r>
              <a:rPr lang="zh-CN" altLang="en-US" sz="2400" dirty="0"/>
              <a:t>的形式系统。</a:t>
            </a:r>
            <a:endParaRPr lang="zh-CN" alt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4884"/>
                                        </p:tgtEl>
                                        <p:attrNameLst>
                                          <p:attrName>style.visibility</p:attrName>
                                        </p:attrNameLst>
                                      </p:cBhvr>
                                      <p:to>
                                        <p:strVal val="visible"/>
                                      </p:to>
                                    </p:set>
                                    <p:anim calcmode="lin" valueType="num">
                                      <p:cBhvr additive="base">
                                        <p:cTn id="7" dur="500" fill="hold"/>
                                        <p:tgtEl>
                                          <p:spTgt spid="634884"/>
                                        </p:tgtEl>
                                        <p:attrNameLst>
                                          <p:attrName>ppt_x</p:attrName>
                                        </p:attrNameLst>
                                      </p:cBhvr>
                                      <p:tavLst>
                                        <p:tav tm="0">
                                          <p:val>
                                            <p:strVal val="0-#ppt_w/2"/>
                                          </p:val>
                                        </p:tav>
                                        <p:tav tm="100000">
                                          <p:val>
                                            <p:strVal val="#ppt_x"/>
                                          </p:val>
                                        </p:tav>
                                      </p:tavLst>
                                    </p:anim>
                                    <p:anim calcmode="lin" valueType="num">
                                      <p:cBhvr additive="base">
                                        <p:cTn id="8" dur="500" fill="hold"/>
                                        <p:tgtEl>
                                          <p:spTgt spid="6348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884"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Rectangle 2"/>
          <p:cNvSpPr>
            <a:spLocks noChangeArrowheads="1"/>
          </p:cNvSpPr>
          <p:nvPr/>
        </p:nvSpPr>
        <p:spPr bwMode="auto">
          <a:xfrm>
            <a:off x="142844" y="304800"/>
            <a:ext cx="8786874" cy="5853525"/>
          </a:xfrm>
          <a:prstGeom prst="rect">
            <a:avLst/>
          </a:prstGeom>
          <a:noFill/>
          <a:ln w="9525">
            <a:noFill/>
            <a:miter lim="800000"/>
          </a:ln>
          <a:effectLst/>
        </p:spPr>
        <p:txBody>
          <a:bodyPr wrap="square">
            <a:spAutoFit/>
          </a:bodyPr>
          <a:lstStyle/>
          <a:p>
            <a:pPr marL="457200" indent="-457200" eaLnBrk="0" hangingPunct="0">
              <a:lnSpc>
                <a:spcPct val="110000"/>
              </a:lnSpc>
              <a:spcBef>
                <a:spcPct val="50000"/>
              </a:spcBef>
            </a:pPr>
            <a:r>
              <a:rPr lang="zh-CN" altLang="en-US" sz="2800" dirty="0">
                <a:solidFill>
                  <a:srgbClr val="FF0000"/>
                </a:solidFill>
              </a:rPr>
              <a:t>寄存器的使用准则</a:t>
            </a:r>
            <a:endParaRPr lang="zh-CN" altLang="en-US" sz="2800" dirty="0">
              <a:solidFill>
                <a:srgbClr val="FF0000"/>
              </a:solidFill>
            </a:endParaRPr>
          </a:p>
          <a:p>
            <a:pPr marL="914400" lvl="1" indent="-457200">
              <a:lnSpc>
                <a:spcPct val="110000"/>
              </a:lnSpc>
              <a:spcBef>
                <a:spcPct val="50000"/>
              </a:spcBef>
              <a:buFont typeface="Wingdings" panose="05000000000000000000" pitchFamily="2" charset="2"/>
              <a:buChar char="q"/>
            </a:pPr>
            <a:r>
              <a:rPr lang="zh-CN" altLang="en-US" sz="2400" dirty="0">
                <a:solidFill>
                  <a:srgbClr val="FF0000"/>
                </a:solidFill>
                <a:latin typeface="宋体" panose="02010600030101010101" pitchFamily="2" charset="-122"/>
              </a:rPr>
              <a:t>寄存器先行准则</a:t>
            </a:r>
            <a:r>
              <a:rPr lang="zh-CN" altLang="en-US" sz="2400" dirty="0">
                <a:latin typeface="宋体" panose="02010600030101010101" pitchFamily="2" charset="-122"/>
              </a:rPr>
              <a:t>：尽可能把变量的值驻留到</a:t>
            </a:r>
            <a:r>
              <a:rPr lang="zh-CN" altLang="en-US" sz="2400" dirty="0">
                <a:solidFill>
                  <a:srgbClr val="FF0000"/>
                </a:solidFill>
                <a:latin typeface="宋体" panose="02010600030101010101" pitchFamily="2" charset="-122"/>
              </a:rPr>
              <a:t>寄存器</a:t>
            </a:r>
            <a:r>
              <a:rPr lang="zh-CN" altLang="en-US" sz="2400" dirty="0">
                <a:latin typeface="宋体" panose="02010600030101010101" pitchFamily="2" charset="-122"/>
              </a:rPr>
              <a:t>中，尽可能用寄存器中的现行值，以减少访问内存的次数。例：</a:t>
            </a:r>
            <a:endParaRPr lang="zh-CN" altLang="en-US" sz="2400" dirty="0">
              <a:latin typeface="宋体" panose="02010600030101010101" pitchFamily="2" charset="-122"/>
            </a:endParaRPr>
          </a:p>
          <a:p>
            <a:pPr marL="1828800" lvl="3" indent="-457200">
              <a:lnSpc>
                <a:spcPct val="110000"/>
              </a:lnSpc>
              <a:buFont typeface="Wingdings" panose="05000000000000000000" pitchFamily="2" charset="2"/>
              <a:buAutoNum type="arabicPeriod"/>
            </a:pPr>
            <a:r>
              <a:rPr lang="en-US" altLang="zh-CN" dirty="0">
                <a:latin typeface="宋体" panose="02010600030101010101" pitchFamily="2" charset="-122"/>
              </a:rPr>
              <a:t>(:=, 10, X)</a:t>
            </a:r>
            <a:endParaRPr lang="en-US" altLang="zh-CN" dirty="0">
              <a:latin typeface="宋体" panose="02010600030101010101" pitchFamily="2" charset="-122"/>
            </a:endParaRPr>
          </a:p>
          <a:p>
            <a:pPr marL="1828800" lvl="3" indent="-457200">
              <a:lnSpc>
                <a:spcPct val="110000"/>
              </a:lnSpc>
              <a:buFont typeface="Wingdings" panose="05000000000000000000" pitchFamily="2" charset="2"/>
              <a:buAutoNum type="arabicPeriod"/>
            </a:pPr>
            <a:r>
              <a:rPr lang="en-US" altLang="zh-CN" dirty="0">
                <a:latin typeface="宋体" panose="02010600030101010101" pitchFamily="2" charset="-122"/>
              </a:rPr>
              <a:t>(×, X, X, t1)</a:t>
            </a:r>
            <a:endParaRPr lang="en-US" altLang="zh-CN" dirty="0">
              <a:latin typeface="宋体" panose="02010600030101010101" pitchFamily="2" charset="-122"/>
            </a:endParaRPr>
          </a:p>
          <a:p>
            <a:pPr marL="1828800" lvl="3" indent="-457200">
              <a:lnSpc>
                <a:spcPct val="110000"/>
              </a:lnSpc>
              <a:buFont typeface="Wingdings" panose="05000000000000000000" pitchFamily="2" charset="2"/>
              <a:buAutoNum type="arabicPeriod"/>
            </a:pPr>
            <a:r>
              <a:rPr lang="en-US" altLang="zh-CN" dirty="0">
                <a:latin typeface="宋体" panose="02010600030101010101" pitchFamily="2" charset="-122"/>
              </a:rPr>
              <a:t>(-, X, t1, t2)</a:t>
            </a:r>
            <a:endParaRPr lang="en-US" altLang="zh-CN" dirty="0">
              <a:latin typeface="宋体" panose="02010600030101010101" pitchFamily="2" charset="-122"/>
            </a:endParaRPr>
          </a:p>
          <a:p>
            <a:pPr marL="1828800" lvl="3" indent="-457200">
              <a:lnSpc>
                <a:spcPct val="110000"/>
              </a:lnSpc>
              <a:buFont typeface="Wingdings" panose="05000000000000000000" pitchFamily="2" charset="2"/>
              <a:buAutoNum type="arabicPeriod"/>
            </a:pPr>
            <a:r>
              <a:rPr lang="en-US" altLang="zh-CN" dirty="0">
                <a:latin typeface="宋体" panose="02010600030101010101" pitchFamily="2" charset="-122"/>
              </a:rPr>
              <a:t>(:=, t2, X)      </a:t>
            </a:r>
            <a:endParaRPr lang="en-US" altLang="zh-CN" dirty="0">
              <a:latin typeface="宋体" panose="02010600030101010101" pitchFamily="2" charset="-122"/>
            </a:endParaRPr>
          </a:p>
          <a:p>
            <a:pPr marL="914400" lvl="1" indent="-457200">
              <a:lnSpc>
                <a:spcPct val="110000"/>
              </a:lnSpc>
              <a:spcBef>
                <a:spcPct val="30000"/>
              </a:spcBef>
              <a:buFont typeface="Wingdings" panose="05000000000000000000" pitchFamily="2" charset="2"/>
              <a:buChar char="q"/>
            </a:pPr>
            <a:r>
              <a:rPr lang="zh-CN" altLang="en-US" sz="2400" dirty="0">
                <a:solidFill>
                  <a:srgbClr val="FF0000"/>
                </a:solidFill>
                <a:latin typeface="宋体" panose="02010600030101010101" pitchFamily="2" charset="-122"/>
              </a:rPr>
              <a:t>寄存器活跃准则</a:t>
            </a:r>
            <a:r>
              <a:rPr lang="zh-CN" altLang="en-US" sz="2400" dirty="0">
                <a:latin typeface="宋体" panose="02010600030101010101" pitchFamily="2" charset="-122"/>
              </a:rPr>
              <a:t>：至少有一个下次引用时，才分配寄存器。又假设有</a:t>
            </a:r>
            <a:r>
              <a:rPr lang="en-US" altLang="zh-CN" sz="2400" dirty="0">
                <a:latin typeface="宋体" panose="02010600030101010101" pitchFamily="2" charset="-122"/>
              </a:rPr>
              <a:t>(+</a:t>
            </a:r>
            <a:r>
              <a:rPr lang="zh-CN" altLang="en-US" sz="2400" dirty="0">
                <a:latin typeface="宋体" panose="02010600030101010101" pitchFamily="2" charset="-122"/>
              </a:rPr>
              <a:t>，</a:t>
            </a:r>
            <a:r>
              <a:rPr lang="en-US" altLang="zh-CN" sz="2400" dirty="0">
                <a:latin typeface="宋体" panose="02010600030101010101" pitchFamily="2" charset="-122"/>
              </a:rPr>
              <a:t>A</a:t>
            </a:r>
            <a:r>
              <a:rPr lang="zh-CN" altLang="en-US" sz="2400" dirty="0">
                <a:latin typeface="宋体" panose="02010600030101010101" pitchFamily="2" charset="-122"/>
              </a:rPr>
              <a:t>，</a:t>
            </a:r>
            <a:r>
              <a:rPr lang="en-US" altLang="zh-CN" sz="2400" dirty="0">
                <a:latin typeface="宋体" panose="02010600030101010101" pitchFamily="2" charset="-122"/>
              </a:rPr>
              <a:t>B</a:t>
            </a:r>
            <a:r>
              <a:rPr lang="zh-CN" altLang="en-US" sz="2400" dirty="0">
                <a:latin typeface="宋体" panose="02010600030101010101" pitchFamily="2" charset="-122"/>
              </a:rPr>
              <a:t>，</a:t>
            </a:r>
            <a:r>
              <a:rPr lang="en-US" altLang="zh-CN" sz="2400" dirty="0">
                <a:latin typeface="宋体" panose="02010600030101010101" pitchFamily="2" charset="-122"/>
              </a:rPr>
              <a:t>T)</a:t>
            </a:r>
            <a:r>
              <a:rPr lang="zh-CN" altLang="en-US" sz="2400" dirty="0">
                <a:latin typeface="宋体" panose="02010600030101010101" pitchFamily="2" charset="-122"/>
              </a:rPr>
              <a:t>，且</a:t>
            </a:r>
            <a:r>
              <a:rPr lang="en-US" altLang="zh-CN" sz="2400" dirty="0">
                <a:latin typeface="宋体" panose="02010600030101010101" pitchFamily="2" charset="-122"/>
              </a:rPr>
              <a:t>B</a:t>
            </a:r>
            <a:r>
              <a:rPr lang="zh-CN" altLang="en-US" sz="2400" dirty="0">
                <a:latin typeface="宋体" panose="02010600030101010101" pitchFamily="2" charset="-122"/>
              </a:rPr>
              <a:t>有下次引用，则产生指令：</a:t>
            </a:r>
            <a:endParaRPr lang="zh-CN" altLang="en-US" sz="2400" dirty="0">
              <a:latin typeface="宋体" panose="02010600030101010101" pitchFamily="2" charset="-122"/>
            </a:endParaRPr>
          </a:p>
          <a:p>
            <a:pPr marL="1828800" lvl="3" indent="-457200">
              <a:lnSpc>
                <a:spcPct val="110000"/>
              </a:lnSpc>
              <a:spcBef>
                <a:spcPct val="20000"/>
              </a:spcBef>
              <a:buFont typeface="Wingdings" panose="05000000000000000000" pitchFamily="2" charset="2"/>
              <a:buNone/>
            </a:pPr>
            <a:r>
              <a:rPr lang="en-US" altLang="zh-CN" dirty="0">
                <a:latin typeface="宋体" panose="02010600030101010101" pitchFamily="2" charset="-122"/>
              </a:rPr>
              <a:t>LD   R</a:t>
            </a:r>
            <a:r>
              <a:rPr lang="en-US" altLang="zh-CN" baseline="-25000" dirty="0">
                <a:latin typeface="宋体" panose="02010600030101010101" pitchFamily="2" charset="-122"/>
              </a:rPr>
              <a:t>T</a:t>
            </a:r>
            <a:r>
              <a:rPr lang="en-US" altLang="zh-CN" dirty="0">
                <a:latin typeface="宋体" panose="02010600030101010101" pitchFamily="2" charset="-122"/>
              </a:rPr>
              <a:t>, A </a:t>
            </a:r>
            <a:endParaRPr lang="en-US" altLang="zh-CN" dirty="0">
              <a:latin typeface="宋体" panose="02010600030101010101" pitchFamily="2" charset="-122"/>
            </a:endParaRPr>
          </a:p>
          <a:p>
            <a:pPr marL="1828800" lvl="3" indent="-457200">
              <a:lnSpc>
                <a:spcPct val="110000"/>
              </a:lnSpc>
              <a:spcBef>
                <a:spcPct val="20000"/>
              </a:spcBef>
              <a:buFont typeface="Wingdings" panose="05000000000000000000" pitchFamily="2" charset="2"/>
              <a:buNone/>
            </a:pPr>
            <a:r>
              <a:rPr lang="en-US" altLang="zh-CN" dirty="0">
                <a:latin typeface="宋体" panose="02010600030101010101" pitchFamily="2" charset="-122"/>
              </a:rPr>
              <a:t>LD   R</a:t>
            </a:r>
            <a:r>
              <a:rPr lang="en-US" altLang="zh-CN" baseline="-25000" dirty="0">
                <a:latin typeface="宋体" panose="02010600030101010101" pitchFamily="2" charset="-122"/>
              </a:rPr>
              <a:t>B</a:t>
            </a:r>
            <a:r>
              <a:rPr lang="en-US" altLang="zh-CN" dirty="0">
                <a:latin typeface="宋体" panose="02010600030101010101" pitchFamily="2" charset="-122"/>
              </a:rPr>
              <a:t>, B</a:t>
            </a:r>
            <a:endParaRPr lang="en-US" altLang="zh-CN" baseline="-25000" dirty="0">
              <a:latin typeface="宋体" panose="02010600030101010101" pitchFamily="2" charset="-122"/>
            </a:endParaRPr>
          </a:p>
          <a:p>
            <a:pPr marL="1828800" lvl="3" indent="-457200">
              <a:lnSpc>
                <a:spcPct val="110000"/>
              </a:lnSpc>
              <a:buFont typeface="Wingdings" panose="05000000000000000000" pitchFamily="2" charset="2"/>
              <a:buNone/>
            </a:pPr>
            <a:r>
              <a:rPr lang="en-US" altLang="zh-CN" dirty="0">
                <a:latin typeface="宋体" panose="02010600030101010101" pitchFamily="2" charset="-122"/>
              </a:rPr>
              <a:t>ADD  R</a:t>
            </a:r>
            <a:r>
              <a:rPr lang="en-US" altLang="zh-CN" baseline="-25000" dirty="0">
                <a:latin typeface="宋体" panose="02010600030101010101" pitchFamily="2" charset="-122"/>
              </a:rPr>
              <a:t>T</a:t>
            </a:r>
            <a:r>
              <a:rPr lang="en-US" altLang="zh-CN" dirty="0">
                <a:latin typeface="宋体" panose="02010600030101010101" pitchFamily="2" charset="-122"/>
              </a:rPr>
              <a:t>, R</a:t>
            </a:r>
            <a:r>
              <a:rPr lang="en-US" altLang="zh-CN" baseline="-25000" dirty="0">
                <a:latin typeface="宋体" panose="02010600030101010101" pitchFamily="2" charset="-122"/>
              </a:rPr>
              <a:t>B</a:t>
            </a:r>
            <a:endParaRPr lang="en-US" altLang="zh-CN" dirty="0">
              <a:latin typeface="宋体" panose="02010600030101010101" pitchFamily="2" charset="-122"/>
            </a:endParaRPr>
          </a:p>
          <a:p>
            <a:pPr marL="914400" lvl="1" indent="-457200">
              <a:lnSpc>
                <a:spcPct val="110000"/>
              </a:lnSpc>
              <a:spcBef>
                <a:spcPct val="30000"/>
              </a:spcBef>
              <a:buFont typeface="Wingdings" panose="05000000000000000000" pitchFamily="2" charset="2"/>
              <a:buChar char="q"/>
            </a:pPr>
            <a:r>
              <a:rPr lang="zh-CN" altLang="en-US" sz="2400" dirty="0">
                <a:solidFill>
                  <a:srgbClr val="FF0000"/>
                </a:solidFill>
                <a:latin typeface="宋体" panose="02010600030101010101" pitchFamily="2" charset="-122"/>
              </a:rPr>
              <a:t>寄存器多载准则</a:t>
            </a:r>
            <a:r>
              <a:rPr lang="zh-CN" altLang="en-US" sz="2400" dirty="0">
                <a:latin typeface="宋体" panose="02010600030101010101" pitchFamily="2" charset="-122"/>
              </a:rPr>
              <a:t>：在一个寄存器里存放多个变量的值。例如赋值语句 </a:t>
            </a:r>
            <a:r>
              <a:rPr lang="en-US" altLang="zh-CN" sz="2400" dirty="0">
                <a:latin typeface="宋体" panose="02010600030101010101" pitchFamily="2" charset="-122"/>
              </a:rPr>
              <a:t>Y:=X</a:t>
            </a:r>
            <a:r>
              <a:rPr lang="zh-CN" altLang="en-US" sz="2400" dirty="0">
                <a:latin typeface="宋体" panose="02010600030101010101" pitchFamily="2" charset="-122"/>
              </a:rPr>
              <a:t>，那么可让</a:t>
            </a:r>
            <a:r>
              <a:rPr lang="en-US" altLang="zh-CN" sz="2400" dirty="0">
                <a:latin typeface="宋体" panose="02010600030101010101" pitchFamily="2" charset="-122"/>
              </a:rPr>
              <a:t>Y</a:t>
            </a:r>
            <a:r>
              <a:rPr lang="zh-CN" altLang="en-US" sz="2400" dirty="0">
                <a:latin typeface="宋体" panose="02010600030101010101" pitchFamily="2" charset="-122"/>
              </a:rPr>
              <a:t>和</a:t>
            </a:r>
            <a:r>
              <a:rPr lang="en-US" altLang="zh-CN" sz="2400" dirty="0">
                <a:latin typeface="宋体" panose="02010600030101010101" pitchFamily="2" charset="-122"/>
              </a:rPr>
              <a:t>X</a:t>
            </a:r>
            <a:r>
              <a:rPr lang="zh-CN" altLang="en-US" sz="2400" dirty="0">
                <a:latin typeface="宋体" panose="02010600030101010101" pitchFamily="2" charset="-122"/>
              </a:rPr>
              <a:t>占同一寄存器。</a:t>
            </a:r>
            <a:endParaRPr lang="zh-CN" altLang="en-US" sz="2400" dirty="0">
              <a:latin typeface="宋体" panose="02010600030101010101" pitchFamily="2" charset="-122"/>
            </a:endParaRPr>
          </a:p>
        </p:txBody>
      </p:sp>
      <p:sp>
        <p:nvSpPr>
          <p:cNvPr id="632835" name="Text Box 3"/>
          <p:cNvSpPr txBox="1">
            <a:spLocks noChangeArrowheads="1"/>
          </p:cNvSpPr>
          <p:nvPr/>
        </p:nvSpPr>
        <p:spPr bwMode="auto">
          <a:xfrm>
            <a:off x="4929190" y="1831973"/>
            <a:ext cx="3886200" cy="1311275"/>
          </a:xfrm>
          <a:prstGeom prst="rect">
            <a:avLst/>
          </a:prstGeom>
          <a:noFill/>
          <a:ln w="9525">
            <a:noFill/>
            <a:miter lim="800000"/>
          </a:ln>
          <a:effectLst/>
        </p:spPr>
        <p:txBody>
          <a:bodyPr>
            <a:spAutoFit/>
          </a:bodyPr>
          <a:lstStyle/>
          <a:p>
            <a:pPr>
              <a:spcBef>
                <a:spcPct val="50000"/>
              </a:spcBef>
            </a:pPr>
            <a:r>
              <a:rPr lang="zh-CN" altLang="en-US" dirty="0"/>
              <a:t>执行 </a:t>
            </a:r>
            <a:r>
              <a:rPr lang="en-US" altLang="zh-CN" dirty="0"/>
              <a:t>1 </a:t>
            </a:r>
            <a:r>
              <a:rPr lang="zh-CN" altLang="en-US" dirty="0"/>
              <a:t>后，把</a:t>
            </a:r>
            <a:r>
              <a:rPr lang="en-US" altLang="zh-CN" dirty="0"/>
              <a:t>10</a:t>
            </a:r>
            <a:r>
              <a:rPr lang="zh-CN" altLang="en-US" dirty="0"/>
              <a:t>装入到某寄存器</a:t>
            </a:r>
            <a:r>
              <a:rPr lang="en-US" altLang="zh-CN" dirty="0"/>
              <a:t>R</a:t>
            </a:r>
            <a:r>
              <a:rPr lang="en-US" altLang="zh-CN" baseline="-25000" dirty="0"/>
              <a:t>X</a:t>
            </a:r>
            <a:r>
              <a:rPr lang="zh-CN" altLang="en-US" dirty="0"/>
              <a:t>中，而不送到</a:t>
            </a:r>
            <a:r>
              <a:rPr lang="en-US" altLang="zh-CN" dirty="0"/>
              <a:t>X</a:t>
            </a:r>
            <a:r>
              <a:rPr lang="zh-CN" altLang="en-US" dirty="0"/>
              <a:t>的内存单元，这样，</a:t>
            </a:r>
            <a:r>
              <a:rPr lang="en-US" altLang="zh-CN" dirty="0"/>
              <a:t>2</a:t>
            </a:r>
            <a:r>
              <a:rPr lang="zh-CN" altLang="en-US" dirty="0"/>
              <a:t>、</a:t>
            </a:r>
            <a:r>
              <a:rPr lang="en-US" altLang="zh-CN" dirty="0"/>
              <a:t>3</a:t>
            </a:r>
            <a:r>
              <a:rPr lang="zh-CN" altLang="en-US" dirty="0"/>
              <a:t>、</a:t>
            </a:r>
            <a:r>
              <a:rPr lang="en-US" altLang="zh-CN" dirty="0"/>
              <a:t>4</a:t>
            </a:r>
            <a:r>
              <a:rPr lang="zh-CN" altLang="en-US" dirty="0"/>
              <a:t>就可以直接从</a:t>
            </a:r>
            <a:r>
              <a:rPr lang="en-US" altLang="zh-CN" dirty="0"/>
              <a:t>R</a:t>
            </a:r>
            <a:r>
              <a:rPr lang="en-US" altLang="zh-CN" baseline="-25000" dirty="0"/>
              <a:t>X</a:t>
            </a:r>
            <a:r>
              <a:rPr lang="zh-CN" altLang="en-US" dirty="0"/>
              <a:t>中取值，而不用访问内存单元了</a:t>
            </a:r>
            <a:endParaRPr lang="zh-CN" altLang="en-US" dirty="0"/>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Rectangle 2"/>
          <p:cNvSpPr>
            <a:spLocks noChangeArrowheads="1"/>
          </p:cNvSpPr>
          <p:nvPr/>
        </p:nvSpPr>
        <p:spPr bwMode="auto">
          <a:xfrm>
            <a:off x="393700" y="381000"/>
            <a:ext cx="8445500" cy="4216539"/>
          </a:xfrm>
          <a:prstGeom prst="rect">
            <a:avLst/>
          </a:prstGeom>
          <a:noFill/>
          <a:ln w="9525">
            <a:noFill/>
            <a:miter lim="800000"/>
          </a:ln>
          <a:effectLst/>
        </p:spPr>
        <p:txBody>
          <a:bodyPr>
            <a:spAutoFit/>
          </a:bodyPr>
          <a:lstStyle/>
          <a:p>
            <a:pPr eaLnBrk="0" hangingPunct="0">
              <a:spcBef>
                <a:spcPct val="50000"/>
              </a:spcBef>
            </a:pPr>
            <a:r>
              <a:rPr lang="zh-CN" altLang="en-US" sz="2800" dirty="0">
                <a:solidFill>
                  <a:schemeClr val="tx2"/>
                </a:solidFill>
                <a:effectLst>
                  <a:outerShdw blurRad="38100" dist="38100" dir="2700000" algn="tl">
                    <a:srgbClr val="000000"/>
                  </a:outerShdw>
                </a:effectLst>
              </a:rPr>
              <a:t>（</a:t>
            </a:r>
            <a:r>
              <a:rPr lang="en-US" altLang="zh-CN" sz="2800" dirty="0">
                <a:solidFill>
                  <a:schemeClr val="tx2"/>
                </a:solidFill>
                <a:effectLst>
                  <a:outerShdw blurRad="38100" dist="38100" dir="2700000" algn="tl">
                    <a:srgbClr val="000000"/>
                  </a:outerShdw>
                </a:effectLst>
              </a:rPr>
              <a:t>3</a:t>
            </a:r>
            <a:r>
              <a:rPr lang="zh-CN" altLang="en-US" sz="2800" dirty="0">
                <a:solidFill>
                  <a:schemeClr val="tx2"/>
                </a:solidFill>
                <a:effectLst>
                  <a:outerShdw blurRad="38100" dist="38100" dir="2700000" algn="tl">
                    <a:srgbClr val="000000"/>
                  </a:outerShdw>
                </a:effectLst>
              </a:rPr>
              <a:t>）寄存器的分配</a:t>
            </a:r>
            <a:endParaRPr lang="zh-CN" altLang="en-US" sz="2800" dirty="0">
              <a:solidFill>
                <a:schemeClr val="tx2"/>
              </a:solidFill>
              <a:effectLst>
                <a:outerShdw blurRad="38100" dist="38100" dir="2700000" algn="tl">
                  <a:srgbClr val="000000"/>
                </a:outerShdw>
              </a:effectLst>
            </a:endParaRPr>
          </a:p>
          <a:p>
            <a:pPr lvl="1">
              <a:spcBef>
                <a:spcPct val="50000"/>
              </a:spcBef>
            </a:pPr>
            <a:r>
              <a:rPr lang="zh-CN" altLang="en-US" sz="2400" dirty="0">
                <a:latin typeface="宋体" panose="02010600030101010101" pitchFamily="2" charset="-122"/>
              </a:rPr>
              <a:t>    寄存器的分配原则是</a:t>
            </a:r>
            <a:r>
              <a:rPr lang="zh-CN" altLang="en-US" sz="2400" dirty="0">
                <a:solidFill>
                  <a:srgbClr val="FF0000"/>
                </a:solidFill>
                <a:latin typeface="宋体" panose="02010600030101010101" pitchFamily="2" charset="-122"/>
              </a:rPr>
              <a:t>选择代价最小的寄存器</a:t>
            </a:r>
            <a:r>
              <a:rPr lang="zh-CN" altLang="en-US" sz="2400" dirty="0">
                <a:latin typeface="宋体" panose="02010600030101010101" pitchFamily="2" charset="-122"/>
              </a:rPr>
              <a:t>，这就涉及到</a:t>
            </a:r>
            <a:r>
              <a:rPr lang="zh-CN" altLang="en-US" sz="2400" dirty="0">
                <a:solidFill>
                  <a:srgbClr val="FF0000"/>
                </a:solidFill>
                <a:latin typeface="宋体" panose="02010600030101010101" pitchFamily="2" charset="-122"/>
              </a:rPr>
              <a:t>代价</a:t>
            </a:r>
            <a:r>
              <a:rPr lang="zh-CN" altLang="en-US" sz="2400" dirty="0">
                <a:latin typeface="宋体" panose="02010600030101010101" pitchFamily="2" charset="-122"/>
              </a:rPr>
              <a:t>如何计算的问题。如果申请的是空闲寄存器，则</a:t>
            </a:r>
            <a:r>
              <a:rPr lang="zh-CN" altLang="en-US" sz="2400" dirty="0">
                <a:solidFill>
                  <a:srgbClr val="FF0000"/>
                </a:solidFill>
                <a:latin typeface="宋体" panose="02010600030101010101" pitchFamily="2" charset="-122"/>
              </a:rPr>
              <a:t>代价</a:t>
            </a:r>
            <a:r>
              <a:rPr lang="zh-CN" altLang="en-US" sz="2400" dirty="0">
                <a:latin typeface="宋体" panose="02010600030101010101" pitchFamily="2" charset="-122"/>
              </a:rPr>
              <a:t>自然</a:t>
            </a:r>
            <a:r>
              <a:rPr lang="zh-CN" altLang="en-US" sz="2400" dirty="0">
                <a:solidFill>
                  <a:srgbClr val="FF0000"/>
                </a:solidFill>
                <a:latin typeface="宋体" panose="02010600030101010101" pitchFamily="2" charset="-122"/>
              </a:rPr>
              <a:t>为</a:t>
            </a:r>
            <a:r>
              <a:rPr lang="en-US" altLang="zh-CN" sz="2400" dirty="0">
                <a:solidFill>
                  <a:srgbClr val="FF0000"/>
                </a:solidFill>
                <a:latin typeface="宋体" panose="02010600030101010101" pitchFamily="2" charset="-122"/>
              </a:rPr>
              <a:t>0</a:t>
            </a:r>
            <a:r>
              <a:rPr lang="zh-CN" altLang="en-US" sz="2400" dirty="0">
                <a:latin typeface="宋体" panose="02010600030101010101" pitchFamily="2" charset="-122"/>
              </a:rPr>
              <a:t>，否则属于剥夺性质。当一个寄存器</a:t>
            </a:r>
            <a:r>
              <a:rPr lang="en-US" altLang="zh-CN" sz="2400" dirty="0">
                <a:latin typeface="宋体" panose="02010600030101010101" pitchFamily="2" charset="-122"/>
              </a:rPr>
              <a:t>R</a:t>
            </a:r>
            <a:r>
              <a:rPr lang="zh-CN" altLang="en-US" sz="2400" dirty="0">
                <a:latin typeface="宋体" panose="02010600030101010101" pitchFamily="2" charset="-122"/>
              </a:rPr>
              <a:t>被剥夺时，</a:t>
            </a:r>
            <a:r>
              <a:rPr lang="en-US" altLang="zh-CN" sz="2400" dirty="0">
                <a:latin typeface="宋体" panose="02010600030101010101" pitchFamily="2" charset="-122"/>
              </a:rPr>
              <a:t>R</a:t>
            </a:r>
            <a:r>
              <a:rPr lang="zh-CN" altLang="en-US" sz="2400" dirty="0">
                <a:latin typeface="宋体" panose="02010600030101010101" pitchFamily="2" charset="-122"/>
              </a:rPr>
              <a:t>的一些占有变量的现行值可能不在内存中，而且以后可能引用，因此要产生一些回送现行值的</a:t>
            </a:r>
            <a:r>
              <a:rPr lang="en-US" altLang="zh-CN" sz="2400" dirty="0">
                <a:latin typeface="宋体" panose="02010600030101010101" pitchFamily="2" charset="-122"/>
              </a:rPr>
              <a:t>Store</a:t>
            </a:r>
            <a:r>
              <a:rPr lang="zh-CN" altLang="en-US" sz="2400" dirty="0">
                <a:latin typeface="宋体" panose="02010600030101010101" pitchFamily="2" charset="-122"/>
              </a:rPr>
              <a:t>指令（</a:t>
            </a:r>
            <a:r>
              <a:rPr lang="en-US" altLang="zh-CN" sz="2400" dirty="0">
                <a:latin typeface="宋体" panose="02010600030101010101" pitchFamily="2" charset="-122"/>
              </a:rPr>
              <a:t>ST</a:t>
            </a:r>
            <a:r>
              <a:rPr lang="zh-CN" altLang="en-US" sz="2400" dirty="0">
                <a:latin typeface="宋体" panose="02010600030101010101" pitchFamily="2" charset="-122"/>
              </a:rPr>
              <a:t>）和重新装入寄存器的</a:t>
            </a:r>
            <a:r>
              <a:rPr lang="en-US" altLang="zh-CN" sz="2400" dirty="0">
                <a:latin typeface="宋体" panose="02010600030101010101" pitchFamily="2" charset="-122"/>
              </a:rPr>
              <a:t>Load</a:t>
            </a:r>
            <a:r>
              <a:rPr lang="zh-CN" altLang="en-US" sz="2400" dirty="0">
                <a:latin typeface="宋体" panose="02010600030101010101" pitchFamily="2" charset="-122"/>
              </a:rPr>
              <a:t>指令（</a:t>
            </a:r>
            <a:r>
              <a:rPr lang="en-US" altLang="zh-CN" sz="2400" dirty="0">
                <a:latin typeface="宋体" panose="02010600030101010101" pitchFamily="2" charset="-122"/>
              </a:rPr>
              <a:t>LD</a:t>
            </a:r>
            <a:r>
              <a:rPr lang="zh-CN" altLang="en-US" sz="2400" dirty="0">
                <a:latin typeface="宋体" panose="02010600030101010101" pitchFamily="2" charset="-122"/>
              </a:rPr>
              <a:t>）。则</a:t>
            </a:r>
            <a:r>
              <a:rPr lang="en-US" altLang="zh-CN" sz="2400" dirty="0">
                <a:latin typeface="宋体" panose="02010600030101010101" pitchFamily="2" charset="-122"/>
              </a:rPr>
              <a:t>R</a:t>
            </a:r>
            <a:r>
              <a:rPr lang="zh-CN" altLang="en-US" sz="2400" dirty="0">
                <a:latin typeface="宋体" panose="02010600030101010101" pitchFamily="2" charset="-122"/>
              </a:rPr>
              <a:t>的分配代价包括：</a:t>
            </a:r>
            <a:endParaRPr lang="zh-CN" altLang="en-US" sz="2400" dirty="0">
              <a:latin typeface="宋体" panose="02010600030101010101" pitchFamily="2" charset="-122"/>
            </a:endParaRPr>
          </a:p>
          <a:p>
            <a:pPr lvl="2">
              <a:spcBef>
                <a:spcPct val="50000"/>
              </a:spcBef>
              <a:buFont typeface="Wingdings" panose="05000000000000000000" pitchFamily="2" charset="2"/>
              <a:buChar char="q"/>
            </a:pPr>
            <a:r>
              <a:rPr lang="zh-CN" altLang="en-US" sz="2400" dirty="0">
                <a:solidFill>
                  <a:srgbClr val="FF0000"/>
                </a:solidFill>
                <a:latin typeface="宋体" panose="02010600030101010101" pitchFamily="2" charset="-122"/>
              </a:rPr>
              <a:t> 把寄存器中的现行值送回内存的</a:t>
            </a:r>
            <a:r>
              <a:rPr lang="en-US" altLang="zh-CN" sz="2400" dirty="0">
                <a:solidFill>
                  <a:srgbClr val="FF0000"/>
                </a:solidFill>
                <a:latin typeface="宋体" panose="02010600030101010101" pitchFamily="2" charset="-122"/>
              </a:rPr>
              <a:t>Store</a:t>
            </a:r>
            <a:r>
              <a:rPr lang="zh-CN" altLang="en-US" sz="2400" dirty="0">
                <a:solidFill>
                  <a:srgbClr val="FF0000"/>
                </a:solidFill>
                <a:latin typeface="宋体" panose="02010600030101010101" pitchFamily="2" charset="-122"/>
              </a:rPr>
              <a:t>指令的总代价</a:t>
            </a:r>
            <a:endParaRPr lang="zh-CN" altLang="en-US" sz="2400" dirty="0">
              <a:solidFill>
                <a:srgbClr val="FF0000"/>
              </a:solidFill>
              <a:latin typeface="宋体" panose="02010600030101010101" pitchFamily="2" charset="-122"/>
            </a:endParaRPr>
          </a:p>
          <a:p>
            <a:pPr lvl="2">
              <a:buFont typeface="Wingdings" panose="05000000000000000000" pitchFamily="2" charset="2"/>
              <a:buChar char="q"/>
            </a:pPr>
            <a:r>
              <a:rPr lang="zh-CN" altLang="en-US" sz="2400" dirty="0">
                <a:solidFill>
                  <a:srgbClr val="FF0000"/>
                </a:solidFill>
                <a:latin typeface="宋体" panose="02010600030101010101" pitchFamily="2" charset="-122"/>
              </a:rPr>
              <a:t> 把新变量的值装入寄存器的</a:t>
            </a:r>
            <a:r>
              <a:rPr lang="en-US" altLang="zh-CN" sz="2400" dirty="0">
                <a:solidFill>
                  <a:srgbClr val="FF0000"/>
                </a:solidFill>
                <a:latin typeface="宋体" panose="02010600030101010101" pitchFamily="2" charset="-122"/>
              </a:rPr>
              <a:t>Load</a:t>
            </a:r>
            <a:r>
              <a:rPr lang="zh-CN" altLang="en-US" sz="2400" dirty="0">
                <a:solidFill>
                  <a:srgbClr val="FF0000"/>
                </a:solidFill>
                <a:latin typeface="宋体" panose="02010600030101010101" pitchFamily="2" charset="-122"/>
              </a:rPr>
              <a:t>指令的总代价</a:t>
            </a:r>
            <a:endParaRPr lang="zh-CN" altLang="en-US" sz="2400" dirty="0">
              <a:solidFill>
                <a:srgbClr val="FF0000"/>
              </a:solidFill>
              <a:latin typeface="宋体" panose="02010600030101010101" pitchFamily="2" charset="-122"/>
            </a:endParaRPr>
          </a:p>
        </p:txBody>
      </p:sp>
      <p:sp>
        <p:nvSpPr>
          <p:cNvPr id="2" name="文本框 1"/>
          <p:cNvSpPr txBox="1"/>
          <p:nvPr/>
        </p:nvSpPr>
        <p:spPr>
          <a:xfrm>
            <a:off x="2357755" y="4587240"/>
            <a:ext cx="6250305" cy="2158365"/>
          </a:xfrm>
          <a:prstGeom prst="rect">
            <a:avLst/>
          </a:prstGeom>
          <a:noFill/>
        </p:spPr>
        <p:txBody>
          <a:bodyPr wrap="square" rtlCol="0" anchor="t">
            <a:spAutoFit/>
          </a:bodyPr>
          <a:p>
            <a:pPr indent="0" eaLnBrk="1" latinLnBrk="0" hangingPunct="1">
              <a:lnSpc>
                <a:spcPct val="120000"/>
              </a:lnSpc>
              <a:spcBef>
                <a:spcPts val="0"/>
              </a:spcBef>
            </a:pPr>
            <a:r>
              <a:rPr lang="zh-CN" altLang="en-US" sz="2800" dirty="0">
                <a:latin typeface="宋体" panose="02010600030101010101" pitchFamily="2" charset="-122"/>
                <a:sym typeface="+mn-ea"/>
              </a:rPr>
              <a:t>关于代价的定义：</a:t>
            </a:r>
            <a:endParaRPr lang="zh-CN" altLang="en-US" sz="2800" dirty="0">
              <a:latin typeface="宋体" panose="02010600030101010101" pitchFamily="2" charset="-122"/>
            </a:endParaRPr>
          </a:p>
          <a:p>
            <a:pPr lvl="1" indent="0" eaLnBrk="1" latinLnBrk="0" hangingPunct="1">
              <a:lnSpc>
                <a:spcPct val="120000"/>
              </a:lnSpc>
              <a:spcBef>
                <a:spcPts val="0"/>
              </a:spcBef>
              <a:buFont typeface="Wingdings" panose="05000000000000000000" pitchFamily="2" charset="2"/>
              <a:buChar char="v"/>
            </a:pPr>
            <a:r>
              <a:rPr lang="zh-CN" altLang="en-US" sz="2800" dirty="0">
                <a:solidFill>
                  <a:schemeClr val="hlink"/>
                </a:solidFill>
                <a:sym typeface="+mn-ea"/>
              </a:rPr>
              <a:t> </a:t>
            </a:r>
            <a:r>
              <a:rPr lang="zh-CN" altLang="en-US" sz="2800" dirty="0">
                <a:solidFill>
                  <a:srgbClr val="FF0000"/>
                </a:solidFill>
                <a:sym typeface="+mn-ea"/>
              </a:rPr>
              <a:t>访问寄存器的代价视为</a:t>
            </a:r>
            <a:r>
              <a:rPr lang="en-US" altLang="zh-CN" sz="2800" dirty="0">
                <a:solidFill>
                  <a:srgbClr val="FF0000"/>
                </a:solidFill>
                <a:sym typeface="+mn-ea"/>
              </a:rPr>
              <a:t>0</a:t>
            </a:r>
            <a:endParaRPr lang="en-US" altLang="zh-CN" sz="2800" dirty="0">
              <a:solidFill>
                <a:srgbClr val="FF0000"/>
              </a:solidFill>
            </a:endParaRPr>
          </a:p>
          <a:p>
            <a:pPr lvl="1" indent="0" eaLnBrk="1" latinLnBrk="0" hangingPunct="1">
              <a:lnSpc>
                <a:spcPct val="120000"/>
              </a:lnSpc>
              <a:spcBef>
                <a:spcPts val="0"/>
              </a:spcBef>
              <a:buFont typeface="Wingdings" panose="05000000000000000000" pitchFamily="2" charset="2"/>
              <a:buChar char="v"/>
            </a:pPr>
            <a:r>
              <a:rPr lang="en-US" altLang="zh-CN" sz="2800" dirty="0">
                <a:solidFill>
                  <a:schemeClr val="hlink"/>
                </a:solidFill>
                <a:sym typeface="+mn-ea"/>
              </a:rPr>
              <a:t> </a:t>
            </a:r>
            <a:r>
              <a:rPr lang="zh-CN" altLang="en-US" sz="2800" dirty="0">
                <a:solidFill>
                  <a:srgbClr val="FF0000"/>
                </a:solidFill>
                <a:sym typeface="+mn-ea"/>
              </a:rPr>
              <a:t>访问内存的代价视为</a:t>
            </a:r>
            <a:r>
              <a:rPr lang="en-US" altLang="zh-CN" sz="2800" dirty="0">
                <a:solidFill>
                  <a:srgbClr val="FF0000"/>
                </a:solidFill>
                <a:sym typeface="+mn-ea"/>
              </a:rPr>
              <a:t>1</a:t>
            </a:r>
            <a:endParaRPr lang="en-US" altLang="zh-CN" sz="2800" dirty="0">
              <a:solidFill>
                <a:srgbClr val="FF0000"/>
              </a:solidFill>
            </a:endParaRPr>
          </a:p>
          <a:p>
            <a:pPr lvl="1" indent="0" eaLnBrk="1" latinLnBrk="0" hangingPunct="1">
              <a:lnSpc>
                <a:spcPct val="120000"/>
              </a:lnSpc>
              <a:spcBef>
                <a:spcPts val="0"/>
              </a:spcBef>
              <a:buFont typeface="Wingdings" panose="05000000000000000000" pitchFamily="2" charset="2"/>
              <a:buChar char="v"/>
            </a:pPr>
            <a:r>
              <a:rPr lang="en-US" altLang="zh-CN" sz="2800" dirty="0">
                <a:solidFill>
                  <a:schemeClr val="hlink"/>
                </a:solidFill>
                <a:sym typeface="+mn-ea"/>
              </a:rPr>
              <a:t> </a:t>
            </a:r>
            <a:r>
              <a:rPr lang="zh-CN" altLang="en-US" sz="2800" dirty="0">
                <a:solidFill>
                  <a:srgbClr val="FF0000"/>
                </a:solidFill>
                <a:sym typeface="+mn-ea"/>
              </a:rPr>
              <a:t>操作的执行代价视为</a:t>
            </a:r>
            <a:r>
              <a:rPr lang="en-US" altLang="zh-CN" sz="2800" dirty="0">
                <a:solidFill>
                  <a:srgbClr val="FF0000"/>
                </a:solidFill>
                <a:sym typeface="+mn-ea"/>
              </a:rPr>
              <a:t>1</a:t>
            </a:r>
            <a:endParaRPr lang="en-US" altLang="zh-CN" sz="2800" dirty="0">
              <a:solidFill>
                <a:srgbClr val="FF0000"/>
              </a:solidFill>
              <a:sym typeface="+mn-ea"/>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Rectangle 2"/>
          <p:cNvSpPr>
            <a:spLocks noChangeArrowheads="1"/>
          </p:cNvSpPr>
          <p:nvPr/>
        </p:nvSpPr>
        <p:spPr bwMode="auto">
          <a:xfrm>
            <a:off x="393700" y="381000"/>
            <a:ext cx="8445500" cy="2738120"/>
          </a:xfrm>
          <a:prstGeom prst="rect">
            <a:avLst/>
          </a:prstGeom>
          <a:noFill/>
          <a:ln w="9525">
            <a:noFill/>
            <a:miter lim="800000"/>
          </a:ln>
          <a:effectLst/>
        </p:spPr>
        <p:txBody>
          <a:bodyPr>
            <a:spAutoFit/>
          </a:bodyPr>
          <a:lstStyle/>
          <a:p>
            <a:pPr eaLnBrk="0" hangingPunct="0">
              <a:spcBef>
                <a:spcPct val="50000"/>
              </a:spcBef>
            </a:pPr>
            <a:r>
              <a:rPr lang="zh-CN" altLang="en-US" sz="2800" dirty="0">
                <a:solidFill>
                  <a:schemeClr val="tx2"/>
                </a:solidFill>
                <a:effectLst>
                  <a:outerShdw blurRad="38100" dist="38100" dir="2700000" algn="tl">
                    <a:srgbClr val="000000"/>
                  </a:outerShdw>
                </a:effectLst>
              </a:rPr>
              <a:t>（</a:t>
            </a:r>
            <a:r>
              <a:rPr lang="en-US" altLang="zh-CN" sz="2800" dirty="0">
                <a:solidFill>
                  <a:schemeClr val="tx2"/>
                </a:solidFill>
                <a:effectLst>
                  <a:outerShdw blurRad="38100" dist="38100" dir="2700000" algn="tl">
                    <a:srgbClr val="000000"/>
                  </a:outerShdw>
                </a:effectLst>
              </a:rPr>
              <a:t>3</a:t>
            </a:r>
            <a:r>
              <a:rPr lang="zh-CN" altLang="en-US" sz="2800" dirty="0">
                <a:solidFill>
                  <a:schemeClr val="tx2"/>
                </a:solidFill>
                <a:effectLst>
                  <a:outerShdw blurRad="38100" dist="38100" dir="2700000" algn="tl">
                    <a:srgbClr val="000000"/>
                  </a:outerShdw>
                </a:effectLst>
              </a:rPr>
              <a:t>）寄存器的分配</a:t>
            </a:r>
            <a:endParaRPr lang="zh-CN" altLang="en-US" sz="2800" dirty="0">
              <a:solidFill>
                <a:schemeClr val="tx2"/>
              </a:solidFill>
              <a:effectLst>
                <a:outerShdw blurRad="38100" dist="38100" dir="2700000" algn="tl">
                  <a:srgbClr val="000000"/>
                </a:outerShdw>
              </a:effectLst>
            </a:endParaRPr>
          </a:p>
          <a:p>
            <a:pPr lvl="1">
              <a:spcBef>
                <a:spcPct val="50000"/>
              </a:spcBef>
            </a:pPr>
            <a:r>
              <a:rPr lang="zh-CN" altLang="en-US" sz="2400" dirty="0">
                <a:latin typeface="宋体" panose="02010600030101010101" pitchFamily="2" charset="-122"/>
              </a:rPr>
              <a:t>    空闲寄存器，则</a:t>
            </a:r>
            <a:r>
              <a:rPr lang="zh-CN" altLang="en-US" sz="2400" dirty="0">
                <a:solidFill>
                  <a:srgbClr val="FF0000"/>
                </a:solidFill>
                <a:latin typeface="宋体" panose="02010600030101010101" pitchFamily="2" charset="-122"/>
              </a:rPr>
              <a:t>代价为</a:t>
            </a:r>
            <a:r>
              <a:rPr lang="en-US" altLang="zh-CN" sz="2400" dirty="0">
                <a:solidFill>
                  <a:srgbClr val="FF0000"/>
                </a:solidFill>
                <a:latin typeface="宋体" panose="02010600030101010101" pitchFamily="2" charset="-122"/>
              </a:rPr>
              <a:t>0</a:t>
            </a:r>
            <a:r>
              <a:rPr lang="zh-CN" altLang="en-US" sz="2400" dirty="0">
                <a:latin typeface="宋体" panose="02010600030101010101" pitchFamily="2" charset="-122"/>
              </a:rPr>
              <a:t>。当一个寄存器</a:t>
            </a:r>
            <a:r>
              <a:rPr lang="en-US" altLang="zh-CN" sz="2400" dirty="0">
                <a:latin typeface="宋体" panose="02010600030101010101" pitchFamily="2" charset="-122"/>
              </a:rPr>
              <a:t>R</a:t>
            </a:r>
            <a:r>
              <a:rPr lang="zh-CN" altLang="en-US" sz="2400" dirty="0">
                <a:latin typeface="宋体" panose="02010600030101010101" pitchFamily="2" charset="-122"/>
              </a:rPr>
              <a:t>被剥夺时，回送现行值的</a:t>
            </a:r>
            <a:r>
              <a:rPr lang="en-US" altLang="zh-CN" sz="2400" dirty="0">
                <a:latin typeface="宋体" panose="02010600030101010101" pitchFamily="2" charset="-122"/>
              </a:rPr>
              <a:t>Store</a:t>
            </a:r>
            <a:r>
              <a:rPr lang="zh-CN" altLang="en-US" sz="2400" dirty="0">
                <a:latin typeface="宋体" panose="02010600030101010101" pitchFamily="2" charset="-122"/>
              </a:rPr>
              <a:t>指令（</a:t>
            </a:r>
            <a:r>
              <a:rPr lang="en-US" altLang="zh-CN" sz="2400" dirty="0">
                <a:latin typeface="宋体" panose="02010600030101010101" pitchFamily="2" charset="-122"/>
              </a:rPr>
              <a:t>ST</a:t>
            </a:r>
            <a:r>
              <a:rPr lang="zh-CN" altLang="en-US" sz="2400" dirty="0">
                <a:latin typeface="宋体" panose="02010600030101010101" pitchFamily="2" charset="-122"/>
              </a:rPr>
              <a:t>）和重新装入寄存器的</a:t>
            </a:r>
            <a:r>
              <a:rPr lang="en-US" altLang="zh-CN" sz="2400" dirty="0">
                <a:latin typeface="宋体" panose="02010600030101010101" pitchFamily="2" charset="-122"/>
              </a:rPr>
              <a:t>Load</a:t>
            </a:r>
            <a:r>
              <a:rPr lang="zh-CN" altLang="en-US" sz="2400" dirty="0">
                <a:latin typeface="宋体" panose="02010600030101010101" pitchFamily="2" charset="-122"/>
              </a:rPr>
              <a:t>指令（</a:t>
            </a:r>
            <a:r>
              <a:rPr lang="en-US" altLang="zh-CN" sz="2400" dirty="0">
                <a:latin typeface="宋体" panose="02010600030101010101" pitchFamily="2" charset="-122"/>
              </a:rPr>
              <a:t>LD</a:t>
            </a:r>
            <a:r>
              <a:rPr lang="zh-CN" altLang="en-US" sz="2400" dirty="0">
                <a:latin typeface="宋体" panose="02010600030101010101" pitchFamily="2" charset="-122"/>
              </a:rPr>
              <a:t>）。则</a:t>
            </a:r>
            <a:r>
              <a:rPr lang="en-US" altLang="zh-CN" sz="2400" dirty="0">
                <a:latin typeface="宋体" panose="02010600030101010101" pitchFamily="2" charset="-122"/>
              </a:rPr>
              <a:t>R</a:t>
            </a:r>
            <a:r>
              <a:rPr lang="zh-CN" altLang="en-US" sz="2400" dirty="0">
                <a:latin typeface="宋体" panose="02010600030101010101" pitchFamily="2" charset="-122"/>
              </a:rPr>
              <a:t>的分配代价包括：</a:t>
            </a:r>
            <a:endParaRPr lang="zh-CN" altLang="en-US" sz="2400" dirty="0">
              <a:latin typeface="宋体" panose="02010600030101010101" pitchFamily="2" charset="-122"/>
            </a:endParaRPr>
          </a:p>
          <a:p>
            <a:pPr lvl="2">
              <a:spcBef>
                <a:spcPct val="50000"/>
              </a:spcBef>
              <a:buFont typeface="Wingdings" panose="05000000000000000000" pitchFamily="2" charset="2"/>
              <a:buChar char="q"/>
            </a:pPr>
            <a:r>
              <a:rPr lang="zh-CN" altLang="en-US" sz="2400" dirty="0">
                <a:solidFill>
                  <a:srgbClr val="FF0000"/>
                </a:solidFill>
                <a:latin typeface="宋体" panose="02010600030101010101" pitchFamily="2" charset="-122"/>
              </a:rPr>
              <a:t> 把寄存器中的现行值送回内存的</a:t>
            </a:r>
            <a:r>
              <a:rPr lang="en-US" altLang="zh-CN" sz="2400" dirty="0">
                <a:solidFill>
                  <a:srgbClr val="FF0000"/>
                </a:solidFill>
                <a:latin typeface="宋体" panose="02010600030101010101" pitchFamily="2" charset="-122"/>
              </a:rPr>
              <a:t>Store</a:t>
            </a:r>
            <a:r>
              <a:rPr lang="zh-CN" altLang="en-US" sz="2400" dirty="0">
                <a:solidFill>
                  <a:srgbClr val="FF0000"/>
                </a:solidFill>
                <a:latin typeface="宋体" panose="02010600030101010101" pitchFamily="2" charset="-122"/>
              </a:rPr>
              <a:t>指令的总代价</a:t>
            </a:r>
            <a:endParaRPr lang="zh-CN" altLang="en-US" sz="2400" dirty="0">
              <a:solidFill>
                <a:srgbClr val="FF0000"/>
              </a:solidFill>
              <a:latin typeface="宋体" panose="02010600030101010101" pitchFamily="2" charset="-122"/>
            </a:endParaRPr>
          </a:p>
          <a:p>
            <a:pPr lvl="2">
              <a:buFont typeface="Wingdings" panose="05000000000000000000" pitchFamily="2" charset="2"/>
              <a:buChar char="q"/>
            </a:pPr>
            <a:r>
              <a:rPr lang="zh-CN" altLang="en-US" sz="2400" dirty="0">
                <a:solidFill>
                  <a:srgbClr val="FF0000"/>
                </a:solidFill>
                <a:latin typeface="宋体" panose="02010600030101010101" pitchFamily="2" charset="-122"/>
              </a:rPr>
              <a:t> 把新变量的值装入寄存器的</a:t>
            </a:r>
            <a:r>
              <a:rPr lang="en-US" altLang="zh-CN" sz="2400" dirty="0">
                <a:solidFill>
                  <a:srgbClr val="FF0000"/>
                </a:solidFill>
                <a:latin typeface="宋体" panose="02010600030101010101" pitchFamily="2" charset="-122"/>
              </a:rPr>
              <a:t>Load</a:t>
            </a:r>
            <a:r>
              <a:rPr lang="zh-CN" altLang="en-US" sz="2400" dirty="0">
                <a:solidFill>
                  <a:srgbClr val="FF0000"/>
                </a:solidFill>
                <a:latin typeface="宋体" panose="02010600030101010101" pitchFamily="2" charset="-122"/>
              </a:rPr>
              <a:t>指令的总代价</a:t>
            </a:r>
            <a:endParaRPr lang="zh-CN" altLang="en-US" sz="2400" dirty="0">
              <a:solidFill>
                <a:srgbClr val="FF0000"/>
              </a:solidFill>
              <a:latin typeface="宋体" panose="02010600030101010101" pitchFamily="2" charset="-122"/>
            </a:endParaRPr>
          </a:p>
        </p:txBody>
      </p:sp>
      <p:sp>
        <p:nvSpPr>
          <p:cNvPr id="635907" name="Text Box 3"/>
          <p:cNvSpPr txBox="1">
            <a:spLocks noChangeArrowheads="1"/>
          </p:cNvSpPr>
          <p:nvPr/>
        </p:nvSpPr>
        <p:spPr bwMode="auto">
          <a:xfrm>
            <a:off x="2915920" y="5013960"/>
            <a:ext cx="3514725" cy="1614805"/>
          </a:xfrm>
          <a:prstGeom prst="rect">
            <a:avLst/>
          </a:prstGeom>
          <a:noFill/>
          <a:ln w="12700" cmpd="sng">
            <a:solidFill>
              <a:srgbClr val="CC0066"/>
            </a:solidFill>
            <a:prstDash val="solid"/>
            <a:miter lim="800000"/>
          </a:ln>
          <a:effectLst/>
        </p:spPr>
        <p:txBody>
          <a:bodyPr wrap="square">
            <a:spAutoFit/>
          </a:bodyPr>
          <a:lstStyle/>
          <a:p>
            <a:pPr>
              <a:spcBef>
                <a:spcPct val="50000"/>
              </a:spcBef>
            </a:pPr>
            <a:r>
              <a:rPr lang="zh-CN" altLang="en-US" sz="1800" dirty="0">
                <a:latin typeface="宋体" panose="02010600030101010101" pitchFamily="2" charset="-122"/>
              </a:rPr>
              <a:t>关于代价的定义：</a:t>
            </a:r>
            <a:endParaRPr lang="zh-CN" altLang="en-US" sz="1800" dirty="0">
              <a:latin typeface="宋体" panose="02010600030101010101" pitchFamily="2" charset="-122"/>
            </a:endParaRPr>
          </a:p>
          <a:p>
            <a:pPr lvl="1">
              <a:spcBef>
                <a:spcPct val="50000"/>
              </a:spcBef>
              <a:buFont typeface="Wingdings" panose="05000000000000000000" pitchFamily="2" charset="2"/>
              <a:buChar char="v"/>
            </a:pPr>
            <a:r>
              <a:rPr lang="zh-CN" altLang="en-US" sz="1800" dirty="0">
                <a:solidFill>
                  <a:schemeClr val="hlink"/>
                </a:solidFill>
              </a:rPr>
              <a:t> </a:t>
            </a:r>
            <a:r>
              <a:rPr lang="zh-CN" altLang="en-US" sz="1800" dirty="0">
                <a:solidFill>
                  <a:srgbClr val="FF0000"/>
                </a:solidFill>
              </a:rPr>
              <a:t>访问寄存器的代价视为</a:t>
            </a:r>
            <a:r>
              <a:rPr lang="en-US" altLang="zh-CN" sz="1800" dirty="0">
                <a:solidFill>
                  <a:srgbClr val="FF0000"/>
                </a:solidFill>
              </a:rPr>
              <a:t>0</a:t>
            </a:r>
            <a:endParaRPr lang="en-US" altLang="zh-CN" sz="1800" dirty="0">
              <a:solidFill>
                <a:srgbClr val="FF0000"/>
              </a:solidFill>
            </a:endParaRPr>
          </a:p>
          <a:p>
            <a:pPr lvl="1">
              <a:spcBef>
                <a:spcPct val="50000"/>
              </a:spcBef>
              <a:buFont typeface="Wingdings" panose="05000000000000000000" pitchFamily="2" charset="2"/>
              <a:buChar char="v"/>
            </a:pPr>
            <a:r>
              <a:rPr lang="en-US" altLang="zh-CN" sz="1800" dirty="0">
                <a:solidFill>
                  <a:schemeClr val="hlink"/>
                </a:solidFill>
              </a:rPr>
              <a:t> </a:t>
            </a:r>
            <a:r>
              <a:rPr lang="zh-CN" altLang="en-US" sz="1800" dirty="0">
                <a:solidFill>
                  <a:srgbClr val="FF0000"/>
                </a:solidFill>
              </a:rPr>
              <a:t>访问内存的代价视为</a:t>
            </a:r>
            <a:r>
              <a:rPr lang="en-US" altLang="zh-CN" sz="1800" dirty="0">
                <a:solidFill>
                  <a:srgbClr val="FF0000"/>
                </a:solidFill>
              </a:rPr>
              <a:t>1</a:t>
            </a:r>
            <a:endParaRPr lang="en-US" altLang="zh-CN" sz="1800" dirty="0">
              <a:solidFill>
                <a:srgbClr val="FF0000"/>
              </a:solidFill>
            </a:endParaRPr>
          </a:p>
          <a:p>
            <a:pPr lvl="1">
              <a:spcBef>
                <a:spcPct val="50000"/>
              </a:spcBef>
              <a:buFont typeface="Wingdings" panose="05000000000000000000" pitchFamily="2" charset="2"/>
              <a:buChar char="v"/>
            </a:pPr>
            <a:r>
              <a:rPr lang="en-US" altLang="zh-CN" sz="1800" dirty="0">
                <a:solidFill>
                  <a:schemeClr val="hlink"/>
                </a:solidFill>
              </a:rPr>
              <a:t> </a:t>
            </a:r>
            <a:r>
              <a:rPr lang="zh-CN" altLang="en-US" sz="1800" dirty="0">
                <a:solidFill>
                  <a:srgbClr val="FF0000"/>
                </a:solidFill>
              </a:rPr>
              <a:t>操作的执行代价视为</a:t>
            </a:r>
            <a:r>
              <a:rPr lang="en-US" altLang="zh-CN" sz="1800" dirty="0">
                <a:solidFill>
                  <a:srgbClr val="FF0000"/>
                </a:solidFill>
              </a:rPr>
              <a:t>1</a:t>
            </a:r>
            <a:endParaRPr lang="en-US" altLang="zh-CN" sz="1800" dirty="0">
              <a:solidFill>
                <a:srgbClr val="FF0000"/>
              </a:solidFill>
            </a:endParaRPr>
          </a:p>
        </p:txBody>
      </p:sp>
      <p:sp>
        <p:nvSpPr>
          <p:cNvPr id="635908" name="Text Box 4"/>
          <p:cNvSpPr txBox="1">
            <a:spLocks noChangeArrowheads="1"/>
          </p:cNvSpPr>
          <p:nvPr/>
        </p:nvSpPr>
        <p:spPr bwMode="auto">
          <a:xfrm>
            <a:off x="2643505" y="3031583"/>
            <a:ext cx="4267200" cy="1845310"/>
          </a:xfrm>
          <a:prstGeom prst="rect">
            <a:avLst/>
          </a:prstGeom>
          <a:noFill/>
          <a:ln w="9525">
            <a:noFill/>
            <a:miter lim="800000"/>
          </a:ln>
          <a:effectLst/>
        </p:spPr>
        <p:txBody>
          <a:bodyPr>
            <a:spAutoFit/>
          </a:bodyPr>
          <a:lstStyle/>
          <a:p>
            <a:pPr marL="457200" indent="-457200">
              <a:lnSpc>
                <a:spcPct val="150000"/>
              </a:lnSpc>
              <a:spcBef>
                <a:spcPct val="50000"/>
              </a:spcBef>
            </a:pPr>
            <a:r>
              <a:rPr lang="zh-CN" altLang="en-US" dirty="0"/>
              <a:t>例如：</a:t>
            </a:r>
            <a:endParaRPr lang="zh-CN" altLang="en-US" dirty="0"/>
          </a:p>
          <a:p>
            <a:pPr marL="457200" indent="-457200" eaLnBrk="1" latinLnBrk="0" hangingPunct="1">
              <a:lnSpc>
                <a:spcPct val="120000"/>
              </a:lnSpc>
              <a:spcBef>
                <a:spcPts val="0"/>
              </a:spcBef>
            </a:pPr>
            <a:r>
              <a:rPr lang="en-US" altLang="zh-CN" dirty="0"/>
              <a:t>1. LD       A</a:t>
            </a:r>
            <a:r>
              <a:rPr lang="zh-CN" altLang="en-US" dirty="0"/>
              <a:t>，</a:t>
            </a:r>
            <a:r>
              <a:rPr lang="en-US" altLang="zh-CN" dirty="0" err="1"/>
              <a:t>Reg</a:t>
            </a:r>
            <a:r>
              <a:rPr lang="en-US" altLang="zh-CN" dirty="0"/>
              <a:t>              {Cost = 2}</a:t>
            </a:r>
            <a:endParaRPr lang="en-US" altLang="zh-CN" dirty="0"/>
          </a:p>
          <a:p>
            <a:pPr marL="457200" indent="-457200">
              <a:lnSpc>
                <a:spcPct val="150000"/>
              </a:lnSpc>
            </a:pPr>
            <a:r>
              <a:rPr lang="en-US" altLang="zh-CN" dirty="0"/>
              <a:t>2. ST       </a:t>
            </a:r>
            <a:r>
              <a:rPr lang="en-US" altLang="zh-CN" dirty="0" err="1"/>
              <a:t>Reg</a:t>
            </a:r>
            <a:r>
              <a:rPr lang="zh-CN" altLang="en-US" dirty="0"/>
              <a:t>，</a:t>
            </a:r>
            <a:r>
              <a:rPr lang="en-US" altLang="zh-CN" dirty="0"/>
              <a:t>Memory   {Cost = 2}</a:t>
            </a:r>
            <a:endParaRPr lang="en-US" altLang="zh-CN" dirty="0"/>
          </a:p>
          <a:p>
            <a:pPr marL="457200" indent="-457200">
              <a:lnSpc>
                <a:spcPct val="150000"/>
              </a:lnSpc>
            </a:pPr>
            <a:r>
              <a:rPr lang="en-US" altLang="zh-CN" dirty="0"/>
              <a:t>3. </a:t>
            </a:r>
            <a:r>
              <a:rPr lang="en-US" altLang="zh-CN" dirty="0" err="1"/>
              <a:t>Mult</a:t>
            </a:r>
            <a:r>
              <a:rPr lang="en-US" altLang="zh-CN" dirty="0"/>
              <a:t>   Reg1</a:t>
            </a:r>
            <a:r>
              <a:rPr lang="zh-CN" altLang="en-US" dirty="0"/>
              <a:t>，</a:t>
            </a:r>
            <a:r>
              <a:rPr lang="en-US" altLang="zh-CN" dirty="0"/>
              <a:t>Reg2       {Cost = 1}</a:t>
            </a:r>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5907"/>
                                        </p:tgtEl>
                                        <p:attrNameLst>
                                          <p:attrName>style.visibility</p:attrName>
                                        </p:attrNameLst>
                                      </p:cBhvr>
                                      <p:to>
                                        <p:strVal val="visible"/>
                                      </p:to>
                                    </p:set>
                                    <p:anim calcmode="lin" valueType="num">
                                      <p:cBhvr additive="base">
                                        <p:cTn id="7" dur="500" fill="hold"/>
                                        <p:tgtEl>
                                          <p:spTgt spid="635907"/>
                                        </p:tgtEl>
                                        <p:attrNameLst>
                                          <p:attrName>ppt_x</p:attrName>
                                        </p:attrNameLst>
                                      </p:cBhvr>
                                      <p:tavLst>
                                        <p:tav tm="0">
                                          <p:val>
                                            <p:strVal val="0-#ppt_w/2"/>
                                          </p:val>
                                        </p:tav>
                                        <p:tav tm="100000">
                                          <p:val>
                                            <p:strVal val="#ppt_x"/>
                                          </p:val>
                                        </p:tav>
                                      </p:tavLst>
                                    </p:anim>
                                    <p:anim calcmode="lin" valueType="num">
                                      <p:cBhvr additive="base">
                                        <p:cTn id="8" dur="500" fill="hold"/>
                                        <p:tgtEl>
                                          <p:spTgt spid="63590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35908"/>
                                        </p:tgtEl>
                                        <p:attrNameLst>
                                          <p:attrName>style.visibility</p:attrName>
                                        </p:attrNameLst>
                                      </p:cBhvr>
                                      <p:to>
                                        <p:strVal val="visible"/>
                                      </p:to>
                                    </p:set>
                                    <p:anim calcmode="lin" valueType="num">
                                      <p:cBhvr additive="base">
                                        <p:cTn id="12" dur="500" fill="hold"/>
                                        <p:tgtEl>
                                          <p:spTgt spid="635908"/>
                                        </p:tgtEl>
                                        <p:attrNameLst>
                                          <p:attrName>ppt_x</p:attrName>
                                        </p:attrNameLst>
                                      </p:cBhvr>
                                      <p:tavLst>
                                        <p:tav tm="0">
                                          <p:val>
                                            <p:strVal val="0-#ppt_w/2"/>
                                          </p:val>
                                        </p:tav>
                                        <p:tav tm="100000">
                                          <p:val>
                                            <p:strVal val="#ppt_x"/>
                                          </p:val>
                                        </p:tav>
                                      </p:tavLst>
                                    </p:anim>
                                    <p:anim calcmode="lin" valueType="num">
                                      <p:cBhvr additive="base">
                                        <p:cTn id="13" dur="500" fill="hold"/>
                                        <p:tgtEl>
                                          <p:spTgt spid="6359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7" grpId="0" bldLvl="0" animBg="1" autoUpdateAnimBg="0"/>
      <p:bldP spid="635908" grpId="0" bldLvl="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5906" name="Rectangle 2"/>
          <p:cNvSpPr>
            <a:spLocks noChangeArrowheads="1"/>
          </p:cNvSpPr>
          <p:nvPr>
            <p:custDataLst>
              <p:tags r:id="rId1"/>
            </p:custDataLst>
          </p:nvPr>
        </p:nvSpPr>
        <p:spPr bwMode="auto">
          <a:xfrm>
            <a:off x="393700" y="596265"/>
            <a:ext cx="8445500" cy="5367020"/>
          </a:xfrm>
          <a:prstGeom prst="rect">
            <a:avLst/>
          </a:prstGeom>
          <a:noFill/>
          <a:ln w="9525">
            <a:noFill/>
            <a:miter lim="800000"/>
          </a:ln>
          <a:effectLst/>
        </p:spPr>
        <p:txBody>
          <a:bodyPr>
            <a:spAutoFit/>
          </a:bodyPr>
          <a:p>
            <a:pPr marL="0" indent="0" eaLnBrk="0" latinLnBrk="0" hangingPunct="0">
              <a:lnSpc>
                <a:spcPct val="130000"/>
              </a:lnSpc>
              <a:spcBef>
                <a:spcPts val="0"/>
              </a:spcBef>
            </a:pPr>
            <a:r>
              <a:rPr lang="zh-CN" altLang="en-US" sz="2400" dirty="0">
                <a:solidFill>
                  <a:schemeClr val="tx1"/>
                </a:solidFill>
                <a:latin typeface="宋体" panose="02010600030101010101" pitchFamily="2" charset="-122"/>
              </a:rPr>
              <a:t>有</a:t>
            </a:r>
            <a:r>
              <a:rPr lang="en-US" altLang="zh-CN" sz="2400" dirty="0">
                <a:solidFill>
                  <a:schemeClr val="tx1"/>
                </a:solidFill>
                <a:latin typeface="宋体" panose="02010600030101010101" pitchFamily="2" charset="-122"/>
              </a:rPr>
              <a:t>n</a:t>
            </a:r>
            <a:r>
              <a:rPr lang="zh-CN" altLang="en-US" sz="2400" dirty="0">
                <a:solidFill>
                  <a:schemeClr val="tx1"/>
                </a:solidFill>
                <a:latin typeface="宋体" panose="02010600030101010101" pitchFamily="2" charset="-122"/>
              </a:rPr>
              <a:t>个可供使用的寄存器</a:t>
            </a:r>
            <a:r>
              <a:rPr lang="en-US" altLang="zh-CN" sz="2400" dirty="0">
                <a:solidFill>
                  <a:schemeClr val="tx1"/>
                </a:solidFill>
                <a:latin typeface="宋体" panose="02010600030101010101" pitchFamily="2" charset="-122"/>
              </a:rPr>
              <a:t>R1,R2</a:t>
            </a:r>
            <a:r>
              <a:rPr lang="zh-CN" altLang="en-US" sz="2400" dirty="0">
                <a:solidFill>
                  <a:schemeClr val="tx1"/>
                </a:solidFill>
                <a:latin typeface="宋体" panose="02010600030101010101" pitchFamily="2" charset="-122"/>
              </a:rPr>
              <a:t>，。。。</a:t>
            </a:r>
            <a:r>
              <a:rPr lang="en-US" altLang="zh-CN" sz="2400" dirty="0">
                <a:solidFill>
                  <a:schemeClr val="tx1"/>
                </a:solidFill>
                <a:latin typeface="宋体" panose="02010600030101010101" pitchFamily="2" charset="-122"/>
              </a:rPr>
              <a:t>Rn</a:t>
            </a:r>
            <a:r>
              <a:rPr lang="zh-CN" altLang="zh-CN" sz="2400" dirty="0">
                <a:solidFill>
                  <a:schemeClr val="tx1"/>
                </a:solidFill>
                <a:latin typeface="宋体" panose="02010600030101010101" pitchFamily="2" charset="-122"/>
              </a:rPr>
              <a:t>，</a:t>
            </a:r>
            <a:r>
              <a:rPr lang="zh-CN" altLang="en-US" sz="2400" dirty="0">
                <a:solidFill>
                  <a:schemeClr val="tx1"/>
                </a:solidFill>
                <a:latin typeface="宋体" panose="02010600030101010101" pitchFamily="2" charset="-122"/>
              </a:rPr>
              <a:t>在计算表达式时，某一时刻需要使用变量</a:t>
            </a:r>
            <a:r>
              <a:rPr lang="en-US" altLang="zh-CN" sz="2400" dirty="0">
                <a:solidFill>
                  <a:schemeClr val="tx1"/>
                </a:solidFill>
                <a:latin typeface="宋体" panose="02010600030101010101" pitchFamily="2" charset="-122"/>
              </a:rPr>
              <a:t>V</a:t>
            </a:r>
            <a:r>
              <a:rPr lang="zh-CN" altLang="en-US" sz="2400" dirty="0">
                <a:solidFill>
                  <a:schemeClr val="tx1"/>
                </a:solidFill>
                <a:latin typeface="宋体" panose="02010600030101010101" pitchFamily="2" charset="-122"/>
              </a:rPr>
              <a:t>的值，如何使所需的存取指令的条数最少？</a:t>
            </a:r>
            <a:endParaRPr lang="zh-CN" altLang="en-US" sz="2400" dirty="0">
              <a:solidFill>
                <a:schemeClr val="tx1"/>
              </a:solidFill>
              <a:latin typeface="宋体" panose="02010600030101010101" pitchFamily="2" charset="-122"/>
            </a:endParaRPr>
          </a:p>
          <a:p>
            <a:pPr marL="800100" lvl="1" indent="-342900" eaLnBrk="0" latinLnBrk="0" hangingPunct="0">
              <a:lnSpc>
                <a:spcPct val="130000"/>
              </a:lnSpc>
              <a:spcBef>
                <a:spcPts val="0"/>
              </a:spcBef>
              <a:buFont typeface="Wingdings" panose="05000000000000000000" charset="0"/>
              <a:buChar char="ü"/>
            </a:pPr>
            <a:r>
              <a:rPr lang="zh-CN" altLang="en-US" sz="2400" dirty="0">
                <a:solidFill>
                  <a:schemeClr val="tx1"/>
                </a:solidFill>
                <a:latin typeface="宋体" panose="02010600030101010101" pitchFamily="2" charset="-122"/>
              </a:rPr>
              <a:t>该值已经在某个寄存器</a:t>
            </a:r>
            <a:r>
              <a:rPr lang="en-US" altLang="zh-CN" sz="2400" dirty="0">
                <a:solidFill>
                  <a:schemeClr val="tx1"/>
                </a:solidFill>
                <a:latin typeface="宋体" panose="02010600030101010101" pitchFamily="2" charset="-122"/>
              </a:rPr>
              <a:t>Ri</a:t>
            </a:r>
            <a:r>
              <a:rPr lang="zh-CN" altLang="en-US" sz="2400" dirty="0">
                <a:solidFill>
                  <a:schemeClr val="tx1"/>
                </a:solidFill>
                <a:latin typeface="宋体" panose="02010600030101010101" pitchFamily="2" charset="-122"/>
              </a:rPr>
              <a:t>中：可直接计算，无需进行存取操作，选择的代价是</a:t>
            </a:r>
            <a:r>
              <a:rPr lang="en-US" altLang="zh-CN" sz="2400" dirty="0">
                <a:solidFill>
                  <a:schemeClr val="tx1"/>
                </a:solidFill>
                <a:latin typeface="宋体" panose="02010600030101010101" pitchFamily="2" charset="-122"/>
              </a:rPr>
              <a:t>0.</a:t>
            </a:r>
            <a:endParaRPr lang="en-US" altLang="zh-CN" sz="2400" dirty="0">
              <a:solidFill>
                <a:schemeClr val="tx1"/>
              </a:solidFill>
              <a:latin typeface="宋体" panose="02010600030101010101" pitchFamily="2" charset="-122"/>
            </a:endParaRPr>
          </a:p>
          <a:p>
            <a:pPr marL="800100" lvl="1" indent="-342900" eaLnBrk="0" latinLnBrk="0" hangingPunct="0">
              <a:lnSpc>
                <a:spcPct val="130000"/>
              </a:lnSpc>
              <a:spcBef>
                <a:spcPts val="0"/>
              </a:spcBef>
              <a:buFont typeface="Wingdings" panose="05000000000000000000" charset="0"/>
              <a:buChar char="ü"/>
            </a:pPr>
            <a:r>
              <a:rPr lang="en-US" altLang="zh-CN" sz="2400" dirty="0">
                <a:solidFill>
                  <a:schemeClr val="tx1"/>
                </a:solidFill>
                <a:latin typeface="宋体" panose="02010600030101010101" pitchFamily="2" charset="-122"/>
              </a:rPr>
              <a:t>V</a:t>
            </a:r>
            <a:r>
              <a:rPr lang="zh-CN" altLang="en-US" sz="2400" dirty="0">
                <a:solidFill>
                  <a:schemeClr val="tx1"/>
                </a:solidFill>
                <a:latin typeface="宋体" panose="02010600030101010101" pitchFamily="2" charset="-122"/>
              </a:rPr>
              <a:t>的值不在某个寄存器中，但此时还有可用的闲置寄存器：分配闲置的寄存器即可，代价为</a:t>
            </a:r>
            <a:r>
              <a:rPr lang="en-US" altLang="zh-CN" sz="2400" dirty="0">
                <a:solidFill>
                  <a:schemeClr val="tx1"/>
                </a:solidFill>
                <a:latin typeface="宋体" panose="02010600030101010101" pitchFamily="2" charset="-122"/>
              </a:rPr>
              <a:t>0.</a:t>
            </a:r>
            <a:endParaRPr lang="en-US" altLang="zh-CN" sz="2400" dirty="0">
              <a:solidFill>
                <a:schemeClr val="tx1"/>
              </a:solidFill>
              <a:latin typeface="宋体" panose="02010600030101010101" pitchFamily="2" charset="-122"/>
            </a:endParaRPr>
          </a:p>
          <a:p>
            <a:pPr marL="800100" lvl="1" indent="-342900" eaLnBrk="0" latinLnBrk="0" hangingPunct="0">
              <a:lnSpc>
                <a:spcPct val="130000"/>
              </a:lnSpc>
              <a:spcBef>
                <a:spcPts val="0"/>
              </a:spcBef>
              <a:buFont typeface="Wingdings" panose="05000000000000000000" charset="0"/>
              <a:buChar char="ü"/>
            </a:pPr>
            <a:r>
              <a:rPr lang="en-US" altLang="zh-CN" sz="2400" dirty="0">
                <a:solidFill>
                  <a:schemeClr val="tx1"/>
                </a:solidFill>
                <a:latin typeface="宋体" panose="02010600030101010101" pitchFamily="2" charset="-122"/>
              </a:rPr>
              <a:t>V</a:t>
            </a:r>
            <a:r>
              <a:rPr lang="zh-CN" altLang="en-US" sz="2400" dirty="0">
                <a:solidFill>
                  <a:schemeClr val="tx1"/>
                </a:solidFill>
                <a:latin typeface="宋体" panose="02010600030101010101" pitchFamily="2" charset="-122"/>
              </a:rPr>
              <a:t>的值不在某个寄存器中并且此时所有的寄存器都被占用：剥夺正在使用的寄存器，当一个寄存器</a:t>
            </a:r>
            <a:r>
              <a:rPr lang="en-US" altLang="zh-CN" sz="2400" dirty="0">
                <a:solidFill>
                  <a:schemeClr val="tx1"/>
                </a:solidFill>
                <a:latin typeface="宋体" panose="02010600030101010101" pitchFamily="2" charset="-122"/>
              </a:rPr>
              <a:t>R</a:t>
            </a:r>
            <a:r>
              <a:rPr lang="zh-CN" altLang="en-US" sz="2400" dirty="0">
                <a:solidFill>
                  <a:schemeClr val="tx1"/>
                </a:solidFill>
                <a:latin typeface="宋体" panose="02010600030101010101" pitchFamily="2" charset="-122"/>
              </a:rPr>
              <a:t>被剥夺时，其释放的代价是</a:t>
            </a:r>
            <a:r>
              <a:rPr lang="zh-CN" altLang="en-US" sz="2400" dirty="0">
                <a:solidFill>
                  <a:srgbClr val="FF0000"/>
                </a:solidFill>
                <a:latin typeface="宋体" panose="02010600030101010101" pitchFamily="2" charset="-122"/>
              </a:rPr>
              <a:t>由于释放</a:t>
            </a:r>
            <a:r>
              <a:rPr lang="en-US" altLang="zh-CN" sz="2400" dirty="0">
                <a:solidFill>
                  <a:srgbClr val="FF0000"/>
                </a:solidFill>
                <a:latin typeface="宋体" panose="02010600030101010101" pitchFamily="2" charset="-122"/>
              </a:rPr>
              <a:t>R</a:t>
            </a:r>
            <a:r>
              <a:rPr lang="zh-CN" altLang="en-US" sz="2400" dirty="0">
                <a:solidFill>
                  <a:srgbClr val="FF0000"/>
                </a:solidFill>
                <a:latin typeface="宋体" panose="02010600030101010101" pitchFamily="2" charset="-122"/>
              </a:rPr>
              <a:t>而引出的</a:t>
            </a:r>
            <a:r>
              <a:rPr lang="en-US" altLang="zh-CN" sz="2400" dirty="0">
                <a:solidFill>
                  <a:srgbClr val="FF0000"/>
                </a:solidFill>
                <a:latin typeface="宋体" panose="02010600030101010101" pitchFamily="2" charset="-122"/>
              </a:rPr>
              <a:t>Store</a:t>
            </a:r>
            <a:r>
              <a:rPr lang="zh-CN" altLang="en-US" sz="2400" dirty="0">
                <a:solidFill>
                  <a:srgbClr val="FF0000"/>
                </a:solidFill>
                <a:latin typeface="宋体" panose="02010600030101010101" pitchFamily="2" charset="-122"/>
              </a:rPr>
              <a:t>代价和</a:t>
            </a:r>
            <a:r>
              <a:rPr lang="en-US" altLang="zh-CN" sz="2400" dirty="0">
                <a:solidFill>
                  <a:srgbClr val="FF0000"/>
                </a:solidFill>
                <a:latin typeface="宋体" panose="02010600030101010101" pitchFamily="2" charset="-122"/>
              </a:rPr>
              <a:t>Load</a:t>
            </a:r>
            <a:r>
              <a:rPr lang="zh-CN" altLang="en-US" sz="2400" dirty="0">
                <a:solidFill>
                  <a:srgbClr val="FF0000"/>
                </a:solidFill>
                <a:latin typeface="宋体" panose="02010600030101010101" pitchFamily="2" charset="-122"/>
              </a:rPr>
              <a:t>代价总和</a:t>
            </a:r>
            <a:r>
              <a:rPr lang="zh-CN" altLang="en-US" sz="2400" dirty="0">
                <a:solidFill>
                  <a:schemeClr val="tx1"/>
                </a:solidFill>
                <a:latin typeface="宋体" panose="02010600030101010101" pitchFamily="2" charset="-122"/>
              </a:rPr>
              <a:t>。</a:t>
            </a:r>
            <a:endParaRPr lang="zh-CN" altLang="en-US" sz="2400" dirty="0">
              <a:solidFill>
                <a:schemeClr val="tx1"/>
              </a:solidFill>
              <a:latin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9762" name="Rectangle 2"/>
          <p:cNvSpPr>
            <a:spLocks noChangeArrowheads="1"/>
          </p:cNvSpPr>
          <p:nvPr/>
        </p:nvSpPr>
        <p:spPr bwMode="auto">
          <a:xfrm>
            <a:off x="214282" y="214290"/>
            <a:ext cx="8472518" cy="984885"/>
          </a:xfrm>
          <a:prstGeom prst="rect">
            <a:avLst/>
          </a:prstGeom>
          <a:noFill/>
          <a:ln w="9525">
            <a:noFill/>
            <a:miter lim="800000"/>
          </a:ln>
        </p:spPr>
        <p:txBody>
          <a:bodyPr wrap="square" lIns="0" tIns="0" rIns="0" bIns="0">
            <a:spAutoFit/>
          </a:bodyPr>
          <a:lstStyle/>
          <a:p>
            <a:r>
              <a:rPr lang="en-US" altLang="zh-CN" sz="2800" dirty="0">
                <a:latin typeface="宋体" panose="02010600030101010101" pitchFamily="2" charset="-122"/>
              </a:rPr>
              <a:t>9.4</a:t>
            </a:r>
            <a:r>
              <a:rPr lang="zh-CN" altLang="en-US" sz="2800" dirty="0">
                <a:latin typeface="宋体" panose="02010600030101010101" pitchFamily="2" charset="-122"/>
              </a:rPr>
              <a:t>、寄存器</a:t>
            </a:r>
            <a:endParaRPr lang="zh-CN" altLang="en-US" sz="2800" dirty="0">
              <a:latin typeface="宋体" panose="02010600030101010101" pitchFamily="2" charset="-122"/>
            </a:endParaRPr>
          </a:p>
          <a:p>
            <a:pPr eaLnBrk="0" hangingPunct="0">
              <a:spcBef>
                <a:spcPct val="50000"/>
              </a:spcBef>
            </a:pPr>
            <a:endParaRPr lang="zh-CN" altLang="en-US" sz="2400" dirty="0">
              <a:latin typeface="宋体" panose="02010600030101010101" pitchFamily="2" charset="-122"/>
            </a:endParaRPr>
          </a:p>
        </p:txBody>
      </p:sp>
      <p:sp>
        <p:nvSpPr>
          <p:cNvPr id="629763" name="Rectangle 3"/>
          <p:cNvSpPr>
            <a:spLocks noChangeArrowheads="1"/>
          </p:cNvSpPr>
          <p:nvPr/>
        </p:nvSpPr>
        <p:spPr bwMode="auto">
          <a:xfrm>
            <a:off x="393700" y="1163955"/>
            <a:ext cx="8613140" cy="5098415"/>
          </a:xfrm>
          <a:prstGeom prst="rect">
            <a:avLst/>
          </a:prstGeom>
          <a:noFill/>
          <a:ln w="9525">
            <a:noFill/>
            <a:miter lim="800000"/>
          </a:ln>
          <a:effectLst/>
        </p:spPr>
        <p:txBody>
          <a:bodyPr wrap="square">
            <a:noAutofit/>
          </a:bodyPr>
          <a:lstStyle/>
          <a:p>
            <a:pPr marL="0" indent="0" eaLnBrk="0" latinLnBrk="0" hangingPunct="0">
              <a:lnSpc>
                <a:spcPct val="130000"/>
              </a:lnSpc>
              <a:spcBef>
                <a:spcPts val="0"/>
              </a:spcBef>
            </a:pPr>
            <a:r>
              <a:rPr lang="zh-CN" altLang="zh-CN" sz="2800" dirty="0">
                <a:solidFill>
                  <a:srgbClr val="FF0000"/>
                </a:solidFill>
                <a:latin typeface="宋体" panose="02010600030101010101" pitchFamily="2" charset="-122"/>
              </a:rPr>
              <a:t>寄存器的分配原则</a:t>
            </a:r>
            <a:r>
              <a:rPr lang="zh-CN" altLang="zh-CN" sz="2800" dirty="0">
                <a:latin typeface="宋体" panose="02010600030101010101" pitchFamily="2" charset="-122"/>
              </a:rPr>
              <a:t>：</a:t>
            </a:r>
            <a:endParaRPr lang="zh-CN" altLang="zh-CN" sz="2800" dirty="0">
              <a:latin typeface="宋体" panose="02010600030101010101" pitchFamily="2" charset="-122"/>
            </a:endParaRPr>
          </a:p>
          <a:p>
            <a:pPr marL="0" indent="0" eaLnBrk="0" latinLnBrk="0" hangingPunct="0">
              <a:lnSpc>
                <a:spcPct val="130000"/>
              </a:lnSpc>
              <a:spcBef>
                <a:spcPts val="0"/>
              </a:spcBef>
            </a:pPr>
            <a:r>
              <a:rPr lang="zh-CN" altLang="zh-CN" sz="2800" dirty="0">
                <a:latin typeface="宋体" panose="02010600030101010101" pitchFamily="2" charset="-122"/>
              </a:rPr>
              <a:t>（</a:t>
            </a:r>
            <a:r>
              <a:rPr lang="en-US" altLang="zh-CN" sz="2800" dirty="0">
                <a:latin typeface="宋体" panose="02010600030101010101" pitchFamily="2" charset="-122"/>
              </a:rPr>
              <a:t>1</a:t>
            </a:r>
            <a:r>
              <a:rPr lang="zh-CN" altLang="en-US" sz="2800" dirty="0">
                <a:latin typeface="宋体" panose="02010600030101010101" pitchFamily="2" charset="-122"/>
              </a:rPr>
              <a:t>）尽可能让变量的值保留在寄存器中</a:t>
            </a:r>
            <a:endParaRPr lang="zh-CN" altLang="en-US" sz="2800" dirty="0">
              <a:latin typeface="宋体" panose="02010600030101010101" pitchFamily="2" charset="-122"/>
            </a:endParaRPr>
          </a:p>
          <a:p>
            <a:pPr marL="0" indent="0" eaLnBrk="0" latinLnBrk="0" hangingPunct="0">
              <a:lnSpc>
                <a:spcPct val="130000"/>
              </a:lnSpc>
              <a:spcBef>
                <a:spcPts val="0"/>
              </a:spcBef>
            </a:pPr>
            <a:r>
              <a:rPr lang="zh-CN" altLang="en-US" sz="2800" dirty="0">
                <a:latin typeface="宋体" panose="02010600030101010101" pitchFamily="2" charset="-122"/>
              </a:rPr>
              <a:t>（</a:t>
            </a:r>
            <a:r>
              <a:rPr lang="en-US" altLang="zh-CN" sz="2800" dirty="0">
                <a:latin typeface="宋体" panose="02010600030101010101" pitchFamily="2" charset="-122"/>
              </a:rPr>
              <a:t>2</a:t>
            </a:r>
            <a:r>
              <a:rPr lang="zh-CN" altLang="en-US" sz="2800" dirty="0">
                <a:latin typeface="宋体" panose="02010600030101010101" pitchFamily="2" charset="-122"/>
              </a:rPr>
              <a:t>）后续的目标代码尽可能引用变量在寄存器中的值</a:t>
            </a:r>
            <a:endParaRPr lang="zh-CN" altLang="en-US" sz="2800" dirty="0">
              <a:latin typeface="宋体" panose="02010600030101010101" pitchFamily="2" charset="-122"/>
            </a:endParaRPr>
          </a:p>
          <a:p>
            <a:pPr marL="0" indent="0" eaLnBrk="0" latinLnBrk="0" hangingPunct="0">
              <a:lnSpc>
                <a:spcPct val="130000"/>
              </a:lnSpc>
              <a:spcBef>
                <a:spcPts val="0"/>
              </a:spcBef>
            </a:pPr>
            <a:r>
              <a:rPr lang="zh-CN" altLang="en-US" sz="2800" dirty="0">
                <a:latin typeface="宋体" panose="02010600030101010101" pitchFamily="2" charset="-122"/>
              </a:rPr>
              <a:t>（</a:t>
            </a:r>
            <a:r>
              <a:rPr lang="en-US" altLang="zh-CN" sz="2800" dirty="0">
                <a:latin typeface="宋体" panose="02010600030101010101" pitchFamily="2" charset="-122"/>
              </a:rPr>
              <a:t>3</a:t>
            </a:r>
            <a:r>
              <a:rPr lang="zh-CN" altLang="en-US" sz="2800" dirty="0">
                <a:latin typeface="宋体" panose="02010600030101010101" pitchFamily="2" charset="-122"/>
              </a:rPr>
              <a:t>）对于一个在基本块的后边不再被引用的变量，其占用的寄存器应及早释放。</a:t>
            </a:r>
            <a:endParaRPr lang="zh-CN" altLang="en-US" sz="2800" dirty="0">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9763"/>
                                        </p:tgtEl>
                                        <p:attrNameLst>
                                          <p:attrName>style.visibility</p:attrName>
                                        </p:attrNameLst>
                                      </p:cBhvr>
                                      <p:to>
                                        <p:strVal val="visible"/>
                                      </p:to>
                                    </p:set>
                                    <p:anim calcmode="lin" valueType="num">
                                      <p:cBhvr additive="base">
                                        <p:cTn id="7" dur="500" fill="hold"/>
                                        <p:tgtEl>
                                          <p:spTgt spid="629763"/>
                                        </p:tgtEl>
                                        <p:attrNameLst>
                                          <p:attrName>ppt_x</p:attrName>
                                        </p:attrNameLst>
                                      </p:cBhvr>
                                      <p:tavLst>
                                        <p:tav tm="0">
                                          <p:val>
                                            <p:strVal val="0-#ppt_w/2"/>
                                          </p:val>
                                        </p:tav>
                                        <p:tav tm="100000">
                                          <p:val>
                                            <p:strVal val="#ppt_x"/>
                                          </p:val>
                                        </p:tav>
                                      </p:tavLst>
                                    </p:anim>
                                    <p:anim calcmode="lin" valueType="num">
                                      <p:cBhvr additive="base">
                                        <p:cTn id="8" dur="500" fill="hold"/>
                                        <p:tgtEl>
                                          <p:spTgt spid="6297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3" grpId="0" bldLvl="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0" name="Text Box 2"/>
          <p:cNvSpPr txBox="1">
            <a:spLocks noChangeArrowheads="1"/>
          </p:cNvSpPr>
          <p:nvPr/>
        </p:nvSpPr>
        <p:spPr bwMode="auto">
          <a:xfrm>
            <a:off x="381000" y="457200"/>
            <a:ext cx="8458200" cy="5724644"/>
          </a:xfrm>
          <a:prstGeom prst="rect">
            <a:avLst/>
          </a:prstGeom>
          <a:noFill/>
          <a:ln w="9525">
            <a:noFill/>
            <a:miter lim="800000"/>
          </a:ln>
          <a:effectLst/>
        </p:spPr>
        <p:txBody>
          <a:bodyPr>
            <a:spAutoFit/>
          </a:bodyPr>
          <a:lstStyle/>
          <a:p>
            <a:pPr>
              <a:spcBef>
                <a:spcPct val="50000"/>
              </a:spcBef>
            </a:pPr>
            <a:r>
              <a:rPr lang="zh-CN" altLang="en-US" sz="2400" dirty="0"/>
              <a:t>下面给出一个基于代价的</a:t>
            </a:r>
            <a:r>
              <a:rPr lang="zh-CN" altLang="en-US" sz="2400" dirty="0">
                <a:solidFill>
                  <a:srgbClr val="FF0000"/>
                </a:solidFill>
              </a:rPr>
              <a:t>寄存器分配算法</a:t>
            </a:r>
            <a:r>
              <a:rPr lang="zh-CN" altLang="en-US" sz="2400" dirty="0"/>
              <a:t>。设</a:t>
            </a:r>
            <a:r>
              <a:rPr lang="en-US" altLang="zh-CN" sz="2400" dirty="0" err="1"/>
              <a:t>Rset</a:t>
            </a:r>
            <a:r>
              <a:rPr lang="zh-CN" altLang="en-US" sz="2400" dirty="0"/>
              <a:t>为可用的寄存器集合，</a:t>
            </a:r>
            <a:r>
              <a:rPr lang="en-US" altLang="zh-CN" sz="2400" dirty="0"/>
              <a:t>Distant</a:t>
            </a:r>
            <a:r>
              <a:rPr lang="zh-CN" altLang="en-US" sz="2400" dirty="0"/>
              <a:t>（</a:t>
            </a:r>
            <a:r>
              <a:rPr lang="en-US" altLang="zh-CN" sz="2400" dirty="0" err="1"/>
              <a:t>Rset</a:t>
            </a:r>
            <a:r>
              <a:rPr lang="zh-CN" altLang="en-US" sz="2400" dirty="0"/>
              <a:t>）表示</a:t>
            </a:r>
            <a:r>
              <a:rPr lang="en-US" altLang="zh-CN" sz="2400" dirty="0" err="1"/>
              <a:t>Rset</a:t>
            </a:r>
            <a:r>
              <a:rPr lang="zh-CN" altLang="en-US" sz="2400" dirty="0"/>
              <a:t>中内容被下次引用最远的寄存器。则：</a:t>
            </a:r>
            <a:endParaRPr lang="zh-CN" altLang="en-US" sz="2400" dirty="0"/>
          </a:p>
          <a:p>
            <a:pPr lvl="1">
              <a:spcBef>
                <a:spcPct val="50000"/>
              </a:spcBef>
            </a:pPr>
            <a:r>
              <a:rPr lang="en-US" altLang="zh-CN" dirty="0"/>
              <a:t>Procedure  </a:t>
            </a:r>
            <a:r>
              <a:rPr lang="en-US" altLang="zh-CN" dirty="0" err="1"/>
              <a:t>GetReg</a:t>
            </a:r>
            <a:r>
              <a:rPr lang="en-US" altLang="zh-CN" dirty="0"/>
              <a:t>( R:RegAddr );</a:t>
            </a:r>
            <a:endParaRPr lang="en-US" altLang="zh-CN" dirty="0"/>
          </a:p>
          <a:p>
            <a:pPr lvl="1">
              <a:spcBef>
                <a:spcPct val="10000"/>
              </a:spcBef>
            </a:pPr>
            <a:r>
              <a:rPr lang="en-US" altLang="zh-CN" dirty="0"/>
              <a:t>begin   </a:t>
            </a:r>
            <a:endParaRPr lang="en-US" altLang="zh-CN" dirty="0"/>
          </a:p>
          <a:p>
            <a:pPr lvl="1">
              <a:spcBef>
                <a:spcPct val="10000"/>
              </a:spcBef>
            </a:pPr>
            <a:r>
              <a:rPr lang="en-US" altLang="zh-CN" dirty="0"/>
              <a:t>	if  (</a:t>
            </a:r>
            <a:r>
              <a:rPr lang="zh-CN" altLang="en-US" dirty="0"/>
              <a:t>存在</a:t>
            </a:r>
            <a:r>
              <a:rPr lang="en-US" altLang="zh-CN" dirty="0"/>
              <a:t>R</a:t>
            </a:r>
            <a:r>
              <a:rPr lang="en-US" altLang="zh-CN" baseline="-25000" dirty="0"/>
              <a:t>0</a:t>
            </a:r>
            <a:r>
              <a:rPr lang="zh-CN" altLang="en-US" dirty="0"/>
              <a:t>使得</a:t>
            </a:r>
            <a:r>
              <a:rPr lang="en-US" altLang="zh-CN" dirty="0" err="1"/>
              <a:t>FreeRegCost</a:t>
            </a:r>
            <a:r>
              <a:rPr lang="en-US" altLang="zh-CN" dirty="0"/>
              <a:t>(R</a:t>
            </a:r>
            <a:r>
              <a:rPr lang="en-US" altLang="zh-CN" baseline="-25000" dirty="0"/>
              <a:t>0</a:t>
            </a:r>
            <a:r>
              <a:rPr lang="en-US" altLang="zh-CN" dirty="0"/>
              <a:t>) = 0) then  R := R</a:t>
            </a:r>
            <a:r>
              <a:rPr lang="en-US" altLang="zh-CN" baseline="-25000" dirty="0"/>
              <a:t>0</a:t>
            </a:r>
            <a:r>
              <a:rPr lang="en-US" altLang="zh-CN" dirty="0"/>
              <a:t> </a:t>
            </a:r>
            <a:endParaRPr lang="en-US" altLang="zh-CN" dirty="0"/>
          </a:p>
          <a:p>
            <a:pPr lvl="1">
              <a:spcBef>
                <a:spcPct val="10000"/>
              </a:spcBef>
            </a:pPr>
            <a:r>
              <a:rPr lang="en-US" altLang="zh-CN" dirty="0"/>
              <a:t>	else   begin</a:t>
            </a:r>
            <a:endParaRPr lang="en-US" altLang="zh-CN" dirty="0"/>
          </a:p>
          <a:p>
            <a:pPr lvl="1">
              <a:spcBef>
                <a:spcPct val="10000"/>
              </a:spcBef>
            </a:pPr>
            <a:r>
              <a:rPr lang="en-US" altLang="zh-CN" dirty="0"/>
              <a:t>		C := 2;</a:t>
            </a:r>
            <a:endParaRPr lang="en-US" altLang="zh-CN" dirty="0"/>
          </a:p>
          <a:p>
            <a:pPr lvl="1">
              <a:spcBef>
                <a:spcPct val="10000"/>
              </a:spcBef>
            </a:pPr>
            <a:r>
              <a:rPr lang="en-US" altLang="zh-CN" dirty="0"/>
              <a:t>		while  true  do   begin  </a:t>
            </a:r>
            <a:endParaRPr lang="en-US" altLang="zh-CN" dirty="0"/>
          </a:p>
          <a:p>
            <a:pPr lvl="1">
              <a:spcBef>
                <a:spcPct val="10000"/>
              </a:spcBef>
            </a:pPr>
            <a:r>
              <a:rPr lang="en-US" altLang="zh-CN" dirty="0"/>
              <a:t>		      </a:t>
            </a:r>
            <a:r>
              <a:rPr lang="en-US" altLang="zh-CN" dirty="0" err="1"/>
              <a:t>Rset</a:t>
            </a:r>
            <a:r>
              <a:rPr lang="en-US" altLang="zh-CN" dirty="0"/>
              <a:t> := {R’ | </a:t>
            </a:r>
            <a:r>
              <a:rPr lang="en-US" altLang="zh-CN" dirty="0" err="1"/>
              <a:t>FreeRegCost</a:t>
            </a:r>
            <a:r>
              <a:rPr lang="en-US" altLang="zh-CN" dirty="0"/>
              <a:t>(R’) = C}</a:t>
            </a:r>
            <a:endParaRPr lang="en-US" altLang="zh-CN" dirty="0"/>
          </a:p>
          <a:p>
            <a:pPr lvl="1">
              <a:spcBef>
                <a:spcPct val="10000"/>
              </a:spcBef>
            </a:pPr>
            <a:r>
              <a:rPr lang="en-US" altLang="zh-CN" dirty="0"/>
              <a:t>		      if  </a:t>
            </a:r>
            <a:r>
              <a:rPr lang="en-US" altLang="zh-CN" dirty="0" err="1"/>
              <a:t>Rset</a:t>
            </a:r>
            <a:r>
              <a:rPr lang="en-US" altLang="zh-CN" dirty="0"/>
              <a:t> </a:t>
            </a:r>
            <a:r>
              <a:rPr lang="en-US" altLang="zh-CN" dirty="0">
                <a:latin typeface="宋体" panose="02010600030101010101" pitchFamily="2" charset="-122"/>
              </a:rPr>
              <a:t>≠</a:t>
            </a:r>
            <a:r>
              <a:rPr lang="en-US" altLang="zh-CN" dirty="0"/>
              <a:t> </a:t>
            </a:r>
            <a:r>
              <a:rPr lang="en-US" altLang="zh-CN" dirty="0">
                <a:latin typeface="宋体" panose="02010600030101010101" pitchFamily="2" charset="-122"/>
              </a:rPr>
              <a:t>Φ</a:t>
            </a:r>
            <a:r>
              <a:rPr lang="en-US" altLang="zh-CN" dirty="0"/>
              <a:t> then  begin  R := Distant(</a:t>
            </a:r>
            <a:r>
              <a:rPr lang="en-US" altLang="zh-CN" dirty="0" err="1"/>
              <a:t>Rset</a:t>
            </a:r>
            <a:r>
              <a:rPr lang="en-US" altLang="zh-CN" dirty="0"/>
              <a:t>);  Exit  end;</a:t>
            </a:r>
            <a:endParaRPr lang="en-US" altLang="zh-CN" dirty="0"/>
          </a:p>
          <a:p>
            <a:pPr lvl="1">
              <a:spcBef>
                <a:spcPct val="10000"/>
              </a:spcBef>
            </a:pPr>
            <a:r>
              <a:rPr lang="en-US" altLang="zh-CN" dirty="0"/>
              <a:t>		      C := C + 2;                                   </a:t>
            </a:r>
            <a:r>
              <a:rPr lang="en-US" altLang="zh-CN" dirty="0">
                <a:solidFill>
                  <a:srgbClr val="FF0000"/>
                </a:solidFill>
              </a:rPr>
              <a:t>//</a:t>
            </a:r>
            <a:r>
              <a:rPr lang="zh-CN" altLang="en-US" dirty="0">
                <a:solidFill>
                  <a:srgbClr val="FF0000"/>
                </a:solidFill>
              </a:rPr>
              <a:t>代价是</a:t>
            </a:r>
            <a:r>
              <a:rPr lang="en-US" altLang="zh-CN" dirty="0">
                <a:solidFill>
                  <a:srgbClr val="FF0000"/>
                </a:solidFill>
              </a:rPr>
              <a:t>2</a:t>
            </a:r>
            <a:r>
              <a:rPr lang="zh-CN" altLang="en-US" dirty="0">
                <a:solidFill>
                  <a:srgbClr val="FF0000"/>
                </a:solidFill>
              </a:rPr>
              <a:t>的倍数</a:t>
            </a:r>
            <a:endParaRPr lang="zh-CN" altLang="en-US" dirty="0">
              <a:solidFill>
                <a:srgbClr val="FF0000"/>
              </a:solidFill>
            </a:endParaRPr>
          </a:p>
          <a:p>
            <a:pPr lvl="1">
              <a:spcBef>
                <a:spcPct val="10000"/>
              </a:spcBef>
            </a:pPr>
            <a:r>
              <a:rPr lang="zh-CN" altLang="en-US" dirty="0"/>
              <a:t>		</a:t>
            </a:r>
            <a:r>
              <a:rPr lang="en-US" altLang="zh-CN" dirty="0"/>
              <a:t>end</a:t>
            </a:r>
            <a:endParaRPr lang="en-US" altLang="zh-CN" dirty="0"/>
          </a:p>
          <a:p>
            <a:pPr lvl="1">
              <a:spcBef>
                <a:spcPct val="10000"/>
              </a:spcBef>
            </a:pPr>
            <a:r>
              <a:rPr lang="en-US" altLang="zh-CN" dirty="0"/>
              <a:t>	         end</a:t>
            </a:r>
            <a:endParaRPr lang="en-US" altLang="zh-CN" dirty="0"/>
          </a:p>
          <a:p>
            <a:pPr lvl="1">
              <a:spcBef>
                <a:spcPct val="10000"/>
              </a:spcBef>
            </a:pPr>
            <a:r>
              <a:rPr lang="en-US" altLang="zh-CN" dirty="0"/>
              <a:t>	</a:t>
            </a:r>
            <a:r>
              <a:rPr lang="en-US" altLang="zh-CN" dirty="0" err="1"/>
              <a:t>FreeReg</a:t>
            </a:r>
            <a:r>
              <a:rPr lang="en-US" altLang="zh-CN" dirty="0"/>
              <a:t>(R)                 </a:t>
            </a:r>
            <a:r>
              <a:rPr lang="en-US" altLang="zh-CN" dirty="0">
                <a:solidFill>
                  <a:srgbClr val="FF0000"/>
                </a:solidFill>
              </a:rPr>
              <a:t>//</a:t>
            </a:r>
            <a:r>
              <a:rPr lang="zh-CN" altLang="en-US" dirty="0">
                <a:solidFill>
                  <a:srgbClr val="FF0000"/>
                </a:solidFill>
              </a:rPr>
              <a:t>产生</a:t>
            </a:r>
            <a:r>
              <a:rPr lang="en-US" altLang="zh-CN" dirty="0">
                <a:solidFill>
                  <a:srgbClr val="FF0000"/>
                </a:solidFill>
              </a:rPr>
              <a:t>Store</a:t>
            </a:r>
            <a:r>
              <a:rPr lang="zh-CN" altLang="en-US" dirty="0">
                <a:solidFill>
                  <a:srgbClr val="FF0000"/>
                </a:solidFill>
              </a:rPr>
              <a:t>指令，将占有</a:t>
            </a:r>
            <a:r>
              <a:rPr lang="en-US" altLang="zh-CN" dirty="0">
                <a:solidFill>
                  <a:srgbClr val="FF0000"/>
                </a:solidFill>
              </a:rPr>
              <a:t>R</a:t>
            </a:r>
            <a:r>
              <a:rPr lang="zh-CN" altLang="en-US" dirty="0">
                <a:solidFill>
                  <a:srgbClr val="FF0000"/>
                </a:solidFill>
              </a:rPr>
              <a:t>的变量送回内存</a:t>
            </a:r>
            <a:endParaRPr lang="zh-CN" altLang="en-US" dirty="0">
              <a:solidFill>
                <a:srgbClr val="FF0000"/>
              </a:solidFill>
            </a:endParaRPr>
          </a:p>
          <a:p>
            <a:pPr lvl="1">
              <a:spcBef>
                <a:spcPct val="10000"/>
              </a:spcBef>
            </a:pPr>
            <a:r>
              <a:rPr lang="en-US" altLang="zh-CN" dirty="0"/>
              <a:t>end  </a:t>
            </a:r>
            <a:r>
              <a:rPr lang="en-US" altLang="zh-CN" dirty="0" err="1"/>
              <a:t>GetReg</a:t>
            </a:r>
            <a:endParaRPr lang="en-US" altLang="zh-CN" dirty="0"/>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22595" name="Rectangle 3"/>
          <p:cNvSpPr>
            <a:spLocks noGrp="1" noChangeArrowheads="1"/>
          </p:cNvSpPr>
          <p:nvPr>
            <p:ph sz="half" idx="1"/>
          </p:nvPr>
        </p:nvSpPr>
        <p:spPr>
          <a:xfrm>
            <a:off x="2620010" y="4081780"/>
            <a:ext cx="2420620" cy="2040890"/>
          </a:xfrm>
          <a:ln>
            <a:solidFill>
              <a:srgbClr val="FF0000"/>
            </a:solidFill>
          </a:ln>
        </p:spPr>
        <p:txBody>
          <a:bodyPr>
            <a:normAutofit lnSpcReduction="10000"/>
          </a:bodyPr>
          <a:lstStyle/>
          <a:p>
            <a:pPr>
              <a:buFontTx/>
              <a:buNone/>
            </a:pPr>
            <a:r>
              <a:rPr lang="zh-CN" altLang="en-US" b="1" dirty="0">
                <a:solidFill>
                  <a:srgbClr val="FF0000"/>
                </a:solidFill>
              </a:rPr>
              <a:t>寄存器分配</a:t>
            </a:r>
            <a:endParaRPr lang="zh-CN" altLang="en-US" b="1" dirty="0">
              <a:solidFill>
                <a:srgbClr val="FF0000"/>
              </a:solidFill>
            </a:endParaRPr>
          </a:p>
          <a:p>
            <a:pPr>
              <a:buFontTx/>
              <a:buNone/>
            </a:pPr>
            <a:r>
              <a:rPr lang="zh-CN" altLang="en-US" sz="2000" b="1" dirty="0">
                <a:solidFill>
                  <a:schemeClr val="bg1"/>
                </a:solidFill>
              </a:rPr>
              <a:t>一般寄存器</a:t>
            </a:r>
            <a:endParaRPr lang="zh-CN" altLang="en-US" sz="2000" b="1" dirty="0">
              <a:solidFill>
                <a:schemeClr val="bg1"/>
              </a:solidFill>
            </a:endParaRPr>
          </a:p>
          <a:p>
            <a:pPr lvl="1">
              <a:spcBef>
                <a:spcPct val="0"/>
              </a:spcBef>
            </a:pPr>
            <a:r>
              <a:rPr lang="en-US" altLang="zh-CN" sz="2000" b="1" dirty="0">
                <a:solidFill>
                  <a:schemeClr val="bg1"/>
                </a:solidFill>
              </a:rPr>
              <a:t>R0  R1</a:t>
            </a:r>
            <a:endParaRPr lang="en-US" altLang="zh-CN" sz="2000" b="1" dirty="0">
              <a:solidFill>
                <a:schemeClr val="bg1"/>
              </a:solidFill>
            </a:endParaRPr>
          </a:p>
          <a:p>
            <a:pPr>
              <a:buFontTx/>
              <a:buNone/>
            </a:pPr>
            <a:r>
              <a:rPr lang="zh-CN" altLang="en-US" sz="2000" b="1" dirty="0">
                <a:solidFill>
                  <a:schemeClr val="bg1"/>
                </a:solidFill>
              </a:rPr>
              <a:t>专用寄存器</a:t>
            </a:r>
            <a:endParaRPr lang="zh-CN" altLang="en-US" sz="2000" b="1" dirty="0">
              <a:solidFill>
                <a:schemeClr val="bg1"/>
              </a:solidFill>
            </a:endParaRPr>
          </a:p>
          <a:p>
            <a:pPr lvl="1">
              <a:spcBef>
                <a:spcPct val="0"/>
              </a:spcBef>
            </a:pPr>
            <a:r>
              <a:rPr lang="en-US" altLang="zh-CN" sz="2000" b="1" dirty="0">
                <a:solidFill>
                  <a:schemeClr val="bg1"/>
                </a:solidFill>
              </a:rPr>
              <a:t>R2 (</a:t>
            </a:r>
            <a:r>
              <a:rPr lang="zh-CN" altLang="en-US" sz="2000" b="1" dirty="0">
                <a:solidFill>
                  <a:schemeClr val="bg1"/>
                </a:solidFill>
              </a:rPr>
              <a:t>循环变量</a:t>
            </a:r>
            <a:r>
              <a:rPr lang="en-US" altLang="zh-CN" sz="2000" b="1" dirty="0">
                <a:solidFill>
                  <a:schemeClr val="bg1"/>
                </a:solidFill>
              </a:rPr>
              <a:t>)</a:t>
            </a:r>
            <a:endParaRPr lang="en-US" altLang="zh-CN" sz="2000" b="1" dirty="0">
              <a:solidFill>
                <a:schemeClr val="bg1"/>
              </a:solidFill>
            </a:endParaRPr>
          </a:p>
          <a:p>
            <a:pPr lvl="1">
              <a:spcBef>
                <a:spcPct val="0"/>
              </a:spcBef>
            </a:pPr>
            <a:r>
              <a:rPr lang="en-US" altLang="zh-CN" sz="2000" b="1" dirty="0">
                <a:solidFill>
                  <a:schemeClr val="bg1"/>
                </a:solidFill>
              </a:rPr>
              <a:t>R3 (</a:t>
            </a:r>
            <a:r>
              <a:rPr lang="zh-CN" altLang="en-US" sz="2000" b="1" dirty="0">
                <a:solidFill>
                  <a:schemeClr val="bg1"/>
                </a:solidFill>
              </a:rPr>
              <a:t>存放</a:t>
            </a:r>
            <a:r>
              <a:rPr lang="en-US" altLang="zh-CN" sz="2000" b="1" dirty="0">
                <a:solidFill>
                  <a:schemeClr val="bg1"/>
                </a:solidFill>
              </a:rPr>
              <a:t>t1)</a:t>
            </a:r>
            <a:endParaRPr lang="en-US" altLang="zh-CN" sz="2000" b="1" dirty="0">
              <a:solidFill>
                <a:schemeClr val="bg1"/>
              </a:solidFill>
            </a:endParaRPr>
          </a:p>
        </p:txBody>
      </p:sp>
      <p:sp>
        <p:nvSpPr>
          <p:cNvPr id="622596" name="Rectangle 4"/>
          <p:cNvSpPr>
            <a:spLocks noGrp="1" noChangeArrowheads="1"/>
          </p:cNvSpPr>
          <p:nvPr>
            <p:ph sz="half" idx="2"/>
          </p:nvPr>
        </p:nvSpPr>
        <p:spPr>
          <a:xfrm>
            <a:off x="609600" y="457200"/>
            <a:ext cx="3962400" cy="3352800"/>
          </a:xfrm>
          <a:ln w="38100">
            <a:solidFill>
              <a:schemeClr val="bg1"/>
            </a:solidFill>
          </a:ln>
        </p:spPr>
        <p:txBody>
          <a:bodyPr>
            <a:normAutofit lnSpcReduction="10000"/>
          </a:bodyPr>
          <a:lstStyle/>
          <a:p>
            <a:pPr>
              <a:buFontTx/>
              <a:buNone/>
            </a:pPr>
            <a:r>
              <a:rPr lang="zh-CN" altLang="en-US" sz="2400" b="1" dirty="0">
                <a:solidFill>
                  <a:schemeClr val="bg1"/>
                </a:solidFill>
              </a:rPr>
              <a:t>例：中间代码（三地址码）：</a:t>
            </a:r>
            <a:endParaRPr lang="zh-CN" altLang="en-US" sz="2400" b="1" dirty="0">
              <a:solidFill>
                <a:schemeClr val="bg1"/>
              </a:solidFill>
            </a:endParaRPr>
          </a:p>
          <a:p>
            <a:pPr>
              <a:lnSpc>
                <a:spcPct val="110000"/>
              </a:lnSpc>
              <a:buFontTx/>
              <a:buNone/>
            </a:pPr>
            <a:r>
              <a:rPr lang="en-US" altLang="zh-CN" sz="2400" b="1" dirty="0">
                <a:solidFill>
                  <a:schemeClr val="bg1"/>
                </a:solidFill>
              </a:rPr>
              <a:t>(1) </a:t>
            </a:r>
            <a:r>
              <a:rPr lang="en-US" altLang="zh-CN" sz="2400" b="1" u="sng" dirty="0">
                <a:solidFill>
                  <a:schemeClr val="bg1"/>
                </a:solidFill>
              </a:rPr>
              <a:t>t1</a:t>
            </a:r>
            <a:r>
              <a:rPr lang="en-US" altLang="zh-CN" sz="2400" b="1" dirty="0">
                <a:solidFill>
                  <a:schemeClr val="bg1"/>
                </a:solidFill>
              </a:rPr>
              <a:t> := z * 6</a:t>
            </a:r>
            <a:endParaRPr lang="en-US" altLang="zh-CN" sz="2400" b="1" dirty="0">
              <a:solidFill>
                <a:schemeClr val="bg1"/>
              </a:solidFill>
            </a:endParaRPr>
          </a:p>
          <a:p>
            <a:pPr>
              <a:lnSpc>
                <a:spcPct val="110000"/>
              </a:lnSpc>
              <a:buFontTx/>
              <a:buNone/>
            </a:pPr>
            <a:r>
              <a:rPr lang="en-US" altLang="zh-CN" sz="2400" b="1" dirty="0">
                <a:solidFill>
                  <a:schemeClr val="bg1"/>
                </a:solidFill>
              </a:rPr>
              <a:t>(2) x := -4</a:t>
            </a:r>
            <a:endParaRPr lang="en-US" altLang="zh-CN" sz="2400" b="1" dirty="0">
              <a:solidFill>
                <a:schemeClr val="bg1"/>
              </a:solidFill>
            </a:endParaRPr>
          </a:p>
          <a:p>
            <a:pPr>
              <a:lnSpc>
                <a:spcPct val="110000"/>
              </a:lnSpc>
              <a:buFontTx/>
              <a:buNone/>
            </a:pPr>
            <a:r>
              <a:rPr lang="en-US" altLang="zh-CN" sz="2400" b="1" dirty="0">
                <a:solidFill>
                  <a:schemeClr val="bg1"/>
                </a:solidFill>
              </a:rPr>
              <a:t>(3) if x &gt;= 76 </a:t>
            </a:r>
            <a:r>
              <a:rPr lang="en-US" altLang="zh-CN" sz="2400" b="1" dirty="0" err="1">
                <a:solidFill>
                  <a:schemeClr val="bg1"/>
                </a:solidFill>
              </a:rPr>
              <a:t>goto</a:t>
            </a:r>
            <a:r>
              <a:rPr lang="en-US" altLang="zh-CN" sz="2400" b="1" dirty="0">
                <a:solidFill>
                  <a:schemeClr val="bg1"/>
                </a:solidFill>
              </a:rPr>
              <a:t> (7)</a:t>
            </a:r>
            <a:endParaRPr lang="en-US" altLang="zh-CN" sz="2400" b="1" dirty="0">
              <a:solidFill>
                <a:schemeClr val="bg1"/>
              </a:solidFill>
            </a:endParaRPr>
          </a:p>
          <a:p>
            <a:pPr>
              <a:lnSpc>
                <a:spcPct val="110000"/>
              </a:lnSpc>
              <a:buFontTx/>
              <a:buNone/>
            </a:pPr>
            <a:r>
              <a:rPr lang="en-US" altLang="zh-CN" sz="2400" b="1" dirty="0">
                <a:solidFill>
                  <a:schemeClr val="bg1"/>
                </a:solidFill>
              </a:rPr>
              <a:t>(4) x := x + 4</a:t>
            </a:r>
            <a:endParaRPr lang="en-US" altLang="zh-CN" sz="2400" b="1" dirty="0">
              <a:solidFill>
                <a:schemeClr val="bg1"/>
              </a:solidFill>
            </a:endParaRPr>
          </a:p>
          <a:p>
            <a:pPr>
              <a:lnSpc>
                <a:spcPct val="110000"/>
              </a:lnSpc>
              <a:buFontTx/>
              <a:buNone/>
            </a:pPr>
            <a:r>
              <a:rPr lang="en-US" altLang="zh-CN" sz="2400" b="1" dirty="0">
                <a:solidFill>
                  <a:schemeClr val="bg1"/>
                </a:solidFill>
              </a:rPr>
              <a:t>(5) y := t1 + x</a:t>
            </a:r>
            <a:endParaRPr lang="en-US" altLang="zh-CN" sz="2400" b="1" dirty="0">
              <a:solidFill>
                <a:schemeClr val="bg1"/>
              </a:solidFill>
            </a:endParaRPr>
          </a:p>
          <a:p>
            <a:pPr>
              <a:lnSpc>
                <a:spcPct val="110000"/>
              </a:lnSpc>
              <a:buFontTx/>
              <a:buNone/>
            </a:pPr>
            <a:r>
              <a:rPr lang="en-US" altLang="zh-CN" sz="2400" b="1" dirty="0">
                <a:solidFill>
                  <a:schemeClr val="bg1"/>
                </a:solidFill>
              </a:rPr>
              <a:t>(6) </a:t>
            </a:r>
            <a:r>
              <a:rPr lang="en-US" altLang="zh-CN" sz="2400" b="1" dirty="0" err="1">
                <a:solidFill>
                  <a:schemeClr val="bg1"/>
                </a:solidFill>
              </a:rPr>
              <a:t>goto</a:t>
            </a:r>
            <a:r>
              <a:rPr lang="en-US" altLang="zh-CN" sz="2400" b="1" dirty="0">
                <a:solidFill>
                  <a:schemeClr val="bg1"/>
                </a:solidFill>
              </a:rPr>
              <a:t> (3)</a:t>
            </a:r>
            <a:endParaRPr lang="en-US" altLang="zh-CN" sz="2400" b="1" dirty="0">
              <a:solidFill>
                <a:schemeClr val="bg1"/>
              </a:solidFill>
            </a:endParaRPr>
          </a:p>
        </p:txBody>
      </p:sp>
      <p:sp>
        <p:nvSpPr>
          <p:cNvPr id="622599" name="Rectangle 7"/>
          <p:cNvSpPr>
            <a:spLocks noChangeArrowheads="1"/>
          </p:cNvSpPr>
          <p:nvPr/>
        </p:nvSpPr>
        <p:spPr bwMode="auto">
          <a:xfrm>
            <a:off x="389890" y="3818890"/>
            <a:ext cx="2112645" cy="2429510"/>
          </a:xfrm>
          <a:prstGeom prst="rect">
            <a:avLst/>
          </a:prstGeom>
          <a:noFill/>
          <a:ln w="9525">
            <a:solidFill>
              <a:srgbClr val="FF0000"/>
            </a:solidFill>
            <a:miter lim="800000"/>
          </a:ln>
          <a:effectLst/>
        </p:spPr>
        <p:txBody>
          <a:bodyPr/>
          <a:lstStyle/>
          <a:p>
            <a:pPr marL="342900" indent="-342900">
              <a:spcBef>
                <a:spcPct val="20000"/>
              </a:spcBef>
              <a:buClr>
                <a:schemeClr val="accent1"/>
              </a:buClr>
            </a:pPr>
            <a:r>
              <a:rPr lang="zh-CN" altLang="en-US" sz="2800" dirty="0">
                <a:solidFill>
                  <a:srgbClr val="FF0000"/>
                </a:solidFill>
                <a:latin typeface="Tahoma" panose="020B0604030504040204" pitchFamily="34" charset="0"/>
              </a:rPr>
              <a:t>指令种类</a:t>
            </a:r>
            <a:endParaRPr lang="zh-CN" altLang="en-US" sz="2800" dirty="0">
              <a:solidFill>
                <a:srgbClr val="FF0000"/>
              </a:solidFill>
              <a:latin typeface="Tahoma" panose="020B0604030504040204" pitchFamily="34" charset="0"/>
            </a:endParaRPr>
          </a:p>
          <a:p>
            <a:pPr marL="342900" indent="-342900">
              <a:spcBef>
                <a:spcPct val="20000"/>
              </a:spcBef>
              <a:buClr>
                <a:schemeClr val="accent1"/>
              </a:buClr>
              <a:buFontTx/>
              <a:buChar char="•"/>
            </a:pPr>
            <a:r>
              <a:rPr lang="zh-CN" altLang="en-US" dirty="0">
                <a:solidFill>
                  <a:schemeClr val="bg1"/>
                </a:solidFill>
                <a:latin typeface="Tahoma" panose="020B0604030504040204" pitchFamily="34" charset="0"/>
              </a:rPr>
              <a:t>赋值     </a:t>
            </a:r>
            <a:r>
              <a:rPr lang="en-US" altLang="zh-CN" dirty="0">
                <a:solidFill>
                  <a:schemeClr val="bg1"/>
                </a:solidFill>
                <a:latin typeface="Tahoma" panose="020B0604030504040204" pitchFamily="34" charset="0"/>
              </a:rPr>
              <a:t>MOV </a:t>
            </a:r>
            <a:endParaRPr lang="en-US" altLang="zh-CN" dirty="0">
              <a:solidFill>
                <a:schemeClr val="bg1"/>
              </a:solidFill>
              <a:latin typeface="Tahoma" panose="020B0604030504040204" pitchFamily="34" charset="0"/>
            </a:endParaRPr>
          </a:p>
          <a:p>
            <a:pPr marL="342900" indent="-342900">
              <a:buClr>
                <a:schemeClr val="accent1"/>
              </a:buClr>
              <a:buFontTx/>
              <a:buChar char="•"/>
            </a:pPr>
            <a:r>
              <a:rPr lang="zh-CN" altLang="en-US" dirty="0">
                <a:solidFill>
                  <a:schemeClr val="bg1"/>
                </a:solidFill>
                <a:latin typeface="Tahoma" panose="020B0604030504040204" pitchFamily="34" charset="0"/>
              </a:rPr>
              <a:t>比较     </a:t>
            </a:r>
            <a:r>
              <a:rPr lang="en-US" altLang="zh-CN" dirty="0">
                <a:solidFill>
                  <a:schemeClr val="bg1"/>
                </a:solidFill>
                <a:latin typeface="Tahoma" panose="020B0604030504040204" pitchFamily="34" charset="0"/>
              </a:rPr>
              <a:t>CMP</a:t>
            </a:r>
            <a:endParaRPr lang="en-US" altLang="zh-CN" dirty="0">
              <a:solidFill>
                <a:schemeClr val="bg1"/>
              </a:solidFill>
              <a:latin typeface="Tahoma" panose="020B0604030504040204" pitchFamily="34" charset="0"/>
            </a:endParaRPr>
          </a:p>
          <a:p>
            <a:pPr marL="342900" indent="-342900">
              <a:buClr>
                <a:schemeClr val="accent1"/>
              </a:buClr>
              <a:buFontTx/>
              <a:buChar char="•"/>
            </a:pPr>
            <a:r>
              <a:rPr lang="en-US" altLang="zh-CN" dirty="0">
                <a:solidFill>
                  <a:schemeClr val="bg1"/>
                </a:solidFill>
                <a:latin typeface="宋体" panose="02010600030101010101" pitchFamily="2" charset="-122"/>
                <a:cs typeface="Times New Roman" panose="02020603050405020304" charset="0"/>
              </a:rPr>
              <a:t>≥</a:t>
            </a:r>
            <a:r>
              <a:rPr lang="zh-CN" altLang="en-US" dirty="0">
                <a:solidFill>
                  <a:schemeClr val="bg1"/>
                </a:solidFill>
                <a:latin typeface="Tahoma" panose="020B0604030504040204" pitchFamily="34" charset="0"/>
              </a:rPr>
              <a:t>转移   </a:t>
            </a:r>
            <a:r>
              <a:rPr lang="en-US" altLang="zh-CN" dirty="0">
                <a:solidFill>
                  <a:schemeClr val="bg1"/>
                </a:solidFill>
                <a:latin typeface="Tahoma" panose="020B0604030504040204" pitchFamily="34" charset="0"/>
              </a:rPr>
              <a:t>JLE</a:t>
            </a:r>
            <a:endParaRPr lang="en-US" altLang="zh-CN" dirty="0">
              <a:solidFill>
                <a:schemeClr val="bg1"/>
              </a:solidFill>
              <a:latin typeface="Tahoma" panose="020B0604030504040204" pitchFamily="34" charset="0"/>
            </a:endParaRPr>
          </a:p>
          <a:p>
            <a:pPr marL="342900" indent="-342900">
              <a:buClr>
                <a:schemeClr val="accent1"/>
              </a:buClr>
              <a:buFontTx/>
              <a:buChar char="•"/>
            </a:pPr>
            <a:r>
              <a:rPr lang="zh-CN" altLang="en-US" dirty="0">
                <a:solidFill>
                  <a:schemeClr val="bg1"/>
                </a:solidFill>
                <a:latin typeface="Tahoma" panose="020B0604030504040204" pitchFamily="34" charset="0"/>
              </a:rPr>
              <a:t>转移     </a:t>
            </a:r>
            <a:r>
              <a:rPr lang="en-US" altLang="zh-CN" dirty="0">
                <a:solidFill>
                  <a:schemeClr val="bg1"/>
                </a:solidFill>
                <a:latin typeface="Tahoma" panose="020B0604030504040204" pitchFamily="34" charset="0"/>
              </a:rPr>
              <a:t>JMP</a:t>
            </a:r>
            <a:endParaRPr lang="en-US" altLang="zh-CN" dirty="0">
              <a:solidFill>
                <a:schemeClr val="bg1"/>
              </a:solidFill>
              <a:latin typeface="Tahoma" panose="020B0604030504040204" pitchFamily="34" charset="0"/>
            </a:endParaRPr>
          </a:p>
          <a:p>
            <a:pPr marL="342900" indent="-342900">
              <a:buClr>
                <a:schemeClr val="accent1"/>
              </a:buClr>
              <a:buFontTx/>
              <a:buChar char="•"/>
            </a:pPr>
            <a:r>
              <a:rPr lang="zh-CN" altLang="en-US" dirty="0">
                <a:solidFill>
                  <a:schemeClr val="bg1"/>
                </a:solidFill>
                <a:latin typeface="Tahoma" panose="020B0604030504040204" pitchFamily="34" charset="0"/>
              </a:rPr>
              <a:t>累加     </a:t>
            </a:r>
            <a:r>
              <a:rPr lang="en-US" altLang="zh-CN" dirty="0">
                <a:solidFill>
                  <a:schemeClr val="bg1"/>
                </a:solidFill>
                <a:latin typeface="Tahoma" panose="020B0604030504040204" pitchFamily="34" charset="0"/>
              </a:rPr>
              <a:t>ADD</a:t>
            </a:r>
            <a:endParaRPr lang="en-US" altLang="zh-CN" dirty="0">
              <a:solidFill>
                <a:schemeClr val="bg1"/>
              </a:solidFill>
              <a:latin typeface="Tahoma" panose="020B0604030504040204" pitchFamily="34" charset="0"/>
            </a:endParaRPr>
          </a:p>
          <a:p>
            <a:pPr marL="342900" indent="-342900">
              <a:buClr>
                <a:schemeClr val="accent1"/>
              </a:buClr>
              <a:buFontTx/>
              <a:buChar char="•"/>
            </a:pPr>
            <a:r>
              <a:rPr lang="zh-CN" altLang="en-US" dirty="0">
                <a:solidFill>
                  <a:schemeClr val="bg1"/>
                </a:solidFill>
                <a:latin typeface="Tahoma" panose="020B0604030504040204" pitchFamily="34" charset="0"/>
              </a:rPr>
              <a:t>相乘     </a:t>
            </a:r>
            <a:r>
              <a:rPr lang="en-US" altLang="zh-CN" dirty="0">
                <a:solidFill>
                  <a:schemeClr val="bg1"/>
                </a:solidFill>
                <a:latin typeface="Tahoma" panose="020B0604030504040204" pitchFamily="34" charset="0"/>
              </a:rPr>
              <a:t>MUL</a:t>
            </a:r>
            <a:endParaRPr lang="en-US" altLang="zh-CN" dirty="0">
              <a:solidFill>
                <a:schemeClr val="bg1"/>
              </a:solidFill>
              <a:latin typeface="Tahoma" panose="020B0604030504040204" pitchFamily="34" charset="0"/>
            </a:endParaRPr>
          </a:p>
        </p:txBody>
      </p:sp>
      <p:sp>
        <p:nvSpPr>
          <p:cNvPr id="622600" name="Rectangle 8"/>
          <p:cNvSpPr>
            <a:spLocks noChangeArrowheads="1"/>
          </p:cNvSpPr>
          <p:nvPr/>
        </p:nvSpPr>
        <p:spPr bwMode="auto">
          <a:xfrm>
            <a:off x="5181288" y="385445"/>
            <a:ext cx="2857520" cy="5791200"/>
          </a:xfrm>
          <a:prstGeom prst="rect">
            <a:avLst/>
          </a:prstGeom>
          <a:noFill/>
          <a:ln w="38100">
            <a:solidFill>
              <a:schemeClr val="bg1"/>
            </a:solidFill>
            <a:miter lim="800000"/>
          </a:ln>
          <a:effectLst/>
        </p:spPr>
        <p:txBody>
          <a:bodyPr/>
          <a:lstStyle/>
          <a:p>
            <a:pPr marL="342900" indent="-342900">
              <a:spcBef>
                <a:spcPct val="20000"/>
              </a:spcBef>
              <a:buClr>
                <a:schemeClr val="accent1"/>
              </a:buClr>
            </a:pPr>
            <a:r>
              <a:rPr lang="zh-CN" altLang="en-US" sz="2400" dirty="0">
                <a:solidFill>
                  <a:schemeClr val="bg1"/>
                </a:solidFill>
                <a:latin typeface="Tahoma" panose="020B0604030504040204" pitchFamily="34" charset="0"/>
              </a:rPr>
              <a:t>目标代码：</a:t>
            </a:r>
            <a:endParaRPr lang="zh-CN" altLang="en-US" sz="2400" dirty="0">
              <a:solidFill>
                <a:schemeClr val="bg1"/>
              </a:solidFill>
              <a:latin typeface="Tahoma" panose="020B0604030504040204" pitchFamily="34" charset="0"/>
            </a:endParaRPr>
          </a:p>
          <a:p>
            <a:pPr marL="342900" indent="-342900">
              <a:spcBef>
                <a:spcPct val="20000"/>
              </a:spcBef>
              <a:buClr>
                <a:schemeClr val="accent1"/>
              </a:buClr>
            </a:pPr>
            <a:r>
              <a:rPr lang="en-US" altLang="zh-CN" sz="2400" dirty="0">
                <a:solidFill>
                  <a:schemeClr val="bg1"/>
                </a:solidFill>
                <a:latin typeface="Tahoma" panose="020B0604030504040204" pitchFamily="34" charset="0"/>
              </a:rPr>
              <a:t>(1)  LD  R0, Z</a:t>
            </a:r>
            <a:endParaRPr lang="en-US" altLang="zh-CN" sz="2400" dirty="0">
              <a:solidFill>
                <a:schemeClr val="bg1"/>
              </a:solidFill>
              <a:latin typeface="Tahoma" panose="020B0604030504040204" pitchFamily="34" charset="0"/>
            </a:endParaRPr>
          </a:p>
          <a:p>
            <a:pPr marL="342900" indent="-342900">
              <a:spcBef>
                <a:spcPct val="20000"/>
              </a:spcBef>
              <a:buClr>
                <a:schemeClr val="accent1"/>
              </a:buClr>
            </a:pPr>
            <a:r>
              <a:rPr lang="en-US" altLang="zh-CN" sz="2400" dirty="0">
                <a:solidFill>
                  <a:schemeClr val="bg1"/>
                </a:solidFill>
                <a:latin typeface="Tahoma" panose="020B0604030504040204" pitchFamily="34" charset="0"/>
              </a:rPr>
              <a:t>(2)  MUL  R0, 6</a:t>
            </a:r>
            <a:endParaRPr lang="en-US" altLang="zh-CN" sz="2400" dirty="0">
              <a:solidFill>
                <a:schemeClr val="bg1"/>
              </a:solidFill>
              <a:latin typeface="Tahoma" panose="020B0604030504040204" pitchFamily="34" charset="0"/>
            </a:endParaRPr>
          </a:p>
          <a:p>
            <a:pPr marL="342900" indent="-342900">
              <a:spcBef>
                <a:spcPct val="20000"/>
              </a:spcBef>
              <a:buClr>
                <a:schemeClr val="accent1"/>
              </a:buClr>
            </a:pPr>
            <a:r>
              <a:rPr lang="en-US" altLang="zh-CN" sz="2400" dirty="0">
                <a:solidFill>
                  <a:schemeClr val="bg1"/>
                </a:solidFill>
                <a:latin typeface="Tahoma" panose="020B0604030504040204" pitchFamily="34" charset="0"/>
              </a:rPr>
              <a:t>(3)  MOV  </a:t>
            </a:r>
            <a:r>
              <a:rPr lang="en-US" altLang="zh-CN" sz="2400" u="sng" dirty="0">
                <a:solidFill>
                  <a:schemeClr val="bg1"/>
                </a:solidFill>
                <a:latin typeface="Tahoma" panose="020B0604030504040204" pitchFamily="34" charset="0"/>
              </a:rPr>
              <a:t>R3</a:t>
            </a:r>
            <a:r>
              <a:rPr lang="en-US" altLang="zh-CN" sz="2400" dirty="0">
                <a:solidFill>
                  <a:schemeClr val="bg1"/>
                </a:solidFill>
                <a:latin typeface="Tahoma" panose="020B0604030504040204" pitchFamily="34" charset="0"/>
              </a:rPr>
              <a:t>, R0</a:t>
            </a:r>
            <a:endParaRPr lang="en-US" altLang="zh-CN" sz="2400" dirty="0">
              <a:solidFill>
                <a:schemeClr val="bg1"/>
              </a:solidFill>
              <a:latin typeface="Tahoma" panose="020B0604030504040204" pitchFamily="34" charset="0"/>
            </a:endParaRPr>
          </a:p>
          <a:p>
            <a:pPr marL="342900" indent="-342900">
              <a:spcBef>
                <a:spcPct val="20000"/>
              </a:spcBef>
              <a:buClr>
                <a:schemeClr val="accent1"/>
              </a:buClr>
            </a:pPr>
            <a:r>
              <a:rPr lang="en-US" altLang="zh-CN" sz="2400" dirty="0">
                <a:solidFill>
                  <a:schemeClr val="bg1"/>
                </a:solidFill>
                <a:latin typeface="Tahoma" panose="020B0604030504040204" pitchFamily="34" charset="0"/>
              </a:rPr>
              <a:t>(4)  MOV  R2, -4</a:t>
            </a:r>
            <a:endParaRPr lang="en-US" altLang="zh-CN" sz="2400" dirty="0">
              <a:solidFill>
                <a:schemeClr val="bg1"/>
              </a:solidFill>
              <a:latin typeface="Tahoma" panose="020B0604030504040204" pitchFamily="34" charset="0"/>
            </a:endParaRPr>
          </a:p>
          <a:p>
            <a:pPr marL="342900" indent="-342900">
              <a:spcBef>
                <a:spcPct val="20000"/>
              </a:spcBef>
              <a:buClr>
                <a:schemeClr val="accent1"/>
              </a:buClr>
            </a:pPr>
            <a:r>
              <a:rPr lang="en-US" altLang="zh-CN" sz="2400" dirty="0">
                <a:solidFill>
                  <a:schemeClr val="bg1"/>
                </a:solidFill>
                <a:latin typeface="Tahoma" panose="020B0604030504040204" pitchFamily="34" charset="0"/>
              </a:rPr>
              <a:t>(5)  CMP  R2, 76</a:t>
            </a:r>
            <a:endParaRPr lang="en-US" altLang="zh-CN" sz="2400" dirty="0">
              <a:solidFill>
                <a:schemeClr val="bg1"/>
              </a:solidFill>
              <a:latin typeface="Tahoma" panose="020B0604030504040204" pitchFamily="34" charset="0"/>
            </a:endParaRPr>
          </a:p>
          <a:p>
            <a:pPr marL="342900" indent="-342900">
              <a:spcBef>
                <a:spcPct val="20000"/>
              </a:spcBef>
              <a:buClr>
                <a:schemeClr val="accent1"/>
              </a:buClr>
            </a:pPr>
            <a:r>
              <a:rPr lang="en-US" altLang="zh-CN" sz="2400" dirty="0">
                <a:solidFill>
                  <a:schemeClr val="bg1"/>
                </a:solidFill>
                <a:latin typeface="Tahoma" panose="020B0604030504040204" pitchFamily="34" charset="0"/>
              </a:rPr>
              <a:t>(6)  </a:t>
            </a:r>
            <a:r>
              <a:rPr lang="en-US" altLang="zh-CN" sz="2400" dirty="0" smtClean="0">
                <a:solidFill>
                  <a:schemeClr val="bg1"/>
                </a:solidFill>
                <a:latin typeface="Tahoma" panose="020B0604030504040204" pitchFamily="34" charset="0"/>
              </a:rPr>
              <a:t>JGE  </a:t>
            </a:r>
            <a:r>
              <a:rPr lang="en-US" altLang="zh-CN" sz="2400" dirty="0">
                <a:solidFill>
                  <a:schemeClr val="bg1"/>
                </a:solidFill>
                <a:latin typeface="Tahoma" panose="020B0604030504040204" pitchFamily="34" charset="0"/>
              </a:rPr>
              <a:t>(12)</a:t>
            </a:r>
            <a:endParaRPr lang="en-US" altLang="zh-CN" sz="2400" dirty="0">
              <a:solidFill>
                <a:schemeClr val="bg1"/>
              </a:solidFill>
              <a:latin typeface="Tahoma" panose="020B0604030504040204" pitchFamily="34" charset="0"/>
            </a:endParaRPr>
          </a:p>
          <a:p>
            <a:pPr marL="342900" indent="-342900">
              <a:spcBef>
                <a:spcPct val="20000"/>
              </a:spcBef>
              <a:buClr>
                <a:schemeClr val="accent1"/>
              </a:buClr>
            </a:pPr>
            <a:r>
              <a:rPr lang="en-US" altLang="zh-CN" sz="2400" dirty="0">
                <a:solidFill>
                  <a:schemeClr val="bg1"/>
                </a:solidFill>
                <a:latin typeface="Tahoma" panose="020B0604030504040204" pitchFamily="34" charset="0"/>
              </a:rPr>
              <a:t>(7)  ADD  R2, 4</a:t>
            </a:r>
            <a:endParaRPr lang="en-US" altLang="zh-CN" sz="2400" dirty="0">
              <a:solidFill>
                <a:schemeClr val="bg1"/>
              </a:solidFill>
              <a:latin typeface="Tahoma" panose="020B0604030504040204" pitchFamily="34" charset="0"/>
            </a:endParaRPr>
          </a:p>
          <a:p>
            <a:pPr marL="342900" indent="-342900">
              <a:spcBef>
                <a:spcPct val="20000"/>
              </a:spcBef>
              <a:buClr>
                <a:schemeClr val="accent1"/>
              </a:buClr>
            </a:pPr>
            <a:r>
              <a:rPr lang="en-US" altLang="zh-CN" sz="2400" dirty="0">
                <a:solidFill>
                  <a:srgbClr val="FF0000"/>
                </a:solidFill>
                <a:latin typeface="Tahoma" panose="020B0604030504040204" pitchFamily="34" charset="0"/>
              </a:rPr>
              <a:t>(8)  MOV  R0, R3</a:t>
            </a:r>
            <a:endParaRPr lang="en-US" altLang="zh-CN" sz="2400" dirty="0">
              <a:solidFill>
                <a:srgbClr val="FF0000"/>
              </a:solidFill>
              <a:latin typeface="Tahoma" panose="020B0604030504040204" pitchFamily="34" charset="0"/>
            </a:endParaRPr>
          </a:p>
          <a:p>
            <a:pPr marL="342900" indent="-342900">
              <a:spcBef>
                <a:spcPct val="20000"/>
              </a:spcBef>
              <a:buClr>
                <a:schemeClr val="accent1"/>
              </a:buClr>
            </a:pPr>
            <a:r>
              <a:rPr lang="en-US" altLang="zh-CN" sz="2400" dirty="0">
                <a:solidFill>
                  <a:schemeClr val="bg1"/>
                </a:solidFill>
                <a:latin typeface="Tahoma" panose="020B0604030504040204" pitchFamily="34" charset="0"/>
              </a:rPr>
              <a:t>(9)  ADD  R0, R2</a:t>
            </a:r>
            <a:endParaRPr lang="en-US" altLang="zh-CN" sz="2400" dirty="0">
              <a:solidFill>
                <a:schemeClr val="bg1"/>
              </a:solidFill>
              <a:latin typeface="Tahoma" panose="020B0604030504040204" pitchFamily="34" charset="0"/>
            </a:endParaRPr>
          </a:p>
          <a:p>
            <a:pPr marL="342900" indent="-342900">
              <a:spcBef>
                <a:spcPct val="20000"/>
              </a:spcBef>
              <a:buClr>
                <a:schemeClr val="accent1"/>
              </a:buClr>
            </a:pPr>
            <a:r>
              <a:rPr lang="en-US" altLang="zh-CN" sz="2400" dirty="0">
                <a:solidFill>
                  <a:srgbClr val="FF0000"/>
                </a:solidFill>
                <a:latin typeface="Tahoma" panose="020B0604030504040204" pitchFamily="34" charset="0"/>
              </a:rPr>
              <a:t>(10) ST  R0, Y</a:t>
            </a:r>
            <a:endParaRPr lang="en-US" altLang="zh-CN" sz="2400" dirty="0">
              <a:solidFill>
                <a:srgbClr val="FF0000"/>
              </a:solidFill>
              <a:latin typeface="Tahoma" panose="020B0604030504040204" pitchFamily="34" charset="0"/>
            </a:endParaRPr>
          </a:p>
          <a:p>
            <a:pPr marL="342900" indent="-342900">
              <a:spcBef>
                <a:spcPct val="20000"/>
              </a:spcBef>
              <a:buClr>
                <a:schemeClr val="accent1"/>
              </a:buClr>
            </a:pPr>
            <a:r>
              <a:rPr lang="en-US" altLang="zh-CN" sz="2400" dirty="0">
                <a:solidFill>
                  <a:schemeClr val="bg1"/>
                </a:solidFill>
                <a:latin typeface="Tahoma" panose="020B0604030504040204" pitchFamily="34" charset="0"/>
              </a:rPr>
              <a:t>(11) J  (5)</a:t>
            </a:r>
            <a:endParaRPr lang="en-US" altLang="zh-CN" sz="2400" dirty="0">
              <a:solidFill>
                <a:schemeClr val="bg1"/>
              </a:solidFill>
              <a:latin typeface="Tahoma" panose="020B0604030504040204" pitchFamily="34" charset="0"/>
            </a:endParaRPr>
          </a:p>
          <a:p>
            <a:pPr marL="342900" indent="-342900">
              <a:spcBef>
                <a:spcPct val="20000"/>
              </a:spcBef>
              <a:buClr>
                <a:schemeClr val="accent1"/>
              </a:buClr>
            </a:pPr>
            <a:r>
              <a:rPr lang="en-US" altLang="zh-CN" sz="2400" dirty="0">
                <a:solidFill>
                  <a:schemeClr val="bg1"/>
                </a:solidFill>
                <a:latin typeface="Tahoma" panose="020B0604030504040204" pitchFamily="34" charset="0"/>
              </a:rPr>
              <a:t>(12) </a:t>
            </a:r>
            <a:r>
              <a:rPr lang="en-US" altLang="zh-CN" sz="2400" dirty="0">
                <a:solidFill>
                  <a:schemeClr val="bg1"/>
                </a:solidFill>
                <a:latin typeface="Times New Roman" panose="02020603050405020304"/>
                <a:cs typeface="Tahoma" panose="020B0604030504040204" pitchFamily="34" charset="0"/>
              </a:rPr>
              <a:t>…</a:t>
            </a:r>
            <a:r>
              <a:rPr lang="en-US" altLang="zh-CN" sz="2400" dirty="0">
                <a:solidFill>
                  <a:schemeClr val="bg1"/>
                </a:solidFill>
                <a:latin typeface="Tahoma" panose="020B0604030504040204" pitchFamily="34" charset="0"/>
                <a:cs typeface="Tahoma" panose="020B0604030504040204" pitchFamily="34" charset="0"/>
              </a:rPr>
              <a:t> </a:t>
            </a:r>
            <a:r>
              <a:rPr lang="en-US" altLang="zh-CN" sz="2400" dirty="0">
                <a:solidFill>
                  <a:schemeClr val="bg1"/>
                </a:solidFill>
                <a:latin typeface="Times New Roman" panose="02020603050405020304"/>
                <a:cs typeface="Tahoma" panose="020B0604030504040204" pitchFamily="34" charset="0"/>
              </a:rPr>
              <a:t>…</a:t>
            </a:r>
            <a:endParaRPr lang="en-US" altLang="zh-CN" sz="2400" dirty="0">
              <a:solidFill>
                <a:schemeClr val="bg1"/>
              </a:solidFill>
              <a:latin typeface="Tahoma" panose="020B0604030504040204" pitchFamily="34" charset="0"/>
              <a:cs typeface="Tahoma" panose="020B0604030504040204" pitchFamily="34" charset="0"/>
            </a:endParaRPr>
          </a:p>
        </p:txBody>
      </p:sp>
      <p:sp>
        <p:nvSpPr>
          <p:cNvPr id="622601" name="AutoShape 9"/>
          <p:cNvSpPr>
            <a:spLocks noChangeArrowheads="1"/>
          </p:cNvSpPr>
          <p:nvPr/>
        </p:nvSpPr>
        <p:spPr bwMode="auto">
          <a:xfrm>
            <a:off x="4580890" y="1981200"/>
            <a:ext cx="609600" cy="609600"/>
          </a:xfrm>
          <a:prstGeom prst="notchedRightArrow">
            <a:avLst>
              <a:gd name="adj1" fmla="val 50000"/>
              <a:gd name="adj2" fmla="val 25000"/>
            </a:avLst>
          </a:prstGeom>
          <a:noFill/>
          <a:ln w="9525">
            <a:solidFill>
              <a:srgbClr val="003366"/>
            </a:solidFill>
            <a:miter lim="800000"/>
          </a:ln>
          <a:effectLst/>
        </p:spPr>
        <p:txBody>
          <a:bodyPr wrap="none" anchor="ctr"/>
          <a:lstStyle/>
          <a:p>
            <a:endParaRPr lang="zh-CN" altLang="en-US">
              <a:solidFill>
                <a:schemeClr val="bg1"/>
              </a:solidFill>
            </a:endParaRPr>
          </a:p>
        </p:txBody>
      </p:sp>
      <p:sp>
        <p:nvSpPr>
          <p:cNvPr id="622602" name="AutoShape 10"/>
          <p:cNvSpPr>
            <a:spLocks noChangeArrowheads="1"/>
          </p:cNvSpPr>
          <p:nvPr/>
        </p:nvSpPr>
        <p:spPr bwMode="auto">
          <a:xfrm>
            <a:off x="8071485" y="3714750"/>
            <a:ext cx="1041400" cy="1143000"/>
          </a:xfrm>
          <a:prstGeom prst="wedgeRoundRectCallout">
            <a:avLst>
              <a:gd name="adj1" fmla="val -48223"/>
              <a:gd name="adj2" fmla="val 15944"/>
              <a:gd name="adj3" fmla="val 16667"/>
            </a:avLst>
          </a:prstGeom>
          <a:noFill/>
          <a:ln w="12700" cmpd="sng">
            <a:solidFill>
              <a:schemeClr val="bg1"/>
            </a:solidFill>
            <a:prstDash val="solid"/>
            <a:miter lim="800000"/>
          </a:ln>
          <a:effectLst/>
        </p:spPr>
        <p:txBody>
          <a:bodyPr/>
          <a:lstStyle/>
          <a:p>
            <a:r>
              <a:rPr lang="en-US" altLang="zh-CN" sz="1600" dirty="0">
                <a:ln>
                  <a:noFill/>
                </a:ln>
                <a:solidFill>
                  <a:schemeClr val="bg1"/>
                </a:solidFill>
              </a:rPr>
              <a:t>t1</a:t>
            </a:r>
            <a:r>
              <a:rPr lang="zh-CN" altLang="en-US" sz="1600" dirty="0">
                <a:ln>
                  <a:noFill/>
                </a:ln>
                <a:solidFill>
                  <a:schemeClr val="bg1"/>
                </a:solidFill>
              </a:rPr>
              <a:t>值下次还用，用</a:t>
            </a:r>
            <a:r>
              <a:rPr lang="en-US" altLang="zh-CN" sz="1600" dirty="0">
                <a:ln>
                  <a:noFill/>
                </a:ln>
                <a:solidFill>
                  <a:schemeClr val="bg1"/>
                </a:solidFill>
              </a:rPr>
              <a:t>R0</a:t>
            </a:r>
            <a:r>
              <a:rPr lang="zh-CN" altLang="en-US" sz="1600" dirty="0">
                <a:ln>
                  <a:noFill/>
                </a:ln>
                <a:solidFill>
                  <a:schemeClr val="bg1"/>
                </a:solidFill>
              </a:rPr>
              <a:t>实现累加</a:t>
            </a:r>
            <a:endParaRPr lang="zh-CN" altLang="en-US" sz="1600" dirty="0">
              <a:ln>
                <a:noFill/>
              </a:ln>
              <a:solidFill>
                <a:schemeClr val="bg1"/>
              </a:solidFill>
            </a:endParaRPr>
          </a:p>
        </p:txBody>
      </p:sp>
      <p:sp>
        <p:nvSpPr>
          <p:cNvPr id="622603" name="AutoShape 11"/>
          <p:cNvSpPr>
            <a:spLocks noChangeArrowheads="1"/>
          </p:cNvSpPr>
          <p:nvPr/>
        </p:nvSpPr>
        <p:spPr bwMode="auto">
          <a:xfrm>
            <a:off x="7707630" y="5334000"/>
            <a:ext cx="1546225" cy="838200"/>
          </a:xfrm>
          <a:prstGeom prst="wedgeRoundRectCallout">
            <a:avLst>
              <a:gd name="adj1" fmla="val -59721"/>
              <a:gd name="adj2" fmla="val -75757"/>
              <a:gd name="adj3" fmla="val 16667"/>
            </a:avLst>
          </a:prstGeom>
          <a:noFill/>
          <a:ln w="9525">
            <a:solidFill>
              <a:schemeClr val="bg1"/>
            </a:solidFill>
            <a:miter lim="800000"/>
          </a:ln>
          <a:effectLst/>
        </p:spPr>
        <p:txBody>
          <a:bodyPr/>
          <a:lstStyle/>
          <a:p>
            <a:r>
              <a:rPr lang="zh-CN" altLang="en-US" sz="1600">
                <a:solidFill>
                  <a:schemeClr val="bg1"/>
                </a:solidFill>
              </a:rPr>
              <a:t>每次循环都送回内存，因为循环可能终止</a:t>
            </a:r>
            <a:endParaRPr lang="zh-CN" altLang="en-US" sz="1600">
              <a:solidFill>
                <a:schemeClr val="bg1"/>
              </a:solidFill>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PP_MARK_KEY" val="d0eee55d-5b63-4096-bc62-8283593ab195"/>
  <p:tag name="COMMONDATA" val="eyJoZGlkIjoiYWZhMDYyMDkyNmI0MzgzZTQ1NzlkOWQ4NjlhNmM1ZGU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5442</Words>
  <Application>WPS 演示</Application>
  <PresentationFormat>全屏显示(4:3)</PresentationFormat>
  <Paragraphs>280</Paragraphs>
  <Slides>33</Slides>
  <Notes>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33</vt:i4>
      </vt:variant>
    </vt:vector>
  </HeadingPairs>
  <TitlesOfParts>
    <vt:vector size="49" baseType="lpstr">
      <vt:lpstr>Arial</vt:lpstr>
      <vt:lpstr>宋体</vt:lpstr>
      <vt:lpstr>Wingdings</vt:lpstr>
      <vt:lpstr>Times New Roman</vt:lpstr>
      <vt:lpstr>Wingdings 3</vt:lpstr>
      <vt:lpstr>Symbol</vt:lpstr>
      <vt:lpstr>Verdana</vt:lpstr>
      <vt:lpstr>Wingdings 2</vt:lpstr>
      <vt:lpstr>Wingdings</vt:lpstr>
      <vt:lpstr>Tahoma</vt:lpstr>
      <vt:lpstr>Lucida Sans Unicode</vt:lpstr>
      <vt:lpstr>黑体</vt:lpstr>
      <vt:lpstr>微软雅黑</vt:lpstr>
      <vt:lpstr>Arial Unicode MS</vt:lpstr>
      <vt:lpstr>Times New Roman</vt:lpstr>
      <vt:lpstr>聚合</vt:lpstr>
      <vt:lpstr>第9章 代码生成</vt:lpstr>
      <vt:lpstr>代码生成原则</vt:lpstr>
      <vt:lpstr>PowerPoint 演示文稿</vt:lpstr>
      <vt:lpstr>PowerPoint 演示文稿</vt:lpstr>
      <vt:lpstr>PowerPoint 演示文稿</vt:lpstr>
      <vt:lpstr>PowerPoint 演示文稿</vt:lpstr>
      <vt:lpstr>第九章    代码生成</vt:lpstr>
      <vt:lpstr>PowerPoint 演示文稿</vt:lpstr>
      <vt:lpstr>PowerPoint 演示文稿</vt:lpstr>
      <vt:lpstr>PowerPoint 演示文稿</vt:lpstr>
      <vt:lpstr>寄存器分配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9.3、代码生成概要</vt:lpstr>
      <vt:lpstr>9.3、代码生成概要</vt:lpstr>
      <vt:lpstr>PowerPoint 演示文稿</vt:lpstr>
      <vt:lpstr>9.3、代码生成概要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rgkj</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Viscual Basic6.0程序设       计实验指导与习题详解》</dc:title>
  <dc:creator>ws021</dc:creator>
  <cp:lastModifiedBy>Administrator</cp:lastModifiedBy>
  <cp:revision>271</cp:revision>
  <dcterms:created xsi:type="dcterms:W3CDTF">2001-08-16T12:48:00Z</dcterms:created>
  <dcterms:modified xsi:type="dcterms:W3CDTF">2023-05-24T03:09:09Z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E8D8102DF9D640278858676AEE1BFCA9_12</vt:lpwstr>
  </property>
  <property fmtid="{D5CDD505-2E9C-101B-9397-08002B2CF9AE}" pid="3" name="KSOProductBuildVer">
    <vt:lpwstr>2052-11.1.0.14309</vt:lpwstr>
  </property>
</Properties>
</file>