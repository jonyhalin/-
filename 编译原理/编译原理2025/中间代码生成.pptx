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9" r:id="rId5"/>
    <p:sldId id="258" r:id="rId6"/>
    <p:sldId id="259" r:id="rId7"/>
    <p:sldId id="260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78" y="-4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267B5B8-002C-4DC5-B987-3DB9DC0BBB6F}" type="datetimeFigureOut">
              <a:rPr lang="zh-CN" altLang="en-US" smtClean="0"/>
              <a:t>2021-5-28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C55CE63-CCDA-4C29-AC93-D232D9512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中间代码生成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362200"/>
            <a:ext cx="4724400" cy="35052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chemeClr val="tx2"/>
                </a:solidFill>
              </a:rPr>
              <a:t>属性关系</a:t>
            </a:r>
          </a:p>
          <a:p>
            <a:pPr lvl="1" eaLnBrk="1" hangingPunct="1"/>
            <a:r>
              <a:rPr lang="en-US" altLang="zh-CN" b="1" smtClean="0">
                <a:solidFill>
                  <a:schemeClr val="tx2"/>
                </a:solidFill>
              </a:rPr>
              <a:t>S1.begin = E.true</a:t>
            </a:r>
          </a:p>
          <a:p>
            <a:pPr lvl="1" eaLnBrk="1" hangingPunct="1"/>
            <a:r>
              <a:rPr lang="en-US" altLang="zh-CN" b="1" smtClean="0">
                <a:solidFill>
                  <a:schemeClr val="tx2"/>
                </a:solidFill>
              </a:rPr>
              <a:t>S2.begin = E.false</a:t>
            </a:r>
          </a:p>
          <a:p>
            <a:pPr lvl="1" eaLnBrk="1" hangingPunct="1"/>
            <a:r>
              <a:rPr lang="en-US" altLang="zh-CN" b="1" smtClean="0">
                <a:solidFill>
                  <a:schemeClr val="tx2"/>
                </a:solidFill>
              </a:rPr>
              <a:t>S1.next = S2.next = S.next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927600" y="0"/>
          <a:ext cx="4216400" cy="6858000"/>
        </p:xfrm>
        <a:graphic>
          <a:graphicData uri="http://schemas.openxmlformats.org/presentationml/2006/ole">
            <p:oleObj spid="_x0000_s1026" name="VISIO" r:id="rId3" imgW="2992120" imgH="4351020" progId="Visio.Drawing.4">
              <p:embed/>
            </p:oleObj>
          </a:graphicData>
        </a:graphic>
      </p:graphicFrame>
      <p:sp>
        <p:nvSpPr>
          <p:cNvPr id="621573" name="Rectangle 5"/>
          <p:cNvSpPr>
            <a:spLocks noChangeArrowheads="1"/>
          </p:cNvSpPr>
          <p:nvPr/>
        </p:nvSpPr>
        <p:spPr bwMode="auto">
          <a:xfrm>
            <a:off x="457200" y="1263650"/>
            <a:ext cx="4953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S </a:t>
            </a:r>
            <a:r>
              <a:rPr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→</a:t>
            </a:r>
            <a:r>
              <a:rPr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 if  E  then  S</a:t>
            </a:r>
            <a:r>
              <a:rPr lang="en-US" altLang="zh-CN" sz="2800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1  </a:t>
            </a:r>
            <a:r>
              <a:rPr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else  S</a:t>
            </a:r>
            <a:r>
              <a:rPr lang="en-US" altLang="zh-CN" sz="2800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2</a:t>
            </a:r>
            <a:r>
              <a:rPr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  </a:t>
            </a:r>
          </a:p>
          <a:p>
            <a:pPr algn="l">
              <a:defRPr/>
            </a:pPr>
            <a:r>
              <a:rPr lang="zh-CN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的翻译</a:t>
            </a:r>
          </a:p>
        </p:txBody>
      </p:sp>
      <p:sp>
        <p:nvSpPr>
          <p:cNvPr id="1029" name="TextBox 4"/>
          <p:cNvSpPr txBox="1">
            <a:spLocks noChangeArrowheads="1"/>
          </p:cNvSpPr>
          <p:nvPr/>
        </p:nvSpPr>
        <p:spPr bwMode="auto">
          <a:xfrm>
            <a:off x="785813" y="214313"/>
            <a:ext cx="342741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/>
              <a:t>条件语句的翻译</a:t>
            </a:r>
            <a:endParaRPr lang="en-US" altLang="zh-CN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09600"/>
            <a:ext cx="8229600" cy="36576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S → if E then S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	E.true := newlabel;     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  else S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   	E.false := newlabel;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				S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.next := S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.next := S.next;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                        	S.code := E.code || gen( E.true':' ) ||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                             	S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.code || gen( 'goto' S.next ) ||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                             	gen( E.false':' ) || S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.code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57200" y="4191000"/>
            <a:ext cx="8180388" cy="2114550"/>
            <a:chOff x="288" y="2736"/>
            <a:chExt cx="5153" cy="1332"/>
          </a:xfrm>
        </p:grpSpPr>
        <p:sp>
          <p:nvSpPr>
            <p:cNvPr id="622596" name="Rectangle 4"/>
            <p:cNvSpPr>
              <a:spLocks noChangeArrowheads="1"/>
            </p:cNvSpPr>
            <p:nvPr/>
          </p:nvSpPr>
          <p:spPr bwMode="auto">
            <a:xfrm>
              <a:off x="288" y="2736"/>
              <a:ext cx="2688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buClr>
                  <a:schemeClr val="accent1"/>
                </a:buClr>
                <a:defRPr/>
              </a:pPr>
              <a:r>
                <a:rPr lang="zh-CN" altLang="en-US" sz="28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例： </a:t>
              </a:r>
            </a:p>
            <a:p>
              <a:pPr algn="l">
                <a:buClr>
                  <a:schemeClr val="accent1"/>
                </a:buClr>
                <a:defRPr/>
              </a:pPr>
              <a:r>
                <a:rPr lang="en-US" altLang="zh-CN" sz="28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if  c &lt; 5  then  S</a:t>
              </a:r>
              <a:r>
                <a:rPr lang="en-US" altLang="zh-CN" sz="2800" baseline="-250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sz="28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else  S</a:t>
              </a:r>
              <a:r>
                <a:rPr lang="en-US" altLang="zh-CN" sz="2800" baseline="-250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  <a:r>
                <a:rPr lang="en-US" altLang="zh-CN" sz="2800" baseline="-25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</a:t>
              </a:r>
              <a:r>
                <a:rPr lang="en-US" altLang="zh-CN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</a:t>
              </a:r>
            </a:p>
          </p:txBody>
        </p:sp>
        <p:sp>
          <p:nvSpPr>
            <p:cNvPr id="40965" name="Rectangle 5"/>
            <p:cNvSpPr>
              <a:spLocks noChangeArrowheads="1"/>
            </p:cNvSpPr>
            <p:nvPr/>
          </p:nvSpPr>
          <p:spPr bwMode="auto">
            <a:xfrm>
              <a:off x="3041" y="2928"/>
              <a:ext cx="2400" cy="1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        </a:t>
              </a:r>
              <a:r>
                <a:rPr lang="en-US" altLang="zh-CN" sz="2800" dirty="0" err="1">
                  <a:latin typeface="Arial Narrow" pitchFamily="34" charset="0"/>
                </a:rPr>
                <a:t>E.code</a:t>
              </a:r>
              <a:r>
                <a:rPr lang="en-US" altLang="zh-CN" sz="2800" dirty="0">
                  <a:latin typeface="Arial Narrow" pitchFamily="34" charset="0"/>
                </a:rPr>
                <a:t>       //E</a:t>
              </a:r>
              <a:r>
                <a:rPr lang="zh-CN" altLang="en-US" sz="2800" dirty="0">
                  <a:latin typeface="Arial Narrow" pitchFamily="34" charset="0"/>
                </a:rPr>
                <a:t>为</a:t>
              </a:r>
              <a:r>
                <a:rPr lang="en-US" altLang="zh-CN" sz="2800" dirty="0">
                  <a:latin typeface="Arial Narrow" pitchFamily="34" charset="0"/>
                </a:rPr>
                <a:t>c&lt;5 </a:t>
              </a:r>
            </a:p>
            <a:p>
              <a:pPr algn="l"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L3:  S</a:t>
              </a:r>
              <a:r>
                <a:rPr lang="en-US" altLang="zh-CN" sz="2900" baseline="-25000" dirty="0">
                  <a:latin typeface="Arial Narrow" pitchFamily="34" charset="0"/>
                </a:rPr>
                <a:t>1</a:t>
              </a:r>
              <a:r>
                <a:rPr lang="en-US" altLang="zh-CN" sz="2800" dirty="0">
                  <a:latin typeface="Arial Narrow" pitchFamily="34" charset="0"/>
                </a:rPr>
                <a:t>.code </a:t>
              </a:r>
            </a:p>
            <a:p>
              <a:pPr algn="l"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        </a:t>
              </a:r>
              <a:r>
                <a:rPr lang="en-US" altLang="zh-CN" sz="2800" dirty="0" err="1">
                  <a:latin typeface="Arial Narrow" pitchFamily="34" charset="0"/>
                </a:rPr>
                <a:t>goto</a:t>
              </a:r>
              <a:r>
                <a:rPr lang="en-US" altLang="zh-CN" sz="2800" dirty="0">
                  <a:latin typeface="Arial Narrow" pitchFamily="34" charset="0"/>
                </a:rPr>
                <a:t>  </a:t>
              </a:r>
              <a:r>
                <a:rPr lang="en-US" altLang="zh-CN" sz="2800" dirty="0" err="1">
                  <a:latin typeface="Arial Narrow" pitchFamily="34" charset="0"/>
                </a:rPr>
                <a:t>S.next</a:t>
              </a:r>
              <a:r>
                <a:rPr lang="en-US" altLang="zh-CN" sz="2800" dirty="0">
                  <a:solidFill>
                    <a:schemeClr val="tx2"/>
                  </a:solidFill>
                  <a:latin typeface="Arial Narrow" pitchFamily="34" charset="0"/>
                </a:rPr>
                <a:t> </a:t>
              </a:r>
              <a:endParaRPr lang="en-US" altLang="zh-CN" sz="2800" dirty="0">
                <a:latin typeface="Arial Narrow" pitchFamily="34" charset="0"/>
              </a:endParaRPr>
            </a:p>
            <a:p>
              <a:pPr algn="l"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L4:  S</a:t>
              </a:r>
              <a:r>
                <a:rPr lang="en-US" altLang="zh-CN" sz="2900" baseline="-25000" dirty="0">
                  <a:latin typeface="Arial Narrow" pitchFamily="34" charset="0"/>
                </a:rPr>
                <a:t>2</a:t>
              </a:r>
              <a:r>
                <a:rPr lang="en-US" altLang="zh-CN" sz="2800" dirty="0">
                  <a:latin typeface="Arial Narrow" pitchFamily="34" charset="0"/>
                </a:rPr>
                <a:t>.code </a:t>
              </a:r>
            </a:p>
          </p:txBody>
        </p:sp>
        <p:cxnSp>
          <p:nvCxnSpPr>
            <p:cNvPr id="40966" name="AutoShape 6"/>
            <p:cNvCxnSpPr>
              <a:cxnSpLocks noChangeShapeType="1"/>
              <a:stCxn id="622596" idx="2"/>
              <a:endCxn id="40965" idx="1"/>
            </p:cNvCxnSpPr>
            <p:nvPr/>
          </p:nvCxnSpPr>
          <p:spPr bwMode="auto">
            <a:xfrm rot="16200000" flipH="1">
              <a:off x="2254" y="2710"/>
              <a:ext cx="166" cy="1409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71500" y="428628"/>
            <a:ext cx="6286500" cy="3459166"/>
            <a:chOff x="360" y="366"/>
            <a:chExt cx="3960" cy="2179"/>
          </a:xfrm>
        </p:grpSpPr>
        <p:sp>
          <p:nvSpPr>
            <p:cNvPr id="622596" name="Rectangle 4"/>
            <p:cNvSpPr>
              <a:spLocks noChangeArrowheads="1"/>
            </p:cNvSpPr>
            <p:nvPr/>
          </p:nvSpPr>
          <p:spPr bwMode="auto">
            <a:xfrm>
              <a:off x="360" y="366"/>
              <a:ext cx="1620" cy="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buClr>
                  <a:schemeClr val="accent1"/>
                </a:buClr>
                <a:defRPr/>
              </a:pPr>
              <a:r>
                <a:rPr lang="zh-CN" altLang="en-US" sz="28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例： </a:t>
              </a:r>
            </a:p>
            <a:p>
              <a:pPr algn="l">
                <a:buClr>
                  <a:schemeClr val="accent1"/>
                </a:buClr>
                <a:defRPr/>
              </a:pPr>
              <a:r>
                <a:rPr lang="en-US" altLang="zh-CN" sz="28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if  </a:t>
              </a:r>
              <a:r>
                <a:rPr lang="en-US" altLang="zh-CN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(c </a:t>
              </a:r>
              <a:r>
                <a:rPr lang="en-US" altLang="zh-CN" sz="28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&lt; </a:t>
              </a:r>
              <a:r>
                <a:rPr lang="en-US" altLang="zh-CN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5)  S</a:t>
              </a:r>
              <a:r>
                <a:rPr lang="en-US" altLang="zh-CN" sz="2800" baseline="-250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;</a:t>
              </a:r>
            </a:p>
            <a:p>
              <a:pPr algn="l">
                <a:buClr>
                  <a:schemeClr val="accent1"/>
                </a:buClr>
                <a:defRPr/>
              </a:pPr>
              <a:r>
                <a:rPr lang="en-US" altLang="zh-CN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else  S</a:t>
              </a:r>
              <a:r>
                <a:rPr lang="en-US" altLang="zh-CN" sz="2800" baseline="-250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  <a:r>
                <a:rPr lang="en-US" altLang="zh-CN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;</a:t>
              </a:r>
              <a:r>
                <a:rPr lang="en-US" altLang="zh-CN" sz="2800" baseline="-25000" dirty="0" smtClean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</a:t>
              </a:r>
              <a:r>
                <a:rPr lang="en-US" altLang="zh-CN" sz="2800" dirty="0" smtClean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</a:t>
              </a:r>
              <a:endParaRPr lang="en-US" altLang="zh-CN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0965" name="Rectangle 5"/>
            <p:cNvSpPr>
              <a:spLocks noChangeArrowheads="1"/>
            </p:cNvSpPr>
            <p:nvPr/>
          </p:nvSpPr>
          <p:spPr bwMode="auto">
            <a:xfrm>
              <a:off x="2025" y="1401"/>
              <a:ext cx="2295" cy="1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        </a:t>
              </a:r>
              <a:r>
                <a:rPr lang="en-US" altLang="zh-CN" sz="2800" dirty="0" err="1">
                  <a:latin typeface="Arial Narrow" pitchFamily="34" charset="0"/>
                </a:rPr>
                <a:t>E.code</a:t>
              </a:r>
              <a:r>
                <a:rPr lang="en-US" altLang="zh-CN" sz="2800" dirty="0">
                  <a:latin typeface="Arial Narrow" pitchFamily="34" charset="0"/>
                </a:rPr>
                <a:t>       //E</a:t>
              </a:r>
              <a:r>
                <a:rPr lang="zh-CN" altLang="en-US" sz="2800" dirty="0">
                  <a:latin typeface="Arial Narrow" pitchFamily="34" charset="0"/>
                </a:rPr>
                <a:t>为</a:t>
              </a:r>
              <a:r>
                <a:rPr lang="en-US" altLang="zh-CN" sz="2800" dirty="0">
                  <a:latin typeface="Arial Narrow" pitchFamily="34" charset="0"/>
                </a:rPr>
                <a:t>c&lt;5 </a:t>
              </a:r>
            </a:p>
            <a:p>
              <a:pPr algn="l"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L3:  S</a:t>
              </a:r>
              <a:r>
                <a:rPr lang="en-US" altLang="zh-CN" sz="2900" baseline="-25000" dirty="0">
                  <a:latin typeface="Arial Narrow" pitchFamily="34" charset="0"/>
                </a:rPr>
                <a:t>1</a:t>
              </a:r>
              <a:r>
                <a:rPr lang="en-US" altLang="zh-CN" sz="2800" dirty="0">
                  <a:latin typeface="Arial Narrow" pitchFamily="34" charset="0"/>
                </a:rPr>
                <a:t>.code </a:t>
              </a:r>
            </a:p>
            <a:p>
              <a:pPr algn="l"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        </a:t>
              </a:r>
              <a:r>
                <a:rPr lang="en-US" altLang="zh-CN" sz="2800" dirty="0" err="1">
                  <a:latin typeface="Arial Narrow" pitchFamily="34" charset="0"/>
                </a:rPr>
                <a:t>goto</a:t>
              </a:r>
              <a:r>
                <a:rPr lang="en-US" altLang="zh-CN" sz="2800" dirty="0">
                  <a:latin typeface="Arial Narrow" pitchFamily="34" charset="0"/>
                </a:rPr>
                <a:t>  </a:t>
              </a:r>
              <a:r>
                <a:rPr lang="en-US" altLang="zh-CN" sz="2800" dirty="0" err="1">
                  <a:latin typeface="Arial Narrow" pitchFamily="34" charset="0"/>
                </a:rPr>
                <a:t>S.next</a:t>
              </a:r>
              <a:r>
                <a:rPr lang="en-US" altLang="zh-CN" sz="2800" dirty="0">
                  <a:solidFill>
                    <a:schemeClr val="tx2"/>
                  </a:solidFill>
                  <a:latin typeface="Arial Narrow" pitchFamily="34" charset="0"/>
                </a:rPr>
                <a:t> </a:t>
              </a:r>
              <a:endParaRPr lang="en-US" altLang="zh-CN" sz="2800" dirty="0">
                <a:latin typeface="Arial Narrow" pitchFamily="34" charset="0"/>
              </a:endParaRPr>
            </a:p>
            <a:p>
              <a:pPr algn="l"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L4:  S</a:t>
              </a:r>
              <a:r>
                <a:rPr lang="en-US" altLang="zh-CN" sz="2900" baseline="-25000" dirty="0">
                  <a:latin typeface="Arial Narrow" pitchFamily="34" charset="0"/>
                </a:rPr>
                <a:t>2</a:t>
              </a:r>
              <a:r>
                <a:rPr lang="en-US" altLang="zh-CN" sz="2800" dirty="0">
                  <a:latin typeface="Arial Narrow" pitchFamily="34" charset="0"/>
                </a:rPr>
                <a:t>.code </a:t>
              </a:r>
            </a:p>
          </p:txBody>
        </p:sp>
        <p:cxnSp>
          <p:nvCxnSpPr>
            <p:cNvPr id="40966" name="AutoShape 6"/>
            <p:cNvCxnSpPr>
              <a:cxnSpLocks noChangeShapeType="1"/>
              <a:stCxn id="622596" idx="2"/>
              <a:endCxn id="40965" idx="1"/>
            </p:cNvCxnSpPr>
            <p:nvPr/>
          </p:nvCxnSpPr>
          <p:spPr bwMode="auto">
            <a:xfrm rot="16200000" flipH="1">
              <a:off x="1230" y="1178"/>
              <a:ext cx="735" cy="855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3214678" y="4214818"/>
            <a:ext cx="3643338" cy="2246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altLang="zh-CN" sz="2800" dirty="0">
                <a:latin typeface="Arial Narrow" pitchFamily="34" charset="0"/>
              </a:rPr>
              <a:t>        </a:t>
            </a:r>
            <a:r>
              <a:rPr lang="en-US" altLang="zh-CN" sz="2800" dirty="0" smtClean="0">
                <a:latin typeface="Arial Narrow" pitchFamily="34" charset="0"/>
              </a:rPr>
              <a:t>if (c&lt;5)  </a:t>
            </a:r>
            <a:r>
              <a:rPr lang="en-US" altLang="zh-CN" sz="2800" dirty="0" err="1" smtClean="0">
                <a:latin typeface="Arial Narrow" pitchFamily="34" charset="0"/>
              </a:rPr>
              <a:t>goto</a:t>
            </a:r>
            <a:r>
              <a:rPr lang="en-US" altLang="zh-CN" sz="2800" dirty="0" smtClean="0">
                <a:latin typeface="Arial Narrow" pitchFamily="34" charset="0"/>
              </a:rPr>
              <a:t> L3;</a:t>
            </a:r>
          </a:p>
          <a:p>
            <a:pPr algn="l">
              <a:buClr>
                <a:schemeClr val="accent1"/>
              </a:buClr>
            </a:pPr>
            <a:r>
              <a:rPr lang="zh-CN" altLang="en-US" sz="2800" dirty="0">
                <a:latin typeface="Arial Narrow" pitchFamily="34" charset="0"/>
              </a:rPr>
              <a:t> </a:t>
            </a:r>
            <a:r>
              <a:rPr lang="zh-CN" altLang="en-US" sz="2800" dirty="0" smtClean="0">
                <a:latin typeface="Arial Narrow" pitchFamily="34" charset="0"/>
              </a:rPr>
              <a:t>      </a:t>
            </a:r>
            <a:r>
              <a:rPr lang="en-US" altLang="zh-CN" sz="2800" dirty="0" err="1" smtClean="0">
                <a:latin typeface="Arial Narrow" pitchFamily="34" charset="0"/>
              </a:rPr>
              <a:t>goto</a:t>
            </a:r>
            <a:r>
              <a:rPr lang="zh-CN" altLang="en-US" sz="2800" dirty="0" smtClean="0">
                <a:latin typeface="Arial Narrow" pitchFamily="34" charset="0"/>
              </a:rPr>
              <a:t> </a:t>
            </a:r>
            <a:r>
              <a:rPr lang="en-US" altLang="zh-CN" sz="2800" dirty="0" smtClean="0">
                <a:latin typeface="Arial Narrow" pitchFamily="34" charset="0"/>
              </a:rPr>
              <a:t>L4;</a:t>
            </a:r>
            <a:endParaRPr lang="en-US" altLang="zh-CN" sz="2800" dirty="0">
              <a:latin typeface="Arial Narrow" pitchFamily="34" charset="0"/>
            </a:endParaRPr>
          </a:p>
          <a:p>
            <a:pPr algn="l">
              <a:buClr>
                <a:schemeClr val="accent1"/>
              </a:buClr>
            </a:pPr>
            <a:r>
              <a:rPr lang="en-US" altLang="zh-CN" sz="2800" dirty="0">
                <a:latin typeface="Arial Narrow" pitchFamily="34" charset="0"/>
              </a:rPr>
              <a:t>L3:  S</a:t>
            </a:r>
            <a:r>
              <a:rPr lang="en-US" altLang="zh-CN" sz="2900" baseline="-25000" dirty="0">
                <a:latin typeface="Arial Narrow" pitchFamily="34" charset="0"/>
              </a:rPr>
              <a:t>1</a:t>
            </a:r>
            <a:r>
              <a:rPr lang="en-US" altLang="zh-CN" sz="2800" dirty="0">
                <a:latin typeface="Arial Narrow" pitchFamily="34" charset="0"/>
              </a:rPr>
              <a:t>.code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 dirty="0">
                <a:latin typeface="Arial Narrow" pitchFamily="34" charset="0"/>
              </a:rPr>
              <a:t>        </a:t>
            </a:r>
            <a:r>
              <a:rPr lang="en-US" altLang="zh-CN" sz="2800" dirty="0" err="1">
                <a:latin typeface="Arial Narrow" pitchFamily="34" charset="0"/>
              </a:rPr>
              <a:t>goto</a:t>
            </a:r>
            <a:r>
              <a:rPr lang="en-US" altLang="zh-CN" sz="2800" dirty="0">
                <a:latin typeface="Arial Narrow" pitchFamily="34" charset="0"/>
              </a:rPr>
              <a:t>  </a:t>
            </a:r>
            <a:r>
              <a:rPr lang="en-US" altLang="zh-CN" sz="2800" dirty="0" err="1">
                <a:latin typeface="Arial Narrow" pitchFamily="34" charset="0"/>
              </a:rPr>
              <a:t>S.next</a:t>
            </a:r>
            <a:r>
              <a:rPr lang="en-US" altLang="zh-CN" sz="2800" dirty="0">
                <a:solidFill>
                  <a:schemeClr val="tx2"/>
                </a:solidFill>
                <a:latin typeface="Arial Narrow" pitchFamily="34" charset="0"/>
              </a:rPr>
              <a:t> </a:t>
            </a:r>
            <a:endParaRPr lang="en-US" altLang="zh-CN" sz="2800" dirty="0">
              <a:latin typeface="Arial Narrow" pitchFamily="34" charset="0"/>
            </a:endParaRPr>
          </a:p>
          <a:p>
            <a:pPr algn="l">
              <a:buClr>
                <a:schemeClr val="accent1"/>
              </a:buClr>
            </a:pPr>
            <a:r>
              <a:rPr lang="en-US" altLang="zh-CN" sz="2800" dirty="0">
                <a:latin typeface="Arial Narrow" pitchFamily="34" charset="0"/>
              </a:rPr>
              <a:t>L4:  S</a:t>
            </a:r>
            <a:r>
              <a:rPr lang="en-US" altLang="zh-CN" sz="2900" baseline="-25000" dirty="0">
                <a:latin typeface="Arial Narrow" pitchFamily="34" charset="0"/>
              </a:rPr>
              <a:t>2</a:t>
            </a:r>
            <a:r>
              <a:rPr lang="en-US" altLang="zh-CN" sz="2800" dirty="0">
                <a:latin typeface="Arial Narrow" pitchFamily="34" charset="0"/>
              </a:rPr>
              <a:t>.code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81200"/>
            <a:ext cx="4343400" cy="4495800"/>
          </a:xfrm>
        </p:spPr>
        <p:txBody>
          <a:bodyPr/>
          <a:lstStyle/>
          <a:p>
            <a:pPr eaLnBrk="1" hangingPunct="1"/>
            <a:r>
              <a:rPr lang="zh-CN" altLang="en-US" sz="2800" b="1" smtClean="0">
                <a:solidFill>
                  <a:schemeClr val="tx2"/>
                </a:solidFill>
              </a:rPr>
              <a:t>属性设置（继承）</a:t>
            </a:r>
          </a:p>
          <a:p>
            <a:pPr eaLnBrk="1" hangingPunct="1">
              <a:buFontTx/>
              <a:buNone/>
            </a:pPr>
            <a:r>
              <a:rPr lang="zh-CN" altLang="en-US" sz="2800" b="1" smtClean="0">
                <a:solidFill>
                  <a:schemeClr val="tx2"/>
                </a:solidFill>
              </a:rPr>
              <a:t>语句 </a:t>
            </a:r>
            <a:r>
              <a:rPr lang="en-US" altLang="zh-CN" sz="2800" b="1" smtClean="0">
                <a:solidFill>
                  <a:schemeClr val="tx2"/>
                </a:solidFill>
              </a:rPr>
              <a:t>S</a:t>
            </a:r>
            <a:r>
              <a:rPr lang="en-US" altLang="zh-CN" b="1" smtClean="0">
                <a:solidFill>
                  <a:schemeClr val="tx2"/>
                </a:solidFill>
              </a:rPr>
              <a:t> </a:t>
            </a:r>
          </a:p>
          <a:p>
            <a:pPr lvl="1" eaLnBrk="1" hangingPunct="1"/>
            <a:r>
              <a:rPr lang="zh-CN" altLang="en-US" b="1" smtClean="0">
                <a:solidFill>
                  <a:schemeClr val="tx2"/>
                </a:solidFill>
              </a:rPr>
              <a:t>代码段的入口 </a:t>
            </a:r>
            <a:r>
              <a:rPr lang="en-US" altLang="zh-CN" b="1" smtClean="0">
                <a:solidFill>
                  <a:schemeClr val="tx2"/>
                </a:solidFill>
              </a:rPr>
              <a:t>begin</a:t>
            </a:r>
          </a:p>
          <a:p>
            <a:pPr lvl="1" eaLnBrk="1" hangingPunct="1"/>
            <a:r>
              <a:rPr lang="zh-CN" altLang="en-US" b="1" smtClean="0">
                <a:solidFill>
                  <a:schemeClr val="tx2"/>
                </a:solidFill>
              </a:rPr>
              <a:t>后续段入口 </a:t>
            </a:r>
            <a:r>
              <a:rPr lang="en-US" altLang="zh-CN" b="1" smtClean="0">
                <a:solidFill>
                  <a:schemeClr val="tx2"/>
                </a:solidFill>
              </a:rPr>
              <a:t>next</a:t>
            </a:r>
          </a:p>
          <a:p>
            <a:pPr eaLnBrk="1" hangingPunct="1">
              <a:buFontTx/>
              <a:buNone/>
            </a:pPr>
            <a:r>
              <a:rPr lang="zh-CN" altLang="en-US" sz="2800" b="1" smtClean="0">
                <a:solidFill>
                  <a:schemeClr val="tx2"/>
                </a:solidFill>
              </a:rPr>
              <a:t>布尔式 </a:t>
            </a:r>
            <a:r>
              <a:rPr lang="en-US" altLang="zh-CN" sz="2800" b="1" smtClean="0">
                <a:solidFill>
                  <a:schemeClr val="tx2"/>
                </a:solidFill>
              </a:rPr>
              <a:t>E </a:t>
            </a:r>
          </a:p>
          <a:p>
            <a:pPr lvl="1" eaLnBrk="1" hangingPunct="1"/>
            <a:r>
              <a:rPr lang="zh-CN" altLang="en-US" b="1" smtClean="0">
                <a:solidFill>
                  <a:schemeClr val="tx2"/>
                </a:solidFill>
              </a:rPr>
              <a:t>代码段真出口 </a:t>
            </a:r>
            <a:r>
              <a:rPr lang="en-US" altLang="zh-CN" b="1" smtClean="0">
                <a:solidFill>
                  <a:schemeClr val="tx2"/>
                </a:solidFill>
              </a:rPr>
              <a:t>true </a:t>
            </a:r>
          </a:p>
          <a:p>
            <a:pPr lvl="1" eaLnBrk="1" hangingPunct="1"/>
            <a:r>
              <a:rPr lang="zh-CN" altLang="en-US" b="1" smtClean="0">
                <a:solidFill>
                  <a:schemeClr val="tx2"/>
                </a:solidFill>
              </a:rPr>
              <a:t>代码段假出口 </a:t>
            </a:r>
            <a:r>
              <a:rPr lang="en-US" altLang="zh-CN" b="1" smtClean="0">
                <a:solidFill>
                  <a:schemeClr val="tx2"/>
                </a:solidFill>
              </a:rPr>
              <a:t>false</a:t>
            </a:r>
          </a:p>
          <a:p>
            <a:pPr eaLnBrk="1" hangingPunct="1">
              <a:buFontTx/>
              <a:buNone/>
            </a:pPr>
            <a:r>
              <a:rPr lang="zh-CN" altLang="en-US" sz="2800" b="1" smtClean="0">
                <a:solidFill>
                  <a:schemeClr val="tx2"/>
                </a:solidFill>
              </a:rPr>
              <a:t>它们的值都是语句标号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4572000" y="381000"/>
          <a:ext cx="4572000" cy="6172200"/>
        </p:xfrm>
        <a:graphic>
          <a:graphicData uri="http://schemas.openxmlformats.org/presentationml/2006/ole">
            <p:oleObj spid="_x0000_s2050" name="VISIO" r:id="rId3" imgW="3251200" imgH="3324860" progId="Visio.Drawing.4">
              <p:embed/>
            </p:oleObj>
          </a:graphicData>
        </a:graphic>
      </p:graphicFrame>
      <p:sp>
        <p:nvSpPr>
          <p:cNvPr id="619525" name="Rectangle 5"/>
          <p:cNvSpPr>
            <a:spLocks noChangeArrowheads="1"/>
          </p:cNvSpPr>
          <p:nvPr/>
        </p:nvSpPr>
        <p:spPr bwMode="auto">
          <a:xfrm>
            <a:off x="685800" y="838200"/>
            <a:ext cx="37433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S </a:t>
            </a:r>
            <a:r>
              <a:rPr lang="en-US" altLang="zh-CN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→</a:t>
            </a:r>
            <a:r>
              <a:rPr lang="en-US" altLang="zh-CN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 while  E  do S</a:t>
            </a:r>
            <a:r>
              <a:rPr lang="en-US" altLang="zh-CN" sz="2800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1</a:t>
            </a:r>
            <a:r>
              <a:rPr lang="en-US" altLang="zh-CN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  </a:t>
            </a:r>
            <a:br>
              <a:rPr lang="en-US" altLang="zh-CN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</a:br>
            <a:r>
              <a:rPr lang="zh-CN" altLang="en-US" sz="2800" dirty="0">
                <a:solidFill>
                  <a:schemeClr val="tx2"/>
                </a:solidFill>
                <a:latin typeface="Tahoma" pitchFamily="34" charset="0"/>
              </a:rPr>
              <a:t>的翻译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686800" cy="3581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400" b="1" smtClean="0">
                <a:solidFill>
                  <a:schemeClr val="tx2"/>
                </a:solidFill>
              </a:rPr>
              <a:t> 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S → while E do S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E.false := S.next;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				   E.true := newlabel;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				   S.begin := S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.next := newlabel;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                     	   S.code := gen( S.begin':' ) || E.code ||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                              		gen( E.true':' ) || S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.code ||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                              		gen( 'goto'S.begin )</a:t>
            </a:r>
          </a:p>
        </p:txBody>
      </p:sp>
      <p:sp>
        <p:nvSpPr>
          <p:cNvPr id="41987" name="Rectangle 6"/>
          <p:cNvSpPr>
            <a:spLocks noChangeArrowheads="1"/>
          </p:cNvSpPr>
          <p:nvPr/>
        </p:nvSpPr>
        <p:spPr bwMode="auto">
          <a:xfrm>
            <a:off x="6019800" y="457200"/>
            <a:ext cx="2740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u="sng">
                <a:solidFill>
                  <a:schemeClr val="hlink"/>
                </a:solidFill>
                <a:latin typeface="宋体" pitchFamily="2" charset="-122"/>
              </a:rPr>
              <a:t>产生一个新的语句标号</a:t>
            </a:r>
          </a:p>
        </p:txBody>
      </p:sp>
      <p:sp>
        <p:nvSpPr>
          <p:cNvPr id="41988" name="Line 7"/>
          <p:cNvSpPr>
            <a:spLocks noChangeShapeType="1"/>
          </p:cNvSpPr>
          <p:nvPr/>
        </p:nvSpPr>
        <p:spPr bwMode="auto">
          <a:xfrm flipV="1">
            <a:off x="5715000" y="838200"/>
            <a:ext cx="1828800" cy="838200"/>
          </a:xfrm>
          <a:prstGeom prst="line">
            <a:avLst/>
          </a:prstGeom>
          <a:noFill/>
          <a:ln w="1587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41989" name="Text Box 8"/>
          <p:cNvSpPr txBox="1">
            <a:spLocks noChangeArrowheads="1"/>
          </p:cNvSpPr>
          <p:nvPr/>
        </p:nvSpPr>
        <p:spPr bwMode="auto">
          <a:xfrm>
            <a:off x="457200" y="2209800"/>
            <a:ext cx="281940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/>
              <a:t>此时</a:t>
            </a:r>
            <a:r>
              <a:rPr lang="en-US" altLang="zh-CN" sz="2400"/>
              <a:t>E</a:t>
            </a:r>
            <a:r>
              <a:rPr lang="zh-CN" altLang="en-US" sz="2400"/>
              <a:t>是一个布尔表达式，对其进行处理并判断如何跳转的中间代码序列在</a:t>
            </a:r>
            <a:r>
              <a:rPr lang="en-US" altLang="zh-CN" sz="2400"/>
              <a:t>E.code</a:t>
            </a:r>
            <a:r>
              <a:rPr lang="zh-CN" altLang="en-US" sz="2400"/>
              <a:t>中。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92163" y="4572000"/>
            <a:ext cx="7894637" cy="1620838"/>
            <a:chOff x="499" y="2880"/>
            <a:chExt cx="4973" cy="1021"/>
          </a:xfrm>
        </p:grpSpPr>
        <p:sp>
          <p:nvSpPr>
            <p:cNvPr id="620553" name="Rectangle 9"/>
            <p:cNvSpPr>
              <a:spLocks noChangeArrowheads="1"/>
            </p:cNvSpPr>
            <p:nvPr/>
          </p:nvSpPr>
          <p:spPr bwMode="auto">
            <a:xfrm>
              <a:off x="499" y="2880"/>
              <a:ext cx="223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8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例</a:t>
              </a:r>
              <a:r>
                <a:rPr lang="en-US" altLang="zh-CN" sz="28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:  while  a &lt; b  do S</a:t>
              </a:r>
              <a:r>
                <a:rPr lang="en-US" altLang="zh-CN" sz="2800" baseline="-250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41992" name="Rectangle 10"/>
            <p:cNvSpPr>
              <a:spLocks noChangeArrowheads="1"/>
            </p:cNvSpPr>
            <p:nvPr/>
          </p:nvSpPr>
          <p:spPr bwMode="auto">
            <a:xfrm>
              <a:off x="3072" y="2976"/>
              <a:ext cx="2400" cy="9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10000"/>
                </a:spcBef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L1:   E.code     //E</a:t>
              </a:r>
              <a:r>
                <a:rPr lang="zh-CN" altLang="en-US" sz="2800">
                  <a:latin typeface="Arial Narrow" pitchFamily="34" charset="0"/>
                </a:rPr>
                <a:t>为</a:t>
              </a:r>
              <a:r>
                <a:rPr lang="en-US" altLang="zh-CN" sz="2800">
                  <a:latin typeface="Arial Narrow" pitchFamily="34" charset="0"/>
                </a:rPr>
                <a:t>a&lt;b </a:t>
              </a:r>
            </a:p>
            <a:p>
              <a:pPr algn="l">
                <a:spcBef>
                  <a:spcPct val="10000"/>
                </a:spcBef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L2:   S</a:t>
              </a:r>
              <a:r>
                <a:rPr lang="en-US" altLang="zh-CN" sz="2900" baseline="-25000">
                  <a:latin typeface="Arial Narrow" pitchFamily="34" charset="0"/>
                </a:rPr>
                <a:t>1</a:t>
              </a:r>
              <a:r>
                <a:rPr lang="en-US" altLang="zh-CN" sz="2800">
                  <a:latin typeface="Arial Narrow" pitchFamily="34" charset="0"/>
                </a:rPr>
                <a:t>.code </a:t>
              </a:r>
            </a:p>
            <a:p>
              <a:pPr algn="l">
                <a:spcBef>
                  <a:spcPct val="10000"/>
                </a:spcBef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         goto L1</a:t>
              </a:r>
            </a:p>
          </p:txBody>
        </p:sp>
        <p:cxnSp>
          <p:nvCxnSpPr>
            <p:cNvPr id="41993" name="AutoShape 11"/>
            <p:cNvCxnSpPr>
              <a:cxnSpLocks noChangeShapeType="1"/>
              <a:stCxn id="620553" idx="2"/>
              <a:endCxn id="41992" idx="1"/>
            </p:cNvCxnSpPr>
            <p:nvPr/>
          </p:nvCxnSpPr>
          <p:spPr bwMode="auto">
            <a:xfrm rot="16200000" flipH="1">
              <a:off x="2228" y="2595"/>
              <a:ext cx="232" cy="145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577976" y="1000109"/>
            <a:ext cx="6446838" cy="2686826"/>
            <a:chOff x="994" y="2880"/>
            <a:chExt cx="4061" cy="1137"/>
          </a:xfrm>
        </p:grpSpPr>
        <p:sp>
          <p:nvSpPr>
            <p:cNvPr id="620553" name="Rectangle 9"/>
            <p:cNvSpPr>
              <a:spLocks noChangeArrowheads="1"/>
            </p:cNvSpPr>
            <p:nvPr/>
          </p:nvSpPr>
          <p:spPr bwMode="auto">
            <a:xfrm>
              <a:off x="994" y="2880"/>
              <a:ext cx="2021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28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例</a:t>
              </a:r>
              <a:r>
                <a:rPr lang="en-US" altLang="zh-CN" sz="28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:  while  </a:t>
              </a:r>
              <a:r>
                <a:rPr lang="en-US" altLang="zh-CN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(a </a:t>
              </a:r>
              <a:r>
                <a:rPr lang="en-US" altLang="zh-CN" sz="28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&lt; </a:t>
              </a:r>
              <a:r>
                <a:rPr lang="en-US" altLang="zh-CN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b)  </a:t>
              </a:r>
            </a:p>
            <a:p>
              <a:pPr>
                <a:defRPr/>
              </a:pPr>
              <a:r>
                <a:rPr lang="zh-CN" altLang="en-US" sz="28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zh-CN" altLang="en-US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     </a:t>
              </a:r>
              <a:r>
                <a:rPr lang="en-US" altLang="zh-CN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en-US" altLang="zh-CN" sz="2800" baseline="-250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sz="2800" dirty="0" smtClean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;</a:t>
              </a:r>
              <a:endParaRPr lang="en-US" altLang="zh-CN" sz="2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1992" name="Rectangle 10"/>
            <p:cNvSpPr>
              <a:spLocks noChangeArrowheads="1"/>
            </p:cNvSpPr>
            <p:nvPr/>
          </p:nvSpPr>
          <p:spPr bwMode="auto">
            <a:xfrm>
              <a:off x="2655" y="3394"/>
              <a:ext cx="2400" cy="6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10000"/>
                </a:spcBef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L1:   </a:t>
              </a:r>
              <a:r>
                <a:rPr lang="en-US" altLang="zh-CN" sz="2800" dirty="0" err="1">
                  <a:latin typeface="Arial Narrow" pitchFamily="34" charset="0"/>
                </a:rPr>
                <a:t>E.code</a:t>
              </a:r>
              <a:r>
                <a:rPr lang="en-US" altLang="zh-CN" sz="2800" dirty="0">
                  <a:latin typeface="Arial Narrow" pitchFamily="34" charset="0"/>
                </a:rPr>
                <a:t>     //E</a:t>
              </a:r>
              <a:r>
                <a:rPr lang="zh-CN" altLang="en-US" sz="2800" dirty="0">
                  <a:latin typeface="Arial Narrow" pitchFamily="34" charset="0"/>
                </a:rPr>
                <a:t>为</a:t>
              </a:r>
              <a:r>
                <a:rPr lang="en-US" altLang="zh-CN" sz="2800" dirty="0">
                  <a:latin typeface="Arial Narrow" pitchFamily="34" charset="0"/>
                </a:rPr>
                <a:t>a&lt;b </a:t>
              </a:r>
            </a:p>
            <a:p>
              <a:pPr algn="l">
                <a:spcBef>
                  <a:spcPct val="10000"/>
                </a:spcBef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L2:   S</a:t>
              </a:r>
              <a:r>
                <a:rPr lang="en-US" altLang="zh-CN" sz="2900" baseline="-25000" dirty="0">
                  <a:latin typeface="Arial Narrow" pitchFamily="34" charset="0"/>
                </a:rPr>
                <a:t>1</a:t>
              </a:r>
              <a:r>
                <a:rPr lang="en-US" altLang="zh-CN" sz="2800" dirty="0">
                  <a:latin typeface="Arial Narrow" pitchFamily="34" charset="0"/>
                </a:rPr>
                <a:t>.code </a:t>
              </a:r>
            </a:p>
            <a:p>
              <a:pPr algn="l">
                <a:spcBef>
                  <a:spcPct val="10000"/>
                </a:spcBef>
                <a:buClr>
                  <a:schemeClr val="accent1"/>
                </a:buClr>
              </a:pPr>
              <a:r>
                <a:rPr lang="en-US" altLang="zh-CN" sz="2800" dirty="0">
                  <a:latin typeface="Arial Narrow" pitchFamily="34" charset="0"/>
                </a:rPr>
                <a:t>         </a:t>
              </a:r>
              <a:r>
                <a:rPr lang="en-US" altLang="zh-CN" sz="2800" dirty="0" err="1">
                  <a:latin typeface="Arial Narrow" pitchFamily="34" charset="0"/>
                </a:rPr>
                <a:t>goto</a:t>
              </a:r>
              <a:r>
                <a:rPr lang="en-US" altLang="zh-CN" sz="2800" dirty="0">
                  <a:latin typeface="Arial Narrow" pitchFamily="34" charset="0"/>
                </a:rPr>
                <a:t> L1</a:t>
              </a:r>
            </a:p>
          </p:txBody>
        </p:sp>
        <p:cxnSp>
          <p:nvCxnSpPr>
            <p:cNvPr id="41993" name="AutoShape 11"/>
            <p:cNvCxnSpPr>
              <a:cxnSpLocks noChangeShapeType="1"/>
              <a:stCxn id="620553" idx="2"/>
              <a:endCxn id="41992" idx="1"/>
            </p:cNvCxnSpPr>
            <p:nvPr/>
          </p:nvCxnSpPr>
          <p:spPr bwMode="auto">
            <a:xfrm rot="16200000" flipH="1">
              <a:off x="2119" y="3169"/>
              <a:ext cx="421" cy="65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214414" y="4071942"/>
            <a:ext cx="7358114" cy="19451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 dirty="0" smtClean="0">
                <a:solidFill>
                  <a:srgbClr val="FF0000"/>
                </a:solidFill>
              </a:rPr>
              <a:t>L1:  </a:t>
            </a:r>
            <a:r>
              <a:rPr lang="en-US" altLang="zh-CN" sz="2800" dirty="0" smtClean="0"/>
              <a:t>if  a&lt;b </a:t>
            </a:r>
            <a:r>
              <a:rPr lang="en-US" altLang="zh-CN" sz="2800" dirty="0" err="1" smtClean="0"/>
              <a:t>goto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FF0000"/>
                </a:solidFill>
              </a:rPr>
              <a:t>L2</a:t>
            </a:r>
            <a:endParaRPr lang="zh-CN" altLang="en-US" sz="2800" dirty="0" smtClean="0"/>
          </a:p>
          <a:p>
            <a:pPr>
              <a:spcBef>
                <a:spcPct val="10000"/>
              </a:spcBef>
              <a:buClr>
                <a:schemeClr val="accent1"/>
              </a:buClr>
            </a:pPr>
            <a:r>
              <a:rPr lang="zh-CN" altLang="en-US" sz="2800" dirty="0" smtClean="0"/>
              <a:t>        </a:t>
            </a:r>
            <a:r>
              <a:rPr lang="en-US" altLang="zh-CN" sz="2800" dirty="0" err="1" smtClean="0"/>
              <a:t>goto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FF0000"/>
                </a:solidFill>
              </a:rPr>
              <a:t>(while a&lt;b).next</a:t>
            </a:r>
          </a:p>
          <a:p>
            <a:pPr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 dirty="0" smtClean="0">
                <a:solidFill>
                  <a:srgbClr val="FF0000"/>
                </a:solidFill>
              </a:rPr>
              <a:t>L2: </a:t>
            </a:r>
            <a:r>
              <a:rPr lang="zh-CN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zh-CN" sz="2800" dirty="0" smtClean="0">
                <a:latin typeface="Arial Narrow" pitchFamily="34" charset="0"/>
              </a:rPr>
              <a:t>S</a:t>
            </a:r>
            <a:r>
              <a:rPr lang="en-US" altLang="zh-CN" sz="2900" baseline="-25000" dirty="0" smtClean="0">
                <a:latin typeface="Arial Narrow" pitchFamily="34" charset="0"/>
              </a:rPr>
              <a:t>1</a:t>
            </a:r>
            <a:r>
              <a:rPr lang="en-US" altLang="zh-CN" sz="2800" dirty="0" smtClean="0">
                <a:latin typeface="Arial Narrow" pitchFamily="34" charset="0"/>
              </a:rPr>
              <a:t>.code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 dirty="0" smtClean="0">
                <a:solidFill>
                  <a:srgbClr val="FF0000"/>
                </a:solidFill>
              </a:rPr>
              <a:t>        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goto</a:t>
            </a:r>
            <a:r>
              <a:rPr lang="en-US" altLang="zh-CN" sz="2800" dirty="0" smtClean="0">
                <a:solidFill>
                  <a:srgbClr val="FF0000"/>
                </a:solidFill>
              </a:rPr>
              <a:t> L1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914400"/>
            <a:ext cx="8001000" cy="3200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E → T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relop T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E.code := gen( 'if' T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.place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			     relop.op T</a:t>
            </a:r>
            <a:r>
              <a:rPr lang="en-US" altLang="zh-CN" sz="2900" b="1" baseline="-25000" smtClean="0">
                <a:solidFill>
                  <a:schemeClr val="tx2"/>
                </a:solidFill>
                <a:latin typeface="Arial Narrow" pitchFamily="34" charset="0"/>
              </a:rPr>
              <a:t>2</a:t>
            </a: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.place 'goto'E.true )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                                       || gen( 'goto'E.false 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T → id                    T.place := id.entry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Arial Narrow" pitchFamily="34" charset="0"/>
              </a:rPr>
              <a:t>T → num                T.place := num.val</a:t>
            </a:r>
          </a:p>
        </p:txBody>
      </p:sp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162800" cy="5334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6.2.3</a:t>
            </a:r>
            <a:r>
              <a:rPr lang="zh-CN" altLang="en-US" sz="280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、简单布尔表达式的翻译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838200" y="4114800"/>
            <a:ext cx="4953000" cy="1184275"/>
            <a:chOff x="528" y="2592"/>
            <a:chExt cx="3120" cy="746"/>
          </a:xfrm>
        </p:grpSpPr>
        <p:sp>
          <p:nvSpPr>
            <p:cNvPr id="623620" name="Rectangle 4"/>
            <p:cNvSpPr>
              <a:spLocks noChangeArrowheads="1"/>
            </p:cNvSpPr>
            <p:nvPr/>
          </p:nvSpPr>
          <p:spPr bwMode="auto">
            <a:xfrm>
              <a:off x="528" y="2592"/>
              <a:ext cx="16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buClr>
                  <a:schemeClr val="accent1"/>
                </a:buClr>
                <a:defRPr/>
              </a:pPr>
              <a:r>
                <a:rPr lang="zh-CN" altLang="en-US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例： </a:t>
              </a:r>
              <a:r>
                <a:rPr lang="en-US" altLang="zh-CN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 &lt; 5</a:t>
              </a:r>
            </a:p>
          </p:txBody>
        </p:sp>
        <p:sp>
          <p:nvSpPr>
            <p:cNvPr id="43018" name="Rectangle 5"/>
            <p:cNvSpPr>
              <a:spLocks noChangeArrowheads="1"/>
            </p:cNvSpPr>
            <p:nvPr/>
          </p:nvSpPr>
          <p:spPr bwMode="auto">
            <a:xfrm>
              <a:off x="1872" y="2736"/>
              <a:ext cx="1776" cy="6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if c&lt;5  goto </a:t>
              </a:r>
              <a:r>
                <a:rPr lang="en-US" altLang="zh-CN" sz="2800">
                  <a:solidFill>
                    <a:schemeClr val="hlink"/>
                  </a:solidFill>
                  <a:latin typeface="Arial Narrow" pitchFamily="34" charset="0"/>
                </a:rPr>
                <a:t>E.true</a:t>
              </a:r>
            </a:p>
            <a:p>
              <a:pPr algn="l"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goto </a:t>
              </a:r>
              <a:r>
                <a:rPr lang="en-US" altLang="zh-CN" sz="2800">
                  <a:solidFill>
                    <a:schemeClr val="hlink"/>
                  </a:solidFill>
                  <a:latin typeface="Arial Narrow" pitchFamily="34" charset="0"/>
                </a:rPr>
                <a:t>E.false</a:t>
              </a:r>
            </a:p>
          </p:txBody>
        </p:sp>
        <p:cxnSp>
          <p:nvCxnSpPr>
            <p:cNvPr id="43019" name="AutoShape 6"/>
            <p:cNvCxnSpPr>
              <a:cxnSpLocks noChangeShapeType="1"/>
              <a:stCxn id="623620" idx="2"/>
              <a:endCxn id="43018" idx="1"/>
            </p:cNvCxnSpPr>
            <p:nvPr/>
          </p:nvCxnSpPr>
          <p:spPr bwMode="auto">
            <a:xfrm rot="16200000" flipH="1">
              <a:off x="1564" y="2729"/>
              <a:ext cx="118" cy="49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1371600" y="4191000"/>
            <a:ext cx="7467600" cy="2236788"/>
            <a:chOff x="864" y="2640"/>
            <a:chExt cx="4704" cy="1409"/>
          </a:xfrm>
        </p:grpSpPr>
        <p:sp>
          <p:nvSpPr>
            <p:cNvPr id="623623" name="Rectangle 7"/>
            <p:cNvSpPr>
              <a:spLocks noChangeArrowheads="1"/>
            </p:cNvSpPr>
            <p:nvPr/>
          </p:nvSpPr>
          <p:spPr bwMode="auto">
            <a:xfrm>
              <a:off x="864" y="3561"/>
              <a:ext cx="25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buClr>
                  <a:schemeClr val="accent1"/>
                </a:buClr>
                <a:defRPr/>
              </a:pPr>
              <a:r>
                <a:rPr lang="en-US" altLang="zh-CN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if  c &lt; 5  then  S</a:t>
              </a:r>
              <a:r>
                <a:rPr lang="en-US" altLang="zh-CN" sz="2800" baseline="-25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else  S</a:t>
              </a:r>
              <a:r>
                <a:rPr lang="en-US" altLang="zh-CN" sz="2800" baseline="-25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  </a:t>
              </a:r>
              <a:r>
                <a:rPr lang="en-US" altLang="zh-CN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</a:t>
              </a:r>
            </a:p>
          </p:txBody>
        </p:sp>
        <p:sp>
          <p:nvSpPr>
            <p:cNvPr id="43015" name="Rectangle 8"/>
            <p:cNvSpPr>
              <a:spLocks noChangeArrowheads="1"/>
            </p:cNvSpPr>
            <p:nvPr/>
          </p:nvSpPr>
          <p:spPr bwMode="auto">
            <a:xfrm>
              <a:off x="3792" y="2640"/>
              <a:ext cx="1776" cy="14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        if c&lt;5  goto </a:t>
              </a:r>
              <a:r>
                <a:rPr lang="en-US" altLang="zh-CN" sz="2800">
                  <a:solidFill>
                    <a:schemeClr val="hlink"/>
                  </a:solidFill>
                  <a:latin typeface="Arial Narrow" pitchFamily="34" charset="0"/>
                </a:rPr>
                <a:t>L3</a:t>
              </a:r>
            </a:p>
            <a:p>
              <a:pPr algn="l"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        goto</a:t>
              </a:r>
              <a:r>
                <a:rPr lang="en-US" altLang="zh-CN" sz="2800">
                  <a:solidFill>
                    <a:schemeClr val="hlink"/>
                  </a:solidFill>
                  <a:latin typeface="Arial Narrow" pitchFamily="34" charset="0"/>
                </a:rPr>
                <a:t> L4</a:t>
              </a:r>
              <a:r>
                <a:rPr lang="en-US" altLang="zh-CN" sz="2800">
                  <a:latin typeface="Arial Narrow" pitchFamily="34" charset="0"/>
                </a:rPr>
                <a:t>   </a:t>
              </a:r>
              <a:r>
                <a:rPr lang="en-US" altLang="zh-CN">
                  <a:latin typeface="Arial Narrow" pitchFamily="34" charset="0"/>
                </a:rPr>
                <a:t>(</a:t>
              </a:r>
              <a:r>
                <a:rPr lang="zh-CN" altLang="en-US">
                  <a:latin typeface="Arial Narrow" pitchFamily="34" charset="0"/>
                </a:rPr>
                <a:t>回填</a:t>
              </a:r>
              <a:r>
                <a:rPr lang="en-US" altLang="zh-CN">
                  <a:latin typeface="Arial Narrow" pitchFamily="34" charset="0"/>
                </a:rPr>
                <a:t>)</a:t>
              </a:r>
            </a:p>
            <a:p>
              <a:pPr algn="l"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L3:  S</a:t>
              </a:r>
              <a:r>
                <a:rPr lang="en-US" altLang="zh-CN" sz="2900" baseline="-25000">
                  <a:latin typeface="Arial Narrow" pitchFamily="34" charset="0"/>
                </a:rPr>
                <a:t>1</a:t>
              </a:r>
              <a:r>
                <a:rPr lang="en-US" altLang="zh-CN" sz="2800">
                  <a:latin typeface="Arial Narrow" pitchFamily="34" charset="0"/>
                </a:rPr>
                <a:t>.code </a:t>
              </a:r>
            </a:p>
            <a:p>
              <a:pPr algn="l"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        goto S.next</a:t>
              </a:r>
              <a:r>
                <a:rPr lang="en-US" altLang="zh-CN" sz="2800">
                  <a:solidFill>
                    <a:schemeClr val="tx2"/>
                  </a:solidFill>
                  <a:latin typeface="Arial Narrow" pitchFamily="34" charset="0"/>
                </a:rPr>
                <a:t> </a:t>
              </a:r>
              <a:endParaRPr lang="en-US" altLang="zh-CN" sz="2800">
                <a:latin typeface="Arial Narrow" pitchFamily="34" charset="0"/>
              </a:endParaRPr>
            </a:p>
            <a:p>
              <a:pPr algn="l">
                <a:buClr>
                  <a:schemeClr val="accent1"/>
                </a:buClr>
              </a:pPr>
              <a:r>
                <a:rPr lang="en-US" altLang="zh-CN" sz="2800">
                  <a:latin typeface="Arial Narrow" pitchFamily="34" charset="0"/>
                </a:rPr>
                <a:t>L4:  S</a:t>
              </a:r>
              <a:r>
                <a:rPr lang="en-US" altLang="zh-CN" sz="2900" baseline="-25000">
                  <a:latin typeface="Arial Narrow" pitchFamily="34" charset="0"/>
                </a:rPr>
                <a:t>2</a:t>
              </a:r>
              <a:r>
                <a:rPr lang="en-US" altLang="zh-CN" sz="2800">
                  <a:latin typeface="Arial Narrow" pitchFamily="34" charset="0"/>
                </a:rPr>
                <a:t>.code </a:t>
              </a:r>
            </a:p>
          </p:txBody>
        </p:sp>
        <p:sp>
          <p:nvSpPr>
            <p:cNvPr id="43016" name="AutoShape 11"/>
            <p:cNvSpPr>
              <a:spLocks noChangeArrowheads="1"/>
            </p:cNvSpPr>
            <p:nvPr/>
          </p:nvSpPr>
          <p:spPr bwMode="auto">
            <a:xfrm>
              <a:off x="3456" y="3600"/>
              <a:ext cx="240" cy="240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533400" y="1246188"/>
            <a:ext cx="4267200" cy="286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while  a &lt; b  do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    if  c &lt; 5  then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        while x &gt; y do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	      z := x + 1;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    else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        x := y</a:t>
            </a:r>
          </a:p>
        </p:txBody>
      </p:sp>
      <p:sp>
        <p:nvSpPr>
          <p:cNvPr id="44035" name="AutoShape 4"/>
          <p:cNvSpPr>
            <a:spLocks noChangeArrowheads="1"/>
          </p:cNvSpPr>
          <p:nvPr/>
        </p:nvSpPr>
        <p:spPr bwMode="auto">
          <a:xfrm>
            <a:off x="3810000" y="1905000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1749" name="Rectangle 5"/>
          <p:cNvSpPr>
            <a:spLocks noChangeArrowheads="1"/>
          </p:cNvSpPr>
          <p:nvPr/>
        </p:nvSpPr>
        <p:spPr bwMode="auto">
          <a:xfrm>
            <a:off x="4876800" y="1143000"/>
            <a:ext cx="3733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endParaRPr lang="zh-CN" altLang="zh-CN" sz="28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4037" name="Rectangle 6"/>
          <p:cNvSpPr>
            <a:spLocks noChangeArrowheads="1"/>
          </p:cNvSpPr>
          <p:nvPr/>
        </p:nvSpPr>
        <p:spPr bwMode="auto">
          <a:xfrm>
            <a:off x="4267200" y="4065588"/>
            <a:ext cx="4572000" cy="1725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gen( 'if' T</a:t>
            </a:r>
            <a:r>
              <a:rPr lang="en-US" altLang="zh-CN" sz="2900" baseline="-25000">
                <a:latin typeface="Arial Narrow" pitchFamily="34" charset="0"/>
              </a:rPr>
              <a:t>1</a:t>
            </a:r>
            <a:r>
              <a:rPr lang="en-US" altLang="zh-CN" sz="2800">
                <a:latin typeface="Arial Narrow" pitchFamily="34" charset="0"/>
              </a:rPr>
              <a:t>.place                 relop.op T</a:t>
            </a:r>
            <a:r>
              <a:rPr lang="en-US" altLang="zh-CN" sz="2900" baseline="-25000">
                <a:latin typeface="Arial Narrow" pitchFamily="34" charset="0"/>
              </a:rPr>
              <a:t>2</a:t>
            </a:r>
            <a:r>
              <a:rPr lang="en-US" altLang="zh-CN" sz="2800">
                <a:latin typeface="Arial Narrow" pitchFamily="34" charset="0"/>
              </a:rPr>
              <a:t>.place 'goto'E.true ) </a:t>
            </a:r>
          </a:p>
          <a:p>
            <a:pPr algn="l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|| gen( 'goto'E.false )</a:t>
            </a:r>
          </a:p>
        </p:txBody>
      </p:sp>
      <p:sp>
        <p:nvSpPr>
          <p:cNvPr id="44038" name="Rectangle 7"/>
          <p:cNvSpPr>
            <a:spLocks noChangeArrowheads="1"/>
          </p:cNvSpPr>
          <p:nvPr/>
        </p:nvSpPr>
        <p:spPr bwMode="auto">
          <a:xfrm>
            <a:off x="4800600" y="1752600"/>
            <a:ext cx="3352800" cy="98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>
                <a:solidFill>
                  <a:srgbClr val="FF0000"/>
                </a:solidFill>
                <a:latin typeface="Arial Narrow" pitchFamily="34" charset="0"/>
              </a:rPr>
              <a:t>if a&lt;b goto (a&lt;b).true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>
                <a:solidFill>
                  <a:srgbClr val="FF0000"/>
                </a:solidFill>
                <a:latin typeface="Arial Narrow" pitchFamily="34" charset="0"/>
              </a:rPr>
              <a:t>goto (a&lt;b).false</a:t>
            </a:r>
            <a:r>
              <a:rPr lang="en-US" altLang="zh-CN" sz="2800" u="sng">
                <a:solidFill>
                  <a:srgbClr val="FF0000"/>
                </a:solidFill>
                <a:latin typeface="Arial Narrow" pitchFamily="34" charset="0"/>
              </a:rPr>
              <a:t> </a:t>
            </a:r>
          </a:p>
        </p:txBody>
      </p:sp>
      <p:sp>
        <p:nvSpPr>
          <p:cNvPr id="44039" name="AutoShape 9"/>
          <p:cNvSpPr>
            <a:spLocks noChangeArrowheads="1"/>
          </p:cNvSpPr>
          <p:nvPr/>
        </p:nvSpPr>
        <p:spPr bwMode="auto">
          <a:xfrm>
            <a:off x="3505200" y="4572000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0" name="AutoShape 12"/>
          <p:cNvSpPr>
            <a:spLocks/>
          </p:cNvSpPr>
          <p:nvPr/>
        </p:nvSpPr>
        <p:spPr bwMode="auto">
          <a:xfrm rot="5400000">
            <a:off x="1599406" y="1232694"/>
            <a:ext cx="255588" cy="152400"/>
          </a:xfrm>
          <a:prstGeom prst="leftBrace">
            <a:avLst>
              <a:gd name="adj1" fmla="val 19676"/>
              <a:gd name="adj2" fmla="val 4861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1" name="Rectangle 13"/>
          <p:cNvSpPr>
            <a:spLocks noChangeArrowheads="1"/>
          </p:cNvSpPr>
          <p:nvPr/>
        </p:nvSpPr>
        <p:spPr bwMode="auto">
          <a:xfrm>
            <a:off x="1524000" y="762000"/>
            <a:ext cx="471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Arial Narrow" pitchFamily="34" charset="0"/>
              </a:rPr>
              <a:t>T</a:t>
            </a:r>
            <a:r>
              <a:rPr lang="en-US" altLang="zh-CN" sz="2800" baseline="-25000">
                <a:solidFill>
                  <a:srgbClr val="FF0000"/>
                </a:solidFill>
                <a:latin typeface="Arial Narrow" pitchFamily="34" charset="0"/>
              </a:rPr>
              <a:t>1</a:t>
            </a:r>
          </a:p>
        </p:txBody>
      </p:sp>
      <p:sp>
        <p:nvSpPr>
          <p:cNvPr id="671758" name="Text Box 14"/>
          <p:cNvSpPr txBox="1">
            <a:spLocks noChangeArrowheads="1"/>
          </p:cNvSpPr>
          <p:nvPr/>
        </p:nvSpPr>
        <p:spPr bwMode="auto">
          <a:xfrm>
            <a:off x="8077200" y="457200"/>
            <a:ext cx="5492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zh-CN" alt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第一步</a:t>
            </a:r>
          </a:p>
        </p:txBody>
      </p:sp>
      <p:sp>
        <p:nvSpPr>
          <p:cNvPr id="44043" name="Rectangle 15"/>
          <p:cNvSpPr>
            <a:spLocks noChangeArrowheads="1"/>
          </p:cNvSpPr>
          <p:nvPr/>
        </p:nvSpPr>
        <p:spPr bwMode="auto">
          <a:xfrm>
            <a:off x="985838" y="4648200"/>
            <a:ext cx="235585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E → T</a:t>
            </a:r>
            <a:r>
              <a:rPr lang="en-US" altLang="zh-CN" sz="2900" baseline="-2500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 relop T</a:t>
            </a:r>
            <a:r>
              <a:rPr lang="en-US" altLang="zh-CN" sz="2900" baseline="-25000">
                <a:solidFill>
                  <a:schemeClr val="tx2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44044" name="AutoShape 16"/>
          <p:cNvSpPr>
            <a:spLocks/>
          </p:cNvSpPr>
          <p:nvPr/>
        </p:nvSpPr>
        <p:spPr bwMode="auto">
          <a:xfrm rot="5400000">
            <a:off x="2132806" y="1232694"/>
            <a:ext cx="255588" cy="152400"/>
          </a:xfrm>
          <a:prstGeom prst="leftBrace">
            <a:avLst>
              <a:gd name="adj1" fmla="val 19676"/>
              <a:gd name="adj2" fmla="val 4861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5" name="Rectangle 17"/>
          <p:cNvSpPr>
            <a:spLocks noChangeArrowheads="1"/>
          </p:cNvSpPr>
          <p:nvPr/>
        </p:nvSpPr>
        <p:spPr bwMode="auto">
          <a:xfrm>
            <a:off x="2057400" y="762000"/>
            <a:ext cx="471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Arial Narrow" pitchFamily="34" charset="0"/>
              </a:rPr>
              <a:t>T</a:t>
            </a:r>
            <a:r>
              <a:rPr lang="en-US" altLang="zh-CN" sz="2800" baseline="-2500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671764" name="Rectangle 20"/>
          <p:cNvSpPr>
            <a:spLocks noChangeArrowheads="1"/>
          </p:cNvSpPr>
          <p:nvPr/>
        </p:nvSpPr>
        <p:spPr bwMode="auto">
          <a:xfrm>
            <a:off x="304800" y="3048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l">
              <a:defRPr/>
            </a:pPr>
            <a:r>
              <a:rPr lang="en-US" altLang="zh-CN" sz="2800" b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6.2.4</a:t>
            </a:r>
            <a:r>
              <a:rPr lang="zh-CN" altLang="en-US" sz="2800" b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、例：翻译下列语句为三地址代码序列</a:t>
            </a:r>
          </a:p>
        </p:txBody>
      </p:sp>
      <p:sp>
        <p:nvSpPr>
          <p:cNvPr id="44047" name="Text Box 21"/>
          <p:cNvSpPr txBox="1">
            <a:spLocks noChangeArrowheads="1"/>
          </p:cNvSpPr>
          <p:nvPr/>
        </p:nvSpPr>
        <p:spPr bwMode="auto">
          <a:xfrm>
            <a:off x="4724400" y="2743200"/>
            <a:ext cx="3810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/>
              <a:t>按自下而上分析，最早识别</a:t>
            </a:r>
            <a:r>
              <a:rPr lang="en-US" altLang="zh-CN" sz="2400"/>
              <a:t>a&lt;b</a:t>
            </a:r>
            <a:r>
              <a:rPr lang="zh-CN" altLang="en-US" sz="2400"/>
              <a:t>，因此先生成</a:t>
            </a:r>
            <a:r>
              <a:rPr lang="en-US" altLang="zh-CN" sz="2400"/>
              <a:t>a&lt;b</a:t>
            </a:r>
            <a:r>
              <a:rPr lang="zh-CN" altLang="en-US" sz="2400"/>
              <a:t>的中间代码序列。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ChangeArrowheads="1"/>
          </p:cNvSpPr>
          <p:nvPr/>
        </p:nvSpPr>
        <p:spPr bwMode="auto">
          <a:xfrm>
            <a:off x="533400" y="1398588"/>
            <a:ext cx="4267200" cy="286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while  a &lt; b  do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    if  c &lt; 5  then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        while x &gt; y do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	     z := x + 1;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    else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/>
              <a:t>        x := y</a:t>
            </a:r>
          </a:p>
        </p:txBody>
      </p:sp>
      <p:sp>
        <p:nvSpPr>
          <p:cNvPr id="45059" name="AutoShape 5"/>
          <p:cNvSpPr>
            <a:spLocks noChangeArrowheads="1"/>
          </p:cNvSpPr>
          <p:nvPr/>
        </p:nvSpPr>
        <p:spPr bwMode="auto">
          <a:xfrm>
            <a:off x="3657600" y="1600200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9702" name="Rectangle 6"/>
          <p:cNvSpPr>
            <a:spLocks noChangeArrowheads="1"/>
          </p:cNvSpPr>
          <p:nvPr/>
        </p:nvSpPr>
        <p:spPr bwMode="auto">
          <a:xfrm>
            <a:off x="4876800" y="1143000"/>
            <a:ext cx="3733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endParaRPr lang="zh-CN" altLang="zh-CN" sz="28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5061" name="Rectangle 7"/>
          <p:cNvSpPr>
            <a:spLocks noChangeArrowheads="1"/>
          </p:cNvSpPr>
          <p:nvPr/>
        </p:nvSpPr>
        <p:spPr bwMode="auto">
          <a:xfrm>
            <a:off x="4343400" y="2895600"/>
            <a:ext cx="4343400" cy="3517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E.false := S.next;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E.true := newlabel;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S.begin := S</a:t>
            </a:r>
            <a:r>
              <a:rPr lang="en-US" altLang="zh-CN" sz="2900" baseline="-25000">
                <a:latin typeface="Arial Narrow" pitchFamily="34" charset="0"/>
              </a:rPr>
              <a:t>1</a:t>
            </a:r>
            <a:r>
              <a:rPr lang="en-US" altLang="zh-CN" sz="2800">
                <a:latin typeface="Arial Narrow" pitchFamily="34" charset="0"/>
              </a:rPr>
              <a:t>.next := newlabel;                      S.code := gen( S.begin':' )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	   || E.code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	   || gen( E.true':' )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	   || S</a:t>
            </a:r>
            <a:r>
              <a:rPr lang="en-US" altLang="zh-CN" sz="2900" baseline="-25000">
                <a:latin typeface="Arial Narrow" pitchFamily="34" charset="0"/>
              </a:rPr>
              <a:t>1</a:t>
            </a:r>
            <a:r>
              <a:rPr lang="en-US" altLang="zh-CN" sz="2800">
                <a:latin typeface="Arial Narrow" pitchFamily="34" charset="0"/>
              </a:rPr>
              <a:t>.code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	   || gen( 'goto'S.begin )</a:t>
            </a:r>
          </a:p>
        </p:txBody>
      </p:sp>
      <p:sp>
        <p:nvSpPr>
          <p:cNvPr id="45062" name="Rectangle 8"/>
          <p:cNvSpPr>
            <a:spLocks noChangeArrowheads="1"/>
          </p:cNvSpPr>
          <p:nvPr/>
        </p:nvSpPr>
        <p:spPr bwMode="auto">
          <a:xfrm>
            <a:off x="4495800" y="1157288"/>
            <a:ext cx="5029200" cy="168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 dirty="0">
                <a:solidFill>
                  <a:srgbClr val="FF0000"/>
                </a:solidFill>
              </a:rPr>
              <a:t>L2:  </a:t>
            </a:r>
            <a:r>
              <a:rPr lang="en-US" altLang="zh-CN" sz="2400" dirty="0"/>
              <a:t>if  x&gt;y </a:t>
            </a:r>
            <a:r>
              <a:rPr lang="en-US" altLang="zh-CN" sz="2400" dirty="0" err="1"/>
              <a:t>goto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L1</a:t>
            </a:r>
            <a:r>
              <a:rPr lang="en-US" altLang="zh-CN" sz="2400" dirty="0"/>
              <a:t>   </a:t>
            </a:r>
            <a:r>
              <a:rPr lang="en-US" altLang="zh-CN" dirty="0"/>
              <a:t>//L1</a:t>
            </a:r>
            <a:r>
              <a:rPr lang="zh-CN" altLang="en-US" dirty="0"/>
              <a:t>为回填得来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zh-CN" altLang="en-US" sz="2400" dirty="0"/>
              <a:t>        </a:t>
            </a:r>
            <a:r>
              <a:rPr lang="en-US" altLang="zh-CN" sz="2400" dirty="0" err="1"/>
              <a:t>goto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(while x&gt;y).next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 dirty="0">
                <a:solidFill>
                  <a:srgbClr val="FF0000"/>
                </a:solidFill>
              </a:rPr>
              <a:t>L1:  z:=x+1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 dirty="0">
                <a:solidFill>
                  <a:srgbClr val="FF0000"/>
                </a:solidFill>
              </a:rPr>
              <a:t>        </a:t>
            </a:r>
            <a:r>
              <a:rPr lang="en-US" altLang="zh-CN" sz="2400" dirty="0" err="1">
                <a:solidFill>
                  <a:srgbClr val="FF0000"/>
                </a:solidFill>
              </a:rPr>
              <a:t>goto</a:t>
            </a:r>
            <a:r>
              <a:rPr lang="en-US" altLang="zh-CN" sz="2400" dirty="0">
                <a:solidFill>
                  <a:srgbClr val="FF0000"/>
                </a:solidFill>
              </a:rPr>
              <a:t> L2</a:t>
            </a:r>
          </a:p>
        </p:txBody>
      </p:sp>
      <p:sp>
        <p:nvSpPr>
          <p:cNvPr id="45063" name="Rectangle 9"/>
          <p:cNvSpPr>
            <a:spLocks noChangeArrowheads="1"/>
          </p:cNvSpPr>
          <p:nvPr/>
        </p:nvSpPr>
        <p:spPr bwMode="auto">
          <a:xfrm>
            <a:off x="685800" y="4648200"/>
            <a:ext cx="2905125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latin typeface="Tahoma" pitchFamily="34" charset="0"/>
              </a:rPr>
              <a:t> </a:t>
            </a:r>
            <a:r>
              <a:rPr lang="en-US" altLang="zh-CN" sz="2800">
                <a:latin typeface="Arial Narrow" pitchFamily="34" charset="0"/>
              </a:rPr>
              <a:t>S → while E do S</a:t>
            </a:r>
            <a:r>
              <a:rPr lang="en-US" altLang="zh-CN" sz="2900" baseline="-25000">
                <a:latin typeface="Arial Narrow" pitchFamily="34" charset="0"/>
              </a:rPr>
              <a:t>1</a:t>
            </a:r>
            <a:r>
              <a:rPr lang="en-US" altLang="zh-CN" sz="2800">
                <a:latin typeface="Arial Narrow" pitchFamily="34" charset="0"/>
              </a:rPr>
              <a:t> </a:t>
            </a:r>
          </a:p>
        </p:txBody>
      </p:sp>
      <p:sp>
        <p:nvSpPr>
          <p:cNvPr id="45064" name="AutoShape 10"/>
          <p:cNvSpPr>
            <a:spLocks noChangeArrowheads="1"/>
          </p:cNvSpPr>
          <p:nvPr/>
        </p:nvSpPr>
        <p:spPr bwMode="auto">
          <a:xfrm>
            <a:off x="3657600" y="4572000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5" name="AutoShape 11"/>
          <p:cNvSpPr>
            <a:spLocks/>
          </p:cNvSpPr>
          <p:nvPr/>
        </p:nvSpPr>
        <p:spPr bwMode="auto">
          <a:xfrm>
            <a:off x="1524000" y="3048000"/>
            <a:ext cx="381000" cy="228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6" name="Text Box 13"/>
          <p:cNvSpPr txBox="1">
            <a:spLocks noChangeArrowheads="1"/>
          </p:cNvSpPr>
          <p:nvPr/>
        </p:nvSpPr>
        <p:spPr bwMode="auto">
          <a:xfrm>
            <a:off x="1143000" y="289560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  <a:latin typeface="Arial Narrow" pitchFamily="34" charset="0"/>
              </a:rPr>
              <a:t>S</a:t>
            </a:r>
            <a:r>
              <a:rPr lang="en-US" altLang="zh-CN" sz="2900" baseline="-25000">
                <a:solidFill>
                  <a:srgbClr val="FF0000"/>
                </a:solidFill>
                <a:latin typeface="Arial Narrow" pitchFamily="34" charset="0"/>
              </a:rPr>
              <a:t>1</a:t>
            </a:r>
          </a:p>
        </p:txBody>
      </p:sp>
      <p:sp>
        <p:nvSpPr>
          <p:cNvPr id="45067" name="AutoShape 14"/>
          <p:cNvSpPr>
            <a:spLocks/>
          </p:cNvSpPr>
          <p:nvPr/>
        </p:nvSpPr>
        <p:spPr bwMode="auto">
          <a:xfrm rot="5400000">
            <a:off x="2501106" y="2120107"/>
            <a:ext cx="255587" cy="685800"/>
          </a:xfrm>
          <a:prstGeom prst="leftBrace">
            <a:avLst>
              <a:gd name="adj1" fmla="val 52795"/>
              <a:gd name="adj2" fmla="val 4861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8" name="Rectangle 15"/>
          <p:cNvSpPr>
            <a:spLocks noChangeArrowheads="1"/>
          </p:cNvSpPr>
          <p:nvPr/>
        </p:nvSpPr>
        <p:spPr bwMode="auto">
          <a:xfrm>
            <a:off x="2895600" y="19812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Arial Narrow" pitchFamily="34" charset="0"/>
              </a:rPr>
              <a:t>E</a:t>
            </a:r>
          </a:p>
        </p:txBody>
      </p:sp>
      <p:sp>
        <p:nvSpPr>
          <p:cNvPr id="669712" name="Text Box 16"/>
          <p:cNvSpPr txBox="1">
            <a:spLocks noChangeArrowheads="1"/>
          </p:cNvSpPr>
          <p:nvPr/>
        </p:nvSpPr>
        <p:spPr bwMode="auto">
          <a:xfrm>
            <a:off x="8229600" y="76200"/>
            <a:ext cx="54927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第二步</a:t>
            </a:r>
          </a:p>
        </p:txBody>
      </p:sp>
      <p:sp>
        <p:nvSpPr>
          <p:cNvPr id="45070" name="Text Box 17"/>
          <p:cNvSpPr txBox="1">
            <a:spLocks noChangeArrowheads="1"/>
          </p:cNvSpPr>
          <p:nvPr/>
        </p:nvSpPr>
        <p:spPr bwMode="auto">
          <a:xfrm>
            <a:off x="7010400" y="3413125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生成</a:t>
            </a:r>
            <a:r>
              <a:rPr lang="en-US" altLang="zh-CN"/>
              <a:t>L1</a:t>
            </a:r>
          </a:p>
        </p:txBody>
      </p:sp>
      <p:sp>
        <p:nvSpPr>
          <p:cNvPr id="45071" name="Text Box 18"/>
          <p:cNvSpPr txBox="1">
            <a:spLocks noChangeArrowheads="1"/>
          </p:cNvSpPr>
          <p:nvPr/>
        </p:nvSpPr>
        <p:spPr bwMode="auto">
          <a:xfrm>
            <a:off x="8153400" y="4114800"/>
            <a:ext cx="1143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生成</a:t>
            </a:r>
            <a:r>
              <a:rPr lang="en-US" altLang="zh-CN"/>
              <a:t>L2</a:t>
            </a:r>
          </a:p>
        </p:txBody>
      </p:sp>
      <p:sp>
        <p:nvSpPr>
          <p:cNvPr id="45072" name="Text Box 19"/>
          <p:cNvSpPr txBox="1">
            <a:spLocks noChangeArrowheads="1"/>
          </p:cNvSpPr>
          <p:nvPr/>
        </p:nvSpPr>
        <p:spPr bwMode="auto">
          <a:xfrm>
            <a:off x="381000" y="260350"/>
            <a:ext cx="77724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/>
              <a:t>此时生成内层</a:t>
            </a:r>
            <a:r>
              <a:rPr lang="en-US" altLang="zh-CN" sz="2400" dirty="0"/>
              <a:t>while</a:t>
            </a:r>
            <a:r>
              <a:rPr lang="zh-CN" altLang="en-US" sz="2400" dirty="0"/>
              <a:t>语句的中间代码序列，之前已生成完</a:t>
            </a:r>
            <a:r>
              <a:rPr lang="en-US" altLang="zh-CN" sz="2400" dirty="0"/>
              <a:t>a&lt;b</a:t>
            </a:r>
            <a:r>
              <a:rPr lang="zh-CN" altLang="en-US" sz="2400" dirty="0"/>
              <a:t>、</a:t>
            </a:r>
            <a:r>
              <a:rPr lang="en-US" altLang="zh-CN" sz="2400" dirty="0"/>
              <a:t>c&lt;5</a:t>
            </a:r>
            <a:r>
              <a:rPr lang="zh-CN" altLang="en-US" sz="2400" dirty="0"/>
              <a:t>、</a:t>
            </a:r>
            <a:r>
              <a:rPr lang="en-US" altLang="zh-CN" sz="2400" dirty="0"/>
              <a:t>x&gt;y</a:t>
            </a:r>
            <a:r>
              <a:rPr lang="zh-CN" altLang="en-US" sz="2400" dirty="0"/>
              <a:t>、</a:t>
            </a:r>
            <a:r>
              <a:rPr lang="en-US" altLang="zh-CN" sz="2400" dirty="0"/>
              <a:t>z:=x+1</a:t>
            </a:r>
            <a:r>
              <a:rPr lang="zh-CN" altLang="en-US" sz="2400" dirty="0"/>
              <a:t>的中间代码序列</a:t>
            </a:r>
            <a:r>
              <a:rPr lang="en-US" altLang="zh-CN" sz="2400" dirty="0"/>
              <a:t>(</a:t>
            </a:r>
            <a:r>
              <a:rPr lang="zh-CN" altLang="en-US" sz="2400" dirty="0"/>
              <a:t>参考第一步自己做一下</a:t>
            </a:r>
            <a:r>
              <a:rPr lang="en-US" altLang="zh-CN" sz="2400" dirty="0"/>
              <a:t>)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ChangeArrowheads="1"/>
          </p:cNvSpPr>
          <p:nvPr/>
        </p:nvSpPr>
        <p:spPr bwMode="auto">
          <a:xfrm>
            <a:off x="533400" y="381000"/>
            <a:ext cx="3505200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while  a &lt; b  do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if  c &lt; 5  then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while x &gt; y do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   z := x + 1;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else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x := y</a:t>
            </a:r>
          </a:p>
        </p:txBody>
      </p:sp>
      <p:sp>
        <p:nvSpPr>
          <p:cNvPr id="46083" name="AutoShape 3"/>
          <p:cNvSpPr>
            <a:spLocks noChangeArrowheads="1"/>
          </p:cNvSpPr>
          <p:nvPr/>
        </p:nvSpPr>
        <p:spPr bwMode="auto">
          <a:xfrm rot="5400000">
            <a:off x="2628900" y="2400300"/>
            <a:ext cx="3810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2772" name="Rectangle 4"/>
          <p:cNvSpPr>
            <a:spLocks noChangeArrowheads="1"/>
          </p:cNvSpPr>
          <p:nvPr/>
        </p:nvSpPr>
        <p:spPr bwMode="auto">
          <a:xfrm>
            <a:off x="4876800" y="1143000"/>
            <a:ext cx="3733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endParaRPr lang="zh-CN" altLang="zh-CN" sz="28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4267200" y="2608263"/>
            <a:ext cx="4572000" cy="39449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E.true := newlabel;     </a:t>
            </a:r>
            <a:r>
              <a:rPr lang="en-US" altLang="zh-CN">
                <a:latin typeface="Arial Narrow" pitchFamily="34" charset="0"/>
              </a:rPr>
              <a:t>//</a:t>
            </a:r>
            <a:r>
              <a:rPr lang="zh-CN" altLang="en-US">
                <a:latin typeface="Arial Narrow" pitchFamily="34" charset="0"/>
              </a:rPr>
              <a:t>生成</a:t>
            </a:r>
            <a:r>
              <a:rPr lang="en-US" altLang="zh-CN">
                <a:latin typeface="Arial Narrow" pitchFamily="34" charset="0"/>
              </a:rPr>
              <a:t>L3</a:t>
            </a:r>
            <a:r>
              <a:rPr lang="en-US" altLang="zh-CN" sz="2800">
                <a:latin typeface="Arial Narrow" pitchFamily="34" charset="0"/>
              </a:rPr>
              <a:t>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E.false := newlabel;   </a:t>
            </a:r>
            <a:r>
              <a:rPr lang="en-US" altLang="zh-CN">
                <a:latin typeface="Arial Narrow" pitchFamily="34" charset="0"/>
              </a:rPr>
              <a:t>//</a:t>
            </a:r>
            <a:r>
              <a:rPr lang="zh-CN" altLang="en-US">
                <a:latin typeface="Arial Narrow" pitchFamily="34" charset="0"/>
              </a:rPr>
              <a:t>生成</a:t>
            </a:r>
            <a:r>
              <a:rPr lang="en-US" altLang="zh-CN">
                <a:latin typeface="Arial Narrow" pitchFamily="34" charset="0"/>
              </a:rPr>
              <a:t>L4</a:t>
            </a:r>
            <a:r>
              <a:rPr lang="en-US" altLang="zh-CN" sz="2800">
                <a:latin typeface="Arial Narrow" pitchFamily="34" charset="0"/>
              </a:rPr>
              <a:t>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S</a:t>
            </a:r>
            <a:r>
              <a:rPr lang="en-US" altLang="zh-CN" sz="2900" baseline="-25000">
                <a:latin typeface="Arial Narrow" pitchFamily="34" charset="0"/>
              </a:rPr>
              <a:t>1</a:t>
            </a:r>
            <a:r>
              <a:rPr lang="en-US" altLang="zh-CN" sz="2800">
                <a:latin typeface="Arial Narrow" pitchFamily="34" charset="0"/>
              </a:rPr>
              <a:t>.next := S</a:t>
            </a:r>
            <a:r>
              <a:rPr lang="en-US" altLang="zh-CN" sz="2900" baseline="-25000">
                <a:latin typeface="Arial Narrow" pitchFamily="34" charset="0"/>
              </a:rPr>
              <a:t>2</a:t>
            </a:r>
            <a:r>
              <a:rPr lang="en-US" altLang="zh-CN" sz="2800">
                <a:latin typeface="Arial Narrow" pitchFamily="34" charset="0"/>
              </a:rPr>
              <a:t>.next := S.next;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S.code :=  E.code 	  	 	    || gen( E.true':' )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	    || S</a:t>
            </a:r>
            <a:r>
              <a:rPr lang="en-US" altLang="zh-CN" sz="2900" baseline="-25000">
                <a:latin typeface="Arial Narrow" pitchFamily="34" charset="0"/>
              </a:rPr>
              <a:t>1</a:t>
            </a:r>
            <a:r>
              <a:rPr lang="en-US" altLang="zh-CN" sz="2800">
                <a:latin typeface="Arial Narrow" pitchFamily="34" charset="0"/>
              </a:rPr>
              <a:t>.code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	    || gen( 'goto' S.next )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	    || gen( E.false':' )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	    || S</a:t>
            </a:r>
            <a:r>
              <a:rPr lang="en-US" altLang="zh-CN" sz="2900" baseline="-25000">
                <a:latin typeface="Arial Narrow" pitchFamily="34" charset="0"/>
              </a:rPr>
              <a:t>2</a:t>
            </a:r>
            <a:r>
              <a:rPr lang="en-US" altLang="zh-CN" sz="2800">
                <a:latin typeface="Arial Narrow" pitchFamily="34" charset="0"/>
              </a:rPr>
              <a:t>.code</a:t>
            </a: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381000" y="2971800"/>
            <a:ext cx="3810000" cy="377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        </a:t>
            </a:r>
            <a:r>
              <a:rPr lang="en-US" altLang="zh-CN" sz="2400"/>
              <a:t>if c&lt;5 goto  </a:t>
            </a:r>
            <a:r>
              <a:rPr lang="en-US" altLang="zh-CN" sz="2400">
                <a:solidFill>
                  <a:srgbClr val="FF0000"/>
                </a:solidFill>
              </a:rPr>
              <a:t>L3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 </a:t>
            </a:r>
            <a:r>
              <a:rPr lang="en-US" altLang="zh-CN" sz="2400">
                <a:solidFill>
                  <a:srgbClr val="FF0000"/>
                </a:solidFill>
              </a:rPr>
              <a:t>L4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>
                <a:solidFill>
                  <a:srgbClr val="FF0000"/>
                </a:solidFill>
              </a:rPr>
              <a:t>L3: 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L2:  if  x&gt;y goto L1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</a:t>
            </a:r>
            <a:r>
              <a:rPr lang="en-US" altLang="zh-CN" sz="2400">
                <a:solidFill>
                  <a:srgbClr val="FF0000"/>
                </a:solidFill>
              </a:rPr>
              <a:t>(if c&lt;5).next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L1:  z:=x+1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L2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</a:t>
            </a:r>
            <a:r>
              <a:rPr lang="en-US" altLang="zh-CN" sz="2400">
                <a:solidFill>
                  <a:schemeClr val="hlink"/>
                </a:solidFill>
              </a:rPr>
              <a:t>  </a:t>
            </a:r>
            <a:r>
              <a:rPr lang="en-US" altLang="zh-CN" sz="2400">
                <a:solidFill>
                  <a:srgbClr val="FF0000"/>
                </a:solidFill>
              </a:rPr>
              <a:t>(if c&lt;5).next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>
                <a:solidFill>
                  <a:srgbClr val="FF0000"/>
                </a:solidFill>
              </a:rPr>
              <a:t>L4:  x:=y</a:t>
            </a:r>
          </a:p>
        </p:txBody>
      </p:sp>
      <p:sp>
        <p:nvSpPr>
          <p:cNvPr id="46087" name="AutoShape 7"/>
          <p:cNvSpPr>
            <a:spLocks noChangeArrowheads="1"/>
          </p:cNvSpPr>
          <p:nvPr/>
        </p:nvSpPr>
        <p:spPr bwMode="auto">
          <a:xfrm rot="5400000">
            <a:off x="6134100" y="2019300"/>
            <a:ext cx="3810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8" name="AutoShape 8"/>
          <p:cNvSpPr>
            <a:spLocks/>
          </p:cNvSpPr>
          <p:nvPr/>
        </p:nvSpPr>
        <p:spPr bwMode="auto">
          <a:xfrm>
            <a:off x="838200" y="1371600"/>
            <a:ext cx="381000" cy="598488"/>
          </a:xfrm>
          <a:prstGeom prst="leftBrace">
            <a:avLst>
              <a:gd name="adj1" fmla="val 130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457200" y="137160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  <a:latin typeface="Arial Narrow" pitchFamily="34" charset="0"/>
              </a:rPr>
              <a:t>S</a:t>
            </a:r>
            <a:r>
              <a:rPr lang="en-US" altLang="zh-CN" sz="2900" baseline="-25000">
                <a:solidFill>
                  <a:srgbClr val="FF0000"/>
                </a:solidFill>
                <a:latin typeface="Arial Narrow" pitchFamily="34" charset="0"/>
              </a:rPr>
              <a:t>1</a:t>
            </a:r>
          </a:p>
        </p:txBody>
      </p:sp>
      <p:sp>
        <p:nvSpPr>
          <p:cNvPr id="46090" name="AutoShape 10"/>
          <p:cNvSpPr>
            <a:spLocks/>
          </p:cNvSpPr>
          <p:nvPr/>
        </p:nvSpPr>
        <p:spPr bwMode="auto">
          <a:xfrm rot="5400000">
            <a:off x="1485900" y="495300"/>
            <a:ext cx="228600" cy="609600"/>
          </a:xfrm>
          <a:prstGeom prst="leftBrace">
            <a:avLst>
              <a:gd name="adj1" fmla="val 52469"/>
              <a:gd name="adj2" fmla="val 4861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1549400" y="5334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Arial Narrow" pitchFamily="34" charset="0"/>
              </a:rPr>
              <a:t>E</a:t>
            </a:r>
          </a:p>
        </p:txBody>
      </p:sp>
      <p:sp>
        <p:nvSpPr>
          <p:cNvPr id="672780" name="Text Box 12"/>
          <p:cNvSpPr txBox="1">
            <a:spLocks noChangeArrowheads="1"/>
          </p:cNvSpPr>
          <p:nvPr/>
        </p:nvSpPr>
        <p:spPr bwMode="auto">
          <a:xfrm>
            <a:off x="8289925" y="304800"/>
            <a:ext cx="5492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第三步</a:t>
            </a:r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4419600" y="1447800"/>
            <a:ext cx="37338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800">
                <a:latin typeface="Arial Narrow" pitchFamily="34" charset="0"/>
              </a:rPr>
              <a:t>S → if E then S</a:t>
            </a:r>
            <a:r>
              <a:rPr lang="en-US" altLang="zh-CN" sz="2900" baseline="-25000">
                <a:latin typeface="Arial Narrow" pitchFamily="34" charset="0"/>
              </a:rPr>
              <a:t>1</a:t>
            </a:r>
            <a:r>
              <a:rPr lang="en-US" altLang="zh-CN" sz="2800">
                <a:latin typeface="Arial Narrow" pitchFamily="34" charset="0"/>
              </a:rPr>
              <a:t>  else S</a:t>
            </a:r>
            <a:r>
              <a:rPr lang="en-US" altLang="zh-CN" sz="2900" baseline="-25000">
                <a:latin typeface="Arial Narrow" pitchFamily="34" charset="0"/>
              </a:rPr>
              <a:t>2</a:t>
            </a:r>
          </a:p>
        </p:txBody>
      </p:sp>
      <p:sp>
        <p:nvSpPr>
          <p:cNvPr id="46094" name="AutoShape 16"/>
          <p:cNvSpPr>
            <a:spLocks/>
          </p:cNvSpPr>
          <p:nvPr/>
        </p:nvSpPr>
        <p:spPr bwMode="auto">
          <a:xfrm>
            <a:off x="838200" y="2503488"/>
            <a:ext cx="381000" cy="355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5" name="Text Box 17"/>
          <p:cNvSpPr txBox="1">
            <a:spLocks noChangeArrowheads="1"/>
          </p:cNvSpPr>
          <p:nvPr/>
        </p:nvSpPr>
        <p:spPr bwMode="auto">
          <a:xfrm>
            <a:off x="457200" y="236220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  <a:latin typeface="Arial Narrow" pitchFamily="34" charset="0"/>
              </a:rPr>
              <a:t>S</a:t>
            </a:r>
            <a:r>
              <a:rPr lang="en-US" altLang="zh-CN" sz="2900" baseline="-2500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46096" name="Text Box 18"/>
          <p:cNvSpPr txBox="1">
            <a:spLocks noChangeArrowheads="1"/>
          </p:cNvSpPr>
          <p:nvPr/>
        </p:nvSpPr>
        <p:spPr bwMode="auto">
          <a:xfrm>
            <a:off x="3276600" y="533400"/>
            <a:ext cx="502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/>
              <a:t>此时生成 </a:t>
            </a:r>
            <a:r>
              <a:rPr lang="en-US" altLang="zh-CN" sz="2400"/>
              <a:t>if </a:t>
            </a:r>
            <a:r>
              <a:rPr lang="zh-CN" altLang="en-US" sz="2400"/>
              <a:t>语句的中间代码序列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AutoShape 8"/>
          <p:cNvSpPr>
            <a:spLocks noChangeArrowheads="1"/>
          </p:cNvSpPr>
          <p:nvPr/>
        </p:nvSpPr>
        <p:spPr bwMode="auto">
          <a:xfrm>
            <a:off x="3581400" y="1322388"/>
            <a:ext cx="5334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3802" name="Text Box 10"/>
          <p:cNvSpPr txBox="1">
            <a:spLocks noChangeArrowheads="1"/>
          </p:cNvSpPr>
          <p:nvPr/>
        </p:nvSpPr>
        <p:spPr bwMode="auto">
          <a:xfrm>
            <a:off x="8305800" y="152400"/>
            <a:ext cx="5492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第四步</a:t>
            </a:r>
          </a:p>
        </p:txBody>
      </p:sp>
      <p:sp>
        <p:nvSpPr>
          <p:cNvPr id="673804" name="Rectangle 12"/>
          <p:cNvSpPr>
            <a:spLocks noChangeArrowheads="1"/>
          </p:cNvSpPr>
          <p:nvPr/>
        </p:nvSpPr>
        <p:spPr bwMode="auto">
          <a:xfrm>
            <a:off x="762000" y="533400"/>
            <a:ext cx="3505200" cy="246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while  a &lt; b  do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if  c &lt; 5  then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while x &gt; y do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  z := x + 1;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else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  <a:defRPr/>
            </a:pP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x := y</a:t>
            </a:r>
          </a:p>
        </p:txBody>
      </p:sp>
      <p:sp>
        <p:nvSpPr>
          <p:cNvPr id="47109" name="AutoShape 14"/>
          <p:cNvSpPr>
            <a:spLocks/>
          </p:cNvSpPr>
          <p:nvPr/>
        </p:nvSpPr>
        <p:spPr bwMode="auto">
          <a:xfrm>
            <a:off x="762000" y="1143000"/>
            <a:ext cx="381000" cy="1676400"/>
          </a:xfrm>
          <a:prstGeom prst="leftBrace">
            <a:avLst>
              <a:gd name="adj1" fmla="val 3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0" name="Text Box 15"/>
          <p:cNvSpPr txBox="1">
            <a:spLocks noChangeArrowheads="1"/>
          </p:cNvSpPr>
          <p:nvPr/>
        </p:nvSpPr>
        <p:spPr bwMode="auto">
          <a:xfrm>
            <a:off x="457200" y="175260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solidFill>
                  <a:schemeClr val="hlink"/>
                </a:solidFill>
                <a:latin typeface="Arial Narrow" pitchFamily="34" charset="0"/>
              </a:rPr>
              <a:t>S</a:t>
            </a:r>
            <a:r>
              <a:rPr lang="en-US" altLang="zh-CN" sz="2900" baseline="-25000">
                <a:solidFill>
                  <a:schemeClr val="hlink"/>
                </a:solidFill>
                <a:latin typeface="Arial Narrow" pitchFamily="34" charset="0"/>
              </a:rPr>
              <a:t>1</a:t>
            </a:r>
          </a:p>
        </p:txBody>
      </p:sp>
      <p:sp>
        <p:nvSpPr>
          <p:cNvPr id="47111" name="AutoShape 16"/>
          <p:cNvSpPr>
            <a:spLocks/>
          </p:cNvSpPr>
          <p:nvPr/>
        </p:nvSpPr>
        <p:spPr bwMode="auto">
          <a:xfrm rot="5400000">
            <a:off x="1943100" y="266700"/>
            <a:ext cx="228600" cy="609600"/>
          </a:xfrm>
          <a:prstGeom prst="leftBrace">
            <a:avLst>
              <a:gd name="adj1" fmla="val 52469"/>
              <a:gd name="adj2" fmla="val 4861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2" name="Rectangle 17"/>
          <p:cNvSpPr>
            <a:spLocks noChangeArrowheads="1"/>
          </p:cNvSpPr>
          <p:nvPr/>
        </p:nvSpPr>
        <p:spPr bwMode="auto">
          <a:xfrm>
            <a:off x="2133600" y="1524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hlink"/>
                </a:solidFill>
                <a:latin typeface="Arial Narrow" pitchFamily="34" charset="0"/>
              </a:rPr>
              <a:t>E</a:t>
            </a:r>
          </a:p>
        </p:txBody>
      </p:sp>
      <p:sp>
        <p:nvSpPr>
          <p:cNvPr id="47113" name="Rectangle 20"/>
          <p:cNvSpPr>
            <a:spLocks noChangeArrowheads="1"/>
          </p:cNvSpPr>
          <p:nvPr/>
        </p:nvSpPr>
        <p:spPr bwMode="auto">
          <a:xfrm>
            <a:off x="457200" y="3048000"/>
            <a:ext cx="4343400" cy="3517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E.false := S.next;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E.true := newlabel;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S.begin := S</a:t>
            </a:r>
            <a:r>
              <a:rPr lang="en-US" altLang="zh-CN" sz="2900" baseline="-2500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.next := newlabel;                      S.code := gen( S.begin':' )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	   || E.code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	   || gen( E.true':' )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	   || S</a:t>
            </a:r>
            <a:r>
              <a:rPr lang="en-US" altLang="zh-CN" sz="2900" baseline="-2500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.code </a:t>
            </a:r>
          </a:p>
          <a:p>
            <a:pPr algn="l">
              <a:buClr>
                <a:schemeClr val="accent1"/>
              </a:buClr>
            </a:pP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	   || gen( 'goto'S.begin )</a:t>
            </a:r>
          </a:p>
        </p:txBody>
      </p:sp>
      <p:sp>
        <p:nvSpPr>
          <p:cNvPr id="47114" name="Rectangle 21"/>
          <p:cNvSpPr>
            <a:spLocks noChangeArrowheads="1"/>
          </p:cNvSpPr>
          <p:nvPr/>
        </p:nvSpPr>
        <p:spPr bwMode="auto">
          <a:xfrm>
            <a:off x="5715000" y="5486400"/>
            <a:ext cx="2905125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chemeClr val="tx2"/>
                </a:solidFill>
                <a:latin typeface="Tahoma" pitchFamily="34" charset="0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S → while E do S</a:t>
            </a:r>
            <a:r>
              <a:rPr lang="en-US" altLang="zh-CN" sz="2900" baseline="-25000">
                <a:solidFill>
                  <a:schemeClr val="tx2"/>
                </a:solidFill>
                <a:latin typeface="Arial Narrow" pitchFamily="34" charset="0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Arial Narrow" pitchFamily="34" charset="0"/>
              </a:rPr>
              <a:t> </a:t>
            </a:r>
          </a:p>
        </p:txBody>
      </p:sp>
      <p:sp>
        <p:nvSpPr>
          <p:cNvPr id="47115" name="AutoShape 22"/>
          <p:cNvSpPr>
            <a:spLocks noChangeArrowheads="1"/>
          </p:cNvSpPr>
          <p:nvPr/>
        </p:nvSpPr>
        <p:spPr bwMode="auto">
          <a:xfrm flipH="1">
            <a:off x="5029200" y="5410200"/>
            <a:ext cx="4572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6" name="Text Box 23"/>
          <p:cNvSpPr txBox="1">
            <a:spLocks noChangeArrowheads="1"/>
          </p:cNvSpPr>
          <p:nvPr/>
        </p:nvSpPr>
        <p:spPr bwMode="auto">
          <a:xfrm>
            <a:off x="3124200" y="3581400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生成</a:t>
            </a:r>
            <a:r>
              <a:rPr lang="en-US" altLang="zh-CN"/>
              <a:t>L5</a:t>
            </a:r>
          </a:p>
        </p:txBody>
      </p:sp>
      <p:sp>
        <p:nvSpPr>
          <p:cNvPr id="47117" name="Text Box 24"/>
          <p:cNvSpPr txBox="1">
            <a:spLocks noChangeArrowheads="1"/>
          </p:cNvSpPr>
          <p:nvPr/>
        </p:nvSpPr>
        <p:spPr bwMode="auto">
          <a:xfrm>
            <a:off x="4038600" y="4267200"/>
            <a:ext cx="1143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生成</a:t>
            </a:r>
            <a:r>
              <a:rPr lang="en-US" altLang="zh-CN"/>
              <a:t>L6</a:t>
            </a:r>
          </a:p>
        </p:txBody>
      </p:sp>
      <p:sp>
        <p:nvSpPr>
          <p:cNvPr id="47118" name="Rectangle 25"/>
          <p:cNvSpPr>
            <a:spLocks noChangeArrowheads="1"/>
          </p:cNvSpPr>
          <p:nvPr/>
        </p:nvSpPr>
        <p:spPr bwMode="auto">
          <a:xfrm>
            <a:off x="4953000" y="381000"/>
            <a:ext cx="3810000" cy="4875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>
                <a:solidFill>
                  <a:schemeClr val="hlink"/>
                </a:solidFill>
              </a:rPr>
              <a:t>L6:</a:t>
            </a:r>
            <a:r>
              <a:rPr lang="en-US" altLang="zh-CN" sz="2400"/>
              <a:t>  if a&lt;b goto </a:t>
            </a:r>
            <a:r>
              <a:rPr lang="en-US" altLang="zh-CN" sz="2400">
                <a:solidFill>
                  <a:schemeClr val="hlink"/>
                </a:solidFill>
              </a:rPr>
              <a:t>L5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</a:t>
            </a:r>
            <a:r>
              <a:rPr lang="en-US" altLang="zh-CN" sz="2400">
                <a:solidFill>
                  <a:schemeClr val="hlink"/>
                </a:solidFill>
              </a:rPr>
              <a:t>(while a&lt;b).next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>
                <a:solidFill>
                  <a:schemeClr val="hlink"/>
                </a:solidFill>
              </a:rPr>
              <a:t>L5:</a:t>
            </a:r>
            <a:r>
              <a:rPr lang="en-US" altLang="zh-CN" sz="2400"/>
              <a:t>  if c&lt;5 goto L3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 L4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L3: 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L2:  if  x&gt;y goto L1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 </a:t>
            </a:r>
            <a:r>
              <a:rPr lang="en-US" altLang="zh-CN" sz="2400">
                <a:solidFill>
                  <a:schemeClr val="hlink"/>
                </a:solidFill>
              </a:rPr>
              <a:t>L6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L1:  z:=x+1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L2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 </a:t>
            </a:r>
            <a:r>
              <a:rPr lang="en-US" altLang="zh-CN" sz="2400">
                <a:solidFill>
                  <a:schemeClr val="hlink"/>
                </a:solidFill>
              </a:rPr>
              <a:t>L6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L4:  x:=y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</a:t>
            </a:r>
            <a:r>
              <a:rPr lang="en-US" altLang="zh-CN" sz="2400">
                <a:solidFill>
                  <a:schemeClr val="hlink"/>
                </a:solidFill>
              </a:rPr>
              <a:t>goto L6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5029200" y="1219200"/>
            <a:ext cx="3429000" cy="5181600"/>
          </a:xfrm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L1:  if a &lt; b  goto L2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        goto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</a:rPr>
              <a:t>Ln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L2:  if c &lt; 5  goto L3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        goto L4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L3:  if x &gt; y  goto L5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        goto L1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L5:  z := x + 1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        goto L3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L4:  x := 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</a:rPr>
              <a:t>        goto L1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</a:rPr>
              <a:t>Ln:</a:t>
            </a:r>
          </a:p>
        </p:txBody>
      </p:sp>
      <p:sp>
        <p:nvSpPr>
          <p:cNvPr id="48131" name="AutoShape 16"/>
          <p:cNvSpPr>
            <a:spLocks noChangeArrowheads="1"/>
          </p:cNvSpPr>
          <p:nvPr/>
        </p:nvSpPr>
        <p:spPr bwMode="auto">
          <a:xfrm>
            <a:off x="4572000" y="3048000"/>
            <a:ext cx="381000" cy="533400"/>
          </a:xfrm>
          <a:prstGeom prst="rightArrow">
            <a:avLst>
              <a:gd name="adj1" fmla="val 40472"/>
              <a:gd name="adj2" fmla="val 42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2" name="Text Box 21"/>
          <p:cNvSpPr txBox="1">
            <a:spLocks noChangeArrowheads="1"/>
          </p:cNvSpPr>
          <p:nvPr/>
        </p:nvSpPr>
        <p:spPr bwMode="auto">
          <a:xfrm>
            <a:off x="457200" y="381000"/>
            <a:ext cx="822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经调整标号次序，该语句段的中间代码序列如下：</a:t>
            </a:r>
          </a:p>
        </p:txBody>
      </p:sp>
      <p:sp>
        <p:nvSpPr>
          <p:cNvPr id="48133" name="Rectangle 22"/>
          <p:cNvSpPr>
            <a:spLocks noChangeArrowheads="1"/>
          </p:cNvSpPr>
          <p:nvPr/>
        </p:nvSpPr>
        <p:spPr bwMode="auto">
          <a:xfrm>
            <a:off x="457200" y="1485900"/>
            <a:ext cx="4038600" cy="4848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L6:  if a&lt;b goto L5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(while a&lt;b).next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L5:  if c&lt;5 goto L3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 L4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L3: 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L2:  if  x&gt;y goto L1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 L6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L1:  z:=x+1 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 L2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</a:t>
            </a:r>
            <a:r>
              <a:rPr lang="en-US" altLang="zh-CN" sz="2400">
                <a:solidFill>
                  <a:schemeClr val="hlink"/>
                </a:solidFill>
              </a:rPr>
              <a:t>goto  L6   </a:t>
            </a:r>
            <a:r>
              <a:rPr lang="en-US" altLang="zh-CN"/>
              <a:t>//</a:t>
            </a:r>
            <a:r>
              <a:rPr lang="zh-CN" altLang="en-US"/>
              <a:t>执行不到，去掉</a:t>
            </a:r>
            <a:r>
              <a:rPr lang="en-US" altLang="zh-CN" sz="2400"/>
              <a:t>L4:  x:=y</a:t>
            </a:r>
          </a:p>
          <a:p>
            <a:pPr algn="l">
              <a:spcBef>
                <a:spcPct val="10000"/>
              </a:spcBef>
              <a:buClr>
                <a:schemeClr val="accent1"/>
              </a:buClr>
            </a:pPr>
            <a:r>
              <a:rPr lang="en-US" altLang="zh-CN" sz="2400"/>
              <a:t>        goto  L6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82000" cy="41910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 smtClean="0">
                <a:solidFill>
                  <a:schemeClr val="tx2"/>
                </a:solidFill>
                <a:latin typeface="宋体" pitchFamily="2" charset="-122"/>
              </a:rPr>
              <a:t>涉及循环语句、条件语句、布尔表达式、转移标号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smtClean="0">
                <a:solidFill>
                  <a:schemeClr val="tx2"/>
                </a:solidFill>
                <a:latin typeface="宋体" pitchFamily="2" charset="-122"/>
              </a:rPr>
              <a:t>转移目标（程序中的位置）的先引用后定义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b="1" smtClean="0">
                <a:solidFill>
                  <a:schemeClr val="tx2"/>
                </a:solidFill>
                <a:latin typeface="宋体" pitchFamily="2" charset="-122"/>
              </a:rPr>
              <a:t>使用回填技术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772400" cy="457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 smtClean="0">
                <a:solidFill>
                  <a:schemeClr val="tx1"/>
                </a:solidFill>
                <a:latin typeface="宋体" pitchFamily="2" charset="-122"/>
              </a:rPr>
              <a:t>控制结构翻译中的问题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457200" y="3352800"/>
            <a:ext cx="8382000" cy="267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latin typeface="宋体" pitchFamily="2" charset="-122"/>
              </a:rPr>
              <a:t>作业：</a:t>
            </a:r>
          </a:p>
          <a:p>
            <a:pPr marL="457200" indent="-457200" algn="l">
              <a:spcBef>
                <a:spcPct val="50000"/>
              </a:spcBef>
            </a:pPr>
            <a:r>
              <a:rPr lang="zh-CN" altLang="en-US" sz="2400">
                <a:latin typeface="宋体" pitchFamily="2" charset="-122"/>
              </a:rPr>
              <a:t>按讲义所示翻译下列语句为三地址码序列</a:t>
            </a:r>
          </a:p>
          <a:p>
            <a:pPr marL="914400" lvl="1" indent="-457200" algn="l">
              <a:spcBef>
                <a:spcPct val="40000"/>
              </a:spcBef>
              <a:buClr>
                <a:schemeClr val="accent1"/>
              </a:buClr>
            </a:pPr>
            <a:r>
              <a:rPr lang="en-US" altLang="zh-CN" sz="2400"/>
              <a:t>while  x&gt;0  do</a:t>
            </a:r>
          </a:p>
          <a:p>
            <a:pPr marL="914400" lvl="1" indent="-457200" algn="l">
              <a:buClr>
                <a:schemeClr val="accent1"/>
              </a:buClr>
            </a:pPr>
            <a:r>
              <a:rPr lang="en-US" altLang="zh-CN" sz="2400"/>
              <a:t>    while  y&gt;x do </a:t>
            </a:r>
          </a:p>
          <a:p>
            <a:pPr marL="914400" lvl="1" indent="-457200" algn="l">
              <a:buClr>
                <a:schemeClr val="accent1"/>
              </a:buClr>
            </a:pPr>
            <a:r>
              <a:rPr lang="en-US" altLang="zh-CN" sz="2400"/>
              <a:t>	    if  y &gt; 0  then   y := 0</a:t>
            </a:r>
          </a:p>
          <a:p>
            <a:pPr marL="914400" lvl="1" indent="-457200" algn="l">
              <a:buClr>
                <a:schemeClr val="accent1"/>
              </a:buClr>
            </a:pPr>
            <a:r>
              <a:rPr lang="en-US" altLang="zh-CN" sz="2400"/>
              <a:t>		       else    y := 1;</a:t>
            </a:r>
            <a:endParaRPr lang="en-US" altLang="zh-CN" sz="2400">
              <a:latin typeface="宋体" pitchFamily="2" charset="-122"/>
            </a:endParaRP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533400" y="533400"/>
            <a:ext cx="8153400" cy="245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chemeClr val="tx2"/>
                </a:solidFill>
                <a:latin typeface="宋体" pitchFamily="2" charset="-122"/>
              </a:rPr>
              <a:t>练习：</a:t>
            </a:r>
          </a:p>
          <a:p>
            <a:pPr algn="l">
              <a:spcBef>
                <a:spcPct val="30000"/>
              </a:spcBef>
            </a:pPr>
            <a:r>
              <a:rPr lang="zh-CN" altLang="en-US" sz="2400">
                <a:latin typeface="宋体" pitchFamily="2" charset="-122"/>
              </a:rPr>
              <a:t>翻译语句 </a:t>
            </a:r>
          </a:p>
          <a:p>
            <a:pPr lvl="1" algn="l"/>
            <a:r>
              <a:rPr lang="en-US" altLang="zh-CN" sz="2400"/>
              <a:t>while x&gt;0 do </a:t>
            </a:r>
          </a:p>
          <a:p>
            <a:pPr lvl="2" algn="l"/>
            <a:r>
              <a:rPr lang="en-US" altLang="zh-CN" sz="2400"/>
              <a:t>while x&gt;10 do </a:t>
            </a:r>
          </a:p>
          <a:p>
            <a:pPr lvl="3" algn="l"/>
            <a:r>
              <a:rPr lang="en-US" altLang="zh-CN" sz="2400"/>
              <a:t>x:=x+1</a:t>
            </a:r>
            <a:r>
              <a:rPr lang="en-US" altLang="zh-CN" sz="2400">
                <a:latin typeface="宋体" pitchFamily="2" charset="-122"/>
              </a:rPr>
              <a:t> </a:t>
            </a:r>
          </a:p>
          <a:p>
            <a:pPr algn="l"/>
            <a:r>
              <a:rPr lang="zh-CN" altLang="en-US" sz="2400">
                <a:latin typeface="宋体" pitchFamily="2" charset="-122"/>
              </a:rPr>
              <a:t>的分析过程和最终生成的三地址码序列。</a:t>
            </a:r>
            <a:r>
              <a:rPr lang="zh-CN" altLang="en-US" sz="2400" b="0"/>
              <a:t> </a:t>
            </a:r>
          </a:p>
        </p:txBody>
      </p:sp>
    </p:spTree>
  </p:cSld>
  <p:clrMapOvr>
    <a:masterClrMapping/>
  </p:clrMapOvr>
  <p:transition/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912</Words>
  <Application>Microsoft Office PowerPoint</Application>
  <PresentationFormat>全屏显示(4:3)</PresentationFormat>
  <Paragraphs>216</Paragraphs>
  <Slides>15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Office 主题</vt:lpstr>
      <vt:lpstr>聚合</vt:lpstr>
      <vt:lpstr>VISIO 4 Drawing</vt:lpstr>
      <vt:lpstr>中间代码生成</vt:lpstr>
      <vt:lpstr>幻灯片 2</vt:lpstr>
      <vt:lpstr>幻灯片 3</vt:lpstr>
      <vt:lpstr>幻灯片 4</vt:lpstr>
      <vt:lpstr>幻灯片 5</vt:lpstr>
      <vt:lpstr>幻灯片 6</vt:lpstr>
      <vt:lpstr>幻灯片 7</vt:lpstr>
      <vt:lpstr>6.2.3、简单布尔表达式的翻译</vt:lpstr>
      <vt:lpstr>幻灯片 9</vt:lpstr>
      <vt:lpstr>幻灯片 10</vt:lpstr>
      <vt:lpstr>幻灯片 11</vt:lpstr>
      <vt:lpstr>幻灯片 12</vt:lpstr>
      <vt:lpstr>幻灯片 13</vt:lpstr>
      <vt:lpstr>控制结构翻译中的问题</vt:lpstr>
      <vt:lpstr>幻灯片 15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中间代码生成</dc:title>
  <dc:creator>王娜</dc:creator>
  <cp:lastModifiedBy>王娜</cp:lastModifiedBy>
  <cp:revision>5</cp:revision>
  <dcterms:created xsi:type="dcterms:W3CDTF">2021-05-28T11:13:37Z</dcterms:created>
  <dcterms:modified xsi:type="dcterms:W3CDTF">2021-05-28T12:40:32Z</dcterms:modified>
</cp:coreProperties>
</file>