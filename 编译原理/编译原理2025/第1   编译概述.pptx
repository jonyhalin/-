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handoutMasterIdLst>
    <p:handoutMasterId r:id="rId66"/>
  </p:handoutMasterIdLst>
  <p:sldIdLst>
    <p:sldId id="256" r:id="rId3"/>
    <p:sldId id="325" r:id="rId4"/>
    <p:sldId id="326" r:id="rId5"/>
    <p:sldId id="323" r:id="rId6"/>
    <p:sldId id="295" r:id="rId7"/>
    <p:sldId id="421" r:id="rId8"/>
    <p:sldId id="422" r:id="rId9"/>
    <p:sldId id="423" r:id="rId10"/>
    <p:sldId id="424" r:id="rId11"/>
    <p:sldId id="294" r:id="rId12"/>
    <p:sldId id="327" r:id="rId13"/>
    <p:sldId id="257" r:id="rId14"/>
    <p:sldId id="324" r:id="rId15"/>
    <p:sldId id="425" r:id="rId16"/>
    <p:sldId id="373" r:id="rId17"/>
    <p:sldId id="372" r:id="rId18"/>
    <p:sldId id="258" r:id="rId19"/>
    <p:sldId id="321" r:id="rId20"/>
    <p:sldId id="333" r:id="rId21"/>
    <p:sldId id="334" r:id="rId22"/>
    <p:sldId id="335" r:id="rId23"/>
    <p:sldId id="336" r:id="rId24"/>
    <p:sldId id="337" r:id="rId25"/>
    <p:sldId id="355" r:id="rId26"/>
    <p:sldId id="356" r:id="rId27"/>
    <p:sldId id="338" r:id="rId28"/>
    <p:sldId id="357" r:id="rId29"/>
    <p:sldId id="339" r:id="rId30"/>
    <p:sldId id="340" r:id="rId31"/>
    <p:sldId id="358" r:id="rId32"/>
    <p:sldId id="359" r:id="rId33"/>
    <p:sldId id="360" r:id="rId34"/>
    <p:sldId id="361" r:id="rId35"/>
    <p:sldId id="362" r:id="rId36"/>
    <p:sldId id="363" r:id="rId37"/>
    <p:sldId id="364" r:id="rId38"/>
    <p:sldId id="365" r:id="rId39"/>
    <p:sldId id="366" r:id="rId40"/>
    <p:sldId id="341" r:id="rId41"/>
    <p:sldId id="342" r:id="rId42"/>
    <p:sldId id="367" r:id="rId43"/>
    <p:sldId id="368" r:id="rId44"/>
    <p:sldId id="343" r:id="rId45"/>
    <p:sldId id="369" r:id="rId46"/>
    <p:sldId id="370" r:id="rId47"/>
    <p:sldId id="374" r:id="rId48"/>
    <p:sldId id="375" r:id="rId49"/>
    <p:sldId id="376" r:id="rId50"/>
    <p:sldId id="263" r:id="rId51"/>
    <p:sldId id="344" r:id="rId52"/>
    <p:sldId id="297" r:id="rId53"/>
    <p:sldId id="345" r:id="rId54"/>
    <p:sldId id="322" r:id="rId55"/>
    <p:sldId id="346" r:id="rId56"/>
    <p:sldId id="299" r:id="rId57"/>
    <p:sldId id="300" r:id="rId58"/>
    <p:sldId id="301" r:id="rId59"/>
    <p:sldId id="353" r:id="rId60"/>
    <p:sldId id="352" r:id="rId61"/>
    <p:sldId id="302" r:id="rId62"/>
    <p:sldId id="282" r:id="rId63"/>
    <p:sldId id="351" r:id="rId64"/>
  </p:sldIdLst>
  <p:sldSz cx="9144000" cy="6858000" type="screen4x3"/>
  <p:notesSz cx="6648450" cy="9782175"/>
  <p:custShowLst>
    <p:custShow name="自定义放映1" id="0">
      <p:sldLst>
        <p:sld r:id="rId3"/>
        <p:sld r:id="rId7"/>
        <p:sld r:id="rId12"/>
        <p:sld r:id="rId14"/>
        <p:sld r:id="rId19"/>
      </p:sldLst>
    </p:custShow>
    <p:custShow name="自定义放映2" id="1">
      <p:sldLst>
        <p:sld r:id="rId20"/>
        <p:sld r:id="rId51"/>
        <p:sld r:id="rId53"/>
        <p:sld r:id="rId57"/>
        <p:sld r:id="rId58"/>
        <p:sld r:id="rId59"/>
        <p:sld r:id="rId62"/>
      </p:sldLst>
    </p:custShow>
    <p:custShow name="自定义放映3" id="2">
      <p:sldLst>
        <p:sld r:id="rId63"/>
      </p:sldLst>
    </p:custShow>
  </p:custShowLst>
  <p:custDataLst>
    <p:tags r:id="rId70"/>
  </p:custDataLst>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23B3"/>
    <a:srgbClr val="CCFFFF"/>
    <a:srgbClr val="6600FF"/>
    <a:srgbClr val="003366"/>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60" autoAdjust="0"/>
    <p:restoredTop sz="94660"/>
  </p:normalViewPr>
  <p:slideViewPr>
    <p:cSldViewPr showGuides="1">
      <p:cViewPr>
        <p:scale>
          <a:sx n="75" d="100"/>
          <a:sy n="75" d="100"/>
        </p:scale>
        <p:origin x="-1794" y="-90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Lst>
  </p:outlineViewPr>
  <p:notesTextViewPr>
    <p:cViewPr>
      <p:scale>
        <a:sx n="100" d="100"/>
        <a:sy n="100" d="100"/>
      </p:scale>
      <p:origin x="0" y="0"/>
    </p:cViewPr>
  </p:notesTextViewPr>
  <p:sorterViewPr>
    <p:cViewPr>
      <p:scale>
        <a:sx n="66" d="100"/>
        <a:sy n="66" d="100"/>
      </p:scale>
      <p:origin x="0" y="1446"/>
    </p:cViewPr>
  </p:sorterViewPr>
  <p:notesViewPr>
    <p:cSldViewPr>
      <p:cViewPr varScale="1">
        <p:scale>
          <a:sx n="56" d="100"/>
          <a:sy n="56" d="100"/>
        </p:scale>
        <p:origin x="-1854" y="-72"/>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0" Type="http://schemas.openxmlformats.org/officeDocument/2006/relationships/tags" Target="tags/tag1.xml"/><Relationship Id="rId7" Type="http://schemas.openxmlformats.org/officeDocument/2006/relationships/slide" Target="slides/slide5.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handoutMaster" Target="handoutMasters/handoutMaster1.xml"/><Relationship Id="rId65" Type="http://schemas.openxmlformats.org/officeDocument/2006/relationships/notesMaster" Target="notesMasters/notesMaster1.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9" Type="http://schemas.openxmlformats.org/officeDocument/2006/relationships/slide" Target="slides/slide60.xml"/><Relationship Id="rId8" Type="http://schemas.openxmlformats.org/officeDocument/2006/relationships/slide" Target="slides/slide56.xml"/><Relationship Id="rId7" Type="http://schemas.openxmlformats.org/officeDocument/2006/relationships/slide" Target="slides/slide49.xml"/><Relationship Id="rId6" Type="http://schemas.openxmlformats.org/officeDocument/2006/relationships/slide" Target="slides/slide18.xml"/><Relationship Id="rId5" Type="http://schemas.openxmlformats.org/officeDocument/2006/relationships/slide" Target="slides/slide17.xml"/><Relationship Id="rId4" Type="http://schemas.openxmlformats.org/officeDocument/2006/relationships/slide" Target="slides/slide12.xml"/><Relationship Id="rId3" Type="http://schemas.openxmlformats.org/officeDocument/2006/relationships/slide" Target="slides/slide10.xml"/><Relationship Id="rId2" Type="http://schemas.openxmlformats.org/officeDocument/2006/relationships/slide" Target="slides/slide5.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ln>
          <a:effectLst/>
        </p:spPr>
        <p:txBody>
          <a:bodyPr vert="horz" wrap="square" lIns="90004" tIns="45002" rIns="90004" bIns="45002" numCol="1" anchor="t" anchorCtr="0" compatLnSpc="1"/>
          <a:lstStyle>
            <a:lvl1pPr defTabSz="900430">
              <a:defRPr sz="1200"/>
            </a:lvl1pPr>
          </a:lstStyle>
          <a:p>
            <a:pPr>
              <a:defRPr/>
            </a:pPr>
            <a:endParaRPr lang="en-US" altLang="zh-CN"/>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ln>
          <a:effectLst/>
        </p:spPr>
        <p:txBody>
          <a:bodyPr vert="horz" wrap="square" lIns="90004" tIns="45002" rIns="90004" bIns="45002" numCol="1" anchor="t" anchorCtr="0" compatLnSpc="1"/>
          <a:lstStyle>
            <a:lvl1pPr algn="r" defTabSz="900430">
              <a:defRPr sz="1200"/>
            </a:lvl1pPr>
          </a:lstStyle>
          <a:p>
            <a:pPr>
              <a:defRPr/>
            </a:pPr>
            <a:endParaRPr lang="en-US" altLang="zh-CN"/>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ln>
          <a:effectLst/>
        </p:spPr>
        <p:txBody>
          <a:bodyPr vert="horz" wrap="square" lIns="90004" tIns="45002" rIns="90004" bIns="45002" numCol="1" anchor="b" anchorCtr="0" compatLnSpc="1"/>
          <a:lstStyle>
            <a:lvl1pPr defTabSz="900430">
              <a:defRPr sz="1200"/>
            </a:lvl1pPr>
          </a:lstStyle>
          <a:p>
            <a:pPr>
              <a:defRPr/>
            </a:pPr>
            <a:endParaRPr lang="en-US" altLang="zh-CN"/>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ln>
          <a:effectLst/>
        </p:spPr>
        <p:txBody>
          <a:bodyPr vert="horz" wrap="square" lIns="90004" tIns="45002" rIns="90004" bIns="45002" numCol="1" anchor="b" anchorCtr="0" compatLnSpc="1"/>
          <a:lstStyle>
            <a:lvl1pPr algn="r" defTabSz="900430">
              <a:defRPr sz="1200"/>
            </a:lvl1pPr>
          </a:lstStyle>
          <a:p>
            <a:pPr>
              <a:defRPr/>
            </a:pPr>
            <a:fld id="{4794AFFD-4805-440E-B107-4B1936F54A0D}"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881313" cy="488950"/>
          </a:xfrm>
          <a:prstGeom prst="rect">
            <a:avLst/>
          </a:prstGeom>
          <a:noFill/>
          <a:ln w="9525">
            <a:noFill/>
            <a:miter lim="800000"/>
          </a:ln>
          <a:effectLst/>
        </p:spPr>
        <p:txBody>
          <a:bodyPr vert="horz" wrap="square" lIns="90004" tIns="45002" rIns="90004" bIns="45002" numCol="1" anchor="t" anchorCtr="0" compatLnSpc="1"/>
          <a:lstStyle>
            <a:lvl1pPr defTabSz="900430">
              <a:defRPr sz="1200"/>
            </a:lvl1pPr>
          </a:lstStyle>
          <a:p>
            <a:pPr>
              <a:defRPr/>
            </a:pPr>
            <a:endParaRPr lang="en-US" altLang="zh-CN"/>
          </a:p>
        </p:txBody>
      </p:sp>
      <p:sp>
        <p:nvSpPr>
          <p:cNvPr id="47107" name="Rectangle 3"/>
          <p:cNvSpPr>
            <a:spLocks noGrp="1" noChangeArrowheads="1"/>
          </p:cNvSpPr>
          <p:nvPr>
            <p:ph type="dt" idx="1"/>
          </p:nvPr>
        </p:nvSpPr>
        <p:spPr bwMode="auto">
          <a:xfrm>
            <a:off x="3767138" y="0"/>
            <a:ext cx="2881312" cy="488950"/>
          </a:xfrm>
          <a:prstGeom prst="rect">
            <a:avLst/>
          </a:prstGeom>
          <a:noFill/>
          <a:ln w="9525">
            <a:noFill/>
            <a:miter lim="800000"/>
          </a:ln>
          <a:effectLst/>
        </p:spPr>
        <p:txBody>
          <a:bodyPr vert="horz" wrap="square" lIns="90004" tIns="45002" rIns="90004" bIns="45002" numCol="1" anchor="t" anchorCtr="0" compatLnSpc="1"/>
          <a:lstStyle>
            <a:lvl1pPr algn="r" defTabSz="900430">
              <a:defRPr sz="1200"/>
            </a:lvl1pPr>
          </a:lstStyle>
          <a:p>
            <a:pPr>
              <a:defRPr/>
            </a:pPr>
            <a:endParaRPr lang="en-US" altLang="zh-CN"/>
          </a:p>
        </p:txBody>
      </p:sp>
      <p:sp>
        <p:nvSpPr>
          <p:cNvPr id="17412" name="Rectangle 4"/>
          <p:cNvSpPr>
            <a:spLocks noGrp="1" noRot="1" noChangeAspect="1" noChangeArrowheads="1" noTextEdit="1"/>
          </p:cNvSpPr>
          <p:nvPr>
            <p:ph type="sldImg" idx="2"/>
          </p:nvPr>
        </p:nvSpPr>
        <p:spPr bwMode="auto">
          <a:xfrm>
            <a:off x="879475" y="733425"/>
            <a:ext cx="4891088" cy="3668713"/>
          </a:xfrm>
          <a:prstGeom prst="rect">
            <a:avLst/>
          </a:prstGeom>
          <a:noFill/>
          <a:ln w="9525">
            <a:solidFill>
              <a:srgbClr val="000000"/>
            </a:solidFill>
            <a:miter lim="800000"/>
          </a:ln>
        </p:spPr>
      </p:sp>
      <p:sp>
        <p:nvSpPr>
          <p:cNvPr id="47109" name="Rectangle 5"/>
          <p:cNvSpPr>
            <a:spLocks noGrp="1" noChangeArrowheads="1"/>
          </p:cNvSpPr>
          <p:nvPr>
            <p:ph type="body" sz="quarter" idx="3"/>
          </p:nvPr>
        </p:nvSpPr>
        <p:spPr bwMode="auto">
          <a:xfrm>
            <a:off x="887413" y="4646613"/>
            <a:ext cx="4873625" cy="4402137"/>
          </a:xfrm>
          <a:prstGeom prst="rect">
            <a:avLst/>
          </a:prstGeom>
          <a:noFill/>
          <a:ln w="9525">
            <a:noFill/>
            <a:miter lim="800000"/>
          </a:ln>
          <a:effectLst/>
        </p:spPr>
        <p:txBody>
          <a:bodyPr vert="horz" wrap="square" lIns="90004" tIns="45002" rIns="90004" bIns="45002"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47110" name="Rectangle 6"/>
          <p:cNvSpPr>
            <a:spLocks noGrp="1" noChangeArrowheads="1"/>
          </p:cNvSpPr>
          <p:nvPr>
            <p:ph type="ftr" sz="quarter" idx="4"/>
          </p:nvPr>
        </p:nvSpPr>
        <p:spPr bwMode="auto">
          <a:xfrm>
            <a:off x="0" y="9293225"/>
            <a:ext cx="2881313" cy="488950"/>
          </a:xfrm>
          <a:prstGeom prst="rect">
            <a:avLst/>
          </a:prstGeom>
          <a:noFill/>
          <a:ln w="9525">
            <a:noFill/>
            <a:miter lim="800000"/>
          </a:ln>
          <a:effectLst/>
        </p:spPr>
        <p:txBody>
          <a:bodyPr vert="horz" wrap="square" lIns="90004" tIns="45002" rIns="90004" bIns="45002" numCol="1" anchor="b" anchorCtr="0" compatLnSpc="1"/>
          <a:lstStyle>
            <a:lvl1pPr defTabSz="900430">
              <a:defRPr sz="1200"/>
            </a:lvl1pPr>
          </a:lstStyle>
          <a:p>
            <a:pPr>
              <a:defRPr/>
            </a:pPr>
            <a:endParaRPr lang="en-US" altLang="zh-CN"/>
          </a:p>
        </p:txBody>
      </p:sp>
      <p:sp>
        <p:nvSpPr>
          <p:cNvPr id="47111" name="Rectangle 7"/>
          <p:cNvSpPr>
            <a:spLocks noGrp="1" noChangeArrowheads="1"/>
          </p:cNvSpPr>
          <p:nvPr>
            <p:ph type="sldNum" sz="quarter" idx="5"/>
          </p:nvPr>
        </p:nvSpPr>
        <p:spPr bwMode="auto">
          <a:xfrm>
            <a:off x="3767138" y="9293225"/>
            <a:ext cx="2881312" cy="488950"/>
          </a:xfrm>
          <a:prstGeom prst="rect">
            <a:avLst/>
          </a:prstGeom>
          <a:noFill/>
          <a:ln w="9525">
            <a:noFill/>
            <a:miter lim="800000"/>
          </a:ln>
          <a:effectLst/>
        </p:spPr>
        <p:txBody>
          <a:bodyPr vert="horz" wrap="square" lIns="90004" tIns="45002" rIns="90004" bIns="45002" numCol="1" anchor="b" anchorCtr="0" compatLnSpc="1"/>
          <a:lstStyle>
            <a:lvl1pPr algn="r" defTabSz="900430">
              <a:defRPr sz="1200"/>
            </a:lvl1pPr>
          </a:lstStyle>
          <a:p>
            <a:pPr>
              <a:defRPr/>
            </a:pPr>
            <a:fld id="{8FA2EBCA-73D1-4D65-9E83-54229ADD8DC2}"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grpSp>
        <p:nvGrpSpPr>
          <p:cNvPr id="2" name="组合 1"/>
          <p:cNvGrpSpPr/>
          <p:nvPr/>
        </p:nvGrpSpPr>
        <p:grpSpPr>
          <a:xfrm>
            <a:off x="-3765" y="4953000"/>
            <a:ext cx="9147765" cy="1912088"/>
            <a:chOff x="-3765" y="4832896"/>
            <a:chExt cx="9147765" cy="2032192"/>
          </a:xfrm>
        </p:grpSpPr>
        <p:sp>
          <p:nvSpPr>
            <p:cNvPr id="7" name="任意多边形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lstStyle>
          <a:p>
            <a:pPr>
              <a:defRPr/>
            </a:pPr>
            <a:endParaRPr lang="en-US" altLang="zh-CN"/>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lstStyle>
          <a:p>
            <a:pPr>
              <a:defRPr/>
            </a:pPr>
            <a:endParaRPr lang="en-US" altLang="zh-CN"/>
          </a:p>
        </p:txBody>
      </p:sp>
      <p:sp>
        <p:nvSpPr>
          <p:cNvPr id="27" name="灯片编号占位符 26"/>
          <p:cNvSpPr>
            <a:spLocks noGrp="1"/>
          </p:cNvSpPr>
          <p:nvPr>
            <p:ph type="sldNum" sz="quarter" idx="12"/>
          </p:nvPr>
        </p:nvSpPr>
        <p:spPr/>
        <p:txBody>
          <a:bodyPr/>
          <a:lstStyle>
            <a:lvl1pPr>
              <a:defRPr>
                <a:solidFill>
                  <a:srgbClr val="FFFFFF"/>
                </a:solidFill>
              </a:defRPr>
            </a:lvl1pPr>
          </a:lstStyle>
          <a:p>
            <a:pPr>
              <a:defRPr/>
            </a:pPr>
            <a:fld id="{97E71503-AEE6-4BB9-A291-6EC1ECD78595}" type="slidenum">
              <a:rPr lang="en-US" altLang="zh-CN" smtClean="0"/>
            </a:fld>
            <a:endParaRPr lang="en-US" altLang="zh-CN"/>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FFA5FD41-0DFC-4EB6-A791-D8BF0B16D259}" type="slidenum">
              <a:rPr lang="en-US" altLang="zh-CN" smtClean="0"/>
            </a:fld>
            <a:endParaRPr lang="en-US" altLang="zh-CN"/>
          </a:p>
        </p:txBody>
      </p:sp>
      <p:sp>
        <p:nvSpPr>
          <p:cNvPr id="7" name="标题 6"/>
          <p:cNvSpPr>
            <a:spLocks noGrp="1"/>
          </p:cNvSpPr>
          <p:nvPr>
            <p:ph type="title"/>
          </p:nvPr>
        </p:nvSpPr>
        <p:spPr/>
        <p:txBody>
          <a:bodyPr rtlCol="0"/>
          <a:lstStyle/>
          <a:p>
            <a:r>
              <a:rPr kumimoji="0" lang="zh-CN" altLang="en-US" smtClean="0"/>
              <a:t>单击此处编辑母版标题样式</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endParaRPr kumimoji="0" lang="zh-CN" altLang="en-US" smtClean="0"/>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945BCD23-D093-42DE-9B55-C85312929ED1}" type="slidenum">
              <a:rPr lang="en-US" altLang="zh-CN" smtClean="0"/>
            </a:fld>
            <a:endParaRPr lang="en-US" altLang="zh-CN"/>
          </a:p>
        </p:txBody>
      </p:sp>
      <p:sp>
        <p:nvSpPr>
          <p:cNvPr id="7" name="燕尾形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燕尾形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7F7999F9-D29D-473A-9018-DF56678D1704}" type="slidenum">
              <a:rPr lang="en-US" altLang="zh-CN" smtClean="0"/>
            </a:fld>
            <a:endParaRPr lang="en-US" altLang="zh-CN"/>
          </a:p>
        </p:txBody>
      </p:sp>
      <p:sp>
        <p:nvSpPr>
          <p:cNvPr id="8" name="标题 7"/>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pPr>
              <a:defRPr/>
            </a:pPr>
            <a:endParaRPr lang="en-US" altLang="zh-CN"/>
          </a:p>
        </p:txBody>
      </p:sp>
      <p:sp>
        <p:nvSpPr>
          <p:cNvPr id="8" name="页脚占位符 7"/>
          <p:cNvSpPr>
            <a:spLocks noGrp="1"/>
          </p:cNvSpPr>
          <p:nvPr>
            <p:ph type="ftr" sz="quarter" idx="11"/>
          </p:nvPr>
        </p:nvSpPr>
        <p:spPr/>
        <p:txBody>
          <a:bodyPr/>
          <a:lstStyle/>
          <a:p>
            <a:pPr>
              <a:defRPr/>
            </a:pPr>
            <a:endParaRPr lang="en-US" altLang="zh-CN"/>
          </a:p>
        </p:txBody>
      </p:sp>
      <p:sp>
        <p:nvSpPr>
          <p:cNvPr id="9" name="灯片编号占位符 8"/>
          <p:cNvSpPr>
            <a:spLocks noGrp="1"/>
          </p:cNvSpPr>
          <p:nvPr>
            <p:ph type="sldNum" sz="quarter" idx="12"/>
          </p:nvPr>
        </p:nvSpPr>
        <p:spPr/>
        <p:txBody>
          <a:bodyPr/>
          <a:lstStyle/>
          <a:p>
            <a:pPr>
              <a:defRPr/>
            </a:pPr>
            <a:fld id="{7AFBCBC0-93E3-48A0-B168-05A100A1D551}" type="slidenum">
              <a:rPr lang="en-US" altLang="zh-CN" smtClean="0"/>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56A11EA5-8636-40CC-B822-FCBFEC229C03}" type="slidenum">
              <a:rPr lang="en-US" altLang="zh-CN" smtClean="0"/>
            </a:fld>
            <a:endParaRPr lang="en-US" altLang="zh-CN"/>
          </a:p>
        </p:txBody>
      </p:sp>
      <p:sp>
        <p:nvSpPr>
          <p:cNvPr id="6" name="标题 5"/>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en-US" altLang="zh-CN"/>
          </a:p>
        </p:txBody>
      </p:sp>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p:txBody>
          <a:bodyPr/>
          <a:lstStyle/>
          <a:p>
            <a:pPr>
              <a:defRPr/>
            </a:pPr>
            <a:fld id="{3EA03F47-F691-458B-8362-00C9DF2737A6}" type="slidenum">
              <a:rPr lang="en-US" altLang="zh-CN" smtClean="0"/>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6727032" y="6407944"/>
            <a:ext cx="1920240" cy="365760"/>
          </a:xfrm>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5B8F5EDB-4FDE-47E9-993A-E5446E61E68B}" type="slidenum">
              <a:rPr lang="en-US" altLang="zh-CN" smtClean="0"/>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endParaRPr kumimoji="0" lang="zh-CN" altLang="en-US" smtClean="0"/>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zh-CN" altLang="en-US" smtClean="0"/>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lstStyle>
          <a:p>
            <a:pPr>
              <a:defRPr/>
            </a:pPr>
            <a:endParaRPr lang="en-US" altLang="zh-CN"/>
          </a:p>
        </p:txBody>
      </p:sp>
      <p:sp>
        <p:nvSpPr>
          <p:cNvPr id="6" name="页脚占位符 5"/>
          <p:cNvSpPr>
            <a:spLocks noGrp="1"/>
          </p:cNvSpPr>
          <p:nvPr>
            <p:ph type="ftr" sz="quarter" idx="11"/>
          </p:nvPr>
        </p:nvSpPr>
        <p:spPr>
          <a:xfrm>
            <a:off x="4380072" y="6407944"/>
            <a:ext cx="2350681" cy="365125"/>
          </a:xfrm>
        </p:spPr>
        <p:txBody>
          <a:bodyPr/>
          <a:lstStyle>
            <a:lvl1pPr>
              <a:defRPr>
                <a:solidFill>
                  <a:schemeClr val="tx1"/>
                </a:solidFill>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solidFill>
                  <a:schemeClr val="tx1"/>
                </a:solidFill>
              </a:defRPr>
            </a:lvl1pPr>
          </a:lstStyle>
          <a:p>
            <a:pPr>
              <a:defRPr/>
            </a:pPr>
            <a:fld id="{C7EBE04A-43F6-4D57-A18E-242095D46D83}" type="slidenum">
              <a:rPr lang="en-US" altLang="zh-CN" smtClean="0"/>
            </a:fld>
            <a:endParaRPr lang="en-US" altLang="zh-CN"/>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zh-CN" altLang="en-US" smtClean="0"/>
              <a:t>单击此处编辑母版标题样式</a:t>
            </a:r>
            <a:endParaRPr kumimoji="0" lang="en-US"/>
          </a:p>
        </p:txBody>
      </p:sp>
      <p:sp>
        <p:nvSpPr>
          <p:cNvPr id="8" name="任意多边形 7"/>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任意多边形 8"/>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接连接符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燕尾形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624256C6-970B-491D-A2D8-51E932195A0F}" type="slidenum">
              <a:rPr lang="en-US" altLang="zh-CN" smtClean="0"/>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41"/>
            <a:ext cx="6324600" cy="5592760"/>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506A4128-8785-4A74-88F1-E00136EEE117}" type="slidenum">
              <a:rPr lang="en-US" altLang="zh-CN" smtClean="0"/>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直角三角形 13"/>
          <p:cNvSpPr/>
          <p:nvPr/>
        </p:nvSpPr>
        <p:spPr bwMode="auto">
          <a:xfrm>
            <a:off x="-6042" y="5791253"/>
            <a:ext cx="3402314" cy="1080868"/>
          </a:xfrm>
          <a:prstGeom prst="rtTriangle">
            <a:avLst/>
          </a:prstGeom>
          <a:blipFill>
            <a:blip r:embed="rId1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直接连接符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pPr>
              <a:defRPr/>
            </a:pPr>
            <a:endParaRPr lang="en-US" altLang="zh-CN"/>
          </a:p>
        </p:txBody>
      </p:sp>
      <p:sp>
        <p:nvSpPr>
          <p:cNvPr id="22" name="页脚占位符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pPr>
              <a:defRPr/>
            </a:pPr>
            <a:endParaRPr lang="en-US" altLang="zh-CN"/>
          </a:p>
        </p:txBody>
      </p:sp>
      <p:sp>
        <p:nvSpPr>
          <p:cNvPr id="18" name="灯片编号占位符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pPr>
              <a:defRPr/>
            </a:pPr>
            <a:fld id="{932FCBB6-5DCC-409F-A07F-C60C71F9935E}"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WordArt 6"/>
          <p:cNvSpPr>
            <a:spLocks noChangeArrowheads="1" noChangeShapeType="1" noTextEdit="1"/>
          </p:cNvSpPr>
          <p:nvPr/>
        </p:nvSpPr>
        <p:spPr bwMode="auto">
          <a:xfrm>
            <a:off x="1981200" y="1828800"/>
            <a:ext cx="5486400" cy="923925"/>
          </a:xfrm>
          <a:prstGeom prst="rect">
            <a:avLst/>
          </a:prstGeom>
        </p:spPr>
        <p:txBody>
          <a:bodyPr wrap="none" fromWordArt="1">
            <a:prstTxWarp prst="textPlain">
              <a:avLst>
                <a:gd name="adj" fmla="val 50000"/>
              </a:avLst>
            </a:prstTxWarp>
          </a:bodyPr>
          <a:lstStyle/>
          <a:p>
            <a:pPr algn="ctr">
              <a:defRPr/>
            </a:pPr>
            <a:r>
              <a:rPr lang="en-US" altLang="zh-CN" sz="7200" kern="10" dirty="0">
                <a:ln w="9525">
                  <a:noFill/>
                  <a:round/>
                </a:ln>
                <a:effectLst>
                  <a:outerShdw dist="35921" dir="2700000" algn="ctr" rotWithShape="0">
                    <a:srgbClr val="C0C0C0"/>
                  </a:outerShdw>
                </a:effectLst>
                <a:latin typeface="华文行楷" panose="02010800040101010101" charset="-122"/>
                <a:ea typeface="华文行楷" panose="02010800040101010101" charset="-122"/>
              </a:rPr>
              <a:t>《</a:t>
            </a:r>
            <a:r>
              <a:rPr lang="zh-CN" altLang="en-US" sz="7200" kern="10" dirty="0">
                <a:ln w="9525">
                  <a:noFill/>
                  <a:round/>
                </a:ln>
                <a:effectLst>
                  <a:outerShdw dist="35921" dir="2700000" algn="ctr" rotWithShape="0">
                    <a:srgbClr val="C0C0C0"/>
                  </a:outerShdw>
                </a:effectLst>
                <a:latin typeface="华文行楷" panose="02010800040101010101" charset="-122"/>
                <a:ea typeface="华文行楷" panose="02010800040101010101" charset="-122"/>
              </a:rPr>
              <a:t>编译原理</a:t>
            </a:r>
            <a:r>
              <a:rPr lang="en-US" altLang="zh-CN" sz="7200" kern="10" dirty="0">
                <a:ln w="9525">
                  <a:noFill/>
                  <a:round/>
                </a:ln>
                <a:effectLst>
                  <a:outerShdw dist="35921" dir="2700000" algn="ctr" rotWithShape="0">
                    <a:srgbClr val="C0C0C0"/>
                  </a:outerShdw>
                </a:effectLst>
                <a:latin typeface="华文行楷" panose="02010800040101010101" charset="-122"/>
                <a:ea typeface="华文行楷" panose="02010800040101010101" charset="-122"/>
              </a:rPr>
              <a:t>》</a:t>
            </a:r>
            <a:endParaRPr lang="zh-CN" altLang="en-US" sz="7200" kern="10" dirty="0">
              <a:ln w="9525">
                <a:noFill/>
                <a:round/>
              </a:ln>
              <a:effectLst>
                <a:outerShdw dist="35921" dir="2700000" algn="ctr" rotWithShape="0">
                  <a:srgbClr val="C0C0C0"/>
                </a:outerShdw>
              </a:effectLst>
              <a:latin typeface="华文行楷" panose="02010800040101010101" charset="-122"/>
              <a:ea typeface="华文行楷" panose="02010800040101010101" charset="-122"/>
            </a:endParaRPr>
          </a:p>
        </p:txBody>
      </p:sp>
      <p:sp>
        <p:nvSpPr>
          <p:cNvPr id="3076" name="Rectangle 9"/>
          <p:cNvSpPr>
            <a:spLocks noGrp="1" noChangeArrowheads="1"/>
          </p:cNvSpPr>
          <p:nvPr>
            <p:ph type="subTitle" idx="1"/>
          </p:nvPr>
        </p:nvSpPr>
        <p:spPr>
          <a:xfrm>
            <a:off x="2476500" y="3356992"/>
            <a:ext cx="4495800" cy="1872208"/>
          </a:xfrm>
        </p:spPr>
        <p:txBody>
          <a:bodyPr>
            <a:normAutofit fontScale="92500"/>
          </a:bodyPr>
          <a:lstStyle/>
          <a:p>
            <a:pPr algn="ctr" eaLnBrk="1" hangingPunct="1">
              <a:lnSpc>
                <a:spcPct val="120000"/>
              </a:lnSpc>
            </a:pPr>
            <a:r>
              <a:rPr lang="zh-CN" altLang="en-US" sz="3600" dirty="0" smtClean="0"/>
              <a:t>王</a:t>
            </a:r>
            <a:r>
              <a:rPr lang="zh-CN" altLang="en-US" sz="3600" dirty="0" smtClean="0"/>
              <a:t>娜</a:t>
            </a:r>
            <a:endParaRPr lang="en-US" altLang="zh-CN" sz="3600" dirty="0" smtClean="0"/>
          </a:p>
          <a:p>
            <a:pPr algn="ctr" eaLnBrk="1" hangingPunct="1">
              <a:lnSpc>
                <a:spcPct val="120000"/>
              </a:lnSpc>
            </a:pPr>
            <a:r>
              <a:rPr lang="en-US" altLang="zh-CN" sz="3600" dirty="0" smtClean="0"/>
              <a:t>twangna@jnu.edu.cn</a:t>
            </a:r>
            <a:endParaRPr lang="en-US" altLang="zh-CN" sz="360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nodeType="afterEffect">
                                  <p:stCondLst>
                                    <p:cond delay="0"/>
                                  </p:stCondLst>
                                  <p:childTnLst>
                                    <p:set>
                                      <p:cBhvr>
                                        <p:cTn id="6" dur="1" fill="hold">
                                          <p:stCondLst>
                                            <p:cond delay="0"/>
                                          </p:stCondLst>
                                        </p:cTn>
                                        <p:tgtEl>
                                          <p:spTgt spid="2054"/>
                                        </p:tgtEl>
                                        <p:attrNameLst>
                                          <p:attrName>style.visibility</p:attrName>
                                        </p:attrNameLst>
                                      </p:cBhvr>
                                      <p:to>
                                        <p:strVal val="visible"/>
                                      </p:to>
                                    </p:set>
                                    <p:anim calcmode="lin" valueType="num">
                                      <p:cBhvr>
                                        <p:cTn id="7" dur="500" fill="hold"/>
                                        <p:tgtEl>
                                          <p:spTgt spid="2054"/>
                                        </p:tgtEl>
                                        <p:attrNameLst>
                                          <p:attrName>ppt_w</p:attrName>
                                        </p:attrNameLst>
                                      </p:cBhvr>
                                      <p:tavLst>
                                        <p:tav tm="0">
                                          <p:val>
                                            <p:fltVal val="0"/>
                                          </p:val>
                                        </p:tav>
                                        <p:tav tm="100000">
                                          <p:val>
                                            <p:strVal val="#ppt_w"/>
                                          </p:val>
                                        </p:tav>
                                      </p:tavLst>
                                    </p:anim>
                                    <p:anim calcmode="lin" valueType="num">
                                      <p:cBhvr>
                                        <p:cTn id="8" dur="500" fill="hold"/>
                                        <p:tgtEl>
                                          <p:spTgt spid="2054"/>
                                        </p:tgtEl>
                                        <p:attrNameLst>
                                          <p:attrName>ppt_h</p:attrName>
                                        </p:attrNameLst>
                                      </p:cBhvr>
                                      <p:tavLst>
                                        <p:tav tm="0">
                                          <p:val>
                                            <p:fltVal val="0"/>
                                          </p:val>
                                        </p:tav>
                                        <p:tav tm="100000">
                                          <p:val>
                                            <p:strVal val="#ppt_h"/>
                                          </p:val>
                                        </p:tav>
                                      </p:tavLst>
                                    </p:anim>
                                    <p:anim calcmode="lin" valueType="num">
                                      <p:cBhvr>
                                        <p:cTn id="9" dur="500" fill="hold"/>
                                        <p:tgtEl>
                                          <p:spTgt spid="2054"/>
                                        </p:tgtEl>
                                        <p:attrNameLst>
                                          <p:attrName>ppt_x</p:attrName>
                                        </p:attrNameLst>
                                      </p:cBhvr>
                                      <p:tavLst>
                                        <p:tav tm="0">
                                          <p:val>
                                            <p:fltVal val="0.5"/>
                                          </p:val>
                                        </p:tav>
                                        <p:tav tm="100000">
                                          <p:val>
                                            <p:strVal val="#ppt_x"/>
                                          </p:val>
                                        </p:tav>
                                      </p:tavLst>
                                    </p:anim>
                                    <p:anim calcmode="lin" valueType="num">
                                      <p:cBhvr>
                                        <p:cTn id="10" dur="500" fill="hold"/>
                                        <p:tgtEl>
                                          <p:spTgt spid="2054"/>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buFont typeface="Wingdings" panose="05000000000000000000" charset="0"/>
              <a:buChar char="Ø"/>
            </a:pPr>
            <a:r>
              <a:rPr lang="zh-CN" altLang="en-US" sz="3200" dirty="0" smtClean="0"/>
              <a:t>计算机导论</a:t>
            </a:r>
            <a:r>
              <a:rPr lang="en-US" altLang="zh-CN" sz="3200" dirty="0" smtClean="0"/>
              <a:t>-------</a:t>
            </a:r>
            <a:r>
              <a:rPr lang="zh-CN" altLang="en-US" sz="3200" dirty="0" smtClean="0"/>
              <a:t>算法初步</a:t>
            </a:r>
            <a:r>
              <a:rPr lang="en-US" altLang="zh-CN" sz="3200" dirty="0" smtClean="0"/>
              <a:t>+</a:t>
            </a:r>
            <a:r>
              <a:rPr lang="zh-CN" altLang="en-US" sz="3200" dirty="0" smtClean="0"/>
              <a:t>语言初步</a:t>
            </a:r>
            <a:endParaRPr lang="en-US" altLang="zh-CN" sz="3200" dirty="0" smtClean="0"/>
          </a:p>
          <a:p>
            <a:pPr>
              <a:buFont typeface="Wingdings" panose="05000000000000000000" charset="0"/>
              <a:buChar char="Ø"/>
            </a:pPr>
            <a:r>
              <a:rPr lang="en-US" altLang="zh-CN" sz="3200" dirty="0" smtClean="0"/>
              <a:t>c/</a:t>
            </a:r>
            <a:r>
              <a:rPr lang="en-US" altLang="zh-CN" sz="3200" dirty="0" err="1" smtClean="0"/>
              <a:t>c++</a:t>
            </a:r>
            <a:r>
              <a:rPr lang="zh-CN" altLang="en-US" sz="3200" dirty="0" smtClean="0"/>
              <a:t>语言程序设计</a:t>
            </a:r>
            <a:r>
              <a:rPr lang="en-US" altLang="zh-CN" sz="3200" dirty="0" smtClean="0"/>
              <a:t>---</a:t>
            </a:r>
            <a:r>
              <a:rPr lang="zh-CN" altLang="en-US" sz="3200" dirty="0" smtClean="0"/>
              <a:t>语言语法</a:t>
            </a:r>
            <a:r>
              <a:rPr lang="en-US" altLang="zh-CN" sz="3200" dirty="0" smtClean="0"/>
              <a:t>+</a:t>
            </a:r>
            <a:r>
              <a:rPr lang="zh-CN" altLang="en-US" sz="3200" dirty="0" smtClean="0"/>
              <a:t>算法</a:t>
            </a:r>
            <a:endParaRPr lang="en-US" altLang="zh-CN" sz="3200" dirty="0" smtClean="0"/>
          </a:p>
          <a:p>
            <a:pPr>
              <a:buFont typeface="Wingdings" panose="05000000000000000000" charset="0"/>
              <a:buChar char="Ø"/>
            </a:pPr>
            <a:r>
              <a:rPr lang="zh-CN" altLang="en-US" sz="3200" dirty="0" smtClean="0"/>
              <a:t>数据结构</a:t>
            </a:r>
            <a:r>
              <a:rPr lang="en-US" altLang="zh-CN" sz="3200" dirty="0" smtClean="0"/>
              <a:t>--- </a:t>
            </a:r>
            <a:r>
              <a:rPr lang="zh-CN" altLang="en-US" sz="3200" dirty="0" smtClean="0"/>
              <a:t>数据结构、算法</a:t>
            </a:r>
            <a:r>
              <a:rPr lang="en-US" altLang="zh-CN" sz="3200" dirty="0" smtClean="0"/>
              <a:t>+</a:t>
            </a:r>
            <a:r>
              <a:rPr lang="zh-CN" altLang="en-US" sz="3200" dirty="0" smtClean="0"/>
              <a:t>语言实现</a:t>
            </a:r>
            <a:endParaRPr lang="en-US" altLang="zh-CN" sz="3200" dirty="0" smtClean="0"/>
          </a:p>
          <a:p>
            <a:pPr>
              <a:buFont typeface="Wingdings" panose="05000000000000000000" charset="0"/>
              <a:buChar char="Ø"/>
            </a:pPr>
            <a:r>
              <a:rPr lang="zh-CN" altLang="en-US" sz="3200" dirty="0" smtClean="0"/>
              <a:t>算法分析与设计</a:t>
            </a:r>
            <a:r>
              <a:rPr lang="en-US" altLang="zh-CN" sz="3200" dirty="0" smtClean="0"/>
              <a:t>------  </a:t>
            </a:r>
            <a:r>
              <a:rPr lang="zh-CN" altLang="en-US" sz="3200" dirty="0" smtClean="0"/>
              <a:t>算法</a:t>
            </a:r>
            <a:r>
              <a:rPr lang="en-US" altLang="zh-CN" sz="3200" dirty="0" smtClean="0"/>
              <a:t>+</a:t>
            </a:r>
            <a:r>
              <a:rPr lang="zh-CN" altLang="en-US" sz="3200" dirty="0" smtClean="0"/>
              <a:t>语言实现</a:t>
            </a:r>
            <a:endParaRPr lang="en-US" altLang="zh-CN" sz="3200" dirty="0" smtClean="0"/>
          </a:p>
          <a:p>
            <a:pPr>
              <a:buFont typeface="Wingdings" panose="05000000000000000000" charset="0"/>
              <a:buChar char="Ø"/>
            </a:pPr>
            <a:r>
              <a:rPr lang="zh-CN" altLang="en-US" sz="3200" dirty="0" smtClean="0"/>
              <a:t>编译原理</a:t>
            </a:r>
            <a:r>
              <a:rPr lang="en-US" altLang="zh-CN" sz="3200" dirty="0" smtClean="0"/>
              <a:t>-----------  </a:t>
            </a:r>
            <a:r>
              <a:rPr lang="zh-CN" altLang="en-US" sz="3200" dirty="0" smtClean="0"/>
              <a:t>语言本身实现</a:t>
            </a:r>
            <a:endParaRPr lang="zh-CN" altLang="en-US" sz="3200" dirty="0"/>
          </a:p>
        </p:txBody>
      </p:sp>
      <p:sp>
        <p:nvSpPr>
          <p:cNvPr id="3" name="标题 2"/>
          <p:cNvSpPr>
            <a:spLocks noGrp="1"/>
          </p:cNvSpPr>
          <p:nvPr>
            <p:ph type="title"/>
          </p:nvPr>
        </p:nvSpPr>
        <p:spPr/>
        <p:txBody>
          <a:bodyPr/>
          <a:lstStyle/>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buFont typeface="Wingdings" panose="05000000000000000000" charset="0"/>
              <a:buChar char="Ø"/>
            </a:pPr>
            <a:r>
              <a:rPr lang="zh-CN" altLang="en-US" sz="3200" dirty="0" smtClean="0"/>
              <a:t>编译方法与技术有着广泛应用，课程所涉及的内容至今非常活跃：自然语言的翻译，软件移植，网络安全，形式化方法，形式语义学等</a:t>
            </a:r>
            <a:endParaRPr lang="zh-CN" altLang="en-US" sz="3200" dirty="0"/>
          </a:p>
        </p:txBody>
      </p:sp>
      <p:sp>
        <p:nvSpPr>
          <p:cNvPr id="3" name="标题 2"/>
          <p:cNvSpPr>
            <a:spLocks noGrp="1"/>
          </p:cNvSpPr>
          <p:nvPr>
            <p:ph type="title"/>
          </p:nvPr>
        </p:nvSpPr>
        <p:spPr/>
        <p:txBody>
          <a:bodyPr/>
          <a:lstStyle/>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buFont typeface="Wingdings" panose="05000000000000000000" charset="0"/>
              <a:buChar char="Ø"/>
            </a:pPr>
            <a:r>
              <a:rPr lang="zh-CN" altLang="en-US" dirty="0" smtClean="0"/>
              <a:t>编译系统的操作对象是</a:t>
            </a:r>
            <a:r>
              <a:rPr lang="zh-CN" altLang="en-US" dirty="0" smtClean="0">
                <a:solidFill>
                  <a:srgbClr val="FF0000"/>
                </a:solidFill>
              </a:rPr>
              <a:t>程序</a:t>
            </a:r>
            <a:r>
              <a:rPr lang="zh-CN" altLang="en-US" dirty="0" smtClean="0"/>
              <a:t>，而不是数据。</a:t>
            </a:r>
            <a:endParaRPr lang="en-US" altLang="zh-CN" dirty="0" smtClean="0"/>
          </a:p>
          <a:p>
            <a:pPr>
              <a:lnSpc>
                <a:spcPct val="150000"/>
              </a:lnSpc>
              <a:buFont typeface="Wingdings" panose="05000000000000000000" charset="0"/>
              <a:buChar char="Ø"/>
            </a:pPr>
            <a:r>
              <a:rPr lang="zh-CN" altLang="en-US" dirty="0" smtClean="0"/>
              <a:t>特点是：</a:t>
            </a:r>
            <a:r>
              <a:rPr lang="zh-CN" altLang="en-US" dirty="0" smtClean="0">
                <a:solidFill>
                  <a:srgbClr val="FF0000"/>
                </a:solidFill>
              </a:rPr>
              <a:t>其结构不能用通常的类型机制来定义</a:t>
            </a:r>
            <a:r>
              <a:rPr lang="zh-CN" altLang="en-US" dirty="0" smtClean="0"/>
              <a:t>，必须由</a:t>
            </a:r>
            <a:r>
              <a:rPr lang="zh-CN" altLang="en-US" dirty="0" smtClean="0">
                <a:solidFill>
                  <a:srgbClr val="FF0000"/>
                </a:solidFill>
              </a:rPr>
              <a:t>语法公式</a:t>
            </a:r>
            <a:r>
              <a:rPr lang="zh-CN" altLang="en-US" dirty="0" smtClean="0"/>
              <a:t>来定义。任何</a:t>
            </a:r>
            <a:r>
              <a:rPr lang="en-US" altLang="zh-CN" dirty="0" smtClean="0"/>
              <a:t>C++</a:t>
            </a:r>
            <a:r>
              <a:rPr lang="zh-CN" altLang="en-US" dirty="0" smtClean="0"/>
              <a:t>等高级程序设计语言都无法描述程序结构。编译器最独特技术是程序的分解技术，即</a:t>
            </a:r>
            <a:r>
              <a:rPr lang="zh-CN" altLang="en-US" dirty="0" smtClean="0">
                <a:solidFill>
                  <a:srgbClr val="FF0000"/>
                </a:solidFill>
              </a:rPr>
              <a:t>语法分析技术</a:t>
            </a:r>
            <a:r>
              <a:rPr lang="zh-CN" altLang="en-US" dirty="0" smtClean="0"/>
              <a:t>。</a:t>
            </a:r>
            <a:endParaRPr lang="zh-CN" altLang="en-US" dirty="0"/>
          </a:p>
        </p:txBody>
      </p:sp>
      <p:sp>
        <p:nvSpPr>
          <p:cNvPr id="3" name="标题 2"/>
          <p:cNvSpPr>
            <a:spLocks noGrp="1"/>
          </p:cNvSpPr>
          <p:nvPr>
            <p:ph type="title"/>
          </p:nvPr>
        </p:nvSpPr>
        <p:spPr/>
        <p:txBody>
          <a:bodyPr>
            <a:normAutofit/>
          </a:bodyPr>
          <a:lstStyle/>
          <a:p>
            <a:pPr algn="ctr"/>
            <a:r>
              <a:rPr lang="zh-CN" altLang="en-US" sz="4400" dirty="0" smtClean="0">
                <a:solidFill>
                  <a:srgbClr val="003366"/>
                </a:solidFill>
                <a:latin typeface="黑体" panose="02010609060101010101" pitchFamily="2" charset="-122"/>
                <a:ea typeface="黑体" panose="02010609060101010101" pitchFamily="2" charset="-122"/>
              </a:rPr>
              <a:t>第一章 编译程序概述</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矩形 8"/>
          <p:cNvSpPr/>
          <p:nvPr/>
        </p:nvSpPr>
        <p:spPr bwMode="auto">
          <a:xfrm>
            <a:off x="1043608" y="2996952"/>
            <a:ext cx="3096344" cy="1080120"/>
          </a:xfrm>
          <a:prstGeom prst="rect">
            <a:avLst/>
          </a:prstGeom>
          <a:solidFill>
            <a:srgbClr val="CC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94218" name="Rectangle 10"/>
          <p:cNvSpPr>
            <a:spLocks noChangeArrowheads="1"/>
          </p:cNvSpPr>
          <p:nvPr/>
        </p:nvSpPr>
        <p:spPr bwMode="auto">
          <a:xfrm>
            <a:off x="4800600" y="2094384"/>
            <a:ext cx="3803848" cy="685800"/>
          </a:xfrm>
          <a:prstGeom prst="rect">
            <a:avLst/>
          </a:prstGeom>
          <a:solidFill>
            <a:schemeClr val="accent1"/>
          </a:solidFill>
          <a:ln w="9525">
            <a:solidFill>
              <a:schemeClr val="tx1"/>
            </a:solidFill>
            <a:miter lim="800000"/>
          </a:ln>
        </p:spPr>
        <p:txBody>
          <a:bodyPr wrap="none" anchor="ctr"/>
          <a:lstStyle/>
          <a:p>
            <a:endParaRPr lang="zh-CN" altLang="en-US"/>
          </a:p>
        </p:txBody>
      </p:sp>
      <p:sp>
        <p:nvSpPr>
          <p:cNvPr id="5123" name="Rectangle 3"/>
          <p:cNvSpPr>
            <a:spLocks noGrp="1" noChangeArrowheads="1"/>
          </p:cNvSpPr>
          <p:nvPr>
            <p:ph idx="1"/>
          </p:nvPr>
        </p:nvSpPr>
        <p:spPr>
          <a:xfrm>
            <a:off x="827584" y="2018184"/>
            <a:ext cx="3240360" cy="4099520"/>
          </a:xfrm>
        </p:spPr>
        <p:txBody>
          <a:bodyPr/>
          <a:lstStyle/>
          <a:p>
            <a:pPr eaLnBrk="1" hangingPunct="1">
              <a:buFont typeface="Wingdings" panose="05000000000000000000" charset="0"/>
              <a:buChar char="Ø"/>
            </a:pPr>
            <a:r>
              <a:rPr lang="zh-CN" altLang="en-US" sz="2000" b="1" dirty="0" smtClean="0">
                <a:latin typeface="宋体" panose="02010600030101010101" pitchFamily="2" charset="-122"/>
              </a:rPr>
              <a:t>低级语言</a:t>
            </a:r>
            <a:endParaRPr lang="zh-CN" altLang="en-US" sz="2000" b="1" dirty="0" smtClean="0">
              <a:latin typeface="宋体" panose="02010600030101010101" pitchFamily="2" charset="-122"/>
            </a:endParaRPr>
          </a:p>
          <a:p>
            <a:pPr lvl="1" eaLnBrk="1" hangingPunct="1">
              <a:buFont typeface="Wingdings" panose="05000000000000000000" charset="0"/>
              <a:buChar char="Ø"/>
            </a:pPr>
            <a:r>
              <a:rPr lang="zh-CN" altLang="en-US" sz="1800" b="1" dirty="0" smtClean="0">
                <a:latin typeface="宋体" panose="02010600030101010101" pitchFamily="2" charset="-122"/>
              </a:rPr>
              <a:t>机器指令或汇编指令</a:t>
            </a:r>
            <a:endParaRPr lang="en-US" altLang="zh-CN" sz="1800" b="1" dirty="0" smtClean="0">
              <a:latin typeface="宋体" panose="02010600030101010101" pitchFamily="2" charset="-122"/>
            </a:endParaRPr>
          </a:p>
          <a:p>
            <a:pPr lvl="1" eaLnBrk="1" hangingPunct="1">
              <a:buFont typeface="Wingdings" panose="05000000000000000000" charset="0"/>
              <a:buChar char="Ø"/>
            </a:pPr>
            <a:r>
              <a:rPr lang="zh-CN" altLang="en-US" sz="1800" b="1" dirty="0" smtClean="0">
                <a:latin typeface="宋体" panose="02010600030101010101" pitchFamily="2" charset="-122"/>
              </a:rPr>
              <a:t>（面向机器设计）</a:t>
            </a:r>
            <a:endParaRPr lang="zh-CN" altLang="en-US" sz="1800" b="1" dirty="0" smtClean="0">
              <a:latin typeface="宋体" panose="02010600030101010101" pitchFamily="2" charset="-122"/>
            </a:endParaRPr>
          </a:p>
          <a:p>
            <a:pPr eaLnBrk="1" hangingPunct="1">
              <a:buFont typeface="Wingdings" panose="05000000000000000000" charset="0"/>
              <a:buChar char="Ø"/>
            </a:pPr>
            <a:r>
              <a:rPr lang="zh-CN" altLang="en-US" sz="2000" b="1" dirty="0" smtClean="0">
                <a:latin typeface="宋体" panose="02010600030101010101" pitchFamily="2" charset="-122"/>
              </a:rPr>
              <a:t>高级语言</a:t>
            </a:r>
            <a:endParaRPr lang="zh-CN" altLang="en-US" sz="2000" b="1" dirty="0" smtClean="0">
              <a:latin typeface="宋体" panose="02010600030101010101" pitchFamily="2" charset="-122"/>
            </a:endParaRPr>
          </a:p>
          <a:p>
            <a:pPr lvl="1" eaLnBrk="1" hangingPunct="1">
              <a:buFont typeface="Wingdings" panose="05000000000000000000" charset="0"/>
              <a:buChar char="Ø"/>
            </a:pPr>
            <a:r>
              <a:rPr lang="zh-CN" altLang="en-US" sz="2000" b="1" dirty="0" smtClean="0">
                <a:latin typeface="宋体" panose="02010600030101010101" pitchFamily="2" charset="-122"/>
              </a:rPr>
              <a:t>描述程序执行的算法</a:t>
            </a:r>
            <a:endParaRPr lang="en-US" altLang="zh-CN" sz="2000" b="1" dirty="0" smtClean="0">
              <a:latin typeface="宋体" panose="02010600030101010101" pitchFamily="2" charset="-122"/>
            </a:endParaRPr>
          </a:p>
          <a:p>
            <a:pPr lvl="1" eaLnBrk="1" hangingPunct="1">
              <a:buFont typeface="Wingdings" panose="05000000000000000000" charset="0"/>
              <a:buChar char="Ø"/>
            </a:pPr>
            <a:r>
              <a:rPr lang="zh-CN" altLang="en-US" sz="2000" b="1" dirty="0" smtClean="0">
                <a:latin typeface="宋体" panose="02010600030101010101" pitchFamily="2" charset="-122"/>
              </a:rPr>
              <a:t>（面向人设计）</a:t>
            </a:r>
            <a:endParaRPr lang="zh-CN" altLang="en-US" sz="2000" b="1" dirty="0" smtClean="0">
              <a:latin typeface="宋体" panose="02010600030101010101" pitchFamily="2" charset="-122"/>
            </a:endParaRPr>
          </a:p>
          <a:p>
            <a:pPr eaLnBrk="1" hangingPunct="1">
              <a:buFont typeface="Wingdings" panose="05000000000000000000" charset="0"/>
              <a:buChar char="Ø"/>
            </a:pPr>
            <a:r>
              <a:rPr lang="zh-CN" altLang="en-US" sz="2000" b="1" dirty="0" smtClean="0">
                <a:latin typeface="宋体" panose="02010600030101010101" pitchFamily="2" charset="-122"/>
              </a:rPr>
              <a:t>数据库语言</a:t>
            </a:r>
            <a:endParaRPr lang="zh-CN" altLang="en-US" sz="2000" b="1" dirty="0" smtClean="0">
              <a:latin typeface="宋体" panose="02010600030101010101" pitchFamily="2" charset="-122"/>
            </a:endParaRPr>
          </a:p>
          <a:p>
            <a:pPr lvl="1" eaLnBrk="1" hangingPunct="1">
              <a:buFont typeface="Wingdings" panose="05000000000000000000" charset="0"/>
              <a:buChar char="Ø"/>
            </a:pPr>
            <a:r>
              <a:rPr lang="zh-CN" altLang="en-US" sz="2000" b="1" dirty="0" smtClean="0">
                <a:latin typeface="宋体" panose="02010600030101010101" pitchFamily="2" charset="-122"/>
              </a:rPr>
              <a:t>数据定义、数据操作</a:t>
            </a:r>
            <a:endParaRPr lang="zh-CN" altLang="en-US" sz="2000" b="1" dirty="0" smtClean="0">
              <a:latin typeface="宋体" panose="02010600030101010101" pitchFamily="2" charset="-122"/>
            </a:endParaRPr>
          </a:p>
          <a:p>
            <a:pPr eaLnBrk="1" hangingPunct="1">
              <a:buFont typeface="Wingdings" panose="05000000000000000000" charset="0"/>
              <a:buChar char="Ø"/>
            </a:pPr>
            <a:r>
              <a:rPr lang="zh-CN" altLang="en-US" sz="2000" b="1" dirty="0" smtClean="0">
                <a:latin typeface="宋体" panose="02010600030101010101" pitchFamily="2" charset="-122"/>
              </a:rPr>
              <a:t>命令语言</a:t>
            </a:r>
            <a:endParaRPr lang="zh-CN" altLang="en-US" sz="2000" b="1" dirty="0" smtClean="0">
              <a:latin typeface="宋体" panose="02010600030101010101" pitchFamily="2" charset="-122"/>
            </a:endParaRPr>
          </a:p>
          <a:p>
            <a:pPr lvl="1" eaLnBrk="1" hangingPunct="1">
              <a:buFont typeface="Wingdings" panose="05000000000000000000" charset="0"/>
              <a:buChar char="Ø"/>
            </a:pPr>
            <a:r>
              <a:rPr lang="zh-CN" altLang="en-US" sz="2000" b="1" dirty="0" smtClean="0">
                <a:latin typeface="宋体" panose="02010600030101010101" pitchFamily="2" charset="-122"/>
              </a:rPr>
              <a:t>控制系统的工作，交互式的</a:t>
            </a:r>
            <a:endParaRPr lang="zh-CN" altLang="en-US" sz="2000" b="1" dirty="0" smtClean="0">
              <a:latin typeface="宋体" panose="02010600030101010101" pitchFamily="2" charset="-122"/>
            </a:endParaRPr>
          </a:p>
        </p:txBody>
      </p:sp>
      <p:sp>
        <p:nvSpPr>
          <p:cNvPr id="5124" name="Rectangle 4"/>
          <p:cNvSpPr>
            <a:spLocks noChangeArrowheads="1"/>
          </p:cNvSpPr>
          <p:nvPr/>
        </p:nvSpPr>
        <p:spPr bwMode="auto">
          <a:xfrm>
            <a:off x="685800" y="457200"/>
            <a:ext cx="7772400" cy="739552"/>
          </a:xfrm>
          <a:prstGeom prst="rect">
            <a:avLst/>
          </a:prstGeom>
          <a:noFill/>
          <a:ln w="9525">
            <a:noFill/>
            <a:miter lim="800000"/>
          </a:ln>
        </p:spPr>
        <p:txBody>
          <a:bodyPr anchor="b"/>
          <a:lstStyle/>
          <a:p>
            <a:r>
              <a:rPr lang="zh-CN" altLang="en-US" sz="3200" b="1" dirty="0">
                <a:solidFill>
                  <a:srgbClr val="003366"/>
                </a:solidFill>
                <a:latin typeface="黑体" panose="02010609060101010101" pitchFamily="2" charset="-122"/>
                <a:ea typeface="黑体" panose="02010609060101010101" pitchFamily="2" charset="-122"/>
              </a:rPr>
              <a:t>第一章 编译程序概述</a:t>
            </a:r>
            <a:endParaRPr lang="zh-CN" altLang="en-US" sz="3200" dirty="0">
              <a:solidFill>
                <a:schemeClr val="tx2"/>
              </a:solidFill>
              <a:latin typeface="Tahoma" panose="020B0604030504040204" pitchFamily="34" charset="0"/>
            </a:endParaRPr>
          </a:p>
        </p:txBody>
      </p:sp>
      <p:sp>
        <p:nvSpPr>
          <p:cNvPr id="5125" name="Rectangle 6"/>
          <p:cNvSpPr>
            <a:spLocks noChangeArrowheads="1"/>
          </p:cNvSpPr>
          <p:nvPr/>
        </p:nvSpPr>
        <p:spPr bwMode="auto">
          <a:xfrm>
            <a:off x="762000" y="1484784"/>
            <a:ext cx="3657600" cy="533400"/>
          </a:xfrm>
          <a:prstGeom prst="rect">
            <a:avLst/>
          </a:prstGeom>
          <a:noFill/>
          <a:ln w="9525">
            <a:noFill/>
            <a:miter lim="800000"/>
          </a:ln>
        </p:spPr>
        <p:txBody>
          <a:bodyPr anchor="b"/>
          <a:lstStyle/>
          <a:p>
            <a:r>
              <a:rPr lang="zh-CN" altLang="en-US" b="1" dirty="0">
                <a:solidFill>
                  <a:srgbClr val="003366"/>
                </a:solidFill>
                <a:latin typeface="黑体" panose="02010609060101010101" pitchFamily="2" charset="-122"/>
                <a:ea typeface="黑体" panose="02010609060101010101" pitchFamily="2" charset="-122"/>
              </a:rPr>
              <a:t>计算机语言的分类</a:t>
            </a:r>
            <a:endParaRPr lang="zh-CN" altLang="en-US" dirty="0">
              <a:solidFill>
                <a:schemeClr val="tx2"/>
              </a:solidFill>
              <a:latin typeface="Tahoma" panose="020B0604030504040204" pitchFamily="34" charset="0"/>
            </a:endParaRPr>
          </a:p>
        </p:txBody>
      </p:sp>
      <p:sp>
        <p:nvSpPr>
          <p:cNvPr id="94215" name="Rectangle 7"/>
          <p:cNvSpPr>
            <a:spLocks noChangeArrowheads="1"/>
          </p:cNvSpPr>
          <p:nvPr/>
        </p:nvSpPr>
        <p:spPr bwMode="auto">
          <a:xfrm>
            <a:off x="4572000" y="1484784"/>
            <a:ext cx="3657600" cy="533400"/>
          </a:xfrm>
          <a:prstGeom prst="rect">
            <a:avLst/>
          </a:prstGeom>
          <a:noFill/>
          <a:ln w="9525">
            <a:noFill/>
            <a:miter lim="800000"/>
          </a:ln>
        </p:spPr>
        <p:txBody>
          <a:bodyPr anchor="b"/>
          <a:lstStyle/>
          <a:p>
            <a:r>
              <a:rPr lang="zh-CN" altLang="en-US" b="1" dirty="0">
                <a:solidFill>
                  <a:srgbClr val="003366"/>
                </a:solidFill>
                <a:latin typeface="黑体" panose="02010609060101010101" pitchFamily="2" charset="-122"/>
                <a:ea typeface="黑体" panose="02010609060101010101" pitchFamily="2" charset="-122"/>
              </a:rPr>
              <a:t>高级语言的分类</a:t>
            </a:r>
            <a:endParaRPr lang="zh-CN" altLang="en-US" b="1" dirty="0">
              <a:solidFill>
                <a:srgbClr val="003366"/>
              </a:solidFill>
              <a:latin typeface="黑体" panose="02010609060101010101" pitchFamily="2" charset="-122"/>
              <a:ea typeface="黑体" panose="02010609060101010101" pitchFamily="2" charset="-122"/>
            </a:endParaRPr>
          </a:p>
        </p:txBody>
      </p:sp>
      <p:sp>
        <p:nvSpPr>
          <p:cNvPr id="94216" name="Rectangle 8"/>
          <p:cNvSpPr>
            <a:spLocks noChangeArrowheads="1"/>
          </p:cNvSpPr>
          <p:nvPr/>
        </p:nvSpPr>
        <p:spPr bwMode="auto">
          <a:xfrm>
            <a:off x="4427538" y="2013422"/>
            <a:ext cx="4320926" cy="3505200"/>
          </a:xfrm>
          <a:prstGeom prst="rect">
            <a:avLst/>
          </a:prstGeom>
          <a:noFill/>
          <a:ln w="9525">
            <a:noFill/>
            <a:miter lim="800000"/>
          </a:ln>
        </p:spPr>
        <p:txBody>
          <a:bodyPr lIns="92075" tIns="46038" rIns="92075" bIns="46038"/>
          <a:lstStyle/>
          <a:p>
            <a:pPr marL="342900" indent="-342900">
              <a:spcBef>
                <a:spcPct val="20000"/>
              </a:spcBef>
              <a:buClr>
                <a:schemeClr val="accent1"/>
              </a:buClr>
              <a:buFontTx/>
              <a:buChar char="•"/>
            </a:pPr>
            <a:r>
              <a:rPr lang="zh-CN" altLang="en-US" sz="2000" b="1" dirty="0">
                <a:latin typeface="宋体" panose="02010600030101010101" pitchFamily="2" charset="-122"/>
              </a:rPr>
              <a:t>过程式语言</a:t>
            </a:r>
            <a:endParaRPr lang="zh-CN" altLang="en-US" sz="2000" b="1" dirty="0">
              <a:latin typeface="宋体" panose="02010600030101010101" pitchFamily="2" charset="-122"/>
            </a:endParaRPr>
          </a:p>
          <a:p>
            <a:pPr marL="742950" lvl="1" indent="-285750">
              <a:spcBef>
                <a:spcPct val="20000"/>
              </a:spcBef>
              <a:buClr>
                <a:schemeClr val="hlink"/>
              </a:buClr>
              <a:buFontTx/>
              <a:buChar char="–"/>
            </a:pPr>
            <a:r>
              <a:rPr lang="en-US" altLang="zh-CN" sz="2000" b="1" dirty="0">
                <a:latin typeface="宋体" panose="02010600030101010101" pitchFamily="2" charset="-122"/>
              </a:rPr>
              <a:t>FORTRAN</a:t>
            </a:r>
            <a:r>
              <a:rPr lang="zh-CN" altLang="en-US" sz="2000" b="1" dirty="0">
                <a:latin typeface="宋体" panose="02010600030101010101" pitchFamily="2" charset="-122"/>
              </a:rPr>
              <a:t>、</a:t>
            </a:r>
            <a:r>
              <a:rPr lang="en-US" altLang="zh-CN" sz="2000" b="1" dirty="0">
                <a:latin typeface="宋体" panose="02010600030101010101" pitchFamily="2" charset="-122"/>
              </a:rPr>
              <a:t>ALGOL</a:t>
            </a:r>
            <a:r>
              <a:rPr lang="zh-CN" altLang="en-US" sz="2000" b="1" dirty="0">
                <a:latin typeface="宋体" panose="02010600030101010101" pitchFamily="2" charset="-122"/>
              </a:rPr>
              <a:t>、</a:t>
            </a:r>
            <a:r>
              <a:rPr lang="en-US" altLang="zh-CN" sz="2000" b="1" dirty="0">
                <a:latin typeface="宋体" panose="02010600030101010101" pitchFamily="2" charset="-122"/>
              </a:rPr>
              <a:t>Pascal</a:t>
            </a:r>
            <a:r>
              <a:rPr lang="zh-CN" altLang="en-US" sz="2000" b="1" dirty="0">
                <a:latin typeface="宋体" panose="02010600030101010101" pitchFamily="2" charset="-122"/>
              </a:rPr>
              <a:t>、</a:t>
            </a:r>
            <a:r>
              <a:rPr lang="en-US" altLang="zh-CN" sz="2000" b="1" dirty="0">
                <a:latin typeface="宋体" panose="02010600030101010101" pitchFamily="2" charset="-122"/>
              </a:rPr>
              <a:t>C</a:t>
            </a:r>
            <a:endParaRPr lang="en-US" altLang="zh-CN" sz="2000" b="1" dirty="0">
              <a:latin typeface="宋体" panose="02010600030101010101" pitchFamily="2" charset="-122"/>
            </a:endParaRPr>
          </a:p>
          <a:p>
            <a:pPr marL="342900" indent="-342900">
              <a:spcBef>
                <a:spcPct val="20000"/>
              </a:spcBef>
              <a:buClr>
                <a:schemeClr val="accent1"/>
              </a:buClr>
              <a:buFontTx/>
              <a:buChar char="•"/>
            </a:pPr>
            <a:r>
              <a:rPr lang="zh-CN" altLang="en-US" sz="2000" b="1" dirty="0">
                <a:latin typeface="宋体" panose="02010600030101010101" pitchFamily="2" charset="-122"/>
              </a:rPr>
              <a:t>函数式语言</a:t>
            </a:r>
            <a:endParaRPr lang="zh-CN" altLang="en-US" sz="2000" b="1" dirty="0">
              <a:latin typeface="宋体" panose="02010600030101010101" pitchFamily="2" charset="-122"/>
            </a:endParaRPr>
          </a:p>
          <a:p>
            <a:pPr marL="742950" lvl="1" indent="-285750">
              <a:spcBef>
                <a:spcPct val="20000"/>
              </a:spcBef>
              <a:buClr>
                <a:schemeClr val="hlink"/>
              </a:buClr>
              <a:buFontTx/>
              <a:buChar char="–"/>
            </a:pPr>
            <a:r>
              <a:rPr lang="en-US" altLang="zh-CN" sz="2000" b="1" dirty="0">
                <a:latin typeface="宋体" panose="02010600030101010101" pitchFamily="2" charset="-122"/>
              </a:rPr>
              <a:t>LISP</a:t>
            </a:r>
            <a:r>
              <a:rPr lang="zh-CN" altLang="en-US" sz="2000" b="1" dirty="0" smtClean="0">
                <a:latin typeface="宋体" panose="02010600030101010101" pitchFamily="2" charset="-122"/>
              </a:rPr>
              <a:t>、</a:t>
            </a:r>
            <a:r>
              <a:rPr lang="en-US" altLang="zh-CN" sz="2000" b="1" dirty="0" smtClean="0">
                <a:latin typeface="宋体" panose="02010600030101010101" pitchFamily="2" charset="-122"/>
              </a:rPr>
              <a:t>Haskell</a:t>
            </a:r>
            <a:endParaRPr lang="en-US" altLang="zh-CN" sz="2000" b="1" dirty="0">
              <a:latin typeface="宋体" panose="02010600030101010101" pitchFamily="2" charset="-122"/>
            </a:endParaRPr>
          </a:p>
          <a:p>
            <a:pPr marL="342900" indent="-342900">
              <a:spcBef>
                <a:spcPct val="20000"/>
              </a:spcBef>
              <a:buClr>
                <a:schemeClr val="accent1"/>
              </a:buClr>
              <a:buFontTx/>
              <a:buChar char="•"/>
            </a:pPr>
            <a:r>
              <a:rPr lang="zh-CN" altLang="en-US" sz="2000" b="1" dirty="0">
                <a:latin typeface="宋体" panose="02010600030101010101" pitchFamily="2" charset="-122"/>
              </a:rPr>
              <a:t>逻辑式语言</a:t>
            </a:r>
            <a:endParaRPr lang="zh-CN" altLang="en-US" sz="2000" b="1" dirty="0">
              <a:latin typeface="宋体" panose="02010600030101010101" pitchFamily="2" charset="-122"/>
            </a:endParaRPr>
          </a:p>
          <a:p>
            <a:pPr marL="742950" lvl="1" indent="-285750">
              <a:spcBef>
                <a:spcPct val="20000"/>
              </a:spcBef>
              <a:buClr>
                <a:schemeClr val="hlink"/>
              </a:buClr>
              <a:buFontTx/>
              <a:buChar char="–"/>
            </a:pPr>
            <a:r>
              <a:rPr lang="en-US" altLang="zh-CN" sz="2000" b="1" dirty="0">
                <a:latin typeface="宋体" panose="02010600030101010101" pitchFamily="2" charset="-122"/>
              </a:rPr>
              <a:t>Prolog</a:t>
            </a:r>
            <a:endParaRPr lang="en-US" altLang="zh-CN" sz="2000" b="1" dirty="0">
              <a:latin typeface="宋体" panose="02010600030101010101" pitchFamily="2" charset="-122"/>
            </a:endParaRPr>
          </a:p>
          <a:p>
            <a:pPr marL="342900" indent="-342900">
              <a:spcBef>
                <a:spcPct val="20000"/>
              </a:spcBef>
              <a:buClr>
                <a:schemeClr val="accent1"/>
              </a:buClr>
              <a:buFontTx/>
              <a:buChar char="•"/>
            </a:pPr>
            <a:r>
              <a:rPr lang="zh-CN" altLang="en-US" sz="2000" b="1" dirty="0">
                <a:latin typeface="宋体" panose="02010600030101010101" pitchFamily="2" charset="-122"/>
              </a:rPr>
              <a:t>对象式语言</a:t>
            </a:r>
            <a:endParaRPr lang="zh-CN" altLang="en-US" sz="2000" b="1" dirty="0">
              <a:latin typeface="宋体" panose="02010600030101010101" pitchFamily="2" charset="-122"/>
            </a:endParaRPr>
          </a:p>
          <a:p>
            <a:pPr marL="742950" lvl="1" indent="-285750">
              <a:spcBef>
                <a:spcPct val="20000"/>
              </a:spcBef>
              <a:buClr>
                <a:schemeClr val="hlink"/>
              </a:buClr>
              <a:buFontTx/>
              <a:buChar char="–"/>
            </a:pPr>
            <a:r>
              <a:rPr lang="en-US" altLang="zh-CN" sz="2000" b="1" dirty="0">
                <a:latin typeface="宋体" panose="02010600030101010101" pitchFamily="2" charset="-122"/>
              </a:rPr>
              <a:t>Smalltalk</a:t>
            </a:r>
            <a:r>
              <a:rPr lang="zh-CN" altLang="en-US" sz="2000" b="1" dirty="0">
                <a:latin typeface="宋体" panose="02010600030101010101" pitchFamily="2" charset="-122"/>
              </a:rPr>
              <a:t>、</a:t>
            </a:r>
            <a:r>
              <a:rPr lang="en-US" altLang="zh-CN" sz="2000" b="1" dirty="0">
                <a:latin typeface="宋体" panose="02010600030101010101" pitchFamily="2" charset="-122"/>
              </a:rPr>
              <a:t>C++</a:t>
            </a:r>
            <a:r>
              <a:rPr lang="zh-CN" altLang="en-US" sz="2000" b="1" dirty="0">
                <a:latin typeface="宋体" panose="02010600030101010101" pitchFamily="2" charset="-122"/>
              </a:rPr>
              <a:t>、</a:t>
            </a:r>
            <a:r>
              <a:rPr lang="en-US" altLang="zh-CN" sz="2000" b="1" dirty="0">
                <a:latin typeface="宋体" panose="02010600030101010101" pitchFamily="2" charset="-122"/>
              </a:rPr>
              <a:t>Java</a:t>
            </a:r>
            <a:endParaRPr lang="en-US" altLang="zh-CN" sz="2000" b="1" dirty="0">
              <a:latin typeface="宋体" panose="02010600030101010101" pitchFamily="2" charset="-122"/>
            </a:endParaRPr>
          </a:p>
        </p:txBody>
      </p:sp>
      <p:sp>
        <p:nvSpPr>
          <p:cNvPr id="94217" name="Line 9"/>
          <p:cNvSpPr>
            <a:spLocks noChangeShapeType="1"/>
          </p:cNvSpPr>
          <p:nvPr/>
        </p:nvSpPr>
        <p:spPr bwMode="auto">
          <a:xfrm flipV="1">
            <a:off x="3275856" y="1789584"/>
            <a:ext cx="1296144" cy="1303784"/>
          </a:xfrm>
          <a:prstGeom prst="line">
            <a:avLst/>
          </a:prstGeom>
          <a:noFill/>
          <a:ln w="9525">
            <a:solidFill>
              <a:srgbClr val="CC0066"/>
            </a:solidFill>
            <a:round/>
            <a:tailEnd type="triangle" w="med" len="med"/>
          </a:ln>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4217"/>
                                        </p:tgtEl>
                                        <p:attrNameLst>
                                          <p:attrName>style.visibility</p:attrName>
                                        </p:attrNameLst>
                                      </p:cBhvr>
                                      <p:to>
                                        <p:strVal val="visible"/>
                                      </p:to>
                                    </p:set>
                                    <p:anim calcmode="lin" valueType="num">
                                      <p:cBhvr additive="base">
                                        <p:cTn id="12" dur="500" fill="hold"/>
                                        <p:tgtEl>
                                          <p:spTgt spid="94217"/>
                                        </p:tgtEl>
                                        <p:attrNameLst>
                                          <p:attrName>ppt_x</p:attrName>
                                        </p:attrNameLst>
                                      </p:cBhvr>
                                      <p:tavLst>
                                        <p:tav tm="0">
                                          <p:val>
                                            <p:strVal val="0-#ppt_w/2"/>
                                          </p:val>
                                        </p:tav>
                                        <p:tav tm="100000">
                                          <p:val>
                                            <p:strVal val="#ppt_x"/>
                                          </p:val>
                                        </p:tav>
                                      </p:tavLst>
                                    </p:anim>
                                    <p:anim calcmode="lin" valueType="num">
                                      <p:cBhvr additive="base">
                                        <p:cTn id="13" dur="500" fill="hold"/>
                                        <p:tgtEl>
                                          <p:spTgt spid="94217"/>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8" fill="hold" grpId="0" nodeType="afterEffect">
                                  <p:stCondLst>
                                    <p:cond delay="0"/>
                                  </p:stCondLst>
                                  <p:childTnLst>
                                    <p:set>
                                      <p:cBhvr>
                                        <p:cTn id="16" dur="1" fill="hold">
                                          <p:stCondLst>
                                            <p:cond delay="0"/>
                                          </p:stCondLst>
                                        </p:cTn>
                                        <p:tgtEl>
                                          <p:spTgt spid="94215"/>
                                        </p:tgtEl>
                                        <p:attrNameLst>
                                          <p:attrName>style.visibility</p:attrName>
                                        </p:attrNameLst>
                                      </p:cBhvr>
                                      <p:to>
                                        <p:strVal val="visible"/>
                                      </p:to>
                                    </p:set>
                                    <p:anim calcmode="lin" valueType="num">
                                      <p:cBhvr additive="base">
                                        <p:cTn id="17" dur="500" fill="hold"/>
                                        <p:tgtEl>
                                          <p:spTgt spid="94215"/>
                                        </p:tgtEl>
                                        <p:attrNameLst>
                                          <p:attrName>ppt_x</p:attrName>
                                        </p:attrNameLst>
                                      </p:cBhvr>
                                      <p:tavLst>
                                        <p:tav tm="0">
                                          <p:val>
                                            <p:strVal val="0-#ppt_w/2"/>
                                          </p:val>
                                        </p:tav>
                                        <p:tav tm="100000">
                                          <p:val>
                                            <p:strVal val="#ppt_x"/>
                                          </p:val>
                                        </p:tav>
                                      </p:tavLst>
                                    </p:anim>
                                    <p:anim calcmode="lin" valueType="num">
                                      <p:cBhvr additive="base">
                                        <p:cTn id="18" dur="500" fill="hold"/>
                                        <p:tgtEl>
                                          <p:spTgt spid="94215"/>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ID="2" presetClass="entr" presetSubtype="8" fill="hold" grpId="0" nodeType="afterEffect">
                                  <p:stCondLst>
                                    <p:cond delay="0"/>
                                  </p:stCondLst>
                                  <p:childTnLst>
                                    <p:set>
                                      <p:cBhvr>
                                        <p:cTn id="21" dur="1" fill="hold">
                                          <p:stCondLst>
                                            <p:cond delay="0"/>
                                          </p:stCondLst>
                                        </p:cTn>
                                        <p:tgtEl>
                                          <p:spTgt spid="94216"/>
                                        </p:tgtEl>
                                        <p:attrNameLst>
                                          <p:attrName>style.visibility</p:attrName>
                                        </p:attrNameLst>
                                      </p:cBhvr>
                                      <p:to>
                                        <p:strVal val="visible"/>
                                      </p:to>
                                    </p:set>
                                    <p:anim calcmode="lin" valueType="num">
                                      <p:cBhvr additive="base">
                                        <p:cTn id="22" dur="500" fill="hold"/>
                                        <p:tgtEl>
                                          <p:spTgt spid="94216"/>
                                        </p:tgtEl>
                                        <p:attrNameLst>
                                          <p:attrName>ppt_x</p:attrName>
                                        </p:attrNameLst>
                                      </p:cBhvr>
                                      <p:tavLst>
                                        <p:tav tm="0">
                                          <p:val>
                                            <p:strVal val="0-#ppt_w/2"/>
                                          </p:val>
                                        </p:tav>
                                        <p:tav tm="100000">
                                          <p:val>
                                            <p:strVal val="#ppt_x"/>
                                          </p:val>
                                        </p:tav>
                                      </p:tavLst>
                                    </p:anim>
                                    <p:anim calcmode="lin" valueType="num">
                                      <p:cBhvr additive="base">
                                        <p:cTn id="23" dur="500" fill="hold"/>
                                        <p:tgtEl>
                                          <p:spTgt spid="942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1" name="CAMERA.WAV"/>
                                        </p:tgtEl>
                                      </p:cMediaNode>
                                    </p:audio>
                                  </p:sub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94218"/>
                                        </p:tgtEl>
                                        <p:attrNameLst>
                                          <p:attrName>style.visibility</p:attrName>
                                        </p:attrNameLst>
                                      </p:cBhvr>
                                      <p:to>
                                        <p:strVal val="visible"/>
                                      </p:to>
                                    </p:set>
                                    <p:anim calcmode="lin" valueType="num">
                                      <p:cBhvr additive="base">
                                        <p:cTn id="28" dur="500" fill="hold"/>
                                        <p:tgtEl>
                                          <p:spTgt spid="94218"/>
                                        </p:tgtEl>
                                        <p:attrNameLst>
                                          <p:attrName>ppt_x</p:attrName>
                                        </p:attrNameLst>
                                      </p:cBhvr>
                                      <p:tavLst>
                                        <p:tav tm="0">
                                          <p:val>
                                            <p:strVal val="0-#ppt_w/2"/>
                                          </p:val>
                                        </p:tav>
                                        <p:tav tm="100000">
                                          <p:val>
                                            <p:strVal val="#ppt_x"/>
                                          </p:val>
                                        </p:tav>
                                      </p:tavLst>
                                    </p:anim>
                                    <p:anim calcmode="lin" valueType="num">
                                      <p:cBhvr additive="base">
                                        <p:cTn id="29" dur="500" fill="hold"/>
                                        <p:tgtEl>
                                          <p:spTgt spid="942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4218" grpId="0" animBg="1"/>
      <p:bldP spid="94215" grpId="0" autoUpdateAnimBg="0"/>
      <p:bldP spid="94216" grpId="0" autoUpdateAnimBg="0"/>
      <p:bldP spid="942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normAutofit lnSpcReduction="10000"/>
          </a:bodyPr>
          <a:p>
            <a:pPr fontAlgn="auto">
              <a:lnSpc>
                <a:spcPct val="130000"/>
              </a:lnSpc>
              <a:buFont typeface="Wingdings" panose="05000000000000000000" charset="0"/>
              <a:buChar char="Ø"/>
            </a:pPr>
            <a:r>
              <a:rPr lang="zh-CN" altLang="en-US" sz="2600"/>
              <a:t>命令式程序设计语言：基于动作的语言</a:t>
            </a:r>
            <a:endParaRPr lang="zh-CN" altLang="en-US" sz="2600"/>
          </a:p>
          <a:p>
            <a:pPr fontAlgn="auto">
              <a:lnSpc>
                <a:spcPct val="130000"/>
              </a:lnSpc>
              <a:buFont typeface="Wingdings" panose="05000000000000000000" charset="0"/>
              <a:buChar char="Ø"/>
            </a:pPr>
            <a:r>
              <a:rPr lang="zh-CN" altLang="en-US" sz="2600"/>
              <a:t>命令式程序设计语言以冯诺依曼计算机体系结构为背景。在这种语言中，计算机被看做是动作的序列，程序就是用语言提供的操作命令书写的一个操作序列。用命令式程序设计语言编写程序，就是描述</a:t>
            </a:r>
            <a:r>
              <a:rPr lang="zh-CN" altLang="en-US" sz="2600">
                <a:solidFill>
                  <a:srgbClr val="FF0000"/>
                </a:solidFill>
              </a:rPr>
              <a:t>解题过程中每一步的过程</a:t>
            </a:r>
            <a:r>
              <a:rPr lang="zh-CN" altLang="en-US" sz="2600"/>
              <a:t>，</a:t>
            </a:r>
            <a:r>
              <a:rPr lang="zh-CN" altLang="en-US" sz="2600">
                <a:solidFill>
                  <a:srgbClr val="FF0000"/>
                </a:solidFill>
              </a:rPr>
              <a:t>程序的运行过程就是问题的求解过程，因此也称为过程式语言</a:t>
            </a:r>
            <a:r>
              <a:rPr lang="zh-CN" altLang="en-US" sz="2600"/>
              <a:t>。Fortran、ALGOL、COBOL、</a:t>
            </a:r>
            <a:r>
              <a:rPr lang="en-US" altLang="zh-CN" sz="2600"/>
              <a:t>C</a:t>
            </a:r>
            <a:r>
              <a:rPr lang="zh-CN" altLang="en-US" sz="2600"/>
              <a:t>、Ada、Pascal等都是命令式程序设计语言。</a:t>
            </a:r>
            <a:endParaRPr lang="zh-CN" altLang="en-US" sz="2600"/>
          </a:p>
        </p:txBody>
      </p:sp>
      <p:sp>
        <p:nvSpPr>
          <p:cNvPr id="3" name="标题 2"/>
          <p:cNvSpPr>
            <a:spLocks noGrp="1"/>
          </p:cNvSpPr>
          <p:nvPr>
            <p:ph type="title"/>
          </p:nvPr>
        </p:nvSpPr>
        <p:spPr/>
        <p:txBody>
          <a:bodyPr/>
          <a:p>
            <a:r>
              <a:rPr lang="zh-CN" altLang="en-US"/>
              <a:t>高级语言的主要四大类</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a:xfrm>
            <a:off x="457200" y="1481455"/>
            <a:ext cx="8229600" cy="4698365"/>
          </a:xfrm>
        </p:spPr>
        <p:txBody>
          <a:bodyPr/>
          <a:p>
            <a:pPr fontAlgn="auto">
              <a:lnSpc>
                <a:spcPct val="120000"/>
              </a:lnSpc>
              <a:buFont typeface="Wingdings" panose="05000000000000000000" charset="0"/>
              <a:buChar char="Ø"/>
            </a:pPr>
            <a:r>
              <a:rPr lang="zh-CN" altLang="en-US"/>
              <a:t>函数式语言</a:t>
            </a:r>
            <a:endParaRPr lang="zh-CN" altLang="en-US"/>
          </a:p>
          <a:p>
            <a:pPr fontAlgn="auto">
              <a:lnSpc>
                <a:spcPct val="120000"/>
              </a:lnSpc>
              <a:buFont typeface="Wingdings" panose="05000000000000000000" charset="0"/>
              <a:buChar char="Ø"/>
            </a:pPr>
            <a:r>
              <a:rPr lang="zh-CN" altLang="en-US"/>
              <a:t>函数式语言是一种非冯·诺伊曼式的程序设计语言。函数式编程，又称泛函编程，是一种编程范型，它</a:t>
            </a:r>
            <a:r>
              <a:rPr lang="zh-CN" altLang="en-US">
                <a:solidFill>
                  <a:srgbClr val="FF0000"/>
                </a:solidFill>
              </a:rPr>
              <a:t>将电脑运算视为数学上的函数计算</a:t>
            </a:r>
            <a:r>
              <a:rPr lang="zh-CN" altLang="en-US"/>
              <a:t>，并且避免状态以及可变数据。函数编程语言最重要的基础是λ演算。而且λ演算的函数可以接受函数当作输入（引数）和输出（传出值）。函数式编程经常使用递归，纯函数式的程序没有变量。</a:t>
            </a:r>
            <a:endParaRPr lang="zh-CN" altLang="en-US"/>
          </a:p>
        </p:txBody>
      </p:sp>
      <p:sp>
        <p:nvSpPr>
          <p:cNvPr id="3" name="标题 2"/>
          <p:cNvSpPr>
            <a:spLocks noGrp="1"/>
          </p:cNvSpPr>
          <p:nvPr>
            <p:ph type="title"/>
          </p:nvPr>
        </p:nvSpPr>
        <p:spPr/>
        <p:txBody>
          <a:bodyPr/>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fontAlgn="auto">
              <a:lnSpc>
                <a:spcPct val="130000"/>
              </a:lnSpc>
              <a:buFont typeface="Wingdings" panose="05000000000000000000" charset="0"/>
              <a:buChar char="Ø"/>
            </a:pPr>
            <a:r>
              <a:rPr lang="zh-CN" altLang="en-US"/>
              <a:t>逻辑编程语言：面向演绎推理的逻辑型程序设计语言</a:t>
            </a:r>
            <a:endParaRPr lang="zh-CN" altLang="en-US"/>
          </a:p>
          <a:p>
            <a:pPr fontAlgn="auto">
              <a:lnSpc>
                <a:spcPct val="130000"/>
              </a:lnSpc>
              <a:buFont typeface="Wingdings" panose="05000000000000000000" charset="0"/>
              <a:buChar char="Ø"/>
            </a:pPr>
            <a:r>
              <a:rPr lang="zh-CN" altLang="en-US"/>
              <a:t>Prolog(Programming in logic)是一种面向演绎推理的逻辑型程序设计语言，最早于1972年由柯尔麦伦纳(Colmeraner)及其研究小组在法国马赛大学提出。Prolog实际上就是一种基于</a:t>
            </a:r>
            <a:r>
              <a:rPr lang="zh-CN" altLang="en-US">
                <a:solidFill>
                  <a:srgbClr val="FF0000"/>
                </a:solidFill>
              </a:rPr>
              <a:t>逆向规则的演绎推理技术</a:t>
            </a:r>
            <a:r>
              <a:rPr lang="zh-CN" altLang="en-US"/>
              <a:t>。</a:t>
            </a:r>
            <a:endParaRPr lang="zh-CN" altLang="en-US"/>
          </a:p>
        </p:txBody>
      </p:sp>
      <p:sp>
        <p:nvSpPr>
          <p:cNvPr id="3" name="标题 2"/>
          <p:cNvSpPr>
            <a:spLocks noGrp="1"/>
          </p:cNvSpPr>
          <p:nvPr>
            <p:ph type="title"/>
          </p:nvPr>
        </p:nvSpPr>
        <p:spPr/>
        <p:txBody>
          <a:bodyPr/>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fontAlgn="auto">
              <a:lnSpc>
                <a:spcPct val="130000"/>
              </a:lnSpc>
              <a:buFont typeface="Wingdings" panose="05000000000000000000" charset="0"/>
              <a:buChar char="Ø"/>
            </a:pPr>
            <a:r>
              <a:rPr lang="zh-CN" altLang="en-US"/>
              <a:t>面向对象语言：语法形式的语义就是基本对象操作</a:t>
            </a:r>
            <a:endParaRPr lang="zh-CN" altLang="en-US"/>
          </a:p>
          <a:p>
            <a:pPr fontAlgn="auto">
              <a:lnSpc>
                <a:spcPct val="130000"/>
              </a:lnSpc>
              <a:buFont typeface="Wingdings" panose="05000000000000000000" charset="0"/>
              <a:buChar char="Ø"/>
            </a:pPr>
            <a:r>
              <a:rPr lang="zh-CN" altLang="en-US"/>
              <a:t>面向对象语言是一类以对象作为基本程序结构单位的程序设计语言，指用于描述的设计是以对象为核心，而对象是程序运行时刻的基本成分。语言中提供了类、继承等成分，有封装性、多态性、</a:t>
            </a:r>
            <a:r>
              <a:rPr lang="zh-CN" altLang="en-US"/>
              <a:t>抽象性和继承性四个主要特点。</a:t>
            </a:r>
            <a:endParaRPr lang="zh-CN" altLang="en-US"/>
          </a:p>
        </p:txBody>
      </p:sp>
      <p:sp>
        <p:nvSpPr>
          <p:cNvPr id="3" name="标题 2"/>
          <p:cNvSpPr>
            <a:spLocks noGrp="1"/>
          </p:cNvSpPr>
          <p:nvPr>
            <p:ph type="title"/>
          </p:nvPr>
        </p:nvSpPr>
        <p:spPr/>
        <p:txBody>
          <a:bodyPr/>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6"/>
          <p:cNvSpPr>
            <a:spLocks noGrp="1" noChangeArrowheads="1"/>
          </p:cNvSpPr>
          <p:nvPr>
            <p:ph idx="1"/>
          </p:nvPr>
        </p:nvSpPr>
        <p:spPr>
          <a:xfrm>
            <a:off x="762000" y="332656"/>
            <a:ext cx="7914456" cy="2679576"/>
          </a:xfrm>
          <a:noFill/>
        </p:spPr>
        <p:txBody>
          <a:bodyPr lIns="92075" tIns="46038" rIns="92075" bIns="46038">
            <a:normAutofit lnSpcReduction="10000"/>
          </a:bodyPr>
          <a:lstStyle/>
          <a:p>
            <a:pPr eaLnBrk="1" hangingPunct="1">
              <a:lnSpc>
                <a:spcPct val="120000"/>
              </a:lnSpc>
              <a:buFontTx/>
              <a:buNone/>
            </a:pPr>
            <a:r>
              <a:rPr lang="en-US" altLang="zh-CN" sz="3200" b="1" dirty="0" smtClean="0">
                <a:latin typeface="宋体" panose="02010600030101010101" pitchFamily="2" charset="-122"/>
              </a:rPr>
              <a:t>1.1</a:t>
            </a:r>
            <a:r>
              <a:rPr lang="zh-CN" altLang="en-US" sz="3200" b="1" dirty="0" smtClean="0">
                <a:latin typeface="宋体" panose="02010600030101010101" pitchFamily="2" charset="-122"/>
              </a:rPr>
              <a:t>、编译程序和解释程序</a:t>
            </a:r>
            <a:endParaRPr lang="zh-CN" altLang="en-US" sz="3200" b="1" dirty="0" smtClean="0">
              <a:latin typeface="宋体" panose="02010600030101010101" pitchFamily="2" charset="-122"/>
            </a:endParaRPr>
          </a:p>
          <a:p>
            <a:pPr eaLnBrk="1" hangingPunct="1">
              <a:lnSpc>
                <a:spcPct val="120000"/>
              </a:lnSpc>
              <a:buFontTx/>
              <a:buNone/>
            </a:pPr>
            <a:r>
              <a:rPr lang="zh-CN" altLang="en-US" sz="2800" b="1" dirty="0" smtClean="0">
                <a:solidFill>
                  <a:srgbClr val="FF0000"/>
                </a:solidFill>
                <a:latin typeface="宋体" panose="02010600030101010101" pitchFamily="2" charset="-122"/>
              </a:rPr>
              <a:t>编译程序</a:t>
            </a:r>
            <a:r>
              <a:rPr lang="en-US" altLang="zh-CN" sz="2400" b="1" dirty="0" smtClean="0">
                <a:latin typeface="宋体" panose="02010600030101010101" pitchFamily="2" charset="-122"/>
              </a:rPr>
              <a:t>(</a:t>
            </a:r>
            <a:r>
              <a:rPr lang="en-US" altLang="zh-CN" sz="2000" b="1" i="1" dirty="0" smtClean="0">
                <a:latin typeface="宋体" panose="02010600030101010101" pitchFamily="2" charset="-122"/>
              </a:rPr>
              <a:t>Compiler</a:t>
            </a:r>
            <a:r>
              <a:rPr lang="en-US" altLang="zh-CN" sz="2400" b="1" dirty="0" smtClean="0">
                <a:latin typeface="宋体" panose="02010600030101010101" pitchFamily="2" charset="-122"/>
              </a:rPr>
              <a:t>)</a:t>
            </a:r>
            <a:endParaRPr lang="zh-CN" altLang="en-US" sz="2400" b="1" u="sng" dirty="0" smtClean="0">
              <a:latin typeface="宋体" panose="02010600030101010101" pitchFamily="2" charset="-122"/>
            </a:endParaRPr>
          </a:p>
          <a:p>
            <a:pPr lvl="1" eaLnBrk="1" hangingPunct="1">
              <a:lnSpc>
                <a:spcPct val="130000"/>
              </a:lnSpc>
            </a:pPr>
            <a:r>
              <a:rPr lang="zh-CN" altLang="en-US" sz="2400" b="1" dirty="0" smtClean="0">
                <a:latin typeface="宋体" panose="02010600030101010101" pitchFamily="2" charset="-122"/>
              </a:rPr>
              <a:t>将用高级程序设计语言书写的程序</a:t>
            </a:r>
            <a:r>
              <a:rPr lang="zh-CN" altLang="en-US" sz="2400" b="1" dirty="0" smtClean="0">
                <a:solidFill>
                  <a:srgbClr val="FF0000"/>
                </a:solidFill>
                <a:latin typeface="宋体" panose="02010600030101010101" pitchFamily="2" charset="-122"/>
              </a:rPr>
              <a:t>翻译</a:t>
            </a:r>
            <a:r>
              <a:rPr lang="zh-CN" altLang="en-US" sz="2400" b="1" dirty="0" smtClean="0">
                <a:latin typeface="宋体" panose="02010600030101010101" pitchFamily="2" charset="-122"/>
              </a:rPr>
              <a:t>成</a:t>
            </a:r>
            <a:r>
              <a:rPr lang="zh-CN" altLang="en-US" sz="2400" b="1" kern="1200" dirty="0" smtClean="0">
                <a:solidFill>
                  <a:srgbClr val="FF0000"/>
                </a:solidFill>
                <a:latin typeface="宋体" panose="02010600030101010101" pitchFamily="2" charset="-122"/>
                <a:ea typeface="宋体" panose="02010600030101010101" pitchFamily="2" charset="-122"/>
              </a:rPr>
              <a:t>逻辑上等价</a:t>
            </a:r>
            <a:r>
              <a:rPr lang="zh-CN" altLang="en-US" sz="2400" b="1" dirty="0" smtClean="0">
                <a:latin typeface="宋体" panose="02010600030101010101" pitchFamily="2" charset="-122"/>
              </a:rPr>
              <a:t>的用低级语言</a:t>
            </a:r>
            <a:r>
              <a:rPr lang="en-US" altLang="zh-CN" sz="2400" b="1" dirty="0" smtClean="0">
                <a:latin typeface="宋体" panose="02010600030101010101" pitchFamily="2" charset="-122"/>
              </a:rPr>
              <a:t>(</a:t>
            </a:r>
            <a:r>
              <a:rPr lang="zh-CN" altLang="en-US" sz="2400" b="1" dirty="0" smtClean="0">
                <a:latin typeface="宋体" panose="02010600030101010101" pitchFamily="2" charset="-122"/>
              </a:rPr>
              <a:t>汇编语言</a:t>
            </a:r>
            <a:r>
              <a:rPr lang="en-US" altLang="zh-CN" sz="2400" b="1" dirty="0" smtClean="0">
                <a:latin typeface="宋体" panose="02010600030101010101" pitchFamily="2" charset="-122"/>
              </a:rPr>
              <a:t>,</a:t>
            </a:r>
            <a:r>
              <a:rPr lang="zh-CN" altLang="en-US" sz="2400" b="1" dirty="0" smtClean="0">
                <a:latin typeface="宋体" panose="02010600030101010101" pitchFamily="2" charset="-122"/>
              </a:rPr>
              <a:t>机器语言</a:t>
            </a:r>
            <a:r>
              <a:rPr lang="en-US" altLang="zh-CN" sz="2400" b="1" dirty="0" smtClean="0">
                <a:latin typeface="宋体" panose="02010600030101010101" pitchFamily="2" charset="-122"/>
              </a:rPr>
              <a:t>)</a:t>
            </a:r>
            <a:r>
              <a:rPr lang="zh-CN" altLang="en-US" sz="2400" b="1" dirty="0" smtClean="0">
                <a:latin typeface="宋体" panose="02010600030101010101" pitchFamily="2" charset="-122"/>
              </a:rPr>
              <a:t>书写的程序的</a:t>
            </a:r>
            <a:r>
              <a:rPr lang="zh-CN" altLang="en-US" sz="2400" b="1" kern="1200" dirty="0" smtClean="0">
                <a:solidFill>
                  <a:srgbClr val="FF0000"/>
                </a:solidFill>
                <a:latin typeface="宋体" panose="02010600030101010101" pitchFamily="2" charset="-122"/>
                <a:ea typeface="宋体" panose="02010600030101010101" pitchFamily="2" charset="-122"/>
              </a:rPr>
              <a:t>翻译程序</a:t>
            </a:r>
            <a:endParaRPr lang="zh-CN" altLang="en-US" sz="2400" b="1" kern="1200" dirty="0" smtClean="0">
              <a:solidFill>
                <a:srgbClr val="FF0000"/>
              </a:solidFill>
              <a:latin typeface="宋体" panose="02010600030101010101" pitchFamily="2" charset="-122"/>
              <a:ea typeface="宋体" panose="02010600030101010101" pitchFamily="2" charset="-122"/>
            </a:endParaRPr>
          </a:p>
        </p:txBody>
      </p:sp>
      <p:sp>
        <p:nvSpPr>
          <p:cNvPr id="91143" name="Rectangle 7"/>
          <p:cNvSpPr>
            <a:spLocks noChangeArrowheads="1"/>
          </p:cNvSpPr>
          <p:nvPr/>
        </p:nvSpPr>
        <p:spPr bwMode="auto">
          <a:xfrm>
            <a:off x="3805808" y="3501008"/>
            <a:ext cx="1918320" cy="720080"/>
          </a:xfrm>
          <a:prstGeom prst="rect">
            <a:avLst/>
          </a:prstGeom>
          <a:solidFill>
            <a:srgbClr val="ADFFFF"/>
          </a:solidFill>
          <a:ln w="12700">
            <a:solidFill>
              <a:schemeClr val="tx1"/>
            </a:solidFill>
            <a:miter lim="800000"/>
          </a:ln>
        </p:spPr>
        <p:txBody>
          <a:bodyPr wrap="none" lIns="92075" tIns="46038" rIns="92075" bIns="46038" anchor="ctr"/>
          <a:lstStyle/>
          <a:p>
            <a:pPr algn="ctr" eaLnBrk="0" hangingPunct="0"/>
            <a:r>
              <a:rPr lang="zh-CN" altLang="en-US" sz="2800" b="1" dirty="0"/>
              <a:t>编译程序</a:t>
            </a:r>
            <a:endParaRPr lang="zh-CN" altLang="en-US" sz="2800" b="1" dirty="0"/>
          </a:p>
        </p:txBody>
      </p:sp>
      <p:sp>
        <p:nvSpPr>
          <p:cNvPr id="91144" name="Line 8"/>
          <p:cNvSpPr>
            <a:spLocks noChangeShapeType="1"/>
          </p:cNvSpPr>
          <p:nvPr/>
        </p:nvSpPr>
        <p:spPr bwMode="auto">
          <a:xfrm>
            <a:off x="6013450" y="3879850"/>
            <a:ext cx="838200" cy="0"/>
          </a:xfrm>
          <a:prstGeom prst="line">
            <a:avLst/>
          </a:prstGeom>
          <a:noFill/>
          <a:ln w="38100" cmpd="dbl">
            <a:solidFill>
              <a:schemeClr val="tx1"/>
            </a:solidFill>
            <a:round/>
            <a:headEnd type="none" w="sm" len="sm"/>
            <a:tailEnd type="stealth" w="med" len="lg"/>
          </a:ln>
        </p:spPr>
        <p:txBody>
          <a:bodyPr wrap="none" anchor="ctr"/>
          <a:lstStyle/>
          <a:p>
            <a:endParaRPr lang="zh-CN" altLang="en-US"/>
          </a:p>
        </p:txBody>
      </p:sp>
      <p:sp>
        <p:nvSpPr>
          <p:cNvPr id="6160" name="Rectangle 10"/>
          <p:cNvSpPr>
            <a:spLocks noChangeArrowheads="1"/>
          </p:cNvSpPr>
          <p:nvPr/>
        </p:nvSpPr>
        <p:spPr bwMode="auto">
          <a:xfrm>
            <a:off x="1624450" y="3638777"/>
            <a:ext cx="1114088" cy="462307"/>
          </a:xfrm>
          <a:prstGeom prst="rect">
            <a:avLst/>
          </a:prstGeom>
          <a:noFill/>
          <a:ln w="9525">
            <a:noFill/>
            <a:miter lim="800000"/>
          </a:ln>
        </p:spPr>
        <p:txBody>
          <a:bodyPr wrap="none" lIns="92075" tIns="46038" rIns="92075" bIns="46038">
            <a:spAutoFit/>
          </a:bodyPr>
          <a:lstStyle/>
          <a:p>
            <a:pPr eaLnBrk="0" hangingPunct="0"/>
            <a:r>
              <a:rPr lang="zh-CN" altLang="en-US" b="1" i="1" dirty="0"/>
              <a:t>源程序</a:t>
            </a:r>
            <a:endParaRPr lang="zh-CN" altLang="en-US" b="1" i="1" dirty="0"/>
          </a:p>
        </p:txBody>
      </p:sp>
      <p:sp>
        <p:nvSpPr>
          <p:cNvPr id="6161" name="Rectangle 12"/>
          <p:cNvSpPr>
            <a:spLocks noChangeArrowheads="1"/>
          </p:cNvSpPr>
          <p:nvPr/>
        </p:nvSpPr>
        <p:spPr bwMode="auto">
          <a:xfrm>
            <a:off x="1395850" y="4036360"/>
            <a:ext cx="1591974" cy="400752"/>
          </a:xfrm>
          <a:prstGeom prst="rect">
            <a:avLst/>
          </a:prstGeom>
          <a:noFill/>
          <a:ln w="9525">
            <a:noFill/>
            <a:miter lim="800000"/>
          </a:ln>
        </p:spPr>
        <p:txBody>
          <a:bodyPr wrap="none" lIns="92075" tIns="46038" rIns="92075" bIns="46038">
            <a:spAutoFit/>
          </a:bodyPr>
          <a:lstStyle/>
          <a:p>
            <a:pPr eaLnBrk="0" hangingPunct="0"/>
            <a:r>
              <a:rPr lang="en-US" altLang="zh-CN" sz="2000" b="1" dirty="0"/>
              <a:t>(*.C / *.PAS)</a:t>
            </a:r>
            <a:endParaRPr lang="en-US" altLang="zh-CN" sz="2000" b="1" dirty="0"/>
          </a:p>
        </p:txBody>
      </p:sp>
      <p:sp>
        <p:nvSpPr>
          <p:cNvPr id="6162" name="Line 14"/>
          <p:cNvSpPr>
            <a:spLocks noChangeShapeType="1"/>
          </p:cNvSpPr>
          <p:nvPr/>
        </p:nvSpPr>
        <p:spPr bwMode="auto">
          <a:xfrm>
            <a:off x="2051720" y="1928802"/>
            <a:ext cx="3550096" cy="0"/>
          </a:xfrm>
          <a:prstGeom prst="line">
            <a:avLst/>
          </a:prstGeom>
          <a:noFill/>
          <a:ln w="50800">
            <a:solidFill>
              <a:srgbClr val="CC0066"/>
            </a:solidFill>
            <a:round/>
          </a:ln>
        </p:spPr>
        <p:txBody>
          <a:bodyPr wrap="none"/>
          <a:lstStyle/>
          <a:p>
            <a:endParaRPr lang="zh-CN" altLang="en-US">
              <a:ln w="28575">
                <a:solidFill>
                  <a:schemeClr val="tx1"/>
                </a:solidFill>
              </a:ln>
            </a:endParaRPr>
          </a:p>
        </p:txBody>
      </p:sp>
      <p:sp>
        <p:nvSpPr>
          <p:cNvPr id="6163" name="Line 18"/>
          <p:cNvSpPr>
            <a:spLocks noChangeShapeType="1"/>
          </p:cNvSpPr>
          <p:nvPr/>
        </p:nvSpPr>
        <p:spPr bwMode="auto">
          <a:xfrm flipH="1">
            <a:off x="2195736" y="1928802"/>
            <a:ext cx="1661884" cy="1572206"/>
          </a:xfrm>
          <a:prstGeom prst="line">
            <a:avLst/>
          </a:prstGeom>
          <a:noFill/>
          <a:ln w="9525">
            <a:solidFill>
              <a:srgbClr val="CC0066"/>
            </a:solidFill>
            <a:round/>
            <a:tailEnd type="triangle" w="med" len="med"/>
          </a:ln>
        </p:spPr>
        <p:txBody>
          <a:bodyPr wrap="none"/>
          <a:lstStyle/>
          <a:p>
            <a:endParaRPr lang="zh-CN" altLang="en-US"/>
          </a:p>
        </p:txBody>
      </p:sp>
      <p:sp>
        <p:nvSpPr>
          <p:cNvPr id="6156" name="Rectangle 11"/>
          <p:cNvSpPr>
            <a:spLocks noChangeArrowheads="1"/>
          </p:cNvSpPr>
          <p:nvPr/>
        </p:nvSpPr>
        <p:spPr bwMode="auto">
          <a:xfrm>
            <a:off x="6732240" y="3629137"/>
            <a:ext cx="1768475" cy="375927"/>
          </a:xfrm>
          <a:prstGeom prst="rect">
            <a:avLst/>
          </a:prstGeom>
          <a:noFill/>
          <a:ln w="9525">
            <a:noFill/>
            <a:miter lim="800000"/>
          </a:ln>
        </p:spPr>
        <p:txBody>
          <a:bodyPr lIns="92075" tIns="46038" rIns="92075" bIns="46038">
            <a:spAutoFit/>
          </a:bodyPr>
          <a:lstStyle/>
          <a:p>
            <a:pPr eaLnBrk="0" hangingPunct="0"/>
            <a:r>
              <a:rPr lang="zh-CN" altLang="en-US" b="1" i="1" dirty="0"/>
              <a:t>目标程序</a:t>
            </a:r>
            <a:endParaRPr lang="zh-CN" altLang="en-US" b="1" i="1" dirty="0"/>
          </a:p>
        </p:txBody>
      </p:sp>
      <p:sp>
        <p:nvSpPr>
          <p:cNvPr id="6157" name="Rectangle 13"/>
          <p:cNvSpPr>
            <a:spLocks noChangeArrowheads="1"/>
          </p:cNvSpPr>
          <p:nvPr/>
        </p:nvSpPr>
        <p:spPr bwMode="auto">
          <a:xfrm>
            <a:off x="6372200" y="4039559"/>
            <a:ext cx="2159000" cy="325545"/>
          </a:xfrm>
          <a:prstGeom prst="rect">
            <a:avLst/>
          </a:prstGeom>
          <a:noFill/>
          <a:ln w="9525">
            <a:noFill/>
            <a:miter lim="800000"/>
          </a:ln>
        </p:spPr>
        <p:txBody>
          <a:bodyPr wrap="none" lIns="92075" tIns="46038" rIns="92075" bIns="46038">
            <a:spAutoFit/>
          </a:bodyPr>
          <a:lstStyle/>
          <a:p>
            <a:pPr eaLnBrk="0" hangingPunct="0"/>
            <a:r>
              <a:rPr lang="en-US" altLang="zh-CN" sz="2000" b="1" dirty="0" smtClean="0"/>
              <a:t>   (*.</a:t>
            </a:r>
            <a:r>
              <a:rPr lang="en-US" altLang="zh-CN" sz="2000" b="1" dirty="0"/>
              <a:t>OBJ / *.EXE)</a:t>
            </a:r>
            <a:endParaRPr lang="en-US" altLang="zh-CN" sz="2000" b="1" dirty="0"/>
          </a:p>
        </p:txBody>
      </p:sp>
      <p:sp>
        <p:nvSpPr>
          <p:cNvPr id="6158" name="Line 15"/>
          <p:cNvSpPr>
            <a:spLocks noChangeShapeType="1"/>
          </p:cNvSpPr>
          <p:nvPr/>
        </p:nvSpPr>
        <p:spPr bwMode="auto">
          <a:xfrm>
            <a:off x="2195736" y="2348880"/>
            <a:ext cx="4876024" cy="0"/>
          </a:xfrm>
          <a:prstGeom prst="line">
            <a:avLst/>
          </a:prstGeom>
          <a:noFill/>
          <a:ln w="50800">
            <a:solidFill>
              <a:srgbClr val="CC0066"/>
            </a:solidFill>
            <a:round/>
          </a:ln>
        </p:spPr>
        <p:txBody>
          <a:bodyPr wrap="none"/>
          <a:lstStyle/>
          <a:p>
            <a:endParaRPr lang="zh-CN" altLang="en-US"/>
          </a:p>
        </p:txBody>
      </p:sp>
      <p:sp>
        <p:nvSpPr>
          <p:cNvPr id="6159" name="Line 20"/>
          <p:cNvSpPr>
            <a:spLocks noChangeShapeType="1"/>
          </p:cNvSpPr>
          <p:nvPr/>
        </p:nvSpPr>
        <p:spPr bwMode="auto">
          <a:xfrm>
            <a:off x="5724128" y="2348880"/>
            <a:ext cx="1419640" cy="1365872"/>
          </a:xfrm>
          <a:prstGeom prst="line">
            <a:avLst/>
          </a:prstGeom>
          <a:noFill/>
          <a:ln w="9525">
            <a:solidFill>
              <a:srgbClr val="CC0066"/>
            </a:solidFill>
            <a:round/>
            <a:tailEnd type="triangle" w="med" len="med"/>
          </a:ln>
        </p:spPr>
        <p:txBody>
          <a:bodyPr wrap="none"/>
          <a:lstStyle/>
          <a:p>
            <a:endParaRPr lang="zh-CN" altLang="en-US"/>
          </a:p>
        </p:txBody>
      </p:sp>
      <p:sp>
        <p:nvSpPr>
          <p:cNvPr id="91158" name="Line 22"/>
          <p:cNvSpPr>
            <a:spLocks noChangeShapeType="1"/>
          </p:cNvSpPr>
          <p:nvPr/>
        </p:nvSpPr>
        <p:spPr bwMode="auto">
          <a:xfrm>
            <a:off x="4860032" y="4293096"/>
            <a:ext cx="0" cy="648072"/>
          </a:xfrm>
          <a:prstGeom prst="line">
            <a:avLst/>
          </a:prstGeom>
          <a:noFill/>
          <a:ln w="9525">
            <a:solidFill>
              <a:srgbClr val="CC0066"/>
            </a:solidFill>
            <a:round/>
            <a:tailEnd type="triangle" w="med" len="med"/>
          </a:ln>
        </p:spPr>
        <p:txBody>
          <a:bodyPr wrap="none"/>
          <a:lstStyle/>
          <a:p>
            <a:endParaRPr lang="zh-CN" altLang="en-US"/>
          </a:p>
        </p:txBody>
      </p:sp>
      <p:sp>
        <p:nvSpPr>
          <p:cNvPr id="91159" name="Rectangle 23"/>
          <p:cNvSpPr>
            <a:spLocks noChangeArrowheads="1"/>
          </p:cNvSpPr>
          <p:nvPr/>
        </p:nvSpPr>
        <p:spPr bwMode="auto">
          <a:xfrm>
            <a:off x="1447800" y="4953000"/>
            <a:ext cx="6934200" cy="887422"/>
          </a:xfrm>
          <a:prstGeom prst="rect">
            <a:avLst/>
          </a:prstGeom>
          <a:noFill/>
          <a:ln w="9525">
            <a:noFill/>
            <a:miter lim="800000"/>
          </a:ln>
        </p:spPr>
        <p:txBody>
          <a:bodyPr>
            <a:spAutoFit/>
          </a:bodyPr>
          <a:lstStyle/>
          <a:p>
            <a:pPr>
              <a:lnSpc>
                <a:spcPts val="3100"/>
              </a:lnSpc>
            </a:pPr>
            <a:r>
              <a:rPr lang="zh-CN" altLang="en-US" sz="2200" b="1" dirty="0" smtClean="0">
                <a:latin typeface="宋体" panose="02010600030101010101" pitchFamily="2" charset="-122"/>
              </a:rPr>
              <a:t>也</a:t>
            </a:r>
            <a:r>
              <a:rPr lang="zh-CN" altLang="en-US" sz="2200" b="1" dirty="0">
                <a:latin typeface="宋体" panose="02010600030101010101" pitchFamily="2" charset="-122"/>
              </a:rPr>
              <a:t>称</a:t>
            </a:r>
            <a:r>
              <a:rPr lang="zh-CN" altLang="en-US" sz="2200" b="1" dirty="0">
                <a:solidFill>
                  <a:srgbClr val="FF0000"/>
                </a:solidFill>
                <a:latin typeface="宋体" panose="02010600030101010101" pitchFamily="2" charset="-122"/>
              </a:rPr>
              <a:t>编译器</a:t>
            </a:r>
            <a:r>
              <a:rPr lang="zh-CN" altLang="en-US" sz="2200" b="1" dirty="0">
                <a:latin typeface="宋体" panose="02010600030101010101" pitchFamily="2" charset="-122"/>
              </a:rPr>
              <a:t>。第一个编译器是</a:t>
            </a:r>
            <a:r>
              <a:rPr lang="en-US" altLang="zh-CN" sz="2200" b="1" dirty="0">
                <a:latin typeface="宋体" panose="02010600030101010101" pitchFamily="2" charset="-122"/>
              </a:rPr>
              <a:t>20</a:t>
            </a:r>
            <a:r>
              <a:rPr lang="zh-CN" altLang="en-US" sz="2200" b="1" dirty="0">
                <a:latin typeface="宋体" panose="02010600030101010101" pitchFamily="2" charset="-122"/>
              </a:rPr>
              <a:t>世纪</a:t>
            </a:r>
            <a:r>
              <a:rPr lang="en-US" altLang="zh-CN" sz="2200" b="1" dirty="0">
                <a:latin typeface="宋体" panose="02010600030101010101" pitchFamily="2" charset="-122"/>
              </a:rPr>
              <a:t>50</a:t>
            </a:r>
            <a:r>
              <a:rPr lang="zh-CN" altLang="en-US" sz="2200" b="1" dirty="0">
                <a:latin typeface="宋体" panose="02010600030101010101" pitchFamily="2" charset="-122"/>
              </a:rPr>
              <a:t>年代后期出现的</a:t>
            </a:r>
            <a:r>
              <a:rPr lang="en-US" altLang="zh-CN" sz="2200" b="1" u="sng" dirty="0">
                <a:solidFill>
                  <a:srgbClr val="FF0000"/>
                </a:solidFill>
                <a:latin typeface="宋体" panose="02010600030101010101" pitchFamily="2" charset="-122"/>
              </a:rPr>
              <a:t>FORTRAN</a:t>
            </a:r>
            <a:r>
              <a:rPr lang="zh-CN" altLang="en-US" sz="2200" b="1" u="sng" dirty="0">
                <a:solidFill>
                  <a:srgbClr val="FF0000"/>
                </a:solidFill>
                <a:latin typeface="宋体" panose="02010600030101010101" pitchFamily="2" charset="-122"/>
              </a:rPr>
              <a:t>语言编译器</a:t>
            </a:r>
            <a:r>
              <a:rPr lang="zh-CN" altLang="en-US" sz="2200" b="1" dirty="0" smtClean="0">
                <a:latin typeface="宋体" panose="02010600030101010101" pitchFamily="2" charset="-122"/>
              </a:rPr>
              <a:t>。</a:t>
            </a:r>
            <a:endParaRPr lang="zh-CN" altLang="en-US" sz="2200" b="1" dirty="0">
              <a:latin typeface="宋体" panose="02010600030101010101" pitchFamily="2" charset="-122"/>
            </a:endParaRPr>
          </a:p>
        </p:txBody>
      </p:sp>
      <p:sp>
        <p:nvSpPr>
          <p:cNvPr id="91161" name="Line 25"/>
          <p:cNvSpPr>
            <a:spLocks noChangeShapeType="1"/>
          </p:cNvSpPr>
          <p:nvPr/>
        </p:nvSpPr>
        <p:spPr bwMode="auto">
          <a:xfrm>
            <a:off x="2819400" y="3886200"/>
            <a:ext cx="838200" cy="0"/>
          </a:xfrm>
          <a:prstGeom prst="line">
            <a:avLst/>
          </a:prstGeom>
          <a:noFill/>
          <a:ln w="38100" cmpd="dbl">
            <a:solidFill>
              <a:schemeClr val="tx1"/>
            </a:solidFill>
            <a:round/>
            <a:headEnd type="none" w="sm" len="sm"/>
            <a:tailEnd type="stealth" w="med" len="lg"/>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161"/>
                                        </p:tgtEl>
                                        <p:attrNameLst>
                                          <p:attrName>style.visibility</p:attrName>
                                        </p:attrNameLst>
                                      </p:cBhvr>
                                      <p:to>
                                        <p:strVal val="visible"/>
                                      </p:to>
                                    </p:set>
                                    <p:anim calcmode="lin" valueType="num">
                                      <p:cBhvr additive="base">
                                        <p:cTn id="7" dur="500" fill="hold"/>
                                        <p:tgtEl>
                                          <p:spTgt spid="91161"/>
                                        </p:tgtEl>
                                        <p:attrNameLst>
                                          <p:attrName>ppt_x</p:attrName>
                                        </p:attrNameLst>
                                      </p:cBhvr>
                                      <p:tavLst>
                                        <p:tav tm="0">
                                          <p:val>
                                            <p:strVal val="0-#ppt_w/2"/>
                                          </p:val>
                                        </p:tav>
                                        <p:tav tm="100000">
                                          <p:val>
                                            <p:strVal val="#ppt_x"/>
                                          </p:val>
                                        </p:tav>
                                      </p:tavLst>
                                    </p:anim>
                                    <p:anim calcmode="lin" valueType="num">
                                      <p:cBhvr additive="base">
                                        <p:cTn id="8" dur="500" fill="hold"/>
                                        <p:tgtEl>
                                          <p:spTgt spid="9116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1143"/>
                                        </p:tgtEl>
                                        <p:attrNameLst>
                                          <p:attrName>style.visibility</p:attrName>
                                        </p:attrNameLst>
                                      </p:cBhvr>
                                      <p:to>
                                        <p:strVal val="visible"/>
                                      </p:to>
                                    </p:set>
                                    <p:anim calcmode="lin" valueType="num">
                                      <p:cBhvr additive="base">
                                        <p:cTn id="12" dur="500" fill="hold"/>
                                        <p:tgtEl>
                                          <p:spTgt spid="91143"/>
                                        </p:tgtEl>
                                        <p:attrNameLst>
                                          <p:attrName>ppt_x</p:attrName>
                                        </p:attrNameLst>
                                      </p:cBhvr>
                                      <p:tavLst>
                                        <p:tav tm="0">
                                          <p:val>
                                            <p:strVal val="0-#ppt_w/2"/>
                                          </p:val>
                                        </p:tav>
                                        <p:tav tm="100000">
                                          <p:val>
                                            <p:strVal val="#ppt_x"/>
                                          </p:val>
                                        </p:tav>
                                      </p:tavLst>
                                    </p:anim>
                                    <p:anim calcmode="lin" valueType="num">
                                      <p:cBhvr additive="base">
                                        <p:cTn id="13" dur="500" fill="hold"/>
                                        <p:tgtEl>
                                          <p:spTgt spid="9114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1144"/>
                                        </p:tgtEl>
                                        <p:attrNameLst>
                                          <p:attrName>style.visibility</p:attrName>
                                        </p:attrNameLst>
                                      </p:cBhvr>
                                      <p:to>
                                        <p:strVal val="visible"/>
                                      </p:to>
                                    </p:set>
                                    <p:anim calcmode="lin" valueType="num">
                                      <p:cBhvr additive="base">
                                        <p:cTn id="18" dur="500" fill="hold"/>
                                        <p:tgtEl>
                                          <p:spTgt spid="91144"/>
                                        </p:tgtEl>
                                        <p:attrNameLst>
                                          <p:attrName>ppt_x</p:attrName>
                                        </p:attrNameLst>
                                      </p:cBhvr>
                                      <p:tavLst>
                                        <p:tav tm="0">
                                          <p:val>
                                            <p:strVal val="0-#ppt_w/2"/>
                                          </p:val>
                                        </p:tav>
                                        <p:tav tm="100000">
                                          <p:val>
                                            <p:strVal val="#ppt_x"/>
                                          </p:val>
                                        </p:tav>
                                      </p:tavLst>
                                    </p:anim>
                                    <p:anim calcmode="lin" valueType="num">
                                      <p:cBhvr additive="base">
                                        <p:cTn id="19" dur="500" fill="hold"/>
                                        <p:tgtEl>
                                          <p:spTgt spid="9114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91158"/>
                                        </p:tgtEl>
                                        <p:attrNameLst>
                                          <p:attrName>style.visibility</p:attrName>
                                        </p:attrNameLst>
                                      </p:cBhvr>
                                      <p:to>
                                        <p:strVal val="visible"/>
                                      </p:to>
                                    </p:set>
                                    <p:anim calcmode="lin" valueType="num">
                                      <p:cBhvr additive="base">
                                        <p:cTn id="24" dur="500" fill="hold"/>
                                        <p:tgtEl>
                                          <p:spTgt spid="91158"/>
                                        </p:tgtEl>
                                        <p:attrNameLst>
                                          <p:attrName>ppt_x</p:attrName>
                                        </p:attrNameLst>
                                      </p:cBhvr>
                                      <p:tavLst>
                                        <p:tav tm="0">
                                          <p:val>
                                            <p:strVal val="0-#ppt_w/2"/>
                                          </p:val>
                                        </p:tav>
                                        <p:tav tm="100000">
                                          <p:val>
                                            <p:strVal val="#ppt_x"/>
                                          </p:val>
                                        </p:tav>
                                      </p:tavLst>
                                    </p:anim>
                                    <p:anim calcmode="lin" valueType="num">
                                      <p:cBhvr additive="base">
                                        <p:cTn id="25" dur="500" fill="hold"/>
                                        <p:tgtEl>
                                          <p:spTgt spid="91158"/>
                                        </p:tgtEl>
                                        <p:attrNameLst>
                                          <p:attrName>ppt_y</p:attrName>
                                        </p:attrNameLst>
                                      </p:cBhvr>
                                      <p:tavLst>
                                        <p:tav tm="0">
                                          <p:val>
                                            <p:strVal val="#ppt_y"/>
                                          </p:val>
                                        </p:tav>
                                        <p:tav tm="100000">
                                          <p:val>
                                            <p:strVal val="#ppt_y"/>
                                          </p:val>
                                        </p:tav>
                                      </p:tavLst>
                                    </p:anim>
                                  </p:childTnLst>
                                </p:cTn>
                              </p:par>
                            </p:childTnLst>
                          </p:cTn>
                        </p:par>
                        <p:par>
                          <p:cTn id="26" fill="hold">
                            <p:stCondLst>
                              <p:cond delay="500"/>
                            </p:stCondLst>
                            <p:childTnLst>
                              <p:par>
                                <p:cTn id="27" presetID="2" presetClass="entr" presetSubtype="8" fill="hold" grpId="0" nodeType="afterEffect">
                                  <p:stCondLst>
                                    <p:cond delay="0"/>
                                  </p:stCondLst>
                                  <p:childTnLst>
                                    <p:set>
                                      <p:cBhvr>
                                        <p:cTn id="28" dur="1" fill="hold">
                                          <p:stCondLst>
                                            <p:cond delay="0"/>
                                          </p:stCondLst>
                                        </p:cTn>
                                        <p:tgtEl>
                                          <p:spTgt spid="91159"/>
                                        </p:tgtEl>
                                        <p:attrNameLst>
                                          <p:attrName>style.visibility</p:attrName>
                                        </p:attrNameLst>
                                      </p:cBhvr>
                                      <p:to>
                                        <p:strVal val="visible"/>
                                      </p:to>
                                    </p:set>
                                    <p:anim calcmode="lin" valueType="num">
                                      <p:cBhvr additive="base">
                                        <p:cTn id="29" dur="500" fill="hold"/>
                                        <p:tgtEl>
                                          <p:spTgt spid="91159"/>
                                        </p:tgtEl>
                                        <p:attrNameLst>
                                          <p:attrName>ppt_x</p:attrName>
                                        </p:attrNameLst>
                                      </p:cBhvr>
                                      <p:tavLst>
                                        <p:tav tm="0">
                                          <p:val>
                                            <p:strVal val="0-#ppt_w/2"/>
                                          </p:val>
                                        </p:tav>
                                        <p:tav tm="100000">
                                          <p:val>
                                            <p:strVal val="#ppt_x"/>
                                          </p:val>
                                        </p:tav>
                                      </p:tavLst>
                                    </p:anim>
                                    <p:anim calcmode="lin" valueType="num">
                                      <p:cBhvr additive="base">
                                        <p:cTn id="30" dur="500" fill="hold"/>
                                        <p:tgtEl>
                                          <p:spTgt spid="911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3" grpId="0" animBg="1" autoUpdateAnimBg="0"/>
      <p:bldP spid="91144" grpId="0" animBg="1"/>
      <p:bldP spid="91158" grpId="0" animBg="1"/>
      <p:bldP spid="91159" grpId="0" autoUpdateAnimBg="0"/>
      <p:bldP spid="9116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17410" name="Picture 2"/>
          <p:cNvPicPr>
            <a:picLocks noChangeAspect="1" noChangeArrowheads="1"/>
          </p:cNvPicPr>
          <p:nvPr/>
        </p:nvPicPr>
        <p:blipFill rotWithShape="1">
          <a:blip r:embed="rId1"/>
          <a:srcRect l="6781" t="20251" r="9434" b="16827"/>
          <a:stretch>
            <a:fillRect/>
          </a:stretch>
        </p:blipFill>
        <p:spPr bwMode="auto">
          <a:xfrm>
            <a:off x="179512" y="285728"/>
            <a:ext cx="8826500" cy="6215106"/>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3"/>
          <p:cNvSpPr>
            <a:spLocks noGrp="1" noChangeArrowheads="1"/>
          </p:cNvSpPr>
          <p:nvPr>
            <p:ph idx="1"/>
          </p:nvPr>
        </p:nvSpPr>
        <p:spPr>
          <a:xfrm>
            <a:off x="251520" y="457200"/>
            <a:ext cx="8435280" cy="1447800"/>
          </a:xfrm>
        </p:spPr>
        <p:txBody>
          <a:bodyPr>
            <a:normAutofit/>
          </a:bodyPr>
          <a:lstStyle/>
          <a:p>
            <a:pPr eaLnBrk="1" hangingPunct="1">
              <a:buFont typeface="Wingdings" panose="05000000000000000000" pitchFamily="2" charset="2"/>
              <a:buNone/>
            </a:pPr>
            <a:endParaRPr lang="zh-CN" altLang="en-US" sz="2400" b="1" dirty="0" smtClean="0">
              <a:solidFill>
                <a:schemeClr val="tx2"/>
              </a:solidFill>
              <a:latin typeface="宋体" panose="02010600030101010101" pitchFamily="2" charset="-122"/>
            </a:endParaRPr>
          </a:p>
          <a:p>
            <a:pPr lvl="1" eaLnBrk="1" hangingPunct="1">
              <a:lnSpc>
                <a:spcPct val="130000"/>
              </a:lnSpc>
            </a:pPr>
            <a:r>
              <a:rPr lang="zh-CN" altLang="en-US" sz="2400" b="1" kern="1200" spc="50" dirty="0" smtClean="0">
                <a:ln w="11430"/>
                <a:gradFill>
                  <a:gsLst>
                    <a:gs pos="25000">
                      <a:schemeClr val="accent2">
                        <a:satMod val="155000"/>
                      </a:schemeClr>
                    </a:gs>
                    <a:gs pos="100000">
                      <a:schemeClr val="accent2">
                        <a:shade val="45000"/>
                        <a:satMod val="165000"/>
                      </a:schemeClr>
                    </a:gs>
                  </a:gsLst>
                  <a:lin ang="5400000"/>
                </a:gradFill>
                <a:latin typeface="Times New Roman" panose="02020603050405020304" pitchFamily="18" charset="0"/>
                <a:ea typeface="宋体" panose="02010600030101010101" pitchFamily="2" charset="-122"/>
              </a:rPr>
              <a:t>翻译程序</a:t>
            </a:r>
            <a:r>
              <a:rPr lang="zh-CN" altLang="en-US" sz="2400" b="1" dirty="0" smtClean="0">
                <a:solidFill>
                  <a:schemeClr val="tx2"/>
                </a:solidFill>
                <a:latin typeface="宋体" panose="02010600030101010101" pitchFamily="2" charset="-122"/>
              </a:rPr>
              <a:t>是把一种语言书写的程序翻译成另一种语言的等价的程序。</a:t>
            </a:r>
            <a:endParaRPr lang="zh-CN" altLang="en-US" sz="2400" b="1" dirty="0" smtClean="0">
              <a:solidFill>
                <a:schemeClr val="tx2"/>
              </a:solidFill>
              <a:latin typeface="宋体" panose="02010600030101010101" pitchFamily="2" charset="-122"/>
            </a:endParaRPr>
          </a:p>
        </p:txBody>
      </p:sp>
      <p:sp>
        <p:nvSpPr>
          <p:cNvPr id="7172" name="Text Box 18"/>
          <p:cNvSpPr txBox="1">
            <a:spLocks noChangeArrowheads="1"/>
          </p:cNvSpPr>
          <p:nvPr/>
        </p:nvSpPr>
        <p:spPr bwMode="auto">
          <a:xfrm>
            <a:off x="4258270" y="2411080"/>
            <a:ext cx="1465858" cy="461665"/>
          </a:xfrm>
          <a:prstGeom prst="rect">
            <a:avLst/>
          </a:prstGeom>
          <a:noFill/>
          <a:ln w="9525">
            <a:noFill/>
            <a:miter lim="800000"/>
          </a:ln>
        </p:spPr>
        <p:txBody>
          <a:bodyPr wrap="square">
            <a:spAutoFit/>
          </a:bodyPr>
          <a:lstStyle/>
          <a:p>
            <a:pPr algn="ctr"/>
            <a:r>
              <a:rPr lang="zh-CN" altLang="en-US" b="1" spc="50" dirty="0">
                <a:ln w="11430"/>
                <a:gradFill>
                  <a:gsLst>
                    <a:gs pos="25000">
                      <a:schemeClr val="accent2">
                        <a:satMod val="155000"/>
                      </a:schemeClr>
                    </a:gs>
                    <a:gs pos="100000">
                      <a:schemeClr val="accent2">
                        <a:shade val="45000"/>
                        <a:satMod val="165000"/>
                      </a:schemeClr>
                    </a:gs>
                  </a:gsLst>
                  <a:lin ang="5400000"/>
                </a:gradFill>
              </a:rPr>
              <a:t>汇编程序</a:t>
            </a:r>
            <a:endParaRPr lang="zh-CN" altLang="en-US" b="1" spc="50" dirty="0">
              <a:ln w="11430"/>
              <a:gradFill>
                <a:gsLst>
                  <a:gs pos="25000">
                    <a:schemeClr val="accent2">
                      <a:satMod val="155000"/>
                    </a:schemeClr>
                  </a:gs>
                  <a:gs pos="100000">
                    <a:schemeClr val="accent2">
                      <a:shade val="45000"/>
                      <a:satMod val="165000"/>
                    </a:schemeClr>
                  </a:gs>
                </a:gsLst>
                <a:lin ang="5400000"/>
              </a:gradFill>
            </a:endParaRPr>
          </a:p>
        </p:txBody>
      </p:sp>
      <p:sp>
        <p:nvSpPr>
          <p:cNvPr id="7173" name="Text Box 19"/>
          <p:cNvSpPr txBox="1">
            <a:spLocks noChangeArrowheads="1"/>
          </p:cNvSpPr>
          <p:nvPr/>
        </p:nvSpPr>
        <p:spPr bwMode="auto">
          <a:xfrm>
            <a:off x="1043608" y="2594312"/>
            <a:ext cx="3024337" cy="461665"/>
          </a:xfrm>
          <a:prstGeom prst="rect">
            <a:avLst/>
          </a:prstGeom>
          <a:noFill/>
          <a:ln w="9525">
            <a:noFill/>
            <a:miter lim="800000"/>
          </a:ln>
        </p:spPr>
        <p:txBody>
          <a:bodyPr wrap="square">
            <a:spAutoFit/>
          </a:bodyPr>
          <a:lstStyle/>
          <a:p>
            <a:pPr>
              <a:spcBef>
                <a:spcPct val="50000"/>
              </a:spcBef>
            </a:pPr>
            <a:r>
              <a:rPr lang="zh-CN" altLang="en-US" b="1" dirty="0" smtClean="0">
                <a:solidFill>
                  <a:schemeClr val="tx2"/>
                </a:solidFill>
                <a:latin typeface="宋体" panose="02010600030101010101" pitchFamily="2" charset="-122"/>
              </a:rPr>
              <a:t>例如：汇编语言</a:t>
            </a:r>
            <a:r>
              <a:rPr lang="zh-CN" altLang="en-US" b="1" dirty="0">
                <a:solidFill>
                  <a:schemeClr val="tx2"/>
                </a:solidFill>
                <a:latin typeface="宋体" panose="02010600030101010101" pitchFamily="2" charset="-122"/>
              </a:rPr>
              <a:t>程序</a:t>
            </a:r>
            <a:endParaRPr lang="zh-CN" altLang="en-US" b="1" dirty="0">
              <a:solidFill>
                <a:schemeClr val="tx2"/>
              </a:solidFill>
              <a:latin typeface="宋体" panose="02010600030101010101" pitchFamily="2" charset="-122"/>
            </a:endParaRPr>
          </a:p>
        </p:txBody>
      </p:sp>
      <p:sp>
        <p:nvSpPr>
          <p:cNvPr id="7174" name="Text Box 20"/>
          <p:cNvSpPr txBox="1">
            <a:spLocks noChangeArrowheads="1"/>
          </p:cNvSpPr>
          <p:nvPr/>
        </p:nvSpPr>
        <p:spPr bwMode="auto">
          <a:xfrm>
            <a:off x="6019800" y="2594312"/>
            <a:ext cx="1828800" cy="461665"/>
          </a:xfrm>
          <a:prstGeom prst="rect">
            <a:avLst/>
          </a:prstGeom>
          <a:noFill/>
          <a:ln w="9525">
            <a:noFill/>
            <a:miter lim="800000"/>
          </a:ln>
        </p:spPr>
        <p:txBody>
          <a:bodyPr>
            <a:spAutoFit/>
          </a:bodyPr>
          <a:lstStyle/>
          <a:p>
            <a:pPr>
              <a:spcBef>
                <a:spcPct val="50000"/>
              </a:spcBef>
            </a:pPr>
            <a:r>
              <a:rPr lang="zh-CN" altLang="en-US" b="1" dirty="0">
                <a:solidFill>
                  <a:schemeClr val="tx2"/>
                </a:solidFill>
                <a:latin typeface="宋体" panose="02010600030101010101" pitchFamily="2" charset="-122"/>
              </a:rPr>
              <a:t>机器程序</a:t>
            </a:r>
            <a:endParaRPr lang="zh-CN" altLang="en-US" b="1" dirty="0">
              <a:solidFill>
                <a:schemeClr val="tx2"/>
              </a:solidFill>
              <a:latin typeface="宋体" panose="02010600030101010101" pitchFamily="2" charset="-122"/>
            </a:endParaRPr>
          </a:p>
        </p:txBody>
      </p:sp>
      <p:cxnSp>
        <p:nvCxnSpPr>
          <p:cNvPr id="38" name="直接箭头连接符 37"/>
          <p:cNvCxnSpPr>
            <a:stCxn id="7173" idx="3"/>
            <a:endCxn id="7174" idx="1"/>
          </p:cNvCxnSpPr>
          <p:nvPr/>
        </p:nvCxnSpPr>
        <p:spPr bwMode="auto">
          <a:xfrm>
            <a:off x="4067945" y="2825145"/>
            <a:ext cx="1951855"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251520" y="692696"/>
            <a:ext cx="8640960" cy="5184576"/>
          </a:xfrm>
        </p:spPr>
        <p:txBody>
          <a:bodyPr>
            <a:noAutofit/>
          </a:bodyPr>
          <a:lstStyle/>
          <a:p>
            <a:pPr>
              <a:lnSpc>
                <a:spcPct val="130000"/>
              </a:lnSpc>
              <a:buFont typeface="Wingdings" panose="05000000000000000000" charset="0"/>
              <a:buChar char="Ø"/>
            </a:pPr>
            <a:r>
              <a:rPr lang="zh-CN" altLang="en-US" sz="3200" dirty="0">
                <a:solidFill>
                  <a:srgbClr val="FF0000"/>
                </a:solidFill>
              </a:rPr>
              <a:t>编译程序</a:t>
            </a:r>
            <a:r>
              <a:rPr lang="zh-CN" altLang="en-US" sz="3200" dirty="0"/>
              <a:t>是一个语言处理程序，它把一个高级语言程序</a:t>
            </a:r>
            <a:r>
              <a:rPr lang="zh-CN" altLang="en-US" sz="3200" dirty="0">
                <a:solidFill>
                  <a:srgbClr val="FF0000"/>
                </a:solidFill>
              </a:rPr>
              <a:t>翻译</a:t>
            </a:r>
            <a:r>
              <a:rPr lang="zh-CN" altLang="en-US" sz="3200" dirty="0"/>
              <a:t>成某个机器的汇编语言程序或二进制代码程序，这个二进制代码程序在机器上</a:t>
            </a:r>
            <a:r>
              <a:rPr lang="zh-CN" altLang="en-US" sz="3200" dirty="0">
                <a:solidFill>
                  <a:srgbClr val="FF0000"/>
                </a:solidFill>
              </a:rPr>
              <a:t>运行</a:t>
            </a:r>
            <a:r>
              <a:rPr lang="zh-CN" altLang="en-US" sz="3200" dirty="0"/>
              <a:t>以生成结果</a:t>
            </a:r>
            <a:r>
              <a:rPr lang="zh-CN" altLang="en-US" sz="3200" dirty="0" smtClean="0"/>
              <a:t>。不</a:t>
            </a:r>
            <a:r>
              <a:rPr lang="zh-CN" altLang="en-US" sz="3200" dirty="0"/>
              <a:t>把整个程序全部翻译完</a:t>
            </a:r>
            <a:r>
              <a:rPr lang="zh-CN" altLang="en-US" sz="3200" dirty="0" smtClean="0"/>
              <a:t>成，</a:t>
            </a:r>
            <a:r>
              <a:rPr lang="zh-CN" altLang="en-US" sz="3200" dirty="0"/>
              <a:t>这个程序是不能开始运行、也不能产生任何结</a:t>
            </a:r>
            <a:r>
              <a:rPr lang="zh-CN" altLang="en-US" sz="3200" dirty="0" smtClean="0"/>
              <a:t>果。</a:t>
            </a:r>
            <a:r>
              <a:rPr lang="zh-CN" altLang="en-US" sz="3200" dirty="0" smtClean="0">
                <a:solidFill>
                  <a:srgbClr val="FF0000"/>
                </a:solidFill>
              </a:rPr>
              <a:t>编</a:t>
            </a:r>
            <a:r>
              <a:rPr lang="zh-CN" altLang="en-US" sz="3200" dirty="0">
                <a:solidFill>
                  <a:srgbClr val="FF0000"/>
                </a:solidFill>
              </a:rPr>
              <a:t>译</a:t>
            </a:r>
            <a:r>
              <a:rPr lang="zh-CN" altLang="en-US" sz="3200" dirty="0"/>
              <a:t>和</a:t>
            </a:r>
            <a:r>
              <a:rPr lang="zh-CN" altLang="en-US" sz="3200" dirty="0">
                <a:solidFill>
                  <a:srgbClr val="FF0000"/>
                </a:solidFill>
              </a:rPr>
              <a:t>运行</a:t>
            </a:r>
            <a:r>
              <a:rPr lang="zh-CN" altLang="en-US" sz="3200" dirty="0"/>
              <a:t>是两个独立分开的阶段</a:t>
            </a:r>
            <a:r>
              <a:rPr lang="zh-CN" altLang="en-US" sz="3200" dirty="0" smtClean="0"/>
              <a:t>。</a:t>
            </a:r>
            <a:endParaRPr lang="en-US" altLang="zh-CN"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33" name="Rectangle 21"/>
          <p:cNvSpPr>
            <a:spLocks noChangeArrowheads="1"/>
          </p:cNvSpPr>
          <p:nvPr/>
        </p:nvSpPr>
        <p:spPr bwMode="auto">
          <a:xfrm>
            <a:off x="381000" y="1202065"/>
            <a:ext cx="8077200" cy="1447800"/>
          </a:xfrm>
          <a:prstGeom prst="rect">
            <a:avLst/>
          </a:prstGeom>
          <a:noFill/>
          <a:ln w="9525">
            <a:noFill/>
            <a:miter lim="800000"/>
          </a:ln>
        </p:spPr>
        <p:txBody>
          <a:bodyPr/>
          <a:lstStyle/>
          <a:p>
            <a:pPr marL="342900" indent="-342900">
              <a:lnSpc>
                <a:spcPct val="90000"/>
              </a:lnSpc>
              <a:spcBef>
                <a:spcPct val="20000"/>
              </a:spcBef>
              <a:buClr>
                <a:schemeClr val="accent1"/>
              </a:buClr>
              <a:buFont typeface="Wingdings" panose="05000000000000000000" pitchFamily="2" charset="2"/>
              <a:buNone/>
            </a:pPr>
            <a:r>
              <a:rPr lang="en-US" altLang="zh-CN" sz="3200" b="1" dirty="0">
                <a:solidFill>
                  <a:schemeClr val="hlink"/>
                </a:solidFill>
                <a:latin typeface="黑体" panose="02010609060101010101" pitchFamily="2" charset="-122"/>
                <a:ea typeface="黑体" panose="02010609060101010101" pitchFamily="2" charset="-122"/>
              </a:rPr>
              <a:t>  </a:t>
            </a:r>
            <a:r>
              <a:rPr lang="zh-CN" altLang="en-US" b="1" u="sng" dirty="0" smtClean="0">
                <a:solidFill>
                  <a:srgbClr val="FF0000"/>
                </a:solidFill>
                <a:latin typeface="宋体" panose="02010600030101010101" pitchFamily="2" charset="-122"/>
              </a:rPr>
              <a:t>解释程序</a:t>
            </a:r>
            <a:r>
              <a:rPr lang="en-US" altLang="zh-CN" b="1" dirty="0" smtClean="0">
                <a:latin typeface="宋体" panose="02010600030101010101" pitchFamily="2" charset="-122"/>
              </a:rPr>
              <a:t>(</a:t>
            </a:r>
            <a:r>
              <a:rPr lang="en-US" altLang="zh-CN" sz="2000" b="1" i="1" dirty="0" smtClean="0">
                <a:latin typeface="宋体" panose="02010600030101010101" pitchFamily="2" charset="-122"/>
              </a:rPr>
              <a:t>Interpreter</a:t>
            </a:r>
            <a:r>
              <a:rPr lang="en-US" altLang="zh-CN" b="1" dirty="0" smtClean="0">
                <a:latin typeface="宋体" panose="02010600030101010101" pitchFamily="2" charset="-122"/>
              </a:rPr>
              <a:t>)</a:t>
            </a:r>
            <a:endParaRPr lang="zh-CN" altLang="en-US" b="1" u="sng" dirty="0">
              <a:latin typeface="宋体" panose="02010600030101010101" pitchFamily="2" charset="-122"/>
            </a:endParaRPr>
          </a:p>
          <a:p>
            <a:pPr marL="742950" lvl="1" indent="-285750">
              <a:lnSpc>
                <a:spcPct val="130000"/>
              </a:lnSpc>
              <a:spcBef>
                <a:spcPct val="20000"/>
              </a:spcBef>
              <a:buClr>
                <a:schemeClr val="hlink"/>
              </a:buClr>
              <a:buFontTx/>
              <a:buChar char="–"/>
            </a:pPr>
            <a:r>
              <a:rPr lang="zh-CN" altLang="en-US" b="1" dirty="0">
                <a:latin typeface="宋体" panose="02010600030101010101" pitchFamily="2" charset="-122"/>
              </a:rPr>
              <a:t>是</a:t>
            </a:r>
            <a:r>
              <a:rPr lang="zh-CN" altLang="en-US" b="1" dirty="0">
                <a:solidFill>
                  <a:srgbClr val="FF0000"/>
                </a:solidFill>
                <a:latin typeface="宋体" panose="02010600030101010101" pitchFamily="2" charset="-122"/>
              </a:rPr>
              <a:t>源程序的一个执行系统</a:t>
            </a:r>
            <a:r>
              <a:rPr lang="zh-CN" altLang="en-US" b="1" dirty="0">
                <a:latin typeface="宋体" panose="02010600030101010101" pitchFamily="2" charset="-122"/>
              </a:rPr>
              <a:t>。其工作结果是得到源程序的执行结果，相当于执行源程序的抽象机。</a:t>
            </a:r>
            <a:endParaRPr lang="zh-CN" altLang="en-US" b="1" dirty="0">
              <a:latin typeface="宋体" panose="02010600030101010101" pitchFamily="2" charset="-122"/>
            </a:endParaRPr>
          </a:p>
        </p:txBody>
      </p:sp>
      <p:grpSp>
        <p:nvGrpSpPr>
          <p:cNvPr id="44" name="组合 43"/>
          <p:cNvGrpSpPr/>
          <p:nvPr/>
        </p:nvGrpSpPr>
        <p:grpSpPr>
          <a:xfrm>
            <a:off x="1403648" y="2980288"/>
            <a:ext cx="6696744" cy="1181745"/>
            <a:chOff x="1403648" y="4119463"/>
            <a:chExt cx="6696744" cy="1181745"/>
          </a:xfrm>
        </p:grpSpPr>
        <p:sp>
          <p:nvSpPr>
            <p:cNvPr id="21" name="TextBox 20"/>
            <p:cNvSpPr txBox="1"/>
            <p:nvPr/>
          </p:nvSpPr>
          <p:spPr>
            <a:xfrm>
              <a:off x="1403648" y="4119463"/>
              <a:ext cx="1440160" cy="461665"/>
            </a:xfrm>
            <a:prstGeom prst="rect">
              <a:avLst/>
            </a:prstGeom>
            <a:noFill/>
          </p:spPr>
          <p:txBody>
            <a:bodyPr wrap="square" rtlCol="0">
              <a:spAutoFit/>
            </a:bodyPr>
            <a:lstStyle/>
            <a:p>
              <a:pPr algn="r"/>
              <a:r>
                <a:rPr lang="zh-CN" altLang="en-US" dirty="0" smtClean="0"/>
                <a:t>源程序</a:t>
              </a:r>
              <a:endParaRPr lang="zh-CN" altLang="en-US" dirty="0"/>
            </a:p>
          </p:txBody>
        </p:sp>
        <p:sp>
          <p:nvSpPr>
            <p:cNvPr id="22" name="TextBox 21"/>
            <p:cNvSpPr txBox="1"/>
            <p:nvPr/>
          </p:nvSpPr>
          <p:spPr>
            <a:xfrm>
              <a:off x="6660232" y="4476174"/>
              <a:ext cx="1440160" cy="461665"/>
            </a:xfrm>
            <a:prstGeom prst="rect">
              <a:avLst/>
            </a:prstGeom>
            <a:noFill/>
          </p:spPr>
          <p:txBody>
            <a:bodyPr wrap="square" rtlCol="0">
              <a:spAutoFit/>
            </a:bodyPr>
            <a:lstStyle/>
            <a:p>
              <a:r>
                <a:rPr lang="zh-CN" altLang="en-US" dirty="0" smtClean="0"/>
                <a:t>执行结果</a:t>
              </a:r>
              <a:endParaRPr lang="zh-CN" altLang="en-US" dirty="0"/>
            </a:p>
          </p:txBody>
        </p:sp>
        <p:sp>
          <p:nvSpPr>
            <p:cNvPr id="23" name="TextBox 22"/>
            <p:cNvSpPr txBox="1"/>
            <p:nvPr/>
          </p:nvSpPr>
          <p:spPr>
            <a:xfrm>
              <a:off x="1835696" y="4839543"/>
              <a:ext cx="1008112" cy="461665"/>
            </a:xfrm>
            <a:prstGeom prst="rect">
              <a:avLst/>
            </a:prstGeom>
            <a:noFill/>
          </p:spPr>
          <p:txBody>
            <a:bodyPr wrap="square" rtlCol="0">
              <a:spAutoFit/>
            </a:bodyPr>
            <a:lstStyle/>
            <a:p>
              <a:pPr algn="r"/>
              <a:r>
                <a:rPr lang="zh-CN" altLang="en-US" dirty="0" smtClean="0"/>
                <a:t>数据</a:t>
              </a:r>
              <a:endParaRPr lang="zh-CN" altLang="en-US" dirty="0"/>
            </a:p>
          </p:txBody>
        </p:sp>
        <p:sp>
          <p:nvSpPr>
            <p:cNvPr id="40" name="Rectangle 7"/>
            <p:cNvSpPr>
              <a:spLocks noChangeArrowheads="1"/>
            </p:cNvSpPr>
            <p:nvPr/>
          </p:nvSpPr>
          <p:spPr bwMode="auto">
            <a:xfrm>
              <a:off x="3707904" y="4365104"/>
              <a:ext cx="2088232" cy="648072"/>
            </a:xfrm>
            <a:prstGeom prst="rect">
              <a:avLst/>
            </a:prstGeom>
            <a:solidFill>
              <a:srgbClr val="ADFFFF"/>
            </a:solidFill>
            <a:ln w="12700">
              <a:solidFill>
                <a:schemeClr val="tx1"/>
              </a:solidFill>
              <a:miter lim="800000"/>
            </a:ln>
          </p:spPr>
          <p:txBody>
            <a:bodyPr wrap="none" lIns="92075" tIns="46038" rIns="92075" bIns="46038" anchor="ctr"/>
            <a:lstStyle/>
            <a:p>
              <a:pPr algn="ctr" eaLnBrk="0" hangingPunct="0"/>
              <a:r>
                <a:rPr lang="zh-CN" altLang="en-US" sz="2800" b="1" dirty="0" smtClean="0"/>
                <a:t>解释程序</a:t>
              </a:r>
              <a:endParaRPr lang="zh-CN" altLang="en-US" sz="2800" b="1" dirty="0"/>
            </a:p>
          </p:txBody>
        </p:sp>
        <p:sp>
          <p:nvSpPr>
            <p:cNvPr id="41" name="Line 8"/>
            <p:cNvSpPr>
              <a:spLocks noChangeShapeType="1"/>
            </p:cNvSpPr>
            <p:nvPr/>
          </p:nvSpPr>
          <p:spPr bwMode="auto">
            <a:xfrm>
              <a:off x="5821834" y="4718794"/>
              <a:ext cx="838200" cy="0"/>
            </a:xfrm>
            <a:prstGeom prst="line">
              <a:avLst/>
            </a:prstGeom>
            <a:noFill/>
            <a:ln w="38100" cmpd="dbl">
              <a:solidFill>
                <a:schemeClr val="tx1"/>
              </a:solidFill>
              <a:round/>
              <a:headEnd type="none" w="sm" len="sm"/>
              <a:tailEnd type="stealth" w="med" len="lg"/>
            </a:ln>
          </p:spPr>
          <p:txBody>
            <a:bodyPr wrap="none" anchor="ctr"/>
            <a:lstStyle/>
            <a:p>
              <a:endParaRPr lang="zh-CN" altLang="en-US"/>
            </a:p>
          </p:txBody>
        </p:sp>
        <p:sp>
          <p:nvSpPr>
            <p:cNvPr id="42" name="Line 25"/>
            <p:cNvSpPr>
              <a:spLocks noChangeShapeType="1"/>
            </p:cNvSpPr>
            <p:nvPr/>
          </p:nvSpPr>
          <p:spPr bwMode="auto">
            <a:xfrm>
              <a:off x="2843808" y="4365104"/>
              <a:ext cx="720080" cy="288032"/>
            </a:xfrm>
            <a:prstGeom prst="line">
              <a:avLst/>
            </a:prstGeom>
            <a:noFill/>
            <a:ln w="38100" cmpd="dbl">
              <a:solidFill>
                <a:schemeClr val="tx1"/>
              </a:solidFill>
              <a:round/>
              <a:headEnd type="none" w="sm" len="sm"/>
              <a:tailEnd type="stealth" w="med" len="lg"/>
            </a:ln>
          </p:spPr>
          <p:txBody>
            <a:bodyPr wrap="none" anchor="ctr"/>
            <a:lstStyle/>
            <a:p>
              <a:endParaRPr lang="zh-CN" altLang="en-US"/>
            </a:p>
          </p:txBody>
        </p:sp>
        <p:sp>
          <p:nvSpPr>
            <p:cNvPr id="43" name="Line 25"/>
            <p:cNvSpPr>
              <a:spLocks noChangeShapeType="1"/>
            </p:cNvSpPr>
            <p:nvPr/>
          </p:nvSpPr>
          <p:spPr bwMode="auto">
            <a:xfrm flipV="1">
              <a:off x="2843808" y="4797152"/>
              <a:ext cx="720080" cy="288032"/>
            </a:xfrm>
            <a:prstGeom prst="line">
              <a:avLst/>
            </a:prstGeom>
            <a:noFill/>
            <a:ln w="38100" cmpd="dbl">
              <a:solidFill>
                <a:schemeClr val="tx1"/>
              </a:solidFill>
              <a:round/>
              <a:headEnd type="none" w="sm" len="sm"/>
              <a:tailEnd type="stealth" w="med" len="lg"/>
            </a:ln>
          </p:spPr>
          <p:txBody>
            <a:bodyPr wrap="none" anchor="ctr"/>
            <a:lstStyle/>
            <a:p>
              <a:endParaRPr lang="zh-CN" altLang="en-US"/>
            </a:p>
          </p:txBody>
        </p:sp>
      </p:grpSp>
      <p:sp>
        <p:nvSpPr>
          <p:cNvPr id="2" name="内容占位符 1"/>
          <p:cNvSpPr/>
          <p:nvPr>
            <p:ph idx="1"/>
          </p:nvPr>
        </p:nvSpPr>
        <p:spPr>
          <a:xfrm>
            <a:off x="457200" y="-25527"/>
            <a:ext cx="8229600" cy="4525963"/>
          </a:xfrm>
        </p:spPr>
        <p:txBody>
          <a:bodyPr/>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33"/>
                                        </p:tgtEl>
                                        <p:attrNameLst>
                                          <p:attrName>style.visibility</p:attrName>
                                        </p:attrNameLst>
                                      </p:cBhvr>
                                      <p:to>
                                        <p:strVal val="visible"/>
                                      </p:to>
                                    </p:set>
                                    <p:anim calcmode="lin" valueType="num">
                                      <p:cBhvr additive="base">
                                        <p:cTn id="7" dur="500" fill="hold"/>
                                        <p:tgtEl>
                                          <p:spTgt spid="13333"/>
                                        </p:tgtEl>
                                        <p:attrNameLst>
                                          <p:attrName>ppt_x</p:attrName>
                                        </p:attrNameLst>
                                      </p:cBhvr>
                                      <p:tavLst>
                                        <p:tav tm="0">
                                          <p:val>
                                            <p:strVal val="0-#ppt_w/2"/>
                                          </p:val>
                                        </p:tav>
                                        <p:tav tm="100000">
                                          <p:val>
                                            <p:strVal val="#ppt_x"/>
                                          </p:val>
                                        </p:tav>
                                      </p:tavLst>
                                    </p:anim>
                                    <p:anim calcmode="lin" valueType="num">
                                      <p:cBhvr additive="base">
                                        <p:cTn id="8" dur="500" fill="hold"/>
                                        <p:tgtEl>
                                          <p:spTgt spid="1333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2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33"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251520" y="548680"/>
            <a:ext cx="8640960" cy="5976664"/>
          </a:xfrm>
        </p:spPr>
        <p:txBody>
          <a:bodyPr>
            <a:noAutofit/>
          </a:bodyPr>
          <a:lstStyle/>
          <a:p>
            <a:pPr fontAlgn="auto">
              <a:lnSpc>
                <a:spcPct val="120000"/>
              </a:lnSpc>
              <a:buFont typeface="Wingdings" panose="05000000000000000000" charset="0"/>
              <a:buChar char="Ø"/>
            </a:pPr>
            <a:r>
              <a:rPr lang="zh-CN" altLang="en-US" sz="2600" dirty="0" smtClean="0">
                <a:solidFill>
                  <a:srgbClr val="FF0000"/>
                </a:solidFill>
              </a:rPr>
              <a:t>解</a:t>
            </a:r>
            <a:r>
              <a:rPr lang="zh-CN" altLang="en-US" sz="2600" dirty="0">
                <a:solidFill>
                  <a:srgbClr val="FF0000"/>
                </a:solidFill>
              </a:rPr>
              <a:t>释程</a:t>
            </a:r>
            <a:r>
              <a:rPr lang="zh-CN" altLang="en-US" sz="2600" dirty="0" smtClean="0">
                <a:solidFill>
                  <a:srgbClr val="FF0000"/>
                </a:solidFill>
              </a:rPr>
              <a:t>序</a:t>
            </a:r>
            <a:r>
              <a:rPr lang="zh-CN" altLang="en-US" sz="2600" dirty="0" smtClean="0"/>
              <a:t>：不</a:t>
            </a:r>
            <a:r>
              <a:rPr lang="zh-CN" altLang="en-US" sz="2600" dirty="0"/>
              <a:t>需要在运行前先把源程序翻译成目标代码，也可以实现在某台机器上运行程序并生成结果</a:t>
            </a:r>
            <a:r>
              <a:rPr lang="zh-CN" altLang="en-US" sz="2600" dirty="0" smtClean="0"/>
              <a:t>。</a:t>
            </a:r>
            <a:r>
              <a:rPr lang="zh-CN" altLang="en-US" sz="2600" dirty="0" smtClean="0">
                <a:solidFill>
                  <a:srgbClr val="FF0000"/>
                </a:solidFill>
              </a:rPr>
              <a:t>解</a:t>
            </a:r>
            <a:r>
              <a:rPr lang="zh-CN" altLang="en-US" sz="2600" dirty="0">
                <a:solidFill>
                  <a:srgbClr val="FF0000"/>
                </a:solidFill>
              </a:rPr>
              <a:t>释程序接受某个语言的程序并立即运行这个源程序。</a:t>
            </a:r>
            <a:r>
              <a:rPr lang="zh-CN" altLang="en-US" sz="2600" dirty="0"/>
              <a:t>它的工作模式是一个个的获取、分析并执行源程序语句，一旦第一个语句分析结束，源程序便开始运行并且产生结果，它特别适合程序员以</a:t>
            </a:r>
            <a:r>
              <a:rPr lang="zh-CN" altLang="en-US" sz="2600" dirty="0">
                <a:solidFill>
                  <a:srgbClr val="FF0000"/>
                </a:solidFill>
              </a:rPr>
              <a:t>交互方式工作</a:t>
            </a:r>
            <a:r>
              <a:rPr lang="zh-CN" altLang="en-US" sz="2600" dirty="0"/>
              <a:t>的情况，即希望在获取下一个语句之前了解每个语句的执行结果，允许执行时修改程序</a:t>
            </a:r>
            <a:r>
              <a:rPr lang="zh-CN" altLang="en-US" sz="2600" dirty="0" smtClean="0"/>
              <a:t>。</a:t>
            </a:r>
            <a:endParaRPr lang="zh-CN" altLang="en-US" sz="2600" dirty="0"/>
          </a:p>
          <a:p>
            <a:pPr fontAlgn="auto">
              <a:lnSpc>
                <a:spcPct val="120000"/>
              </a:lnSpc>
              <a:buFont typeface="Wingdings" panose="05000000000000000000" charset="0"/>
              <a:buChar char="Ø"/>
            </a:pPr>
            <a:r>
              <a:rPr lang="zh-CN" altLang="en-US" sz="2600" dirty="0" smtClean="0"/>
              <a:t>解</a:t>
            </a:r>
            <a:r>
              <a:rPr lang="zh-CN" altLang="en-US" sz="2600" dirty="0"/>
              <a:t>释程序有</a:t>
            </a:r>
            <a:r>
              <a:rPr lang="en-US" altLang="zh-CN" sz="2600" dirty="0"/>
              <a:t>BASIC</a:t>
            </a:r>
            <a:r>
              <a:rPr lang="zh-CN" altLang="en-US" sz="2600" dirty="0"/>
              <a:t>语言解释程序、</a:t>
            </a:r>
            <a:r>
              <a:rPr lang="en-US" altLang="zh-CN" sz="2600" dirty="0"/>
              <a:t>LISP</a:t>
            </a:r>
            <a:r>
              <a:rPr lang="zh-CN" altLang="en-US" sz="2600" dirty="0"/>
              <a:t>语言解释程序、</a:t>
            </a:r>
            <a:r>
              <a:rPr lang="en-US" altLang="zh-CN" sz="2600" dirty="0"/>
              <a:t>UNIX</a:t>
            </a:r>
            <a:r>
              <a:rPr lang="zh-CN" altLang="en-US" sz="2600" dirty="0"/>
              <a:t>命令语言（</a:t>
            </a:r>
            <a:r>
              <a:rPr lang="en-US" altLang="zh-CN" sz="2600" dirty="0"/>
              <a:t>shell</a:t>
            </a:r>
            <a:r>
              <a:rPr lang="zh-CN" altLang="en-US" sz="2600" dirty="0"/>
              <a:t>）解释程序、数据库查询语言</a:t>
            </a:r>
            <a:r>
              <a:rPr lang="en-US" altLang="zh-CN" sz="2600" dirty="0">
                <a:solidFill>
                  <a:srgbClr val="FF0000"/>
                </a:solidFill>
              </a:rPr>
              <a:t>SQL</a:t>
            </a:r>
            <a:r>
              <a:rPr lang="zh-CN" altLang="en-US" sz="2600" dirty="0">
                <a:solidFill>
                  <a:srgbClr val="FF0000"/>
                </a:solidFill>
              </a:rPr>
              <a:t>解释程序</a:t>
            </a:r>
            <a:r>
              <a:rPr lang="zh-CN" altLang="en-US" sz="2600" dirty="0"/>
              <a:t>以及</a:t>
            </a:r>
            <a:r>
              <a:rPr lang="en-US" altLang="zh-CN" sz="2600" dirty="0"/>
              <a:t>Java</a:t>
            </a:r>
            <a:r>
              <a:rPr lang="zh-CN" altLang="en-US" sz="2600" dirty="0"/>
              <a:t>语言环境中的</a:t>
            </a:r>
            <a:r>
              <a:rPr lang="en-US" altLang="zh-CN" sz="2600" dirty="0"/>
              <a:t>BYTECODE</a:t>
            </a:r>
            <a:r>
              <a:rPr lang="zh-CN" altLang="en-US" sz="2600" dirty="0"/>
              <a:t>解释程</a:t>
            </a:r>
            <a:r>
              <a:rPr lang="zh-CN" altLang="en-US" sz="2600" dirty="0" smtClean="0"/>
              <a:t>序</a:t>
            </a:r>
            <a:endParaRPr lang="zh-CN" alt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050" name="Picture 2" descr="C:\Users\Lenovo\Desktop\2018051816292539.jpg"/>
          <p:cNvPicPr>
            <a:picLocks noChangeAspect="1" noChangeArrowheads="1"/>
          </p:cNvPicPr>
          <p:nvPr/>
        </p:nvPicPr>
        <p:blipFill rotWithShape="1">
          <a:blip r:embed="rId1">
            <a:extLst>
              <a:ext uri="{28A0092B-C50C-407E-A947-70E740481C1C}">
                <a14:useLocalDpi xmlns:a14="http://schemas.microsoft.com/office/drawing/2010/main" val="0"/>
              </a:ext>
            </a:extLst>
          </a:blip>
          <a:srcRect b="7788"/>
          <a:stretch>
            <a:fillRect/>
          </a:stretch>
        </p:blipFill>
        <p:spPr bwMode="auto">
          <a:xfrm>
            <a:off x="145241" y="734616"/>
            <a:ext cx="8891255" cy="52866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idx="1"/>
          </p:nvPr>
        </p:nvSpPr>
        <p:spPr>
          <a:xfrm>
            <a:off x="685800" y="838200"/>
            <a:ext cx="7848600" cy="5105400"/>
          </a:xfrm>
        </p:spPr>
        <p:txBody>
          <a:bodyPr/>
          <a:lstStyle/>
          <a:p>
            <a:pPr marL="109855" indent="0" eaLnBrk="1" hangingPunct="1">
              <a:buFont typeface="Wingdings" panose="05000000000000000000" charset="0"/>
              <a:buNone/>
            </a:pPr>
            <a:r>
              <a:rPr lang="zh-CN" altLang="en-US" sz="3200" b="1" dirty="0" smtClean="0">
                <a:latin typeface="黑体" panose="02010609060101010101" pitchFamily="2" charset="-122"/>
                <a:ea typeface="黑体" panose="02010609060101010101" pitchFamily="2" charset="-122"/>
              </a:rPr>
              <a:t>使用编译程序的</a:t>
            </a:r>
            <a:r>
              <a:rPr lang="zh-CN" altLang="en-US" sz="3200" b="1" dirty="0" smtClean="0">
                <a:solidFill>
                  <a:srgbClr val="FF0000"/>
                </a:solidFill>
                <a:latin typeface="黑体" panose="02010609060101010101" pitchFamily="2" charset="-122"/>
                <a:ea typeface="黑体" panose="02010609060101010101" pitchFamily="2" charset="-122"/>
              </a:rPr>
              <a:t>目的</a:t>
            </a:r>
            <a:r>
              <a:rPr lang="zh-CN" altLang="en-US" sz="3200" b="1" dirty="0" smtClean="0">
                <a:latin typeface="黑体" panose="02010609060101010101" pitchFamily="2" charset="-122"/>
                <a:ea typeface="黑体" panose="02010609060101010101" pitchFamily="2" charset="-122"/>
              </a:rPr>
              <a:t>：</a:t>
            </a:r>
            <a:endParaRPr lang="zh-CN" altLang="en-US" sz="3200" b="1" dirty="0" smtClean="0">
              <a:latin typeface="黑体" panose="02010609060101010101" pitchFamily="2" charset="-122"/>
              <a:ea typeface="黑体" panose="02010609060101010101" pitchFamily="2" charset="-122"/>
            </a:endParaRPr>
          </a:p>
          <a:p>
            <a:pPr eaLnBrk="1" hangingPunct="1">
              <a:lnSpc>
                <a:spcPct val="150000"/>
              </a:lnSpc>
              <a:spcBef>
                <a:spcPts val="1800"/>
              </a:spcBef>
              <a:buFont typeface="Wingdings" panose="05000000000000000000" charset="0"/>
              <a:buChar char="Ø"/>
            </a:pPr>
            <a:r>
              <a:rPr lang="zh-CN" altLang="en-US" sz="2800" dirty="0" smtClean="0">
                <a:solidFill>
                  <a:schemeClr val="tx2"/>
                </a:solidFill>
                <a:latin typeface="黑体" panose="02010609060101010101" pitchFamily="2" charset="-122"/>
                <a:ea typeface="黑体" panose="02010609060101010101" pitchFamily="2" charset="-122"/>
              </a:rPr>
              <a:t>程序设计语言→机器语言的</a:t>
            </a:r>
            <a:r>
              <a:rPr lang="zh-CN" altLang="en-US" sz="2800" kern="1200" spc="50" dirty="0" smtClean="0">
                <a:ln w="11430"/>
                <a:gradFill>
                  <a:gsLst>
                    <a:gs pos="25000">
                      <a:schemeClr val="accent2">
                        <a:satMod val="155000"/>
                      </a:schemeClr>
                    </a:gs>
                    <a:gs pos="100000">
                      <a:schemeClr val="accent2">
                        <a:shade val="45000"/>
                        <a:satMod val="165000"/>
                      </a:schemeClr>
                    </a:gs>
                  </a:gsLst>
                  <a:lin ang="5400000"/>
                </a:gradFill>
                <a:latin typeface="黑体" panose="02010609060101010101" pitchFamily="2" charset="-122"/>
                <a:ea typeface="黑体" panose="02010609060101010101" pitchFamily="2" charset="-122"/>
              </a:rPr>
              <a:t>转换器</a:t>
            </a:r>
            <a:endParaRPr lang="en-US" altLang="zh-CN" sz="2800" kern="1200" spc="50" dirty="0" smtClean="0">
              <a:ln w="11430"/>
              <a:gradFill>
                <a:gsLst>
                  <a:gs pos="25000">
                    <a:schemeClr val="accent2">
                      <a:satMod val="155000"/>
                    </a:schemeClr>
                  </a:gs>
                  <a:gs pos="100000">
                    <a:schemeClr val="accent2">
                      <a:shade val="45000"/>
                      <a:satMod val="165000"/>
                    </a:schemeClr>
                  </a:gs>
                </a:gsLst>
                <a:lin ang="5400000"/>
              </a:gradFill>
              <a:latin typeface="黑体" panose="02010609060101010101" pitchFamily="2" charset="-122"/>
              <a:ea typeface="黑体" panose="02010609060101010101" pitchFamily="2" charset="-122"/>
            </a:endParaRPr>
          </a:p>
          <a:p>
            <a:pPr eaLnBrk="1" hangingPunct="1">
              <a:lnSpc>
                <a:spcPct val="150000"/>
              </a:lnSpc>
              <a:buFont typeface="Wingdings" panose="05000000000000000000" charset="0"/>
              <a:buChar char="Ø"/>
            </a:pPr>
            <a:r>
              <a:rPr lang="zh-CN" altLang="en-US" sz="2800" dirty="0" smtClean="0">
                <a:solidFill>
                  <a:srgbClr val="FF0000"/>
                </a:solidFill>
                <a:latin typeface="黑体" panose="02010609060101010101" pitchFamily="2" charset="-122"/>
                <a:ea typeface="黑体" panose="02010609060101010101" pitchFamily="2" charset="-122"/>
              </a:rPr>
              <a:t>计算机用户</a:t>
            </a:r>
            <a:r>
              <a:rPr lang="zh-CN" altLang="en-US" sz="2800" dirty="0" smtClean="0">
                <a:solidFill>
                  <a:schemeClr val="tx2"/>
                </a:solidFill>
                <a:latin typeface="黑体" panose="02010609060101010101" pitchFamily="2" charset="-122"/>
                <a:ea typeface="黑体" panose="02010609060101010101" pitchFamily="2" charset="-122"/>
              </a:rPr>
              <a:t>不必考虑与机器有关的繁琐细节</a:t>
            </a:r>
            <a:endParaRPr lang="en-US" altLang="zh-CN" sz="2800" dirty="0" smtClean="0">
              <a:solidFill>
                <a:schemeClr val="tx2"/>
              </a:solidFill>
              <a:latin typeface="黑体" panose="02010609060101010101" pitchFamily="2" charset="-122"/>
              <a:ea typeface="黑体" panose="02010609060101010101" pitchFamily="2" charset="-122"/>
            </a:endParaRPr>
          </a:p>
          <a:p>
            <a:pPr lvl="1" eaLnBrk="1" hangingPunct="1">
              <a:lnSpc>
                <a:spcPct val="150000"/>
              </a:lnSpc>
              <a:buFont typeface="Wingdings" panose="05000000000000000000" charset="0"/>
              <a:buChar char="Ø"/>
            </a:pPr>
            <a:r>
              <a:rPr lang="zh-CN" altLang="en-US" sz="2400" dirty="0" smtClean="0">
                <a:solidFill>
                  <a:schemeClr val="tx2"/>
                </a:solidFill>
                <a:latin typeface="黑体" panose="02010609060101010101" pitchFamily="2" charset="-122"/>
                <a:ea typeface="黑体" panose="02010609060101010101" pitchFamily="2" charset="-122"/>
              </a:rPr>
              <a:t>指令系统</a:t>
            </a:r>
            <a:endParaRPr lang="en-US" altLang="zh-CN" sz="2400" dirty="0" smtClean="0">
              <a:solidFill>
                <a:schemeClr val="tx2"/>
              </a:solidFill>
              <a:latin typeface="黑体" panose="02010609060101010101" pitchFamily="2" charset="-122"/>
              <a:ea typeface="黑体" panose="02010609060101010101" pitchFamily="2" charset="-122"/>
            </a:endParaRPr>
          </a:p>
          <a:p>
            <a:pPr lvl="1" eaLnBrk="1" hangingPunct="1">
              <a:lnSpc>
                <a:spcPct val="150000"/>
              </a:lnSpc>
              <a:buFont typeface="Wingdings" panose="05000000000000000000" charset="0"/>
              <a:buChar char="Ø"/>
            </a:pPr>
            <a:r>
              <a:rPr lang="zh-CN" altLang="en-US" sz="2400" dirty="0" smtClean="0">
                <a:solidFill>
                  <a:schemeClr val="tx2"/>
                </a:solidFill>
                <a:latin typeface="黑体" panose="02010609060101010101" pitchFamily="2" charset="-122"/>
                <a:ea typeface="黑体" panose="02010609060101010101" pitchFamily="2" charset="-122"/>
              </a:rPr>
              <a:t>寄存器结构</a:t>
            </a:r>
            <a:endParaRPr lang="en-US" altLang="zh-CN" sz="2400" u="sng" dirty="0" smtClean="0">
              <a:solidFill>
                <a:schemeClr val="tx2"/>
              </a:solidFill>
              <a:latin typeface="黑体" panose="02010609060101010101" pitchFamily="2" charset="-122"/>
              <a:ea typeface="黑体" panose="02010609060101010101" pitchFamily="2" charset="-122"/>
            </a:endParaRPr>
          </a:p>
          <a:p>
            <a:pPr eaLnBrk="1" hangingPunct="1">
              <a:lnSpc>
                <a:spcPct val="150000"/>
              </a:lnSpc>
              <a:buFont typeface="Wingdings" panose="05000000000000000000" charset="0"/>
              <a:buChar char="Ø"/>
            </a:pPr>
            <a:r>
              <a:rPr lang="zh-CN" altLang="en-US" sz="2800" dirty="0" smtClean="0">
                <a:solidFill>
                  <a:srgbClr val="FF0000"/>
                </a:solidFill>
                <a:latin typeface="黑体" panose="02010609060101010101" pitchFamily="2" charset="-122"/>
                <a:ea typeface="黑体" panose="02010609060101010101" pitchFamily="2" charset="-122"/>
              </a:rPr>
              <a:t>程序员和程序设计专家</a:t>
            </a:r>
            <a:r>
              <a:rPr lang="zh-CN" altLang="en-US" sz="2800" kern="1200" spc="50" dirty="0" smtClean="0">
                <a:ln w="11430"/>
                <a:latin typeface="黑体" panose="02010609060101010101" pitchFamily="2" charset="-122"/>
                <a:ea typeface="黑体" panose="02010609060101010101" pitchFamily="2" charset="-122"/>
              </a:rPr>
              <a:t>独立于机器</a:t>
            </a:r>
            <a:r>
              <a:rPr lang="zh-CN" altLang="en-US" sz="2800" dirty="0" smtClean="0">
                <a:solidFill>
                  <a:schemeClr val="tx2"/>
                </a:solidFill>
                <a:latin typeface="黑体" panose="02010609060101010101" pitchFamily="2" charset="-122"/>
                <a:ea typeface="黑体" panose="02010609060101010101" pitchFamily="2" charset="-122"/>
              </a:rPr>
              <a:t>。</a:t>
            </a:r>
            <a:endParaRPr lang="zh-CN" altLang="en-US" sz="2800" dirty="0" smtClean="0">
              <a:solidFill>
                <a:schemeClr val="tx2"/>
              </a:solidFill>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idx="1"/>
          </p:nvPr>
        </p:nvSpPr>
        <p:spPr>
          <a:xfrm>
            <a:off x="685800" y="1600200"/>
            <a:ext cx="8206680" cy="4191000"/>
          </a:xfrm>
          <a:noFill/>
        </p:spPr>
        <p:txBody>
          <a:bodyPr/>
          <a:lstStyle/>
          <a:p>
            <a:pPr algn="just" eaLnBrk="1" hangingPunct="1">
              <a:lnSpc>
                <a:spcPct val="90000"/>
              </a:lnSpc>
              <a:buFont typeface="Wingdings" panose="05000000000000000000" charset="0"/>
              <a:buChar char="Ø"/>
            </a:pPr>
            <a:r>
              <a:rPr lang="zh-CN" altLang="en-US" sz="2800" b="1" dirty="0" smtClean="0">
                <a:solidFill>
                  <a:schemeClr val="tx2"/>
                </a:solidFill>
                <a:latin typeface="宋体" panose="02010600030101010101" pitchFamily="2" charset="-122"/>
              </a:rPr>
              <a:t>自然语言的翻译过程：</a:t>
            </a:r>
            <a:endParaRPr lang="zh-CN" altLang="en-US" sz="2800" b="1" dirty="0" smtClean="0">
              <a:solidFill>
                <a:schemeClr val="tx2"/>
              </a:solidFill>
              <a:latin typeface="宋体" panose="02010600030101010101" pitchFamily="2" charset="-122"/>
            </a:endParaRPr>
          </a:p>
          <a:p>
            <a:pPr lvl="1" eaLnBrk="1" hangingPunct="1">
              <a:lnSpc>
                <a:spcPct val="90000"/>
              </a:lnSpc>
            </a:pPr>
            <a:r>
              <a:rPr lang="zh-CN" altLang="en-US" sz="3200" b="1" dirty="0" smtClean="0">
                <a:latin typeface="宋体" panose="02010600030101010101" pitchFamily="2" charset="-122"/>
              </a:rPr>
              <a:t> </a:t>
            </a:r>
            <a:r>
              <a:rPr lang="en-US" altLang="zh-CN" sz="3200" b="1" dirty="0" smtClean="0">
                <a:latin typeface="Times New Roman" panose="02020603050405020304" pitchFamily="18" charset="0"/>
                <a:cs typeface="Times New Roman" panose="02020603050405020304" pitchFamily="18" charset="0"/>
              </a:rPr>
              <a:t>I       love    </a:t>
            </a:r>
            <a:r>
              <a:rPr lang="en-US" altLang="zh-CN" b="1" dirty="0" smtClean="0">
                <a:latin typeface="Times New Roman" panose="02020603050405020304" pitchFamily="18" charset="0"/>
                <a:cs typeface="Times New Roman" panose="02020603050405020304" pitchFamily="18" charset="0"/>
              </a:rPr>
              <a:t>Plato</a:t>
            </a:r>
            <a:r>
              <a:rPr lang="en-US" altLang="zh-CN" dirty="0" smtClean="0">
                <a:latin typeface="Times New Roman" panose="02020603050405020304" pitchFamily="18" charset="0"/>
                <a:cs typeface="Times New Roman" panose="02020603050405020304" pitchFamily="18" charset="0"/>
              </a:rPr>
              <a:t>.       </a:t>
            </a:r>
            <a:r>
              <a:rPr lang="en-US" altLang="zh-CN" sz="2400" dirty="0" smtClean="0">
                <a:latin typeface="Times New Roman" panose="02020603050405020304" pitchFamily="18" charset="0"/>
                <a:cs typeface="Times New Roman" panose="02020603050405020304" pitchFamily="18" charset="0"/>
              </a:rPr>
              <a:t>(“Plato is dear to me”)</a:t>
            </a:r>
            <a:endParaRPr lang="en-US" altLang="zh-CN" sz="2400" b="1" dirty="0" smtClean="0">
              <a:latin typeface="Times New Roman" panose="02020603050405020304" pitchFamily="18" charset="0"/>
              <a:cs typeface="Times New Roman" panose="02020603050405020304" pitchFamily="18" charset="0"/>
            </a:endParaRPr>
          </a:p>
          <a:p>
            <a:pPr lvl="1" eaLnBrk="1" hangingPunct="1">
              <a:lnSpc>
                <a:spcPct val="90000"/>
              </a:lnSpc>
              <a:buFontTx/>
              <a:buNone/>
            </a:pPr>
            <a:r>
              <a:rPr lang="en-US" altLang="zh-CN" b="1" dirty="0" smtClean="0">
                <a:solidFill>
                  <a:schemeClr val="tx2"/>
                </a:solidFill>
                <a:latin typeface="宋体" panose="02010600030101010101" pitchFamily="2" charset="-122"/>
              </a:rPr>
              <a:t>  </a:t>
            </a:r>
            <a:r>
              <a:rPr lang="zh-CN" altLang="en-US" sz="2400" kern="1200" spc="50" dirty="0" smtClean="0">
                <a:ln w="11430"/>
                <a:gradFill>
                  <a:gsLst>
                    <a:gs pos="25000">
                      <a:schemeClr val="accent2">
                        <a:satMod val="155000"/>
                      </a:schemeClr>
                    </a:gs>
                    <a:gs pos="100000">
                      <a:schemeClr val="accent2">
                        <a:shade val="45000"/>
                        <a:satMod val="165000"/>
                      </a:schemeClr>
                    </a:gs>
                  </a:gsLst>
                  <a:lin ang="5400000"/>
                </a:gradFill>
                <a:latin typeface="黑体" panose="02010609060101010101" pitchFamily="2" charset="-122"/>
                <a:ea typeface="黑体" panose="02010609060101010101" pitchFamily="2" charset="-122"/>
                <a:cs typeface="+mn-cs"/>
              </a:rPr>
              <a:t>主语</a:t>
            </a:r>
            <a:r>
              <a:rPr lang="en-US" altLang="zh-CN" sz="2400" kern="1200" spc="50" dirty="0" smtClean="0">
                <a:ln w="11430"/>
                <a:gradFill>
                  <a:gsLst>
                    <a:gs pos="25000">
                      <a:schemeClr val="accent2">
                        <a:satMod val="155000"/>
                      </a:schemeClr>
                    </a:gs>
                    <a:gs pos="100000">
                      <a:schemeClr val="accent2">
                        <a:shade val="45000"/>
                        <a:satMod val="165000"/>
                      </a:schemeClr>
                    </a:gs>
                  </a:gsLst>
                  <a:lin ang="5400000"/>
                </a:gradFill>
                <a:latin typeface="黑体" panose="02010609060101010101" pitchFamily="2" charset="-122"/>
                <a:ea typeface="黑体" panose="02010609060101010101" pitchFamily="2" charset="-122"/>
                <a:cs typeface="+mn-cs"/>
              </a:rPr>
              <a:t>S  </a:t>
            </a:r>
            <a:r>
              <a:rPr lang="zh-CN" altLang="en-US" sz="2400" kern="1200" spc="50" dirty="0" smtClean="0">
                <a:ln w="11430"/>
                <a:gradFill>
                  <a:gsLst>
                    <a:gs pos="25000">
                      <a:schemeClr val="accent2">
                        <a:satMod val="155000"/>
                      </a:schemeClr>
                    </a:gs>
                    <a:gs pos="100000">
                      <a:schemeClr val="accent2">
                        <a:shade val="45000"/>
                        <a:satMod val="165000"/>
                      </a:schemeClr>
                    </a:gs>
                  </a:gsLst>
                  <a:lin ang="5400000"/>
                </a:gradFill>
                <a:latin typeface="黑体" panose="02010609060101010101" pitchFamily="2" charset="-122"/>
                <a:ea typeface="黑体" panose="02010609060101010101" pitchFamily="2" charset="-122"/>
                <a:cs typeface="+mn-cs"/>
              </a:rPr>
              <a:t>谓语</a:t>
            </a:r>
            <a:r>
              <a:rPr lang="en-US" altLang="zh-CN" sz="2400" kern="1200" spc="50" dirty="0" smtClean="0">
                <a:ln w="11430"/>
                <a:gradFill>
                  <a:gsLst>
                    <a:gs pos="25000">
                      <a:schemeClr val="accent2">
                        <a:satMod val="155000"/>
                      </a:schemeClr>
                    </a:gs>
                    <a:gs pos="100000">
                      <a:schemeClr val="accent2">
                        <a:shade val="45000"/>
                        <a:satMod val="165000"/>
                      </a:schemeClr>
                    </a:gs>
                  </a:gsLst>
                  <a:lin ang="5400000"/>
                </a:gradFill>
                <a:latin typeface="黑体" panose="02010609060101010101" pitchFamily="2" charset="-122"/>
                <a:ea typeface="黑体" panose="02010609060101010101" pitchFamily="2" charset="-122"/>
                <a:cs typeface="+mn-cs"/>
              </a:rPr>
              <a:t>V</a:t>
            </a:r>
            <a:r>
              <a:rPr lang="zh-CN" altLang="en-US" sz="2400" kern="1200" spc="50" dirty="0" smtClean="0">
                <a:ln w="11430"/>
                <a:gradFill>
                  <a:gsLst>
                    <a:gs pos="25000">
                      <a:schemeClr val="accent2">
                        <a:satMod val="155000"/>
                      </a:schemeClr>
                    </a:gs>
                    <a:gs pos="100000">
                      <a:schemeClr val="accent2">
                        <a:shade val="45000"/>
                        <a:satMod val="165000"/>
                      </a:schemeClr>
                    </a:gs>
                  </a:gsLst>
                  <a:lin ang="5400000"/>
                </a:gradFill>
                <a:latin typeface="黑体" panose="02010609060101010101" pitchFamily="2" charset="-122"/>
                <a:ea typeface="黑体" panose="02010609060101010101" pitchFamily="2" charset="-122"/>
                <a:cs typeface="+mn-cs"/>
              </a:rPr>
              <a:t>  宾语</a:t>
            </a:r>
            <a:r>
              <a:rPr lang="en-US" altLang="zh-CN" sz="2400" kern="1200" spc="50" dirty="0" smtClean="0">
                <a:ln w="11430"/>
                <a:gradFill>
                  <a:gsLst>
                    <a:gs pos="25000">
                      <a:schemeClr val="accent2">
                        <a:satMod val="155000"/>
                      </a:schemeClr>
                    </a:gs>
                    <a:gs pos="100000">
                      <a:schemeClr val="accent2">
                        <a:shade val="45000"/>
                        <a:satMod val="165000"/>
                      </a:schemeClr>
                    </a:gs>
                  </a:gsLst>
                  <a:lin ang="5400000"/>
                </a:gradFill>
                <a:latin typeface="黑体" panose="02010609060101010101" pitchFamily="2" charset="-122"/>
                <a:ea typeface="黑体" panose="02010609060101010101" pitchFamily="2" charset="-122"/>
                <a:cs typeface="+mn-cs"/>
              </a:rPr>
              <a:t>O</a:t>
            </a:r>
            <a:endParaRPr lang="zh-CN" altLang="en-US" sz="2400" kern="1200" spc="50" dirty="0" smtClean="0">
              <a:ln w="11430"/>
              <a:gradFill>
                <a:gsLst>
                  <a:gs pos="25000">
                    <a:schemeClr val="accent2">
                      <a:satMod val="155000"/>
                    </a:schemeClr>
                  </a:gs>
                  <a:gs pos="100000">
                    <a:schemeClr val="accent2">
                      <a:shade val="45000"/>
                      <a:satMod val="165000"/>
                    </a:schemeClr>
                  </a:gs>
                </a:gsLst>
                <a:lin ang="5400000"/>
              </a:gradFill>
              <a:latin typeface="黑体" panose="02010609060101010101" pitchFamily="2" charset="-122"/>
              <a:ea typeface="黑体" panose="02010609060101010101" pitchFamily="2" charset="-122"/>
              <a:cs typeface="+mn-cs"/>
            </a:endParaRPr>
          </a:p>
          <a:p>
            <a:pPr eaLnBrk="1" hangingPunct="1">
              <a:lnSpc>
                <a:spcPct val="90000"/>
              </a:lnSpc>
              <a:buFontTx/>
              <a:buNone/>
            </a:pPr>
            <a:endParaRPr lang="zh-CN" altLang="en-US" sz="2800" b="1" dirty="0" smtClean="0">
              <a:solidFill>
                <a:schemeClr val="tx2"/>
              </a:solidFill>
              <a:latin typeface="宋体" panose="02010600030101010101" pitchFamily="2" charset="-122"/>
            </a:endParaRPr>
          </a:p>
          <a:p>
            <a:pPr lvl="1" eaLnBrk="1" hangingPunct="1">
              <a:lnSpc>
                <a:spcPts val="3000"/>
              </a:lnSpc>
              <a:buFontTx/>
              <a:buNone/>
            </a:pPr>
            <a:r>
              <a:rPr lang="en-US" altLang="zh-CN" sz="2400" b="1" dirty="0" smtClean="0">
                <a:solidFill>
                  <a:schemeClr val="tx2"/>
                </a:solidFill>
                <a:latin typeface="宋体" panose="02010600030101010101" pitchFamily="2" charset="-122"/>
              </a:rPr>
              <a:t>1)</a:t>
            </a:r>
            <a:r>
              <a:rPr lang="zh-CN" altLang="en-US" sz="2400" b="1" dirty="0" smtClean="0">
                <a:solidFill>
                  <a:schemeClr val="tx2"/>
                </a:solidFill>
                <a:latin typeface="宋体" panose="02010600030101010101" pitchFamily="2" charset="-122"/>
              </a:rPr>
              <a:t>识别单词</a:t>
            </a:r>
            <a:r>
              <a:rPr lang="zh-CN" altLang="en-US" sz="2400" dirty="0" smtClean="0">
                <a:solidFill>
                  <a:schemeClr val="accent6"/>
                </a:solidFill>
                <a:latin typeface="宋体" panose="02010600030101010101" pitchFamily="2" charset="-122"/>
              </a:rPr>
              <a:t>（拼写正确）</a:t>
            </a:r>
            <a:endParaRPr lang="zh-CN" altLang="en-US" sz="2400" dirty="0" smtClean="0">
              <a:solidFill>
                <a:schemeClr val="accent6"/>
              </a:solidFill>
              <a:latin typeface="宋体" panose="02010600030101010101" pitchFamily="2" charset="-122"/>
            </a:endParaRPr>
          </a:p>
          <a:p>
            <a:pPr lvl="1" eaLnBrk="1" hangingPunct="1">
              <a:lnSpc>
                <a:spcPts val="3000"/>
              </a:lnSpc>
              <a:buFontTx/>
              <a:buNone/>
            </a:pPr>
            <a:r>
              <a:rPr lang="en-US" altLang="zh-CN" sz="2400" b="1" dirty="0" smtClean="0">
                <a:solidFill>
                  <a:schemeClr val="tx2"/>
                </a:solidFill>
                <a:latin typeface="宋体" panose="02010600030101010101" pitchFamily="2" charset="-122"/>
              </a:rPr>
              <a:t>2)</a:t>
            </a:r>
            <a:r>
              <a:rPr lang="zh-CN" altLang="en-US" sz="2400" b="1" dirty="0" smtClean="0">
                <a:solidFill>
                  <a:schemeClr val="tx2"/>
                </a:solidFill>
                <a:latin typeface="宋体" panose="02010600030101010101" pitchFamily="2" charset="-122"/>
              </a:rPr>
              <a:t>语法检查</a:t>
            </a:r>
            <a:r>
              <a:rPr lang="zh-CN" altLang="en-US" sz="2400" dirty="0" smtClean="0">
                <a:solidFill>
                  <a:schemeClr val="accent6"/>
                </a:solidFill>
                <a:latin typeface="宋体" panose="02010600030101010101" pitchFamily="2" charset="-122"/>
              </a:rPr>
              <a:t>（格式顺序）</a:t>
            </a:r>
            <a:endParaRPr lang="zh-CN" altLang="en-US" sz="2400" dirty="0" smtClean="0">
              <a:solidFill>
                <a:schemeClr val="accent6"/>
              </a:solidFill>
              <a:latin typeface="宋体" panose="02010600030101010101" pitchFamily="2" charset="-122"/>
            </a:endParaRPr>
          </a:p>
          <a:p>
            <a:pPr lvl="1" algn="just" eaLnBrk="1" hangingPunct="1">
              <a:lnSpc>
                <a:spcPts val="3000"/>
              </a:lnSpc>
              <a:buFontTx/>
              <a:buNone/>
            </a:pPr>
            <a:r>
              <a:rPr lang="en-US" altLang="zh-CN" sz="2400" b="1" dirty="0" smtClean="0">
                <a:solidFill>
                  <a:schemeClr val="tx2"/>
                </a:solidFill>
                <a:latin typeface="宋体" panose="02010600030101010101" pitchFamily="2" charset="-122"/>
              </a:rPr>
              <a:t>3)</a:t>
            </a:r>
            <a:r>
              <a:rPr lang="zh-CN" altLang="en-US" sz="2400" b="1" dirty="0" smtClean="0">
                <a:solidFill>
                  <a:schemeClr val="tx2"/>
                </a:solidFill>
                <a:latin typeface="宋体" panose="02010600030101010101" pitchFamily="2" charset="-122"/>
              </a:rPr>
              <a:t>语义理解</a:t>
            </a:r>
            <a:r>
              <a:rPr lang="zh-CN" altLang="en-US" sz="2400" dirty="0" smtClean="0">
                <a:solidFill>
                  <a:schemeClr val="accent6"/>
                </a:solidFill>
                <a:latin typeface="宋体" panose="02010600030101010101" pitchFamily="2" charset="-122"/>
              </a:rPr>
              <a:t>（意思合理）</a:t>
            </a:r>
            <a:endParaRPr lang="zh-CN" altLang="en-US" sz="2400" dirty="0" smtClean="0">
              <a:solidFill>
                <a:schemeClr val="accent6"/>
              </a:solidFill>
              <a:latin typeface="宋体" panose="02010600030101010101" pitchFamily="2" charset="-122"/>
            </a:endParaRPr>
          </a:p>
          <a:p>
            <a:pPr lvl="1" algn="just" eaLnBrk="1" hangingPunct="1">
              <a:lnSpc>
                <a:spcPts val="3000"/>
              </a:lnSpc>
              <a:buFontTx/>
              <a:buNone/>
            </a:pPr>
            <a:r>
              <a:rPr lang="en-US" altLang="zh-CN" sz="2400" b="1" dirty="0" smtClean="0">
                <a:solidFill>
                  <a:schemeClr val="tx2"/>
                </a:solidFill>
                <a:latin typeface="宋体" panose="02010600030101010101" pitchFamily="2" charset="-122"/>
              </a:rPr>
              <a:t>4)</a:t>
            </a:r>
            <a:r>
              <a:rPr lang="zh-CN" altLang="en-US" sz="2400" b="1" dirty="0" smtClean="0">
                <a:solidFill>
                  <a:schemeClr val="tx2"/>
                </a:solidFill>
                <a:latin typeface="宋体" panose="02010600030101010101" pitchFamily="2" charset="-122"/>
              </a:rPr>
              <a:t>组织译文</a:t>
            </a:r>
            <a:r>
              <a:rPr lang="zh-CN" altLang="en-US" sz="2400" dirty="0" smtClean="0">
                <a:solidFill>
                  <a:schemeClr val="accent6"/>
                </a:solidFill>
                <a:latin typeface="宋体" panose="02010600030101010101" pitchFamily="2" charset="-122"/>
              </a:rPr>
              <a:t>（符合原文，通顺</a:t>
            </a:r>
            <a:r>
              <a:rPr lang="en-US" altLang="zh-CN" sz="2400" dirty="0" smtClean="0">
                <a:solidFill>
                  <a:schemeClr val="accent6"/>
                </a:solidFill>
                <a:latin typeface="宋体" panose="02010600030101010101" pitchFamily="2" charset="-122"/>
              </a:rPr>
              <a:t>/</a:t>
            </a:r>
            <a:r>
              <a:rPr lang="zh-CN" altLang="en-US" sz="2400" dirty="0" smtClean="0">
                <a:solidFill>
                  <a:schemeClr val="accent6"/>
                </a:solidFill>
                <a:latin typeface="宋体" panose="02010600030101010101" pitchFamily="2" charset="-122"/>
              </a:rPr>
              <a:t>雅致）</a:t>
            </a:r>
            <a:endParaRPr lang="zh-CN" altLang="en-US" sz="2400" dirty="0" smtClean="0">
              <a:solidFill>
                <a:schemeClr val="accent6"/>
              </a:solidFill>
              <a:latin typeface="宋体" panose="02010600030101010101" pitchFamily="2" charset="-122"/>
            </a:endParaRPr>
          </a:p>
        </p:txBody>
      </p:sp>
      <p:sp>
        <p:nvSpPr>
          <p:cNvPr id="9219" name="Rectangle 5"/>
          <p:cNvSpPr>
            <a:spLocks noGrp="1" noChangeArrowheads="1"/>
          </p:cNvSpPr>
          <p:nvPr>
            <p:ph type="title"/>
          </p:nvPr>
        </p:nvSpPr>
        <p:spPr>
          <a:xfrm>
            <a:off x="685800" y="609600"/>
            <a:ext cx="7772400" cy="533400"/>
          </a:xfrm>
          <a:noFill/>
        </p:spPr>
        <p:txBody>
          <a:bodyPr/>
          <a:lstStyle/>
          <a:p>
            <a:pPr eaLnBrk="1" hangingPunct="1"/>
            <a:r>
              <a:rPr lang="en-US" altLang="zh-CN" sz="2800" b="1" dirty="0" smtClean="0">
                <a:solidFill>
                  <a:schemeClr val="tx1"/>
                </a:solidFill>
                <a:latin typeface="宋体" panose="02010600030101010101" pitchFamily="2" charset="-122"/>
              </a:rPr>
              <a:t>1.2</a:t>
            </a:r>
            <a:r>
              <a:rPr lang="zh-CN" altLang="en-US" sz="2800" b="1" dirty="0" smtClean="0">
                <a:solidFill>
                  <a:schemeClr val="tx1"/>
                </a:solidFill>
                <a:latin typeface="宋体" panose="02010600030101010101" pitchFamily="2" charset="-122"/>
              </a:rPr>
              <a:t>、编译过程概述</a:t>
            </a:r>
            <a:endParaRPr lang="zh-CN" altLang="en-US" sz="2800" b="1" dirty="0" smtClean="0">
              <a:solidFill>
                <a:schemeClr val="tx1"/>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18434" name="Picture 2"/>
          <p:cNvPicPr>
            <a:picLocks noChangeAspect="1" noChangeArrowheads="1"/>
          </p:cNvPicPr>
          <p:nvPr/>
        </p:nvPicPr>
        <p:blipFill rotWithShape="1">
          <a:blip r:embed="rId1"/>
          <a:srcRect l="8778" t="43041" r="38228" b="24567"/>
          <a:stretch>
            <a:fillRect/>
          </a:stretch>
        </p:blipFill>
        <p:spPr bwMode="auto">
          <a:xfrm>
            <a:off x="517600" y="1484784"/>
            <a:ext cx="5792812" cy="332000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17410" name="Picture 2"/>
          <p:cNvPicPr>
            <a:picLocks noChangeAspect="1" noChangeArrowheads="1"/>
          </p:cNvPicPr>
          <p:nvPr/>
        </p:nvPicPr>
        <p:blipFill>
          <a:blip r:embed="rId1"/>
          <a:srcRect l="9375" t="16667" r="46094" b="17361"/>
          <a:stretch>
            <a:fillRect/>
          </a:stretch>
        </p:blipFill>
        <p:spPr bwMode="auto">
          <a:xfrm>
            <a:off x="571472" y="71390"/>
            <a:ext cx="8143932" cy="678661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五个阶段简介</a:t>
            </a:r>
            <a:endParaRPr lang="zh-CN" altLang="en-US" dirty="0"/>
          </a:p>
        </p:txBody>
      </p:sp>
      <p:pic>
        <p:nvPicPr>
          <p:cNvPr id="17410" name="Picture 2"/>
          <p:cNvPicPr>
            <a:picLocks noChangeAspect="1" noChangeArrowheads="1"/>
          </p:cNvPicPr>
          <p:nvPr/>
        </p:nvPicPr>
        <p:blipFill>
          <a:blip r:embed="rId1"/>
          <a:srcRect l="12206" t="27483" r="17947" b="23336"/>
          <a:stretch>
            <a:fillRect/>
          </a:stretch>
        </p:blipFill>
        <p:spPr bwMode="auto">
          <a:xfrm>
            <a:off x="1071538" y="1285860"/>
            <a:ext cx="7358114" cy="485778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18434" name="Picture 2"/>
          <p:cNvPicPr>
            <a:picLocks noChangeAspect="1" noChangeArrowheads="1"/>
          </p:cNvPicPr>
          <p:nvPr/>
        </p:nvPicPr>
        <p:blipFill>
          <a:blip r:embed="rId1"/>
          <a:srcRect l="9493" t="27483" r="15235" b="23336"/>
          <a:stretch>
            <a:fillRect/>
          </a:stretch>
        </p:blipFill>
        <p:spPr bwMode="auto">
          <a:xfrm>
            <a:off x="785786" y="1285860"/>
            <a:ext cx="7929618" cy="4857784"/>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buFont typeface="Wingdings" panose="05000000000000000000" charset="0"/>
              <a:buChar char="Ø"/>
            </a:pPr>
            <a:r>
              <a:rPr lang="zh-CN" altLang="en-US" sz="2800" dirty="0" smtClean="0"/>
              <a:t>词法分析工作由词法分析器</a:t>
            </a:r>
            <a:r>
              <a:rPr lang="en-US" altLang="zh-CN" sz="2800" dirty="0" smtClean="0"/>
              <a:t>(</a:t>
            </a:r>
            <a:r>
              <a:rPr lang="zh-CN" altLang="en-US" sz="2800" dirty="0" smtClean="0"/>
              <a:t>或称扫描器</a:t>
            </a:r>
            <a:r>
              <a:rPr lang="en-US" altLang="zh-CN" sz="2800" dirty="0" smtClean="0"/>
              <a:t>)</a:t>
            </a:r>
            <a:r>
              <a:rPr lang="zh-CN" altLang="en-US" sz="2800" dirty="0" smtClean="0"/>
              <a:t>完成</a:t>
            </a:r>
            <a:r>
              <a:rPr lang="en-US" altLang="zh-CN" sz="2800" dirty="0" smtClean="0"/>
              <a:t>.</a:t>
            </a:r>
            <a:endParaRPr lang="en-US" altLang="zh-CN" sz="2800" dirty="0" smtClean="0"/>
          </a:p>
          <a:p>
            <a:pPr>
              <a:buFont typeface="Wingdings" panose="05000000000000000000" charset="0"/>
              <a:buChar char="Ø"/>
            </a:pPr>
            <a:r>
              <a:rPr lang="zh-CN" altLang="en-US" sz="2800" dirty="0" smtClean="0"/>
              <a:t>扫描器输出为等长度的单词符号</a:t>
            </a:r>
            <a:r>
              <a:rPr lang="en-US" altLang="zh-CN" sz="2800" dirty="0" smtClean="0"/>
              <a:t>(</a:t>
            </a:r>
            <a:r>
              <a:rPr lang="zh-CN" altLang="en-US" sz="2800" dirty="0" smtClean="0"/>
              <a:t>二元式</a:t>
            </a:r>
            <a:r>
              <a:rPr lang="en-US" altLang="zh-CN" sz="2800" dirty="0" smtClean="0"/>
              <a:t>)</a:t>
            </a:r>
            <a:r>
              <a:rPr lang="zh-CN" altLang="en-US" sz="2800" dirty="0" smtClean="0"/>
              <a:t>流</a:t>
            </a:r>
            <a:r>
              <a:rPr lang="en-US" altLang="zh-CN" sz="2800" dirty="0" smtClean="0"/>
              <a:t>.</a:t>
            </a:r>
            <a:endParaRPr lang="zh-CN" altLang="en-US" sz="2800" dirty="0"/>
          </a:p>
        </p:txBody>
      </p:sp>
      <p:sp>
        <p:nvSpPr>
          <p:cNvPr id="3" name="标题 2"/>
          <p:cNvSpPr>
            <a:spLocks noGrp="1"/>
          </p:cNvSpPr>
          <p:nvPr>
            <p:ph type="title"/>
          </p:nvPr>
        </p:nvSpPr>
        <p:spPr/>
        <p:txBody>
          <a:bodyPr/>
          <a:lstStyle/>
          <a:p>
            <a:endParaRPr lang="zh-CN" altLang="en-US"/>
          </a:p>
        </p:txBody>
      </p:sp>
      <p:pic>
        <p:nvPicPr>
          <p:cNvPr id="19458" name="Picture 2"/>
          <p:cNvPicPr>
            <a:picLocks noChangeAspect="1" noChangeArrowheads="1"/>
          </p:cNvPicPr>
          <p:nvPr/>
        </p:nvPicPr>
        <p:blipFill>
          <a:blip r:embed="rId1"/>
          <a:srcRect l="2034" t="47011" r="13201" b="21890"/>
          <a:stretch>
            <a:fillRect/>
          </a:stretch>
        </p:blipFill>
        <p:spPr bwMode="auto">
          <a:xfrm>
            <a:off x="71406" y="2786058"/>
            <a:ext cx="8929718" cy="3071834"/>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18434" name="Picture 2"/>
          <p:cNvPicPr>
            <a:picLocks noChangeAspect="1" noChangeArrowheads="1"/>
          </p:cNvPicPr>
          <p:nvPr/>
        </p:nvPicPr>
        <p:blipFill>
          <a:blip r:embed="rId1"/>
          <a:srcRect l="11528" t="25313" r="35578" b="14657"/>
          <a:stretch>
            <a:fillRect/>
          </a:stretch>
        </p:blipFill>
        <p:spPr bwMode="auto">
          <a:xfrm>
            <a:off x="1500166" y="357166"/>
            <a:ext cx="5572164" cy="5929354"/>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19458" name="Picture 2"/>
          <p:cNvPicPr>
            <a:picLocks noChangeAspect="1" noChangeArrowheads="1"/>
          </p:cNvPicPr>
          <p:nvPr/>
        </p:nvPicPr>
        <p:blipFill rotWithShape="1">
          <a:blip r:embed="rId1"/>
          <a:srcRect l="15210" t="43394" r="17268" b="13934"/>
          <a:stretch>
            <a:fillRect/>
          </a:stretch>
        </p:blipFill>
        <p:spPr bwMode="auto">
          <a:xfrm>
            <a:off x="711200" y="1214422"/>
            <a:ext cx="7677224" cy="45491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buFont typeface="Wingdings" panose="05000000000000000000" charset="0"/>
              <a:buChar char="Ø"/>
            </a:pPr>
            <a:r>
              <a:rPr lang="zh-CN" altLang="en-US" sz="3200" dirty="0" smtClean="0"/>
              <a:t>依据语言的</a:t>
            </a:r>
            <a:r>
              <a:rPr lang="zh-CN" altLang="en-US" sz="3200" dirty="0" smtClean="0">
                <a:solidFill>
                  <a:srgbClr val="FF0000"/>
                </a:solidFill>
              </a:rPr>
              <a:t>语法规则</a:t>
            </a:r>
            <a:r>
              <a:rPr lang="zh-CN" altLang="en-US" sz="3200" dirty="0" smtClean="0"/>
              <a:t>，把扫描器提供的</a:t>
            </a:r>
            <a:r>
              <a:rPr lang="zh-CN" altLang="en-US" sz="3200" dirty="0" smtClean="0">
                <a:solidFill>
                  <a:srgbClr val="FF0000"/>
                </a:solidFill>
              </a:rPr>
              <a:t>单词符号串</a:t>
            </a:r>
            <a:r>
              <a:rPr lang="zh-CN" altLang="en-US" sz="3200" dirty="0" smtClean="0"/>
              <a:t>分解成各种</a:t>
            </a:r>
            <a:r>
              <a:rPr lang="zh-CN" altLang="en-US" sz="3200" dirty="0" smtClean="0">
                <a:solidFill>
                  <a:srgbClr val="FF0000"/>
                </a:solidFill>
              </a:rPr>
              <a:t>语法单位</a:t>
            </a:r>
            <a:r>
              <a:rPr lang="en-US" altLang="zh-CN" sz="3200" dirty="0" smtClean="0"/>
              <a:t>(</a:t>
            </a:r>
            <a:r>
              <a:rPr lang="zh-CN" altLang="en-US" sz="3200" dirty="0" smtClean="0"/>
              <a:t>范畴</a:t>
            </a:r>
            <a:r>
              <a:rPr lang="en-US" altLang="zh-CN" sz="3200" dirty="0" smtClean="0"/>
              <a:t>)</a:t>
            </a:r>
            <a:r>
              <a:rPr lang="zh-CN" altLang="en-US" sz="3200" dirty="0" smtClean="0"/>
              <a:t>，如</a:t>
            </a:r>
            <a:r>
              <a:rPr lang="en-US" altLang="zh-CN" sz="3200" dirty="0" smtClean="0"/>
              <a:t>”</a:t>
            </a:r>
            <a:r>
              <a:rPr lang="zh-CN" altLang="en-US" sz="3200" dirty="0" smtClean="0"/>
              <a:t>短语</a:t>
            </a:r>
            <a:r>
              <a:rPr lang="en-US" altLang="zh-CN" sz="3200" dirty="0" smtClean="0"/>
              <a:t>”</a:t>
            </a:r>
            <a:r>
              <a:rPr lang="zh-CN" altLang="en-US" sz="3200" dirty="0" smtClean="0"/>
              <a:t>，</a:t>
            </a:r>
            <a:r>
              <a:rPr lang="en-US" altLang="zh-CN" sz="3200" dirty="0" smtClean="0"/>
              <a:t>”</a:t>
            </a:r>
            <a:r>
              <a:rPr lang="zh-CN" altLang="en-US" sz="3200" dirty="0" smtClean="0"/>
              <a:t>子句</a:t>
            </a:r>
            <a:r>
              <a:rPr lang="en-US" altLang="zh-CN" sz="3200" dirty="0" smtClean="0"/>
              <a:t>”</a:t>
            </a:r>
            <a:r>
              <a:rPr lang="zh-CN" altLang="en-US" sz="3200" dirty="0" smtClean="0"/>
              <a:t>，</a:t>
            </a:r>
            <a:r>
              <a:rPr lang="en-US" altLang="zh-CN" sz="3200" dirty="0" smtClean="0"/>
              <a:t>”</a:t>
            </a:r>
            <a:r>
              <a:rPr lang="zh-CN" altLang="en-US" sz="3200" dirty="0" smtClean="0"/>
              <a:t>句子</a:t>
            </a:r>
            <a:r>
              <a:rPr lang="en-US" altLang="zh-CN" sz="3200" dirty="0" smtClean="0"/>
              <a:t>”</a:t>
            </a:r>
            <a:r>
              <a:rPr lang="zh-CN" altLang="en-US" sz="3200" dirty="0" smtClean="0"/>
              <a:t>乃至</a:t>
            </a:r>
            <a:r>
              <a:rPr lang="en-US" altLang="zh-CN" sz="3200" dirty="0" smtClean="0"/>
              <a:t>”</a:t>
            </a:r>
            <a:r>
              <a:rPr lang="zh-CN" altLang="en-US" sz="3200" dirty="0" smtClean="0"/>
              <a:t>程序</a:t>
            </a:r>
            <a:r>
              <a:rPr lang="en-US" altLang="zh-CN" sz="3200" dirty="0" smtClean="0"/>
              <a:t>”</a:t>
            </a:r>
            <a:r>
              <a:rPr lang="zh-CN" altLang="en-US" sz="3200" dirty="0" smtClean="0"/>
              <a:t>。同时进行</a:t>
            </a:r>
            <a:r>
              <a:rPr lang="zh-CN" altLang="en-US" sz="3200" dirty="0" smtClean="0">
                <a:solidFill>
                  <a:srgbClr val="FF0000"/>
                </a:solidFill>
              </a:rPr>
              <a:t>语法检查</a:t>
            </a:r>
            <a:r>
              <a:rPr lang="zh-CN" altLang="en-US" sz="3200" dirty="0" smtClean="0"/>
              <a:t>，确定输入串是否正确</a:t>
            </a:r>
            <a:r>
              <a:rPr lang="en-US" altLang="zh-CN" sz="3200" dirty="0" smtClean="0"/>
              <a:t>,</a:t>
            </a:r>
            <a:r>
              <a:rPr lang="zh-CN" altLang="en-US" sz="3200" dirty="0" smtClean="0"/>
              <a:t>该工作由语法分析器完成。</a:t>
            </a:r>
            <a:endParaRPr lang="zh-CN" altLang="en-US" sz="3200" dirty="0"/>
          </a:p>
        </p:txBody>
      </p:sp>
      <p:sp>
        <p:nvSpPr>
          <p:cNvPr id="3" name="标题 2"/>
          <p:cNvSpPr>
            <a:spLocks noGrp="1"/>
          </p:cNvSpPr>
          <p:nvPr>
            <p:ph type="title"/>
          </p:nvPr>
        </p:nvSpPr>
        <p:spPr/>
        <p:txBody>
          <a:bodyPr/>
          <a:lstStyle/>
          <a:p>
            <a:r>
              <a:rPr lang="zh-CN" altLang="en-US" dirty="0" smtClean="0"/>
              <a:t>第二阶段</a:t>
            </a:r>
            <a:r>
              <a:rPr lang="en-US" altLang="zh-CN" dirty="0" smtClean="0"/>
              <a:t>:</a:t>
            </a:r>
            <a:r>
              <a:rPr lang="zh-CN" altLang="en-US" dirty="0" smtClean="0"/>
              <a:t> 语法分析</a:t>
            </a:r>
            <a:endParaRPr lang="zh-CN" alt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0482" name="Picture 2"/>
          <p:cNvPicPr>
            <a:picLocks noChangeAspect="1" noChangeArrowheads="1"/>
          </p:cNvPicPr>
          <p:nvPr/>
        </p:nvPicPr>
        <p:blipFill>
          <a:blip r:embed="rId1"/>
          <a:srcRect l="15597" t="38332" r="22694" b="16104"/>
          <a:stretch>
            <a:fillRect/>
          </a:stretch>
        </p:blipFill>
        <p:spPr bwMode="auto">
          <a:xfrm>
            <a:off x="571472" y="785794"/>
            <a:ext cx="7429552" cy="51435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0482" name="Picture 2"/>
          <p:cNvPicPr>
            <a:picLocks noChangeAspect="1" noChangeArrowheads="1"/>
          </p:cNvPicPr>
          <p:nvPr/>
        </p:nvPicPr>
        <p:blipFill rotWithShape="1">
          <a:blip r:embed="rId1"/>
          <a:srcRect l="40009" t="18467" r="14557" b="19985"/>
          <a:stretch>
            <a:fillRect/>
          </a:stretch>
        </p:blipFill>
        <p:spPr bwMode="auto">
          <a:xfrm>
            <a:off x="2051720" y="33411"/>
            <a:ext cx="5328592" cy="6768043"/>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1506" name="Picture 2"/>
          <p:cNvPicPr>
            <a:picLocks noChangeAspect="1" noChangeArrowheads="1"/>
          </p:cNvPicPr>
          <p:nvPr/>
        </p:nvPicPr>
        <p:blipFill rotWithShape="1">
          <a:blip r:embed="rId1"/>
          <a:srcRect l="7459" t="23143" r="14392" b="21890"/>
          <a:stretch>
            <a:fillRect/>
          </a:stretch>
        </p:blipFill>
        <p:spPr bwMode="auto">
          <a:xfrm>
            <a:off x="428596" y="476672"/>
            <a:ext cx="8232804" cy="5429288"/>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1506" name="Picture 2"/>
          <p:cNvPicPr>
            <a:picLocks noChangeAspect="1" noChangeArrowheads="1"/>
          </p:cNvPicPr>
          <p:nvPr/>
        </p:nvPicPr>
        <p:blipFill>
          <a:blip r:embed="rId1"/>
          <a:srcRect l="12792" t="31001" r="19982" b="38365"/>
          <a:stretch>
            <a:fillRect/>
          </a:stretch>
        </p:blipFill>
        <p:spPr bwMode="auto">
          <a:xfrm>
            <a:off x="428596" y="1214422"/>
            <a:ext cx="8192958" cy="3500462"/>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2530" name="Picture 2"/>
          <p:cNvPicPr>
            <a:picLocks noChangeAspect="1" noChangeArrowheads="1"/>
          </p:cNvPicPr>
          <p:nvPr/>
        </p:nvPicPr>
        <p:blipFill>
          <a:blip r:embed="rId1"/>
          <a:srcRect l="12884" t="39055" r="23372" b="30569"/>
          <a:stretch>
            <a:fillRect/>
          </a:stretch>
        </p:blipFill>
        <p:spPr bwMode="auto">
          <a:xfrm>
            <a:off x="285720" y="1214422"/>
            <a:ext cx="8314089" cy="3714776"/>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3554" name="Picture 2"/>
          <p:cNvPicPr>
            <a:picLocks noChangeAspect="1" noChangeArrowheads="1"/>
          </p:cNvPicPr>
          <p:nvPr/>
        </p:nvPicPr>
        <p:blipFill>
          <a:blip r:embed="rId1"/>
          <a:srcRect l="10172" t="20974" r="20660" b="20443"/>
          <a:stretch>
            <a:fillRect/>
          </a:stretch>
        </p:blipFill>
        <p:spPr bwMode="auto">
          <a:xfrm>
            <a:off x="642910" y="285728"/>
            <a:ext cx="7286676" cy="5786478"/>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4578" name="Picture 2"/>
          <p:cNvPicPr>
            <a:picLocks noChangeAspect="1" noChangeArrowheads="1"/>
          </p:cNvPicPr>
          <p:nvPr/>
        </p:nvPicPr>
        <p:blipFill rotWithShape="1">
          <a:blip r:embed="rId1"/>
          <a:srcRect l="9492" t="22420" r="18837" b="18274"/>
          <a:stretch>
            <a:fillRect/>
          </a:stretch>
        </p:blipFill>
        <p:spPr bwMode="auto">
          <a:xfrm>
            <a:off x="395536" y="188591"/>
            <a:ext cx="8352928" cy="6480769"/>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5602" name="Picture 2"/>
          <p:cNvPicPr>
            <a:picLocks noChangeAspect="1" noChangeArrowheads="1"/>
          </p:cNvPicPr>
          <p:nvPr/>
        </p:nvPicPr>
        <p:blipFill>
          <a:blip r:embed="rId1"/>
          <a:srcRect l="11528" t="39055" r="23372" b="22613"/>
          <a:stretch>
            <a:fillRect/>
          </a:stretch>
        </p:blipFill>
        <p:spPr bwMode="auto">
          <a:xfrm>
            <a:off x="642910" y="1142984"/>
            <a:ext cx="7763828" cy="4286280"/>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中间代码生成</a:t>
            </a:r>
            <a:endParaRPr lang="zh-CN" altLang="en-US" dirty="0"/>
          </a:p>
        </p:txBody>
      </p:sp>
      <p:pic>
        <p:nvPicPr>
          <p:cNvPr id="26626" name="Picture 2"/>
          <p:cNvPicPr>
            <a:picLocks noChangeAspect="1" noChangeArrowheads="1"/>
          </p:cNvPicPr>
          <p:nvPr/>
        </p:nvPicPr>
        <p:blipFill>
          <a:blip r:embed="rId1"/>
          <a:srcRect l="11528" t="34716" r="27441" b="29845"/>
          <a:stretch>
            <a:fillRect/>
          </a:stretch>
        </p:blipFill>
        <p:spPr bwMode="auto">
          <a:xfrm>
            <a:off x="571471" y="1357298"/>
            <a:ext cx="7872759" cy="428628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endParaRPr lang="zh-CN" altLang="en-US"/>
          </a:p>
        </p:txBody>
      </p:sp>
      <p:pic>
        <p:nvPicPr>
          <p:cNvPr id="27650" name="Picture 2"/>
          <p:cNvPicPr>
            <a:picLocks noChangeAspect="1" noChangeArrowheads="1"/>
          </p:cNvPicPr>
          <p:nvPr/>
        </p:nvPicPr>
        <p:blipFill>
          <a:blip r:embed="rId1"/>
          <a:srcRect l="12206" t="39778" r="30832" b="26229"/>
          <a:stretch>
            <a:fillRect/>
          </a:stretch>
        </p:blipFill>
        <p:spPr bwMode="auto">
          <a:xfrm>
            <a:off x="500034" y="1214422"/>
            <a:ext cx="7915938" cy="4429156"/>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8674" name="Picture 2"/>
          <p:cNvPicPr>
            <a:picLocks noChangeAspect="1" noChangeArrowheads="1"/>
          </p:cNvPicPr>
          <p:nvPr/>
        </p:nvPicPr>
        <p:blipFill>
          <a:blip r:embed="rId1"/>
          <a:srcRect l="9493" t="26037" r="15235" b="12488"/>
          <a:stretch>
            <a:fillRect/>
          </a:stretch>
        </p:blipFill>
        <p:spPr bwMode="auto">
          <a:xfrm>
            <a:off x="571472" y="357166"/>
            <a:ext cx="7929618" cy="6072230"/>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9698" name="Picture 2"/>
          <p:cNvPicPr>
            <a:picLocks noChangeAspect="1" noChangeArrowheads="1"/>
          </p:cNvPicPr>
          <p:nvPr/>
        </p:nvPicPr>
        <p:blipFill>
          <a:blip r:embed="rId1"/>
          <a:srcRect l="10850" t="20251" r="15235" b="18997"/>
          <a:stretch>
            <a:fillRect/>
          </a:stretch>
        </p:blipFill>
        <p:spPr bwMode="auto">
          <a:xfrm>
            <a:off x="571472" y="214290"/>
            <a:ext cx="7786742" cy="6000792"/>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2530" name="Picture 2"/>
          <p:cNvPicPr>
            <a:picLocks noChangeAspect="1" noChangeArrowheads="1"/>
          </p:cNvPicPr>
          <p:nvPr/>
        </p:nvPicPr>
        <p:blipFill rotWithShape="1">
          <a:blip r:embed="rId1"/>
          <a:srcRect l="23056" t="28205" r="7097" b="32337"/>
          <a:stretch>
            <a:fillRect/>
          </a:stretch>
        </p:blipFill>
        <p:spPr bwMode="auto">
          <a:xfrm>
            <a:off x="611560" y="1196752"/>
            <a:ext cx="7885090" cy="4176464"/>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buNone/>
            </a:pPr>
            <a:r>
              <a:rPr lang="en-US" altLang="zh-CN" dirty="0" smtClean="0"/>
              <a:t>for(k=1;  k&lt;=100;   k++) </a:t>
            </a:r>
            <a:endParaRPr lang="en-US" altLang="zh-CN" dirty="0" smtClean="0"/>
          </a:p>
          <a:p>
            <a:pPr>
              <a:buNone/>
            </a:pPr>
            <a:r>
              <a:rPr lang="en-US" altLang="zh-CN" dirty="0" smtClean="0"/>
              <a:t>  { M=I+10*k;  N=J+10*k; }</a:t>
            </a:r>
            <a:endParaRPr lang="zh-CN" altLang="en-US" dirty="0"/>
          </a:p>
        </p:txBody>
      </p:sp>
      <p:sp>
        <p:nvSpPr>
          <p:cNvPr id="3" name="标题 2"/>
          <p:cNvSpPr>
            <a:spLocks noGrp="1"/>
          </p:cNvSpPr>
          <p:nvPr>
            <p:ph type="title"/>
          </p:nvPr>
        </p:nvSpPr>
        <p:spPr/>
        <p:txBody>
          <a:bodyPr/>
          <a:lstStyle/>
          <a:p>
            <a:r>
              <a:rPr lang="zh-CN" altLang="en-US" dirty="0" smtClean="0"/>
              <a:t>循环语句</a:t>
            </a:r>
            <a:endParaRPr lang="zh-CN" altLang="en-US" dirty="0"/>
          </a:p>
        </p:txBody>
      </p:sp>
      <p:pic>
        <p:nvPicPr>
          <p:cNvPr id="23554" name="Picture 2"/>
          <p:cNvPicPr>
            <a:picLocks noChangeAspect="1" noChangeArrowheads="1"/>
          </p:cNvPicPr>
          <p:nvPr/>
        </p:nvPicPr>
        <p:blipFill>
          <a:blip r:embed="rId1"/>
          <a:srcRect l="13562" t="43394" r="31510" b="32015"/>
          <a:stretch>
            <a:fillRect/>
          </a:stretch>
        </p:blipFill>
        <p:spPr bwMode="auto">
          <a:xfrm>
            <a:off x="1285852" y="2643182"/>
            <a:ext cx="7148002" cy="3000396"/>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30722" name="Picture 2"/>
          <p:cNvPicPr>
            <a:picLocks noChangeAspect="1" noChangeArrowheads="1"/>
          </p:cNvPicPr>
          <p:nvPr/>
        </p:nvPicPr>
        <p:blipFill>
          <a:blip r:embed="rId1"/>
          <a:srcRect l="10850" t="25313" r="14557" b="10318"/>
          <a:stretch>
            <a:fillRect/>
          </a:stretch>
        </p:blipFill>
        <p:spPr bwMode="auto">
          <a:xfrm>
            <a:off x="500034" y="214290"/>
            <a:ext cx="7858180" cy="6357982"/>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31746" name="Picture 2"/>
          <p:cNvPicPr>
            <a:picLocks noChangeAspect="1" noChangeArrowheads="1"/>
          </p:cNvPicPr>
          <p:nvPr/>
        </p:nvPicPr>
        <p:blipFill>
          <a:blip r:embed="rId1"/>
          <a:srcRect l="11528" t="17358" r="31510" b="29122"/>
          <a:stretch>
            <a:fillRect/>
          </a:stretch>
        </p:blipFill>
        <p:spPr bwMode="auto">
          <a:xfrm>
            <a:off x="1071538" y="357166"/>
            <a:ext cx="6568434" cy="5786478"/>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4578" name="Picture 2"/>
          <p:cNvPicPr>
            <a:picLocks noChangeAspect="1" noChangeArrowheads="1"/>
          </p:cNvPicPr>
          <p:nvPr/>
        </p:nvPicPr>
        <p:blipFill>
          <a:blip r:embed="rId1"/>
          <a:srcRect l="6781" t="21697" r="16591" b="12488"/>
          <a:stretch>
            <a:fillRect/>
          </a:stretch>
        </p:blipFill>
        <p:spPr bwMode="auto">
          <a:xfrm>
            <a:off x="500034" y="214290"/>
            <a:ext cx="8072494" cy="6500858"/>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32770" name="Picture 2"/>
          <p:cNvPicPr>
            <a:picLocks noChangeAspect="1" noChangeArrowheads="1"/>
          </p:cNvPicPr>
          <p:nvPr/>
        </p:nvPicPr>
        <p:blipFill>
          <a:blip r:embed="rId1"/>
          <a:srcRect l="12206" t="26760" r="15235" b="13934"/>
          <a:stretch>
            <a:fillRect/>
          </a:stretch>
        </p:blipFill>
        <p:spPr bwMode="auto">
          <a:xfrm>
            <a:off x="928662" y="357166"/>
            <a:ext cx="7643866" cy="5857916"/>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33794" name="Picture 2"/>
          <p:cNvPicPr>
            <a:picLocks noChangeAspect="1" noChangeArrowheads="1"/>
          </p:cNvPicPr>
          <p:nvPr/>
        </p:nvPicPr>
        <p:blipFill>
          <a:blip r:embed="rId1"/>
          <a:srcRect l="12206" t="31099" r="40325" b="19720"/>
          <a:stretch>
            <a:fillRect/>
          </a:stretch>
        </p:blipFill>
        <p:spPr bwMode="auto">
          <a:xfrm>
            <a:off x="1357290" y="642918"/>
            <a:ext cx="5715040" cy="5551753"/>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132062" y="5517232"/>
            <a:ext cx="7472386" cy="792341"/>
          </a:xfrm>
        </p:spPr>
        <p:txBody>
          <a:bodyPr>
            <a:noAutofit/>
          </a:bodyPr>
          <a:lstStyle/>
          <a:p>
            <a:r>
              <a:rPr lang="zh-CN" altLang="en-US" sz="2800" dirty="0" smtClean="0"/>
              <a:t>符号表记录源程序中使用的名字</a:t>
            </a:r>
            <a:r>
              <a:rPr lang="en-US" altLang="zh-CN" sz="2800" dirty="0" smtClean="0"/>
              <a:t>,</a:t>
            </a:r>
            <a:r>
              <a:rPr lang="zh-CN" altLang="en-US" sz="2800" dirty="0" smtClean="0"/>
              <a:t>收集每个名字的各种属性信息</a:t>
            </a:r>
            <a:endParaRPr lang="zh-CN" altLang="en-US" sz="2800" dirty="0"/>
          </a:p>
        </p:txBody>
      </p:sp>
      <p:sp>
        <p:nvSpPr>
          <p:cNvPr id="3" name="标题 2"/>
          <p:cNvSpPr>
            <a:spLocks noGrp="1"/>
          </p:cNvSpPr>
          <p:nvPr>
            <p:ph type="title"/>
          </p:nvPr>
        </p:nvSpPr>
        <p:spPr>
          <a:xfrm>
            <a:off x="889248" y="274638"/>
            <a:ext cx="7787208" cy="1143000"/>
          </a:xfrm>
        </p:spPr>
        <p:txBody>
          <a:bodyPr/>
          <a:lstStyle/>
          <a:p>
            <a:r>
              <a:rPr lang="zh-CN" altLang="en-US" dirty="0" smtClean="0"/>
              <a:t>表格与表格管理</a:t>
            </a:r>
            <a:endParaRPr lang="zh-CN" altLang="en-US" dirty="0"/>
          </a:p>
        </p:txBody>
      </p:sp>
      <p:pic>
        <p:nvPicPr>
          <p:cNvPr id="20482" name="Picture 2"/>
          <p:cNvPicPr>
            <a:picLocks noChangeAspect="1" noChangeArrowheads="1"/>
          </p:cNvPicPr>
          <p:nvPr/>
        </p:nvPicPr>
        <p:blipFill>
          <a:blip r:embed="rId1"/>
          <a:srcRect l="22378" t="24590" r="4385" b="23336"/>
          <a:stretch>
            <a:fillRect/>
          </a:stretch>
        </p:blipFill>
        <p:spPr bwMode="auto">
          <a:xfrm>
            <a:off x="1259632" y="1142984"/>
            <a:ext cx="6572296" cy="4381531"/>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pPr>
              <a:lnSpc>
                <a:spcPct val="150000"/>
              </a:lnSpc>
              <a:buClr>
                <a:schemeClr val="accent2"/>
              </a:buClr>
              <a:buFont typeface="Wingdings" panose="05000000000000000000" pitchFamily="2" charset="2"/>
              <a:buChar char="l"/>
            </a:pPr>
            <a:r>
              <a:rPr lang="zh-CN" altLang="en-US" sz="3200" dirty="0" smtClean="0">
                <a:solidFill>
                  <a:srgbClr val="2A23B3"/>
                </a:solidFill>
              </a:rPr>
              <a:t>分类小表：每类一张表，如：</a:t>
            </a:r>
            <a:endParaRPr lang="en-US" altLang="zh-CN" sz="3200" dirty="0" smtClean="0">
              <a:solidFill>
                <a:srgbClr val="2A23B3"/>
              </a:solidFill>
            </a:endParaRPr>
          </a:p>
          <a:p>
            <a:pPr>
              <a:lnSpc>
                <a:spcPct val="150000"/>
              </a:lnSpc>
              <a:buNone/>
            </a:pPr>
            <a:r>
              <a:rPr lang="zh-CN" altLang="en-US" sz="3200" dirty="0" smtClean="0">
                <a:solidFill>
                  <a:srgbClr val="2A23B3"/>
                </a:solidFill>
              </a:rPr>
              <a:t>       符号名表（</a:t>
            </a:r>
            <a:r>
              <a:rPr lang="en-US" altLang="zh-CN" sz="3200" dirty="0" smtClean="0">
                <a:solidFill>
                  <a:srgbClr val="2A23B3"/>
                </a:solidFill>
              </a:rPr>
              <a:t>SNT</a:t>
            </a:r>
            <a:r>
              <a:rPr lang="zh-CN" altLang="en-US" sz="3200" dirty="0" smtClean="0">
                <a:solidFill>
                  <a:srgbClr val="2A23B3"/>
                </a:solidFill>
              </a:rPr>
              <a:t>）</a:t>
            </a:r>
            <a:endParaRPr lang="en-US" altLang="zh-CN" sz="3200" dirty="0" smtClean="0">
              <a:solidFill>
                <a:srgbClr val="2A23B3"/>
              </a:solidFill>
            </a:endParaRPr>
          </a:p>
          <a:p>
            <a:pPr>
              <a:lnSpc>
                <a:spcPct val="150000"/>
              </a:lnSpc>
              <a:buNone/>
            </a:pPr>
            <a:r>
              <a:rPr lang="zh-CN" altLang="en-US" sz="3200" dirty="0" smtClean="0">
                <a:solidFill>
                  <a:srgbClr val="2A23B3"/>
                </a:solidFill>
              </a:rPr>
              <a:t>       常数表（</a:t>
            </a:r>
            <a:r>
              <a:rPr lang="en-US" altLang="zh-CN" sz="3200" dirty="0" smtClean="0">
                <a:solidFill>
                  <a:srgbClr val="2A23B3"/>
                </a:solidFill>
              </a:rPr>
              <a:t>CT</a:t>
            </a:r>
            <a:r>
              <a:rPr lang="zh-CN" altLang="en-US" sz="3200" dirty="0" smtClean="0">
                <a:solidFill>
                  <a:srgbClr val="2A23B3"/>
                </a:solidFill>
              </a:rPr>
              <a:t>）</a:t>
            </a:r>
            <a:endParaRPr lang="en-US" altLang="zh-CN" sz="3200" dirty="0" smtClean="0">
              <a:solidFill>
                <a:srgbClr val="2A23B3"/>
              </a:solidFill>
            </a:endParaRPr>
          </a:p>
          <a:p>
            <a:pPr>
              <a:lnSpc>
                <a:spcPct val="150000"/>
              </a:lnSpc>
              <a:buNone/>
            </a:pPr>
            <a:r>
              <a:rPr lang="zh-CN" altLang="en-US" sz="3200" dirty="0" smtClean="0">
                <a:solidFill>
                  <a:srgbClr val="2A23B3"/>
                </a:solidFill>
              </a:rPr>
              <a:t>       入口表（</a:t>
            </a:r>
            <a:r>
              <a:rPr lang="en-US" altLang="zh-CN" sz="3200" dirty="0" smtClean="0">
                <a:solidFill>
                  <a:srgbClr val="2A23B3"/>
                </a:solidFill>
              </a:rPr>
              <a:t>ENT</a:t>
            </a:r>
            <a:r>
              <a:rPr lang="zh-CN" altLang="en-US" sz="3200" dirty="0" smtClean="0">
                <a:solidFill>
                  <a:srgbClr val="2A23B3"/>
                </a:solidFill>
              </a:rPr>
              <a:t>）</a:t>
            </a:r>
            <a:endParaRPr lang="en-US" altLang="zh-CN" sz="3200" dirty="0" smtClean="0">
              <a:solidFill>
                <a:srgbClr val="2A23B3"/>
              </a:solidFill>
            </a:endParaRPr>
          </a:p>
          <a:p>
            <a:pPr>
              <a:lnSpc>
                <a:spcPct val="150000"/>
              </a:lnSpc>
              <a:buNone/>
            </a:pPr>
            <a:r>
              <a:rPr lang="zh-CN" altLang="en-US" sz="3200" dirty="0" smtClean="0">
                <a:solidFill>
                  <a:srgbClr val="2A23B3"/>
                </a:solidFill>
              </a:rPr>
              <a:t>       标号表（</a:t>
            </a:r>
            <a:r>
              <a:rPr lang="en-US" altLang="zh-CN" sz="3200" dirty="0" smtClean="0">
                <a:solidFill>
                  <a:srgbClr val="2A23B3"/>
                </a:solidFill>
              </a:rPr>
              <a:t>LBT</a:t>
            </a:r>
            <a:r>
              <a:rPr lang="zh-CN" altLang="en-US" sz="3200" dirty="0" smtClean="0">
                <a:solidFill>
                  <a:srgbClr val="2A23B3"/>
                </a:solidFill>
              </a:rPr>
              <a:t>）</a:t>
            </a:r>
            <a:endParaRPr lang="en-US" altLang="zh-CN" sz="3200" dirty="0" smtClean="0">
              <a:solidFill>
                <a:srgbClr val="2A23B3"/>
              </a:solidFill>
            </a:endParaRPr>
          </a:p>
          <a:p>
            <a:pPr>
              <a:lnSpc>
                <a:spcPct val="150000"/>
              </a:lnSpc>
              <a:buNone/>
            </a:pPr>
            <a:r>
              <a:rPr lang="zh-CN" altLang="en-US" sz="3200" dirty="0" smtClean="0">
                <a:solidFill>
                  <a:srgbClr val="2A23B3"/>
                </a:solidFill>
              </a:rPr>
              <a:t>       基本字表（</a:t>
            </a:r>
            <a:r>
              <a:rPr lang="en-US" altLang="zh-CN" sz="3200" dirty="0" smtClean="0">
                <a:solidFill>
                  <a:srgbClr val="2A23B3"/>
                </a:solidFill>
              </a:rPr>
              <a:t>KWT</a:t>
            </a:r>
            <a:r>
              <a:rPr lang="zh-CN" altLang="en-US" sz="3200" dirty="0" smtClean="0">
                <a:solidFill>
                  <a:srgbClr val="2A23B3"/>
                </a:solidFill>
              </a:rPr>
              <a:t>）</a:t>
            </a:r>
            <a:endParaRPr lang="zh-CN" altLang="en-US" sz="3200" dirty="0">
              <a:solidFill>
                <a:srgbClr val="2A23B3"/>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zh-CN" altLang="en-US" dirty="0" smtClean="0"/>
              <a:t>思考：如何准确报告错误，如何从错误中恢复过来</a:t>
            </a:r>
            <a:endParaRPr lang="zh-CN" altLang="en-US" dirty="0"/>
          </a:p>
        </p:txBody>
      </p:sp>
      <p:sp>
        <p:nvSpPr>
          <p:cNvPr id="3" name="标题 2"/>
          <p:cNvSpPr>
            <a:spLocks noGrp="1"/>
          </p:cNvSpPr>
          <p:nvPr>
            <p:ph type="title"/>
          </p:nvPr>
        </p:nvSpPr>
        <p:spPr/>
        <p:txBody>
          <a:bodyPr/>
          <a:lstStyle/>
          <a:p>
            <a:r>
              <a:rPr lang="zh-CN" altLang="en-US" dirty="0" smtClean="0"/>
              <a:t>出错处理</a:t>
            </a:r>
            <a:endParaRPr lang="zh-CN" altLang="en-US" dirty="0"/>
          </a:p>
        </p:txBody>
      </p:sp>
      <p:pic>
        <p:nvPicPr>
          <p:cNvPr id="21506" name="Picture 2"/>
          <p:cNvPicPr>
            <a:picLocks noChangeAspect="1" noChangeArrowheads="1"/>
          </p:cNvPicPr>
          <p:nvPr/>
        </p:nvPicPr>
        <p:blipFill>
          <a:blip r:embed="rId1"/>
          <a:srcRect l="26447" t="31099" r="10488" b="39248"/>
          <a:stretch>
            <a:fillRect/>
          </a:stretch>
        </p:blipFill>
        <p:spPr bwMode="auto">
          <a:xfrm>
            <a:off x="857223" y="1643050"/>
            <a:ext cx="7291903" cy="321471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idx="1"/>
          </p:nvPr>
        </p:nvSpPr>
        <p:spPr>
          <a:xfrm>
            <a:off x="323528" y="332656"/>
            <a:ext cx="8352928" cy="1724744"/>
          </a:xfrm>
        </p:spPr>
        <p:txBody>
          <a:bodyPr>
            <a:noAutofit/>
          </a:bodyPr>
          <a:lstStyle/>
          <a:p>
            <a:pPr eaLnBrk="1" hangingPunct="1">
              <a:buFontTx/>
              <a:buNone/>
            </a:pPr>
            <a:r>
              <a:rPr lang="en-US" altLang="zh-CN" sz="2800" b="1" dirty="0" smtClean="0">
                <a:latin typeface="宋体" panose="02010600030101010101" pitchFamily="2" charset="-122"/>
              </a:rPr>
              <a:t>	    </a:t>
            </a:r>
            <a:r>
              <a:rPr lang="zh-CN" altLang="en-US" sz="2800" b="1" dirty="0" smtClean="0">
                <a:latin typeface="宋体" panose="02010600030101010101" pitchFamily="2" charset="-122"/>
              </a:rPr>
              <a:t>编译器的组织和工作方式根据源语言的具体特点和对目标语言的具体要求设计，但功能结构一致，即</a:t>
            </a:r>
            <a:r>
              <a:rPr lang="zh-CN" altLang="en-US" sz="2800" b="1" kern="1200" dirty="0" smtClean="0">
                <a:solidFill>
                  <a:srgbClr val="FF0000"/>
                </a:solidFill>
                <a:latin typeface="Times New Roman" panose="02020603050405020304" pitchFamily="18" charset="0"/>
                <a:ea typeface="宋体" panose="02010600030101010101" pitchFamily="2" charset="-122"/>
              </a:rPr>
              <a:t>按阶段进行</a:t>
            </a:r>
            <a:r>
              <a:rPr lang="zh-CN" altLang="en-US" sz="2800" b="1" dirty="0" smtClean="0">
                <a:latin typeface="宋体" panose="02010600030101010101" pitchFamily="2" charset="-122"/>
              </a:rPr>
              <a:t>，</a:t>
            </a:r>
            <a:r>
              <a:rPr lang="zh-CN" altLang="en-US" sz="2800" b="1" dirty="0" smtClean="0">
                <a:latin typeface="宋体" panose="02010600030101010101" pitchFamily="2" charset="-122"/>
              </a:rPr>
              <a:t>每个阶段将源程序从一种表示形式转换成另一种表示形式。</a:t>
            </a:r>
            <a:endParaRPr lang="zh-CN" altLang="en-US" sz="2800" b="1" dirty="0" smtClean="0">
              <a:latin typeface="宋体" panose="02010600030101010101" pitchFamily="2" charset="-122"/>
            </a:endParaRPr>
          </a:p>
        </p:txBody>
      </p:sp>
      <p:sp>
        <p:nvSpPr>
          <p:cNvPr id="10243" name="Text Box 4"/>
          <p:cNvSpPr txBox="1">
            <a:spLocks noChangeArrowheads="1"/>
          </p:cNvSpPr>
          <p:nvPr/>
        </p:nvSpPr>
        <p:spPr bwMode="auto">
          <a:xfrm>
            <a:off x="1001216" y="3566120"/>
            <a:ext cx="304800" cy="1187450"/>
          </a:xfrm>
          <a:prstGeom prst="rect">
            <a:avLst/>
          </a:prstGeom>
          <a:noFill/>
          <a:ln w="9525">
            <a:noFill/>
            <a:miter lim="800000"/>
          </a:ln>
        </p:spPr>
        <p:txBody>
          <a:bodyPr>
            <a:spAutoFit/>
          </a:bodyPr>
          <a:lstStyle/>
          <a:p>
            <a:r>
              <a:rPr lang="zh-CN" altLang="en-US" b="1" dirty="0">
                <a:solidFill>
                  <a:srgbClr val="CC0066"/>
                </a:solidFill>
              </a:rPr>
              <a:t>源程序</a:t>
            </a:r>
            <a:endParaRPr lang="zh-CN" altLang="en-US" b="1" dirty="0">
              <a:solidFill>
                <a:srgbClr val="CC0066"/>
              </a:solidFill>
            </a:endParaRPr>
          </a:p>
        </p:txBody>
      </p:sp>
      <p:sp>
        <p:nvSpPr>
          <p:cNvPr id="10244" name="Line 5"/>
          <p:cNvSpPr>
            <a:spLocks noChangeShapeType="1"/>
          </p:cNvSpPr>
          <p:nvPr/>
        </p:nvSpPr>
        <p:spPr bwMode="auto">
          <a:xfrm>
            <a:off x="1534616" y="4099520"/>
            <a:ext cx="304800" cy="0"/>
          </a:xfrm>
          <a:prstGeom prst="line">
            <a:avLst/>
          </a:prstGeom>
          <a:noFill/>
          <a:ln w="9525">
            <a:solidFill>
              <a:srgbClr val="CC0066"/>
            </a:solidFill>
            <a:round/>
            <a:tailEnd type="triangle" w="med" len="med"/>
          </a:ln>
        </p:spPr>
        <p:txBody>
          <a:bodyPr wrap="none"/>
          <a:lstStyle/>
          <a:p>
            <a:endParaRPr lang="zh-CN" altLang="en-US"/>
          </a:p>
        </p:txBody>
      </p:sp>
      <p:sp>
        <p:nvSpPr>
          <p:cNvPr id="10245" name="Text Box 6"/>
          <p:cNvSpPr txBox="1">
            <a:spLocks noChangeArrowheads="1"/>
          </p:cNvSpPr>
          <p:nvPr/>
        </p:nvSpPr>
        <p:spPr bwMode="auto">
          <a:xfrm>
            <a:off x="1915616" y="3489920"/>
            <a:ext cx="533400" cy="1562100"/>
          </a:xfrm>
          <a:prstGeom prst="rect">
            <a:avLst/>
          </a:prstGeom>
          <a:solidFill>
            <a:schemeClr val="accent1"/>
          </a:solidFill>
          <a:ln w="9525">
            <a:solidFill>
              <a:srgbClr val="CC0066"/>
            </a:solidFill>
            <a:miter lim="800000"/>
          </a:ln>
        </p:spPr>
        <p:txBody>
          <a:bodyPr>
            <a:spAutoFit/>
          </a:bodyPr>
          <a:lstStyle/>
          <a:p>
            <a:r>
              <a:rPr lang="zh-CN" altLang="en-US" b="1">
                <a:solidFill>
                  <a:srgbClr val="CC0066"/>
                </a:solidFill>
              </a:rPr>
              <a:t>词法分析</a:t>
            </a:r>
            <a:endParaRPr lang="zh-CN" altLang="en-US" b="1">
              <a:solidFill>
                <a:srgbClr val="CC0066"/>
              </a:solidFill>
            </a:endParaRPr>
          </a:p>
        </p:txBody>
      </p:sp>
      <p:sp>
        <p:nvSpPr>
          <p:cNvPr id="10246" name="Text Box 7"/>
          <p:cNvSpPr txBox="1">
            <a:spLocks noChangeArrowheads="1"/>
          </p:cNvSpPr>
          <p:nvPr/>
        </p:nvSpPr>
        <p:spPr bwMode="auto">
          <a:xfrm>
            <a:off x="2906216" y="3489920"/>
            <a:ext cx="457200" cy="1562100"/>
          </a:xfrm>
          <a:prstGeom prst="rect">
            <a:avLst/>
          </a:prstGeom>
          <a:solidFill>
            <a:schemeClr val="accent1"/>
          </a:solidFill>
          <a:ln w="9525">
            <a:solidFill>
              <a:srgbClr val="CC0066"/>
            </a:solidFill>
            <a:miter lim="800000"/>
          </a:ln>
        </p:spPr>
        <p:txBody>
          <a:bodyPr>
            <a:spAutoFit/>
          </a:bodyPr>
          <a:lstStyle/>
          <a:p>
            <a:r>
              <a:rPr lang="zh-CN" altLang="en-US" b="1">
                <a:solidFill>
                  <a:srgbClr val="CC0066"/>
                </a:solidFill>
              </a:rPr>
              <a:t>语法分析</a:t>
            </a:r>
            <a:endParaRPr lang="zh-CN" altLang="en-US" b="1">
              <a:solidFill>
                <a:srgbClr val="CC0066"/>
              </a:solidFill>
            </a:endParaRPr>
          </a:p>
        </p:txBody>
      </p:sp>
      <p:sp>
        <p:nvSpPr>
          <p:cNvPr id="10247" name="Text Box 9"/>
          <p:cNvSpPr txBox="1">
            <a:spLocks noChangeArrowheads="1"/>
          </p:cNvSpPr>
          <p:nvPr/>
        </p:nvSpPr>
        <p:spPr bwMode="auto">
          <a:xfrm>
            <a:off x="4811216" y="3489920"/>
            <a:ext cx="457200" cy="1568450"/>
          </a:xfrm>
          <a:prstGeom prst="rect">
            <a:avLst/>
          </a:prstGeom>
          <a:solidFill>
            <a:schemeClr val="accent1"/>
          </a:solidFill>
          <a:ln w="9525">
            <a:solidFill>
              <a:srgbClr val="CC0066"/>
            </a:solidFill>
            <a:miter lim="800000"/>
          </a:ln>
        </p:spPr>
        <p:txBody>
          <a:bodyPr>
            <a:spAutoFit/>
          </a:bodyPr>
          <a:lstStyle/>
          <a:p>
            <a:r>
              <a:rPr lang="zh-CN" altLang="en-US" sz="1600" b="1" dirty="0">
                <a:solidFill>
                  <a:srgbClr val="CC0066"/>
                </a:solidFill>
              </a:rPr>
              <a:t>中间代码生成</a:t>
            </a:r>
            <a:endParaRPr lang="zh-CN" altLang="en-US" sz="1600" b="1" dirty="0">
              <a:solidFill>
                <a:srgbClr val="CC0066"/>
              </a:solidFill>
            </a:endParaRPr>
          </a:p>
        </p:txBody>
      </p:sp>
      <p:sp>
        <p:nvSpPr>
          <p:cNvPr id="10248" name="Text Box 10"/>
          <p:cNvSpPr txBox="1">
            <a:spLocks noChangeArrowheads="1"/>
          </p:cNvSpPr>
          <p:nvPr/>
        </p:nvSpPr>
        <p:spPr bwMode="auto">
          <a:xfrm>
            <a:off x="5649416" y="3489920"/>
            <a:ext cx="457200" cy="1569660"/>
          </a:xfrm>
          <a:prstGeom prst="rect">
            <a:avLst/>
          </a:prstGeom>
          <a:solidFill>
            <a:schemeClr val="accent1"/>
          </a:solidFill>
          <a:ln w="9525">
            <a:solidFill>
              <a:srgbClr val="CC0066"/>
            </a:solidFill>
            <a:miter lim="800000"/>
          </a:ln>
        </p:spPr>
        <p:txBody>
          <a:bodyPr>
            <a:spAutoFit/>
          </a:bodyPr>
          <a:lstStyle/>
          <a:p>
            <a:r>
              <a:rPr lang="zh-CN" altLang="en-US" sz="1600" b="1" dirty="0" smtClean="0">
                <a:solidFill>
                  <a:srgbClr val="CC0066"/>
                </a:solidFill>
              </a:rPr>
              <a:t>中间代码优化</a:t>
            </a:r>
            <a:endParaRPr lang="zh-CN" altLang="en-US" sz="1600" b="1" dirty="0">
              <a:solidFill>
                <a:srgbClr val="CC0066"/>
              </a:solidFill>
            </a:endParaRPr>
          </a:p>
        </p:txBody>
      </p:sp>
      <p:sp>
        <p:nvSpPr>
          <p:cNvPr id="10249" name="Text Box 11"/>
          <p:cNvSpPr txBox="1">
            <a:spLocks noChangeArrowheads="1"/>
          </p:cNvSpPr>
          <p:nvPr/>
        </p:nvSpPr>
        <p:spPr bwMode="auto">
          <a:xfrm>
            <a:off x="6640016" y="3489920"/>
            <a:ext cx="457200" cy="1568450"/>
          </a:xfrm>
          <a:prstGeom prst="rect">
            <a:avLst/>
          </a:prstGeom>
          <a:solidFill>
            <a:schemeClr val="accent1"/>
          </a:solidFill>
          <a:ln w="9525">
            <a:solidFill>
              <a:srgbClr val="CC0066"/>
            </a:solidFill>
            <a:miter lim="800000"/>
          </a:ln>
        </p:spPr>
        <p:txBody>
          <a:bodyPr>
            <a:spAutoFit/>
          </a:bodyPr>
          <a:lstStyle/>
          <a:p>
            <a:r>
              <a:rPr lang="zh-CN" altLang="en-US" sz="1600" b="1">
                <a:solidFill>
                  <a:srgbClr val="CC0066"/>
                </a:solidFill>
              </a:rPr>
              <a:t>目标代码生成</a:t>
            </a:r>
            <a:endParaRPr lang="zh-CN" altLang="en-US" sz="1600" b="1">
              <a:solidFill>
                <a:srgbClr val="CC0066"/>
              </a:solidFill>
            </a:endParaRPr>
          </a:p>
        </p:txBody>
      </p:sp>
      <p:sp>
        <p:nvSpPr>
          <p:cNvPr id="10250" name="Text Box 12"/>
          <p:cNvSpPr txBox="1">
            <a:spLocks noChangeArrowheads="1"/>
          </p:cNvSpPr>
          <p:nvPr/>
        </p:nvSpPr>
        <p:spPr bwMode="auto">
          <a:xfrm>
            <a:off x="7783016" y="3566120"/>
            <a:ext cx="533400" cy="1552575"/>
          </a:xfrm>
          <a:prstGeom prst="rect">
            <a:avLst/>
          </a:prstGeom>
          <a:noFill/>
          <a:ln w="9525">
            <a:noFill/>
            <a:miter lim="800000"/>
          </a:ln>
        </p:spPr>
        <p:txBody>
          <a:bodyPr>
            <a:spAutoFit/>
          </a:bodyPr>
          <a:lstStyle/>
          <a:p>
            <a:r>
              <a:rPr lang="zh-CN" altLang="en-US" b="1">
                <a:solidFill>
                  <a:srgbClr val="CC0066"/>
                </a:solidFill>
              </a:rPr>
              <a:t>目标程序</a:t>
            </a:r>
            <a:endParaRPr lang="zh-CN" altLang="en-US" b="1">
              <a:solidFill>
                <a:srgbClr val="CC0066"/>
              </a:solidFill>
            </a:endParaRPr>
          </a:p>
        </p:txBody>
      </p:sp>
      <p:sp>
        <p:nvSpPr>
          <p:cNvPr id="10251" name="Line 13"/>
          <p:cNvSpPr>
            <a:spLocks noChangeShapeType="1"/>
          </p:cNvSpPr>
          <p:nvPr/>
        </p:nvSpPr>
        <p:spPr bwMode="auto">
          <a:xfrm>
            <a:off x="2525216" y="4099520"/>
            <a:ext cx="304800" cy="0"/>
          </a:xfrm>
          <a:prstGeom prst="line">
            <a:avLst/>
          </a:prstGeom>
          <a:noFill/>
          <a:ln w="9525">
            <a:solidFill>
              <a:srgbClr val="CC0066"/>
            </a:solidFill>
            <a:round/>
            <a:tailEnd type="triangle" w="med" len="med"/>
          </a:ln>
        </p:spPr>
        <p:txBody>
          <a:bodyPr wrap="none"/>
          <a:lstStyle/>
          <a:p>
            <a:endParaRPr lang="zh-CN" altLang="en-US"/>
          </a:p>
        </p:txBody>
      </p:sp>
      <p:sp>
        <p:nvSpPr>
          <p:cNvPr id="10252" name="Line 14"/>
          <p:cNvSpPr>
            <a:spLocks noChangeShapeType="1"/>
          </p:cNvSpPr>
          <p:nvPr/>
        </p:nvSpPr>
        <p:spPr bwMode="auto">
          <a:xfrm>
            <a:off x="5268416" y="4099520"/>
            <a:ext cx="304800" cy="0"/>
          </a:xfrm>
          <a:prstGeom prst="line">
            <a:avLst/>
          </a:prstGeom>
          <a:noFill/>
          <a:ln w="9525">
            <a:solidFill>
              <a:srgbClr val="CC0066"/>
            </a:solidFill>
            <a:round/>
            <a:tailEnd type="triangle" w="med" len="med"/>
          </a:ln>
        </p:spPr>
        <p:txBody>
          <a:bodyPr wrap="none"/>
          <a:lstStyle/>
          <a:p>
            <a:endParaRPr lang="zh-CN" altLang="en-US"/>
          </a:p>
        </p:txBody>
      </p:sp>
      <p:sp>
        <p:nvSpPr>
          <p:cNvPr id="10253" name="Text Box 15"/>
          <p:cNvSpPr txBox="1">
            <a:spLocks noChangeArrowheads="1"/>
          </p:cNvSpPr>
          <p:nvPr/>
        </p:nvSpPr>
        <p:spPr bwMode="auto">
          <a:xfrm>
            <a:off x="3896816" y="3489920"/>
            <a:ext cx="457200" cy="1562100"/>
          </a:xfrm>
          <a:prstGeom prst="rect">
            <a:avLst/>
          </a:prstGeom>
          <a:solidFill>
            <a:schemeClr val="accent1"/>
          </a:solidFill>
          <a:ln w="9525">
            <a:solidFill>
              <a:srgbClr val="CC0066"/>
            </a:solidFill>
            <a:miter lim="800000"/>
          </a:ln>
        </p:spPr>
        <p:txBody>
          <a:bodyPr>
            <a:spAutoFit/>
          </a:bodyPr>
          <a:lstStyle/>
          <a:p>
            <a:r>
              <a:rPr lang="zh-CN" altLang="en-US" b="1" dirty="0">
                <a:solidFill>
                  <a:srgbClr val="CC0066"/>
                </a:solidFill>
              </a:rPr>
              <a:t>语义分析</a:t>
            </a:r>
            <a:endParaRPr lang="zh-CN" altLang="en-US" b="1" dirty="0">
              <a:solidFill>
                <a:srgbClr val="CC0066"/>
              </a:solidFill>
            </a:endParaRPr>
          </a:p>
        </p:txBody>
      </p:sp>
      <p:sp>
        <p:nvSpPr>
          <p:cNvPr id="10254" name="Line 16"/>
          <p:cNvSpPr>
            <a:spLocks noChangeShapeType="1"/>
          </p:cNvSpPr>
          <p:nvPr/>
        </p:nvSpPr>
        <p:spPr bwMode="auto">
          <a:xfrm>
            <a:off x="6182816" y="4099520"/>
            <a:ext cx="304800" cy="0"/>
          </a:xfrm>
          <a:prstGeom prst="line">
            <a:avLst/>
          </a:prstGeom>
          <a:noFill/>
          <a:ln w="9525">
            <a:solidFill>
              <a:srgbClr val="CC0066"/>
            </a:solidFill>
            <a:round/>
            <a:tailEnd type="triangle" w="med" len="med"/>
          </a:ln>
        </p:spPr>
        <p:txBody>
          <a:bodyPr wrap="none"/>
          <a:lstStyle/>
          <a:p>
            <a:endParaRPr lang="zh-CN" altLang="en-US"/>
          </a:p>
        </p:txBody>
      </p:sp>
      <p:sp>
        <p:nvSpPr>
          <p:cNvPr id="10255" name="Line 17"/>
          <p:cNvSpPr>
            <a:spLocks noChangeShapeType="1"/>
          </p:cNvSpPr>
          <p:nvPr/>
        </p:nvSpPr>
        <p:spPr bwMode="auto">
          <a:xfrm>
            <a:off x="3439616" y="4099520"/>
            <a:ext cx="304800" cy="0"/>
          </a:xfrm>
          <a:prstGeom prst="line">
            <a:avLst/>
          </a:prstGeom>
          <a:noFill/>
          <a:ln w="9525">
            <a:solidFill>
              <a:srgbClr val="CC0066"/>
            </a:solidFill>
            <a:round/>
            <a:tailEnd type="triangle" w="med" len="med"/>
          </a:ln>
        </p:spPr>
        <p:txBody>
          <a:bodyPr wrap="none"/>
          <a:lstStyle/>
          <a:p>
            <a:endParaRPr lang="zh-CN" altLang="en-US"/>
          </a:p>
        </p:txBody>
      </p:sp>
      <p:sp>
        <p:nvSpPr>
          <p:cNvPr id="10256" name="Line 18"/>
          <p:cNvSpPr>
            <a:spLocks noChangeShapeType="1"/>
          </p:cNvSpPr>
          <p:nvPr/>
        </p:nvSpPr>
        <p:spPr bwMode="auto">
          <a:xfrm>
            <a:off x="4430216" y="4099520"/>
            <a:ext cx="304800" cy="0"/>
          </a:xfrm>
          <a:prstGeom prst="line">
            <a:avLst/>
          </a:prstGeom>
          <a:noFill/>
          <a:ln w="9525">
            <a:solidFill>
              <a:srgbClr val="CC0066"/>
            </a:solidFill>
            <a:round/>
            <a:tailEnd type="triangle" w="med" len="med"/>
          </a:ln>
        </p:spPr>
        <p:txBody>
          <a:bodyPr wrap="none"/>
          <a:lstStyle/>
          <a:p>
            <a:endParaRPr lang="zh-CN" altLang="en-US"/>
          </a:p>
        </p:txBody>
      </p:sp>
      <p:sp>
        <p:nvSpPr>
          <p:cNvPr id="10257" name="Line 19"/>
          <p:cNvSpPr>
            <a:spLocks noChangeShapeType="1"/>
          </p:cNvSpPr>
          <p:nvPr/>
        </p:nvSpPr>
        <p:spPr bwMode="auto">
          <a:xfrm>
            <a:off x="7325816" y="4099520"/>
            <a:ext cx="381000" cy="0"/>
          </a:xfrm>
          <a:prstGeom prst="line">
            <a:avLst/>
          </a:prstGeom>
          <a:noFill/>
          <a:ln w="9525">
            <a:solidFill>
              <a:srgbClr val="CC0066"/>
            </a:solidFill>
            <a:round/>
            <a:tailEnd type="triangle" w="med" len="med"/>
          </a:ln>
        </p:spPr>
        <p:txBody>
          <a:bodyPr wrap="none"/>
          <a:lstStyle/>
          <a:p>
            <a:endParaRPr lang="zh-CN" altLang="en-US"/>
          </a:p>
        </p:txBody>
      </p:sp>
      <p:sp>
        <p:nvSpPr>
          <p:cNvPr id="10258" name="Line 20"/>
          <p:cNvSpPr>
            <a:spLocks noChangeShapeType="1"/>
          </p:cNvSpPr>
          <p:nvPr/>
        </p:nvSpPr>
        <p:spPr bwMode="auto">
          <a:xfrm>
            <a:off x="4735016" y="1584920"/>
            <a:ext cx="0" cy="0"/>
          </a:xfrm>
          <a:prstGeom prst="line">
            <a:avLst/>
          </a:prstGeom>
          <a:noFill/>
          <a:ln w="9525">
            <a:solidFill>
              <a:schemeClr val="tx1"/>
            </a:solidFill>
            <a:round/>
          </a:ln>
        </p:spPr>
        <p:txBody>
          <a:bodyPr wrap="none"/>
          <a:lstStyle/>
          <a:p>
            <a:endParaRPr lang="zh-CN" altLang="en-US"/>
          </a:p>
        </p:txBody>
      </p:sp>
      <p:sp>
        <p:nvSpPr>
          <p:cNvPr id="10259" name="Text Box 21"/>
          <p:cNvSpPr txBox="1">
            <a:spLocks noChangeArrowheads="1"/>
          </p:cNvSpPr>
          <p:nvPr/>
        </p:nvSpPr>
        <p:spPr bwMode="auto">
          <a:xfrm>
            <a:off x="1915616" y="2499320"/>
            <a:ext cx="5181600" cy="466725"/>
          </a:xfrm>
          <a:prstGeom prst="rect">
            <a:avLst/>
          </a:prstGeom>
          <a:solidFill>
            <a:schemeClr val="accent1"/>
          </a:solidFill>
          <a:ln w="9525">
            <a:solidFill>
              <a:srgbClr val="CC0066"/>
            </a:solidFill>
            <a:miter lim="800000"/>
          </a:ln>
        </p:spPr>
        <p:txBody>
          <a:bodyPr>
            <a:spAutoFit/>
          </a:bodyPr>
          <a:lstStyle/>
          <a:p>
            <a:pPr algn="ctr"/>
            <a:r>
              <a:rPr lang="zh-CN" altLang="en-US" b="1">
                <a:solidFill>
                  <a:srgbClr val="CC0066"/>
                </a:solidFill>
              </a:rPr>
              <a:t>表格管理</a:t>
            </a:r>
            <a:endParaRPr lang="zh-CN" altLang="en-US" b="1">
              <a:solidFill>
                <a:srgbClr val="CC0066"/>
              </a:solidFill>
            </a:endParaRPr>
          </a:p>
        </p:txBody>
      </p:sp>
      <p:sp>
        <p:nvSpPr>
          <p:cNvPr id="10260" name="Text Box 22"/>
          <p:cNvSpPr txBox="1">
            <a:spLocks noChangeArrowheads="1"/>
          </p:cNvSpPr>
          <p:nvPr/>
        </p:nvSpPr>
        <p:spPr bwMode="auto">
          <a:xfrm>
            <a:off x="1915616" y="5547320"/>
            <a:ext cx="5181600" cy="466725"/>
          </a:xfrm>
          <a:prstGeom prst="rect">
            <a:avLst/>
          </a:prstGeom>
          <a:solidFill>
            <a:schemeClr val="accent1"/>
          </a:solidFill>
          <a:ln w="9525">
            <a:solidFill>
              <a:srgbClr val="CC0066"/>
            </a:solidFill>
            <a:miter lim="800000"/>
          </a:ln>
        </p:spPr>
        <p:txBody>
          <a:bodyPr>
            <a:spAutoFit/>
          </a:bodyPr>
          <a:lstStyle/>
          <a:p>
            <a:pPr algn="ctr"/>
            <a:r>
              <a:rPr lang="zh-CN" altLang="en-US" b="1">
                <a:solidFill>
                  <a:srgbClr val="CC0066"/>
                </a:solidFill>
              </a:rPr>
              <a:t>错误处理</a:t>
            </a:r>
            <a:endParaRPr lang="zh-CN" altLang="en-US" b="1">
              <a:solidFill>
                <a:srgbClr val="CC0066"/>
              </a:solidFill>
            </a:endParaRPr>
          </a:p>
        </p:txBody>
      </p:sp>
      <p:sp>
        <p:nvSpPr>
          <p:cNvPr id="10261" name="Line 23"/>
          <p:cNvSpPr>
            <a:spLocks noChangeShapeType="1"/>
          </p:cNvSpPr>
          <p:nvPr/>
        </p:nvSpPr>
        <p:spPr bwMode="auto">
          <a:xfrm>
            <a:off x="2144216" y="3032720"/>
            <a:ext cx="0" cy="45720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10262" name="Line 24"/>
          <p:cNvSpPr>
            <a:spLocks noChangeShapeType="1"/>
          </p:cNvSpPr>
          <p:nvPr/>
        </p:nvSpPr>
        <p:spPr bwMode="auto">
          <a:xfrm>
            <a:off x="3058616" y="3032720"/>
            <a:ext cx="0" cy="45720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10263" name="Line 25"/>
          <p:cNvSpPr>
            <a:spLocks noChangeShapeType="1"/>
          </p:cNvSpPr>
          <p:nvPr/>
        </p:nvSpPr>
        <p:spPr bwMode="auto">
          <a:xfrm>
            <a:off x="4125416" y="3032720"/>
            <a:ext cx="0" cy="45720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10264" name="Line 26"/>
          <p:cNvSpPr>
            <a:spLocks noChangeShapeType="1"/>
          </p:cNvSpPr>
          <p:nvPr/>
        </p:nvSpPr>
        <p:spPr bwMode="auto">
          <a:xfrm>
            <a:off x="5039816" y="3032720"/>
            <a:ext cx="0" cy="45720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10265" name="Line 27"/>
          <p:cNvSpPr>
            <a:spLocks noChangeShapeType="1"/>
          </p:cNvSpPr>
          <p:nvPr/>
        </p:nvSpPr>
        <p:spPr bwMode="auto">
          <a:xfrm>
            <a:off x="5878016" y="3032720"/>
            <a:ext cx="0" cy="45720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10266" name="Line 28"/>
          <p:cNvSpPr>
            <a:spLocks noChangeShapeType="1"/>
          </p:cNvSpPr>
          <p:nvPr/>
        </p:nvSpPr>
        <p:spPr bwMode="auto">
          <a:xfrm>
            <a:off x="6868616" y="3032720"/>
            <a:ext cx="0" cy="45720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10267" name="Line 29"/>
          <p:cNvSpPr>
            <a:spLocks noChangeShapeType="1"/>
          </p:cNvSpPr>
          <p:nvPr/>
        </p:nvSpPr>
        <p:spPr bwMode="auto">
          <a:xfrm>
            <a:off x="2144216" y="5090120"/>
            <a:ext cx="0" cy="45720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10268" name="Line 30"/>
          <p:cNvSpPr>
            <a:spLocks noChangeShapeType="1"/>
          </p:cNvSpPr>
          <p:nvPr/>
        </p:nvSpPr>
        <p:spPr bwMode="auto">
          <a:xfrm>
            <a:off x="3134816" y="5090120"/>
            <a:ext cx="0" cy="45720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10269" name="Line 31"/>
          <p:cNvSpPr>
            <a:spLocks noChangeShapeType="1"/>
          </p:cNvSpPr>
          <p:nvPr/>
        </p:nvSpPr>
        <p:spPr bwMode="auto">
          <a:xfrm>
            <a:off x="4125416" y="5090120"/>
            <a:ext cx="0" cy="45720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10270" name="Line 32"/>
          <p:cNvSpPr>
            <a:spLocks noChangeShapeType="1"/>
          </p:cNvSpPr>
          <p:nvPr/>
        </p:nvSpPr>
        <p:spPr bwMode="auto">
          <a:xfrm>
            <a:off x="6868616" y="5090120"/>
            <a:ext cx="0" cy="45720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10271" name="Line 33"/>
          <p:cNvSpPr>
            <a:spLocks noChangeShapeType="1"/>
          </p:cNvSpPr>
          <p:nvPr/>
        </p:nvSpPr>
        <p:spPr bwMode="auto">
          <a:xfrm>
            <a:off x="5878016" y="5090120"/>
            <a:ext cx="0" cy="45720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10272" name="Line 34"/>
          <p:cNvSpPr>
            <a:spLocks noChangeShapeType="1"/>
          </p:cNvSpPr>
          <p:nvPr/>
        </p:nvSpPr>
        <p:spPr bwMode="auto">
          <a:xfrm>
            <a:off x="5039816" y="5090120"/>
            <a:ext cx="0" cy="45720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10273" name="Line 36"/>
          <p:cNvSpPr>
            <a:spLocks noChangeShapeType="1"/>
          </p:cNvSpPr>
          <p:nvPr/>
        </p:nvSpPr>
        <p:spPr bwMode="auto">
          <a:xfrm>
            <a:off x="6335216" y="2194520"/>
            <a:ext cx="0" cy="4114800"/>
          </a:xfrm>
          <a:prstGeom prst="line">
            <a:avLst/>
          </a:prstGeom>
          <a:noFill/>
          <a:ln w="19050">
            <a:solidFill>
              <a:schemeClr val="tx1"/>
            </a:solidFill>
            <a:prstDash val="sysDot"/>
            <a:round/>
          </a:ln>
        </p:spPr>
        <p:txBody>
          <a:bodyPr wrap="none"/>
          <a:lstStyle/>
          <a:p>
            <a:endParaRPr lang="zh-CN" altLang="en-US"/>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25602" name="Picture 2"/>
          <p:cNvPicPr>
            <a:picLocks noChangeAspect="1" noChangeArrowheads="1"/>
          </p:cNvPicPr>
          <p:nvPr/>
        </p:nvPicPr>
        <p:blipFill>
          <a:blip r:embed="rId1"/>
          <a:srcRect l="6103" t="22420" r="22694" b="16104"/>
          <a:stretch>
            <a:fillRect/>
          </a:stretch>
        </p:blipFill>
        <p:spPr bwMode="auto">
          <a:xfrm>
            <a:off x="1000100" y="285728"/>
            <a:ext cx="7500990" cy="607223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685800" y="939552"/>
            <a:ext cx="8077200" cy="1409328"/>
          </a:xfrm>
        </p:spPr>
        <p:txBody>
          <a:bodyPr/>
          <a:lstStyle/>
          <a:p>
            <a:pPr eaLnBrk="1" hangingPunct="1">
              <a:lnSpc>
                <a:spcPts val="3200"/>
              </a:lnSpc>
              <a:buFont typeface="Wingdings" panose="05000000000000000000" charset="0"/>
              <a:buChar char="Ø"/>
            </a:pPr>
            <a:r>
              <a:rPr lang="zh-CN" altLang="en-US" sz="2200" kern="1200" spc="50" dirty="0" smtClean="0">
                <a:ln w="11430"/>
                <a:gradFill>
                  <a:gsLst>
                    <a:gs pos="25000">
                      <a:schemeClr val="accent2">
                        <a:satMod val="155000"/>
                      </a:schemeClr>
                    </a:gs>
                    <a:gs pos="100000">
                      <a:schemeClr val="accent2">
                        <a:shade val="45000"/>
                        <a:satMod val="165000"/>
                      </a:schemeClr>
                    </a:gs>
                  </a:gsLst>
                  <a:lin ang="5400000"/>
                </a:gradFill>
                <a:latin typeface="黑体" panose="02010609060101010101" pitchFamily="2" charset="-122"/>
                <a:ea typeface="黑体" panose="02010609060101010101" pitchFamily="2" charset="-122"/>
              </a:rPr>
              <a:t>前端</a:t>
            </a:r>
            <a:r>
              <a:rPr lang="en-US" altLang="zh-CN" sz="2200" kern="1200" spc="50" dirty="0" smtClean="0">
                <a:ln w="11430"/>
                <a:gradFill>
                  <a:gsLst>
                    <a:gs pos="25000">
                      <a:schemeClr val="accent2">
                        <a:satMod val="155000"/>
                      </a:schemeClr>
                    </a:gs>
                    <a:gs pos="100000">
                      <a:schemeClr val="accent2">
                        <a:shade val="45000"/>
                        <a:satMod val="165000"/>
                      </a:schemeClr>
                    </a:gs>
                  </a:gsLst>
                  <a:lin ang="5400000"/>
                </a:gradFill>
                <a:latin typeface="黑体" panose="02010609060101010101" pitchFamily="2" charset="-122"/>
                <a:ea typeface="黑体" panose="02010609060101010101" pitchFamily="2" charset="-122"/>
              </a:rPr>
              <a:t>(FrontEnd)</a:t>
            </a:r>
            <a:r>
              <a:rPr lang="zh-CN" altLang="en-US" sz="2200" dirty="0" smtClean="0">
                <a:latin typeface="宋体" panose="02010600030101010101" pitchFamily="2" charset="-122"/>
              </a:rPr>
              <a:t>由主要</a:t>
            </a:r>
            <a:r>
              <a:rPr lang="zh-CN" altLang="en-US" sz="2200" b="1" dirty="0" smtClean="0">
                <a:latin typeface="宋体" panose="02010600030101010101" pitchFamily="2" charset="-122"/>
              </a:rPr>
              <a:t>依赖于源语言而与目标机无关</a:t>
            </a:r>
            <a:r>
              <a:rPr lang="zh-CN" altLang="en-US" sz="2200" dirty="0" smtClean="0">
                <a:latin typeface="宋体" panose="02010600030101010101" pitchFamily="2" charset="-122"/>
              </a:rPr>
              <a:t>的阶段组成。</a:t>
            </a:r>
            <a:r>
              <a:rPr lang="zh-CN" altLang="en-US" sz="2200" kern="1200" spc="50" dirty="0" smtClean="0">
                <a:ln w="11430"/>
                <a:gradFill>
                  <a:gsLst>
                    <a:gs pos="25000">
                      <a:schemeClr val="accent2">
                        <a:satMod val="155000"/>
                      </a:schemeClr>
                    </a:gs>
                    <a:gs pos="100000">
                      <a:schemeClr val="accent2">
                        <a:shade val="45000"/>
                        <a:satMod val="165000"/>
                      </a:schemeClr>
                    </a:gs>
                  </a:gsLst>
                  <a:lin ang="5400000"/>
                </a:gradFill>
                <a:latin typeface="黑体" panose="02010609060101010101" pitchFamily="2" charset="-122"/>
                <a:ea typeface="黑体" panose="02010609060101010101" pitchFamily="2" charset="-122"/>
              </a:rPr>
              <a:t>后端</a:t>
            </a:r>
            <a:r>
              <a:rPr lang="en-US" altLang="zh-CN" sz="2200" kern="1200" spc="50" dirty="0" smtClean="0">
                <a:ln w="11430"/>
                <a:gradFill>
                  <a:gsLst>
                    <a:gs pos="25000">
                      <a:schemeClr val="accent2">
                        <a:satMod val="155000"/>
                      </a:schemeClr>
                    </a:gs>
                    <a:gs pos="100000">
                      <a:schemeClr val="accent2">
                        <a:shade val="45000"/>
                        <a:satMod val="165000"/>
                      </a:schemeClr>
                    </a:gs>
                  </a:gsLst>
                  <a:lin ang="5400000"/>
                </a:gradFill>
                <a:latin typeface="黑体" panose="02010609060101010101" pitchFamily="2" charset="-122"/>
                <a:ea typeface="黑体" panose="02010609060101010101" pitchFamily="2" charset="-122"/>
              </a:rPr>
              <a:t>(BackEnd)</a:t>
            </a:r>
            <a:r>
              <a:rPr lang="zh-CN" altLang="en-US" sz="2200" dirty="0" smtClean="0">
                <a:latin typeface="宋体" panose="02010600030101010101" pitchFamily="2" charset="-122"/>
              </a:rPr>
              <a:t>指那些</a:t>
            </a:r>
            <a:r>
              <a:rPr lang="zh-CN" altLang="en-US" sz="2200" b="1" dirty="0" smtClean="0">
                <a:latin typeface="宋体" panose="02010600030101010101" pitchFamily="2" charset="-122"/>
              </a:rPr>
              <a:t>依赖于目标机而一般不依赖源语言</a:t>
            </a:r>
            <a:r>
              <a:rPr lang="zh-CN" altLang="en-US" sz="2200" dirty="0" smtClean="0">
                <a:latin typeface="宋体" panose="02010600030101010101" pitchFamily="2" charset="-122"/>
              </a:rPr>
              <a:t>，只与中间代码有关的那些阶段。</a:t>
            </a:r>
            <a:endParaRPr lang="zh-CN" altLang="en-US" sz="2200" dirty="0" smtClean="0"/>
          </a:p>
        </p:txBody>
      </p:sp>
      <p:sp>
        <p:nvSpPr>
          <p:cNvPr id="11266" name="Rectangle 2"/>
          <p:cNvSpPr>
            <a:spLocks noGrp="1" noChangeArrowheads="1"/>
          </p:cNvSpPr>
          <p:nvPr>
            <p:ph type="title"/>
          </p:nvPr>
        </p:nvSpPr>
        <p:spPr>
          <a:xfrm>
            <a:off x="685800" y="332656"/>
            <a:ext cx="7772400" cy="609600"/>
          </a:xfrm>
        </p:spPr>
        <p:txBody>
          <a:bodyPr/>
          <a:lstStyle/>
          <a:p>
            <a:pPr eaLnBrk="1" hangingPunct="1"/>
            <a:r>
              <a:rPr lang="zh-CN" altLang="en-US" sz="2800" b="1" dirty="0" smtClean="0">
                <a:solidFill>
                  <a:schemeClr val="tx1"/>
                </a:solidFill>
                <a:latin typeface="宋体" panose="02010600030101010101" pitchFamily="2" charset="-122"/>
              </a:rPr>
              <a:t>前端和后端</a:t>
            </a:r>
            <a:endParaRPr lang="zh-CN" altLang="en-US" sz="2800" b="1" dirty="0" smtClean="0">
              <a:solidFill>
                <a:schemeClr val="tx1"/>
              </a:solidFill>
              <a:latin typeface="宋体" panose="02010600030101010101" pitchFamily="2" charset="-122"/>
            </a:endParaRPr>
          </a:p>
        </p:txBody>
      </p:sp>
      <p:sp>
        <p:nvSpPr>
          <p:cNvPr id="5" name="Text Box 4"/>
          <p:cNvSpPr txBox="1">
            <a:spLocks noChangeArrowheads="1"/>
          </p:cNvSpPr>
          <p:nvPr/>
        </p:nvSpPr>
        <p:spPr bwMode="auto">
          <a:xfrm>
            <a:off x="1691680" y="3284984"/>
            <a:ext cx="244793" cy="935104"/>
          </a:xfrm>
          <a:prstGeom prst="rect">
            <a:avLst/>
          </a:prstGeom>
          <a:noFill/>
          <a:ln w="9525">
            <a:noFill/>
            <a:miter lim="800000"/>
          </a:ln>
        </p:spPr>
        <p:txBody>
          <a:bodyPr>
            <a:spAutoFit/>
          </a:bodyPr>
          <a:lstStyle/>
          <a:p>
            <a:r>
              <a:rPr lang="zh-CN" altLang="en-US" b="1" dirty="0">
                <a:solidFill>
                  <a:srgbClr val="CC0066"/>
                </a:solidFill>
              </a:rPr>
              <a:t>源程序</a:t>
            </a:r>
            <a:endParaRPr lang="zh-CN" altLang="en-US" b="1" dirty="0">
              <a:solidFill>
                <a:srgbClr val="CC0066"/>
              </a:solidFill>
            </a:endParaRPr>
          </a:p>
        </p:txBody>
      </p:sp>
      <p:sp>
        <p:nvSpPr>
          <p:cNvPr id="6" name="Line 5"/>
          <p:cNvSpPr>
            <a:spLocks noChangeShapeType="1"/>
          </p:cNvSpPr>
          <p:nvPr/>
        </p:nvSpPr>
        <p:spPr bwMode="auto">
          <a:xfrm>
            <a:off x="2120068" y="3705031"/>
            <a:ext cx="244793" cy="0"/>
          </a:xfrm>
          <a:prstGeom prst="line">
            <a:avLst/>
          </a:prstGeom>
          <a:noFill/>
          <a:ln w="9525">
            <a:solidFill>
              <a:srgbClr val="CC0066"/>
            </a:solidFill>
            <a:round/>
            <a:tailEnd type="triangle" w="med" len="med"/>
          </a:ln>
        </p:spPr>
        <p:txBody>
          <a:bodyPr wrap="none"/>
          <a:lstStyle/>
          <a:p>
            <a:endParaRPr lang="zh-CN" altLang="en-US"/>
          </a:p>
        </p:txBody>
      </p:sp>
      <p:sp>
        <p:nvSpPr>
          <p:cNvPr id="7" name="Text Box 6"/>
          <p:cNvSpPr txBox="1">
            <a:spLocks noChangeArrowheads="1"/>
          </p:cNvSpPr>
          <p:nvPr/>
        </p:nvSpPr>
        <p:spPr bwMode="auto">
          <a:xfrm>
            <a:off x="2426060" y="3224977"/>
            <a:ext cx="428388" cy="1260327"/>
          </a:xfrm>
          <a:prstGeom prst="rect">
            <a:avLst/>
          </a:prstGeom>
          <a:solidFill>
            <a:schemeClr val="accent1"/>
          </a:solidFill>
          <a:ln w="9525">
            <a:solidFill>
              <a:srgbClr val="CC0066"/>
            </a:solidFill>
            <a:miter lim="800000"/>
          </a:ln>
        </p:spPr>
        <p:txBody>
          <a:bodyPr>
            <a:spAutoFit/>
          </a:bodyPr>
          <a:lstStyle/>
          <a:p>
            <a:endParaRPr lang="en-US" altLang="zh-CN" sz="1600" b="1" dirty="0" smtClean="0">
              <a:solidFill>
                <a:srgbClr val="CC0066"/>
              </a:solidFill>
            </a:endParaRPr>
          </a:p>
          <a:p>
            <a:r>
              <a:rPr lang="zh-CN" altLang="en-US" sz="1600" b="1" dirty="0" smtClean="0">
                <a:solidFill>
                  <a:srgbClr val="CC0066"/>
                </a:solidFill>
              </a:rPr>
              <a:t>词法分析</a:t>
            </a:r>
            <a:endParaRPr lang="en-US" altLang="zh-CN" sz="1600" b="1" dirty="0" smtClean="0">
              <a:solidFill>
                <a:srgbClr val="CC0066"/>
              </a:solidFill>
            </a:endParaRPr>
          </a:p>
          <a:p>
            <a:endParaRPr lang="zh-CN" altLang="en-US" sz="1800" b="1" dirty="0">
              <a:solidFill>
                <a:srgbClr val="CC0066"/>
              </a:solidFill>
            </a:endParaRPr>
          </a:p>
        </p:txBody>
      </p:sp>
      <p:sp>
        <p:nvSpPr>
          <p:cNvPr id="8" name="Text Box 7"/>
          <p:cNvSpPr txBox="1">
            <a:spLocks noChangeArrowheads="1"/>
          </p:cNvSpPr>
          <p:nvPr/>
        </p:nvSpPr>
        <p:spPr bwMode="auto">
          <a:xfrm>
            <a:off x="3221638" y="3224977"/>
            <a:ext cx="367190" cy="1260327"/>
          </a:xfrm>
          <a:prstGeom prst="rect">
            <a:avLst/>
          </a:prstGeom>
          <a:solidFill>
            <a:schemeClr val="accent1"/>
          </a:solidFill>
          <a:ln w="9525">
            <a:solidFill>
              <a:srgbClr val="CC0066"/>
            </a:solidFill>
            <a:miter lim="800000"/>
          </a:ln>
        </p:spPr>
        <p:txBody>
          <a:bodyPr>
            <a:spAutoFit/>
          </a:bodyPr>
          <a:lstStyle/>
          <a:p>
            <a:endParaRPr lang="en-US" altLang="zh-CN" sz="1600" b="1" dirty="0" smtClean="0">
              <a:solidFill>
                <a:srgbClr val="CC0066"/>
              </a:solidFill>
            </a:endParaRPr>
          </a:p>
          <a:p>
            <a:r>
              <a:rPr lang="zh-CN" altLang="en-US" sz="1600" b="1" dirty="0" smtClean="0">
                <a:solidFill>
                  <a:srgbClr val="CC0066"/>
                </a:solidFill>
              </a:rPr>
              <a:t>语法分析</a:t>
            </a:r>
            <a:endParaRPr lang="en-US" altLang="zh-CN" sz="1600" b="1" dirty="0" smtClean="0">
              <a:solidFill>
                <a:srgbClr val="CC0066"/>
              </a:solidFill>
            </a:endParaRPr>
          </a:p>
          <a:p>
            <a:endParaRPr lang="zh-CN" altLang="en-US" sz="1800" b="1" dirty="0">
              <a:solidFill>
                <a:srgbClr val="CC0066"/>
              </a:solidFill>
            </a:endParaRPr>
          </a:p>
        </p:txBody>
      </p:sp>
      <p:sp>
        <p:nvSpPr>
          <p:cNvPr id="9" name="Text Box 9"/>
          <p:cNvSpPr txBox="1">
            <a:spLocks noChangeArrowheads="1"/>
          </p:cNvSpPr>
          <p:nvPr/>
        </p:nvSpPr>
        <p:spPr bwMode="auto">
          <a:xfrm>
            <a:off x="4751597" y="3224977"/>
            <a:ext cx="367190" cy="1235137"/>
          </a:xfrm>
          <a:prstGeom prst="rect">
            <a:avLst/>
          </a:prstGeom>
          <a:solidFill>
            <a:schemeClr val="accent1"/>
          </a:solidFill>
          <a:ln w="9525">
            <a:solidFill>
              <a:srgbClr val="CC0066"/>
            </a:solidFill>
            <a:miter lim="800000"/>
          </a:ln>
        </p:spPr>
        <p:txBody>
          <a:bodyPr>
            <a:spAutoFit/>
          </a:bodyPr>
          <a:lstStyle/>
          <a:p>
            <a:r>
              <a:rPr lang="zh-CN" altLang="en-US" sz="1600" b="1" dirty="0">
                <a:solidFill>
                  <a:srgbClr val="CC0066"/>
                </a:solidFill>
              </a:rPr>
              <a:t>中间代码生成</a:t>
            </a:r>
            <a:endParaRPr lang="zh-CN" altLang="en-US" sz="1600" b="1" dirty="0">
              <a:solidFill>
                <a:srgbClr val="CC0066"/>
              </a:solidFill>
            </a:endParaRPr>
          </a:p>
        </p:txBody>
      </p:sp>
      <p:sp>
        <p:nvSpPr>
          <p:cNvPr id="10" name="Text Box 10"/>
          <p:cNvSpPr txBox="1">
            <a:spLocks noChangeArrowheads="1"/>
          </p:cNvSpPr>
          <p:nvPr/>
        </p:nvSpPr>
        <p:spPr bwMode="auto">
          <a:xfrm>
            <a:off x="5424778" y="3224977"/>
            <a:ext cx="367190" cy="1236090"/>
          </a:xfrm>
          <a:prstGeom prst="rect">
            <a:avLst/>
          </a:prstGeom>
          <a:solidFill>
            <a:schemeClr val="accent1"/>
          </a:solidFill>
          <a:ln w="9525">
            <a:solidFill>
              <a:srgbClr val="CC0066"/>
            </a:solidFill>
            <a:miter lim="800000"/>
          </a:ln>
        </p:spPr>
        <p:txBody>
          <a:bodyPr>
            <a:spAutoFit/>
          </a:bodyPr>
          <a:lstStyle/>
          <a:p>
            <a:r>
              <a:rPr lang="zh-CN" altLang="en-US" sz="1600" b="1" dirty="0" smtClean="0">
                <a:solidFill>
                  <a:srgbClr val="CC0066"/>
                </a:solidFill>
              </a:rPr>
              <a:t>中间代码优化</a:t>
            </a:r>
            <a:endParaRPr lang="zh-CN" altLang="en-US" sz="1600" b="1" dirty="0">
              <a:solidFill>
                <a:srgbClr val="CC0066"/>
              </a:solidFill>
            </a:endParaRPr>
          </a:p>
        </p:txBody>
      </p:sp>
      <p:sp>
        <p:nvSpPr>
          <p:cNvPr id="11" name="Text Box 11"/>
          <p:cNvSpPr txBox="1">
            <a:spLocks noChangeArrowheads="1"/>
          </p:cNvSpPr>
          <p:nvPr/>
        </p:nvSpPr>
        <p:spPr bwMode="auto">
          <a:xfrm>
            <a:off x="6220357" y="3224977"/>
            <a:ext cx="367190" cy="1235137"/>
          </a:xfrm>
          <a:prstGeom prst="rect">
            <a:avLst/>
          </a:prstGeom>
          <a:solidFill>
            <a:schemeClr val="accent1"/>
          </a:solidFill>
          <a:ln w="9525">
            <a:solidFill>
              <a:srgbClr val="CC0066"/>
            </a:solidFill>
            <a:miter lim="800000"/>
          </a:ln>
        </p:spPr>
        <p:txBody>
          <a:bodyPr>
            <a:spAutoFit/>
          </a:bodyPr>
          <a:lstStyle/>
          <a:p>
            <a:r>
              <a:rPr lang="zh-CN" altLang="en-US" sz="1600" b="1">
                <a:solidFill>
                  <a:srgbClr val="CC0066"/>
                </a:solidFill>
              </a:rPr>
              <a:t>目标代码生成</a:t>
            </a:r>
            <a:endParaRPr lang="zh-CN" altLang="en-US" sz="1600" b="1">
              <a:solidFill>
                <a:srgbClr val="CC0066"/>
              </a:solidFill>
            </a:endParaRPr>
          </a:p>
        </p:txBody>
      </p:sp>
      <p:sp>
        <p:nvSpPr>
          <p:cNvPr id="12" name="Text Box 12"/>
          <p:cNvSpPr txBox="1">
            <a:spLocks noChangeArrowheads="1"/>
          </p:cNvSpPr>
          <p:nvPr/>
        </p:nvSpPr>
        <p:spPr bwMode="auto">
          <a:xfrm>
            <a:off x="7138332" y="3284984"/>
            <a:ext cx="428388" cy="1222636"/>
          </a:xfrm>
          <a:prstGeom prst="rect">
            <a:avLst/>
          </a:prstGeom>
          <a:noFill/>
          <a:ln w="9525">
            <a:noFill/>
            <a:miter lim="800000"/>
          </a:ln>
        </p:spPr>
        <p:txBody>
          <a:bodyPr>
            <a:spAutoFit/>
          </a:bodyPr>
          <a:lstStyle/>
          <a:p>
            <a:r>
              <a:rPr lang="zh-CN" altLang="en-US" b="1">
                <a:solidFill>
                  <a:srgbClr val="CC0066"/>
                </a:solidFill>
              </a:rPr>
              <a:t>目标程序</a:t>
            </a:r>
            <a:endParaRPr lang="zh-CN" altLang="en-US" b="1">
              <a:solidFill>
                <a:srgbClr val="CC0066"/>
              </a:solidFill>
            </a:endParaRPr>
          </a:p>
        </p:txBody>
      </p:sp>
      <p:sp>
        <p:nvSpPr>
          <p:cNvPr id="13" name="Line 13"/>
          <p:cNvSpPr>
            <a:spLocks noChangeShapeType="1"/>
          </p:cNvSpPr>
          <p:nvPr/>
        </p:nvSpPr>
        <p:spPr bwMode="auto">
          <a:xfrm>
            <a:off x="2915647" y="3705031"/>
            <a:ext cx="244793" cy="0"/>
          </a:xfrm>
          <a:prstGeom prst="line">
            <a:avLst/>
          </a:prstGeom>
          <a:noFill/>
          <a:ln w="9525">
            <a:solidFill>
              <a:srgbClr val="CC0066"/>
            </a:solidFill>
            <a:round/>
            <a:tailEnd type="triangle" w="med" len="med"/>
          </a:ln>
        </p:spPr>
        <p:txBody>
          <a:bodyPr wrap="none"/>
          <a:lstStyle/>
          <a:p>
            <a:endParaRPr lang="zh-CN" altLang="en-US"/>
          </a:p>
        </p:txBody>
      </p:sp>
      <p:sp>
        <p:nvSpPr>
          <p:cNvPr id="14" name="Line 14"/>
          <p:cNvSpPr>
            <a:spLocks noChangeShapeType="1"/>
          </p:cNvSpPr>
          <p:nvPr/>
        </p:nvSpPr>
        <p:spPr bwMode="auto">
          <a:xfrm>
            <a:off x="5118787" y="3705031"/>
            <a:ext cx="244793" cy="0"/>
          </a:xfrm>
          <a:prstGeom prst="line">
            <a:avLst/>
          </a:prstGeom>
          <a:noFill/>
          <a:ln w="9525">
            <a:solidFill>
              <a:srgbClr val="CC0066"/>
            </a:solidFill>
            <a:round/>
            <a:tailEnd type="triangle" w="med" len="med"/>
          </a:ln>
        </p:spPr>
        <p:txBody>
          <a:bodyPr wrap="none"/>
          <a:lstStyle/>
          <a:p>
            <a:endParaRPr lang="zh-CN" altLang="en-US"/>
          </a:p>
        </p:txBody>
      </p:sp>
      <p:sp>
        <p:nvSpPr>
          <p:cNvPr id="15" name="Text Box 15"/>
          <p:cNvSpPr txBox="1">
            <a:spLocks noChangeArrowheads="1"/>
          </p:cNvSpPr>
          <p:nvPr/>
        </p:nvSpPr>
        <p:spPr bwMode="auto">
          <a:xfrm>
            <a:off x="4017217" y="3224977"/>
            <a:ext cx="367190" cy="1260327"/>
          </a:xfrm>
          <a:prstGeom prst="rect">
            <a:avLst/>
          </a:prstGeom>
          <a:solidFill>
            <a:schemeClr val="accent1"/>
          </a:solidFill>
          <a:ln w="9525">
            <a:solidFill>
              <a:srgbClr val="CC0066"/>
            </a:solidFill>
            <a:miter lim="800000"/>
          </a:ln>
        </p:spPr>
        <p:txBody>
          <a:bodyPr wrap="square">
            <a:spAutoFit/>
          </a:bodyPr>
          <a:lstStyle/>
          <a:p>
            <a:endParaRPr lang="en-US" altLang="zh-CN" sz="1600" b="1" dirty="0" smtClean="0">
              <a:solidFill>
                <a:srgbClr val="CC0066"/>
              </a:solidFill>
            </a:endParaRPr>
          </a:p>
          <a:p>
            <a:r>
              <a:rPr lang="zh-CN" altLang="en-US" sz="1600" b="1" dirty="0" smtClean="0">
                <a:solidFill>
                  <a:srgbClr val="CC0066"/>
                </a:solidFill>
              </a:rPr>
              <a:t>语义分析</a:t>
            </a:r>
            <a:endParaRPr lang="en-US" altLang="zh-CN" sz="1600" b="1" dirty="0" smtClean="0">
              <a:solidFill>
                <a:srgbClr val="CC0066"/>
              </a:solidFill>
            </a:endParaRPr>
          </a:p>
          <a:p>
            <a:endParaRPr lang="en-US" altLang="zh-CN" sz="1800" b="1" dirty="0" smtClean="0">
              <a:solidFill>
                <a:srgbClr val="CC0066"/>
              </a:solidFill>
            </a:endParaRPr>
          </a:p>
        </p:txBody>
      </p:sp>
      <p:sp>
        <p:nvSpPr>
          <p:cNvPr id="16" name="Line 16"/>
          <p:cNvSpPr>
            <a:spLocks noChangeShapeType="1"/>
          </p:cNvSpPr>
          <p:nvPr/>
        </p:nvSpPr>
        <p:spPr bwMode="auto">
          <a:xfrm>
            <a:off x="5853167" y="3705031"/>
            <a:ext cx="244793" cy="0"/>
          </a:xfrm>
          <a:prstGeom prst="line">
            <a:avLst/>
          </a:prstGeom>
          <a:noFill/>
          <a:ln w="9525">
            <a:solidFill>
              <a:srgbClr val="CC0066"/>
            </a:solidFill>
            <a:round/>
            <a:tailEnd type="triangle" w="med" len="med"/>
          </a:ln>
        </p:spPr>
        <p:txBody>
          <a:bodyPr wrap="none"/>
          <a:lstStyle/>
          <a:p>
            <a:endParaRPr lang="zh-CN" altLang="en-US"/>
          </a:p>
        </p:txBody>
      </p:sp>
      <p:sp>
        <p:nvSpPr>
          <p:cNvPr id="17" name="Line 17"/>
          <p:cNvSpPr>
            <a:spLocks noChangeShapeType="1"/>
          </p:cNvSpPr>
          <p:nvPr/>
        </p:nvSpPr>
        <p:spPr bwMode="auto">
          <a:xfrm>
            <a:off x="3650027" y="3705031"/>
            <a:ext cx="244793" cy="0"/>
          </a:xfrm>
          <a:prstGeom prst="line">
            <a:avLst/>
          </a:prstGeom>
          <a:noFill/>
          <a:ln w="9525">
            <a:solidFill>
              <a:srgbClr val="CC0066"/>
            </a:solidFill>
            <a:round/>
            <a:tailEnd type="triangle" w="med" len="med"/>
          </a:ln>
        </p:spPr>
        <p:txBody>
          <a:bodyPr wrap="none"/>
          <a:lstStyle/>
          <a:p>
            <a:endParaRPr lang="zh-CN" altLang="en-US"/>
          </a:p>
        </p:txBody>
      </p:sp>
      <p:sp>
        <p:nvSpPr>
          <p:cNvPr id="18" name="Line 18"/>
          <p:cNvSpPr>
            <a:spLocks noChangeShapeType="1"/>
          </p:cNvSpPr>
          <p:nvPr/>
        </p:nvSpPr>
        <p:spPr bwMode="auto">
          <a:xfrm>
            <a:off x="4445605" y="3705031"/>
            <a:ext cx="244793" cy="0"/>
          </a:xfrm>
          <a:prstGeom prst="line">
            <a:avLst/>
          </a:prstGeom>
          <a:noFill/>
          <a:ln w="9525">
            <a:solidFill>
              <a:srgbClr val="CC0066"/>
            </a:solidFill>
            <a:round/>
            <a:tailEnd type="triangle" w="med" len="med"/>
          </a:ln>
        </p:spPr>
        <p:txBody>
          <a:bodyPr wrap="none"/>
          <a:lstStyle/>
          <a:p>
            <a:endParaRPr lang="zh-CN" altLang="en-US"/>
          </a:p>
        </p:txBody>
      </p:sp>
      <p:sp>
        <p:nvSpPr>
          <p:cNvPr id="19" name="Line 19"/>
          <p:cNvSpPr>
            <a:spLocks noChangeShapeType="1"/>
          </p:cNvSpPr>
          <p:nvPr/>
        </p:nvSpPr>
        <p:spPr bwMode="auto">
          <a:xfrm>
            <a:off x="6771142" y="3705031"/>
            <a:ext cx="305992" cy="0"/>
          </a:xfrm>
          <a:prstGeom prst="line">
            <a:avLst/>
          </a:prstGeom>
          <a:noFill/>
          <a:ln w="9525">
            <a:solidFill>
              <a:srgbClr val="CC0066"/>
            </a:solidFill>
            <a:round/>
            <a:tailEnd type="triangle" w="med" len="med"/>
          </a:ln>
        </p:spPr>
        <p:txBody>
          <a:bodyPr wrap="none"/>
          <a:lstStyle/>
          <a:p>
            <a:endParaRPr lang="zh-CN" altLang="en-US"/>
          </a:p>
        </p:txBody>
      </p:sp>
      <p:sp>
        <p:nvSpPr>
          <p:cNvPr id="20" name="Text Box 21"/>
          <p:cNvSpPr txBox="1">
            <a:spLocks noChangeArrowheads="1"/>
          </p:cNvSpPr>
          <p:nvPr/>
        </p:nvSpPr>
        <p:spPr bwMode="auto">
          <a:xfrm>
            <a:off x="2426060" y="2444891"/>
            <a:ext cx="4161487" cy="367541"/>
          </a:xfrm>
          <a:prstGeom prst="rect">
            <a:avLst/>
          </a:prstGeom>
          <a:solidFill>
            <a:schemeClr val="accent1"/>
          </a:solidFill>
          <a:ln w="9525">
            <a:solidFill>
              <a:srgbClr val="CC0066"/>
            </a:solidFill>
            <a:miter lim="800000"/>
          </a:ln>
        </p:spPr>
        <p:txBody>
          <a:bodyPr>
            <a:spAutoFit/>
          </a:bodyPr>
          <a:lstStyle/>
          <a:p>
            <a:pPr algn="ctr"/>
            <a:r>
              <a:rPr lang="zh-CN" altLang="en-US" b="1">
                <a:solidFill>
                  <a:srgbClr val="CC0066"/>
                </a:solidFill>
              </a:rPr>
              <a:t>表格管理</a:t>
            </a:r>
            <a:endParaRPr lang="zh-CN" altLang="en-US" b="1">
              <a:solidFill>
                <a:srgbClr val="CC0066"/>
              </a:solidFill>
            </a:endParaRPr>
          </a:p>
        </p:txBody>
      </p:sp>
      <p:sp>
        <p:nvSpPr>
          <p:cNvPr id="21" name="Text Box 22"/>
          <p:cNvSpPr txBox="1">
            <a:spLocks noChangeArrowheads="1"/>
          </p:cNvSpPr>
          <p:nvPr/>
        </p:nvSpPr>
        <p:spPr bwMode="auto">
          <a:xfrm>
            <a:off x="2426060" y="4845157"/>
            <a:ext cx="4161487" cy="367541"/>
          </a:xfrm>
          <a:prstGeom prst="rect">
            <a:avLst/>
          </a:prstGeom>
          <a:solidFill>
            <a:schemeClr val="accent1"/>
          </a:solidFill>
          <a:ln w="9525">
            <a:solidFill>
              <a:srgbClr val="CC0066"/>
            </a:solidFill>
            <a:miter lim="800000"/>
          </a:ln>
        </p:spPr>
        <p:txBody>
          <a:bodyPr>
            <a:spAutoFit/>
          </a:bodyPr>
          <a:lstStyle/>
          <a:p>
            <a:pPr algn="ctr"/>
            <a:r>
              <a:rPr lang="zh-CN" altLang="en-US" b="1">
                <a:solidFill>
                  <a:srgbClr val="CC0066"/>
                </a:solidFill>
              </a:rPr>
              <a:t>错误处理</a:t>
            </a:r>
            <a:endParaRPr lang="zh-CN" altLang="en-US" b="1">
              <a:solidFill>
                <a:srgbClr val="CC0066"/>
              </a:solidFill>
            </a:endParaRPr>
          </a:p>
        </p:txBody>
      </p:sp>
      <p:sp>
        <p:nvSpPr>
          <p:cNvPr id="22" name="Line 23"/>
          <p:cNvSpPr>
            <a:spLocks noChangeShapeType="1"/>
          </p:cNvSpPr>
          <p:nvPr/>
        </p:nvSpPr>
        <p:spPr bwMode="auto">
          <a:xfrm>
            <a:off x="2609655" y="2864937"/>
            <a:ext cx="0" cy="36004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23" name="Line 24"/>
          <p:cNvSpPr>
            <a:spLocks noChangeShapeType="1"/>
          </p:cNvSpPr>
          <p:nvPr/>
        </p:nvSpPr>
        <p:spPr bwMode="auto">
          <a:xfrm>
            <a:off x="3344035" y="2864937"/>
            <a:ext cx="0" cy="36004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24" name="Line 25"/>
          <p:cNvSpPr>
            <a:spLocks noChangeShapeType="1"/>
          </p:cNvSpPr>
          <p:nvPr/>
        </p:nvSpPr>
        <p:spPr bwMode="auto">
          <a:xfrm>
            <a:off x="4200812" y="2864937"/>
            <a:ext cx="0" cy="36004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25" name="Line 26"/>
          <p:cNvSpPr>
            <a:spLocks noChangeShapeType="1"/>
          </p:cNvSpPr>
          <p:nvPr/>
        </p:nvSpPr>
        <p:spPr bwMode="auto">
          <a:xfrm>
            <a:off x="4935192" y="2864937"/>
            <a:ext cx="0" cy="36004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26" name="Line 27"/>
          <p:cNvSpPr>
            <a:spLocks noChangeShapeType="1"/>
          </p:cNvSpPr>
          <p:nvPr/>
        </p:nvSpPr>
        <p:spPr bwMode="auto">
          <a:xfrm>
            <a:off x="5608373" y="2864937"/>
            <a:ext cx="0" cy="36004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27" name="Line 28"/>
          <p:cNvSpPr>
            <a:spLocks noChangeShapeType="1"/>
          </p:cNvSpPr>
          <p:nvPr/>
        </p:nvSpPr>
        <p:spPr bwMode="auto">
          <a:xfrm>
            <a:off x="6403952" y="2864937"/>
            <a:ext cx="0" cy="36004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28" name="Line 29"/>
          <p:cNvSpPr>
            <a:spLocks noChangeShapeType="1"/>
          </p:cNvSpPr>
          <p:nvPr/>
        </p:nvSpPr>
        <p:spPr bwMode="auto">
          <a:xfrm>
            <a:off x="2609655" y="4485117"/>
            <a:ext cx="0" cy="36004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29" name="Line 30"/>
          <p:cNvSpPr>
            <a:spLocks noChangeShapeType="1"/>
          </p:cNvSpPr>
          <p:nvPr/>
        </p:nvSpPr>
        <p:spPr bwMode="auto">
          <a:xfrm>
            <a:off x="3405233" y="4485117"/>
            <a:ext cx="0" cy="36004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30" name="Line 31"/>
          <p:cNvSpPr>
            <a:spLocks noChangeShapeType="1"/>
          </p:cNvSpPr>
          <p:nvPr/>
        </p:nvSpPr>
        <p:spPr bwMode="auto">
          <a:xfrm>
            <a:off x="4200812" y="4485117"/>
            <a:ext cx="0" cy="36004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31" name="Line 32"/>
          <p:cNvSpPr>
            <a:spLocks noChangeShapeType="1"/>
          </p:cNvSpPr>
          <p:nvPr/>
        </p:nvSpPr>
        <p:spPr bwMode="auto">
          <a:xfrm>
            <a:off x="6403952" y="4485117"/>
            <a:ext cx="0" cy="36004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32" name="Line 33"/>
          <p:cNvSpPr>
            <a:spLocks noChangeShapeType="1"/>
          </p:cNvSpPr>
          <p:nvPr/>
        </p:nvSpPr>
        <p:spPr bwMode="auto">
          <a:xfrm>
            <a:off x="5608373" y="4485117"/>
            <a:ext cx="0" cy="36004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33" name="Line 34"/>
          <p:cNvSpPr>
            <a:spLocks noChangeShapeType="1"/>
          </p:cNvSpPr>
          <p:nvPr/>
        </p:nvSpPr>
        <p:spPr bwMode="auto">
          <a:xfrm>
            <a:off x="4935192" y="4485117"/>
            <a:ext cx="0" cy="360040"/>
          </a:xfrm>
          <a:prstGeom prst="line">
            <a:avLst/>
          </a:prstGeom>
          <a:noFill/>
          <a:ln w="9525">
            <a:solidFill>
              <a:srgbClr val="CC0066"/>
            </a:solidFill>
            <a:round/>
            <a:headEnd type="triangle" w="med" len="med"/>
            <a:tailEnd type="triangle" w="med" len="med"/>
          </a:ln>
        </p:spPr>
        <p:txBody>
          <a:bodyPr wrap="none"/>
          <a:lstStyle/>
          <a:p>
            <a:endParaRPr lang="zh-CN" altLang="en-US"/>
          </a:p>
        </p:txBody>
      </p:sp>
      <p:sp>
        <p:nvSpPr>
          <p:cNvPr id="34" name="Line 36"/>
          <p:cNvSpPr>
            <a:spLocks noChangeShapeType="1"/>
          </p:cNvSpPr>
          <p:nvPr/>
        </p:nvSpPr>
        <p:spPr bwMode="auto">
          <a:xfrm>
            <a:off x="5975562" y="2204864"/>
            <a:ext cx="36598" cy="3816424"/>
          </a:xfrm>
          <a:prstGeom prst="line">
            <a:avLst/>
          </a:prstGeom>
          <a:noFill/>
          <a:ln w="19050">
            <a:solidFill>
              <a:schemeClr val="tx1"/>
            </a:solidFill>
            <a:prstDash val="sysDot"/>
            <a:round/>
          </a:ln>
        </p:spPr>
        <p:txBody>
          <a:bodyPr wrap="none"/>
          <a:lstStyle/>
          <a:p>
            <a:endParaRPr lang="zh-CN" altLang="en-US"/>
          </a:p>
        </p:txBody>
      </p:sp>
      <p:sp>
        <p:nvSpPr>
          <p:cNvPr id="35" name="矩形 34"/>
          <p:cNvSpPr/>
          <p:nvPr/>
        </p:nvSpPr>
        <p:spPr>
          <a:xfrm>
            <a:off x="2195736" y="5373216"/>
            <a:ext cx="3744416" cy="1015663"/>
          </a:xfrm>
          <a:prstGeom prst="rect">
            <a:avLst/>
          </a:prstGeom>
        </p:spPr>
        <p:txBody>
          <a:bodyPr wrap="square">
            <a:spAutoFit/>
          </a:bodyPr>
          <a:lstStyle/>
          <a:p>
            <a:r>
              <a:rPr lang="zh-CN" altLang="en-US" sz="2000" dirty="0" smtClean="0">
                <a:latin typeface="宋体" panose="02010600030101010101" pitchFamily="2" charset="-122"/>
                <a:ea typeface="+mn-ea"/>
              </a:rPr>
              <a:t>词法分析</a:t>
            </a:r>
            <a:r>
              <a:rPr lang="en-US" altLang="zh-CN" sz="2000" dirty="0" smtClean="0">
                <a:latin typeface="宋体" panose="02010600030101010101" pitchFamily="2" charset="-122"/>
                <a:ea typeface="+mn-ea"/>
              </a:rPr>
              <a:t>/</a:t>
            </a:r>
            <a:r>
              <a:rPr lang="zh-CN" altLang="en-US" sz="2000" dirty="0" smtClean="0">
                <a:latin typeface="宋体" panose="02010600030101010101" pitchFamily="2" charset="-122"/>
                <a:ea typeface="+mn-ea"/>
              </a:rPr>
              <a:t>语法分析</a:t>
            </a:r>
            <a:r>
              <a:rPr lang="en-US" altLang="zh-CN" sz="2000" dirty="0" smtClean="0">
                <a:latin typeface="宋体" panose="02010600030101010101" pitchFamily="2" charset="-122"/>
                <a:ea typeface="+mn-ea"/>
              </a:rPr>
              <a:t>/</a:t>
            </a:r>
            <a:r>
              <a:rPr lang="zh-CN" altLang="en-US" sz="2000" dirty="0" smtClean="0">
                <a:latin typeface="宋体" panose="02010600030101010101" pitchFamily="2" charset="-122"/>
                <a:ea typeface="+mn-ea"/>
              </a:rPr>
              <a:t>语义分析</a:t>
            </a:r>
            <a:r>
              <a:rPr lang="en-US" altLang="zh-CN" sz="2000" dirty="0" smtClean="0">
                <a:latin typeface="宋体" panose="02010600030101010101" pitchFamily="2" charset="-122"/>
                <a:ea typeface="+mn-ea"/>
              </a:rPr>
              <a:t>/</a:t>
            </a:r>
            <a:r>
              <a:rPr lang="zh-CN" altLang="en-US" sz="2000" dirty="0" smtClean="0">
                <a:latin typeface="宋体" panose="02010600030101010101" pitchFamily="2" charset="-122"/>
                <a:ea typeface="+mn-ea"/>
              </a:rPr>
              <a:t>中间代码</a:t>
            </a:r>
            <a:r>
              <a:rPr lang="en-US" altLang="zh-CN" sz="2000" dirty="0" smtClean="0">
                <a:latin typeface="宋体" panose="02010600030101010101" pitchFamily="2" charset="-122"/>
                <a:ea typeface="+mn-ea"/>
              </a:rPr>
              <a:t>/</a:t>
            </a:r>
            <a:r>
              <a:rPr lang="zh-CN" altLang="en-US" sz="2000" dirty="0" smtClean="0">
                <a:latin typeface="宋体" panose="02010600030101010101" pitchFamily="2" charset="-122"/>
                <a:ea typeface="+mn-ea"/>
              </a:rPr>
              <a:t>相关的出错和表格管理程序</a:t>
            </a:r>
            <a:endParaRPr lang="zh-CN" altLang="en-US" sz="2000" dirty="0" smtClean="0">
              <a:latin typeface="宋体" panose="02010600030101010101" pitchFamily="2" charset="-122"/>
              <a:ea typeface="+mn-ea"/>
            </a:endParaRPr>
          </a:p>
        </p:txBody>
      </p:sp>
      <p:sp>
        <p:nvSpPr>
          <p:cNvPr id="36" name="矩形 35"/>
          <p:cNvSpPr/>
          <p:nvPr/>
        </p:nvSpPr>
        <p:spPr>
          <a:xfrm>
            <a:off x="6012160" y="5374957"/>
            <a:ext cx="2574032" cy="707886"/>
          </a:xfrm>
          <a:prstGeom prst="rect">
            <a:avLst/>
          </a:prstGeom>
        </p:spPr>
        <p:txBody>
          <a:bodyPr wrap="square">
            <a:spAutoFit/>
          </a:bodyPr>
          <a:lstStyle/>
          <a:p>
            <a:r>
              <a:rPr lang="zh-CN" altLang="en-US" sz="2000" dirty="0" smtClean="0">
                <a:latin typeface="宋体" panose="02010600030101010101" pitchFamily="2" charset="-122"/>
                <a:ea typeface="+mn-ea"/>
              </a:rPr>
              <a:t>目标代码</a:t>
            </a:r>
            <a:r>
              <a:rPr lang="en-US" altLang="zh-CN" sz="2000" dirty="0" smtClean="0">
                <a:latin typeface="宋体" panose="02010600030101010101" pitchFamily="2" charset="-122"/>
                <a:ea typeface="+mn-ea"/>
              </a:rPr>
              <a:t>/</a:t>
            </a:r>
            <a:r>
              <a:rPr lang="zh-CN" altLang="en-US" sz="2000" dirty="0" smtClean="0">
                <a:latin typeface="宋体" panose="02010600030101010101" pitchFamily="2" charset="-122"/>
                <a:ea typeface="+mn-ea"/>
              </a:rPr>
              <a:t>相关的出错和表格管理程序</a:t>
            </a:r>
            <a:endParaRPr lang="zh-CN" altLang="en-US" sz="2000" dirty="0" smtClean="0">
              <a:latin typeface="宋体" panose="02010600030101010101" pitchFamily="2" charset="-122"/>
              <a:ea typeface="+mn-ea"/>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17410" name="Picture 2"/>
          <p:cNvPicPr>
            <a:picLocks noChangeAspect="1" noChangeArrowheads="1"/>
          </p:cNvPicPr>
          <p:nvPr/>
        </p:nvPicPr>
        <p:blipFill>
          <a:blip r:embed="rId1"/>
          <a:srcRect l="8137" t="29653" r="15913" b="33462"/>
          <a:stretch>
            <a:fillRect/>
          </a:stretch>
        </p:blipFill>
        <p:spPr bwMode="auto">
          <a:xfrm>
            <a:off x="500034" y="1571612"/>
            <a:ext cx="8001056" cy="3643338"/>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85800" y="476672"/>
            <a:ext cx="7772400" cy="609600"/>
          </a:xfrm>
        </p:spPr>
        <p:txBody>
          <a:bodyPr/>
          <a:lstStyle/>
          <a:p>
            <a:pPr eaLnBrk="1" hangingPunct="1"/>
            <a:r>
              <a:rPr lang="zh-CN" altLang="en-US" sz="2800" b="1" dirty="0" smtClean="0">
                <a:solidFill>
                  <a:schemeClr val="tx1"/>
                </a:solidFill>
                <a:latin typeface="宋体" panose="02010600030101010101" pitchFamily="2" charset="-122"/>
              </a:rPr>
              <a:t>前端和后端</a:t>
            </a:r>
            <a:endParaRPr lang="zh-CN" altLang="en-US" sz="2800" b="1" dirty="0" smtClean="0">
              <a:solidFill>
                <a:schemeClr val="tx1"/>
              </a:solidFill>
              <a:latin typeface="宋体" panose="02010600030101010101" pitchFamily="2" charset="-122"/>
            </a:endParaRPr>
          </a:p>
        </p:txBody>
      </p:sp>
      <p:sp>
        <p:nvSpPr>
          <p:cNvPr id="5" name="Rectangle 4"/>
          <p:cNvSpPr>
            <a:spLocks noChangeArrowheads="1"/>
          </p:cNvSpPr>
          <p:nvPr/>
        </p:nvSpPr>
        <p:spPr bwMode="auto">
          <a:xfrm>
            <a:off x="755576" y="1268760"/>
            <a:ext cx="7772400" cy="3231654"/>
          </a:xfrm>
          <a:prstGeom prst="rect">
            <a:avLst/>
          </a:prstGeom>
          <a:noFill/>
          <a:ln w="9525">
            <a:noFill/>
            <a:miter lim="800000"/>
          </a:ln>
        </p:spPr>
        <p:txBody>
          <a:bodyPr wrap="square">
            <a:spAutoFit/>
          </a:bodyPr>
          <a:lstStyle/>
          <a:p>
            <a:pPr marL="457200" indent="-457200">
              <a:spcBef>
                <a:spcPct val="50000"/>
              </a:spcBef>
              <a:buClr>
                <a:schemeClr val="accent1"/>
              </a:buClr>
              <a:buFont typeface="Wingdings" panose="05000000000000000000" pitchFamily="2" charset="2"/>
              <a:buChar char="n"/>
            </a:pPr>
            <a:r>
              <a:rPr lang="zh-CN" altLang="en-US" dirty="0" smtClean="0">
                <a:latin typeface="Tahoma" panose="020B0604030504040204" pitchFamily="34" charset="0"/>
                <a:ea typeface="黑体" panose="02010609060101010101" pitchFamily="2" charset="-122"/>
              </a:rPr>
              <a:t>相同前端</a:t>
            </a:r>
            <a:r>
              <a:rPr lang="zh-CN" altLang="en-US" dirty="0">
                <a:latin typeface="Tahoma" panose="020B0604030504040204" pitchFamily="34" charset="0"/>
                <a:ea typeface="黑体" panose="02010609060101010101" pitchFamily="2" charset="-122"/>
              </a:rPr>
              <a:t>，</a:t>
            </a:r>
            <a:r>
              <a:rPr lang="zh-CN" altLang="en-US" dirty="0" smtClean="0">
                <a:latin typeface="Tahoma" panose="020B0604030504040204" pitchFamily="34" charset="0"/>
                <a:ea typeface="黑体" panose="02010609060101010101" pitchFamily="2" charset="-122"/>
              </a:rPr>
              <a:t>不同后端</a:t>
            </a:r>
            <a:r>
              <a:rPr lang="zh-CN" altLang="en-US" dirty="0">
                <a:latin typeface="Tahoma" panose="020B0604030504040204" pitchFamily="34" charset="0"/>
                <a:ea typeface="黑体" panose="02010609060101010101" pitchFamily="2" charset="-122"/>
              </a:rPr>
              <a:t>，可为</a:t>
            </a:r>
            <a:r>
              <a:rPr lang="zh-CN" altLang="en-US" dirty="0" smtClean="0">
                <a:solidFill>
                  <a:srgbClr val="FF0000"/>
                </a:solidFill>
                <a:latin typeface="Tahoma" panose="020B0604030504040204" pitchFamily="34" charset="0"/>
                <a:ea typeface="黑体" panose="02010609060101010101" pitchFamily="2" charset="-122"/>
              </a:rPr>
              <a:t>不同机器</a:t>
            </a:r>
            <a:r>
              <a:rPr lang="zh-CN" altLang="en-US" dirty="0" smtClean="0">
                <a:latin typeface="Tahoma" panose="020B0604030504040204" pitchFamily="34" charset="0"/>
                <a:ea typeface="黑体" panose="02010609060101010101" pitchFamily="2" charset="-122"/>
              </a:rPr>
              <a:t>生成</a:t>
            </a:r>
            <a:r>
              <a:rPr lang="zh-CN" altLang="en-US" dirty="0" smtClean="0">
                <a:solidFill>
                  <a:srgbClr val="FF0000"/>
                </a:solidFill>
                <a:latin typeface="Tahoma" panose="020B0604030504040204" pitchFamily="34" charset="0"/>
                <a:ea typeface="黑体" panose="02010609060101010101" pitchFamily="2" charset="-122"/>
              </a:rPr>
              <a:t>同</a:t>
            </a:r>
            <a:r>
              <a:rPr lang="zh-CN" altLang="en-US" dirty="0">
                <a:solidFill>
                  <a:srgbClr val="FF0000"/>
                </a:solidFill>
                <a:latin typeface="Tahoma" panose="020B0604030504040204" pitchFamily="34" charset="0"/>
                <a:ea typeface="黑体" panose="02010609060101010101" pitchFamily="2" charset="-122"/>
              </a:rPr>
              <a:t>一个语言</a:t>
            </a:r>
            <a:r>
              <a:rPr lang="zh-CN" altLang="en-US" dirty="0">
                <a:latin typeface="Tahoma" panose="020B0604030504040204" pitchFamily="34" charset="0"/>
                <a:ea typeface="黑体" panose="02010609060101010101" pitchFamily="2" charset="-122"/>
              </a:rPr>
              <a:t>的</a:t>
            </a:r>
            <a:r>
              <a:rPr lang="zh-CN" altLang="en-US" dirty="0" smtClean="0">
                <a:latin typeface="Tahoma" panose="020B0604030504040204" pitchFamily="34" charset="0"/>
                <a:ea typeface="黑体" panose="02010609060101010101" pitchFamily="2" charset="-122"/>
              </a:rPr>
              <a:t>编译程序</a:t>
            </a:r>
            <a:endParaRPr lang="en-US" altLang="zh-CN" dirty="0" smtClean="0">
              <a:latin typeface="Tahoma" panose="020B0604030504040204" pitchFamily="34" charset="0"/>
              <a:ea typeface="黑体" panose="02010609060101010101" pitchFamily="2" charset="-122"/>
            </a:endParaRPr>
          </a:p>
          <a:p>
            <a:pPr>
              <a:spcBef>
                <a:spcPct val="50000"/>
              </a:spcBef>
              <a:buClr>
                <a:schemeClr val="accent1"/>
              </a:buClr>
            </a:pPr>
            <a:endParaRPr lang="en-US" altLang="zh-CN" dirty="0" smtClean="0">
              <a:latin typeface="Tahoma" panose="020B0604030504040204" pitchFamily="34" charset="0"/>
              <a:ea typeface="黑体" panose="02010609060101010101" pitchFamily="2" charset="-122"/>
            </a:endParaRPr>
          </a:p>
          <a:p>
            <a:pPr>
              <a:spcBef>
                <a:spcPct val="50000"/>
              </a:spcBef>
              <a:buClr>
                <a:schemeClr val="accent1"/>
              </a:buClr>
            </a:pPr>
            <a:endParaRPr lang="en-US" altLang="zh-CN" dirty="0" smtClean="0">
              <a:latin typeface="Tahoma" panose="020B0604030504040204" pitchFamily="34" charset="0"/>
              <a:ea typeface="黑体" panose="02010609060101010101" pitchFamily="2" charset="-122"/>
            </a:endParaRPr>
          </a:p>
          <a:p>
            <a:pPr>
              <a:spcBef>
                <a:spcPct val="50000"/>
              </a:spcBef>
              <a:buClr>
                <a:schemeClr val="accent1"/>
              </a:buClr>
            </a:pPr>
            <a:endParaRPr lang="en-US" altLang="zh-CN" dirty="0" smtClean="0">
              <a:latin typeface="Tahoma" panose="020B0604030504040204" pitchFamily="34" charset="0"/>
              <a:ea typeface="黑体" panose="02010609060101010101" pitchFamily="2" charset="-122"/>
            </a:endParaRPr>
          </a:p>
          <a:p>
            <a:pPr>
              <a:spcBef>
                <a:spcPts val="0"/>
              </a:spcBef>
              <a:buClr>
                <a:schemeClr val="accent1"/>
              </a:buClr>
              <a:buFont typeface="Wingdings" panose="05000000000000000000" pitchFamily="2" charset="2"/>
              <a:buChar char="n"/>
            </a:pPr>
            <a:r>
              <a:rPr lang="zh-CN" altLang="en-US" dirty="0" smtClean="0">
                <a:latin typeface="Tahoma" panose="020B0604030504040204" pitchFamily="34" charset="0"/>
                <a:ea typeface="黑体" panose="02010609060101010101" pitchFamily="2" charset="-122"/>
              </a:rPr>
              <a:t>不同前端</a:t>
            </a:r>
            <a:r>
              <a:rPr lang="zh-CN" altLang="en-US" dirty="0">
                <a:latin typeface="Tahoma" panose="020B0604030504040204" pitchFamily="34" charset="0"/>
                <a:ea typeface="黑体" panose="02010609060101010101" pitchFamily="2" charset="-122"/>
              </a:rPr>
              <a:t>，</a:t>
            </a:r>
            <a:r>
              <a:rPr lang="zh-CN" altLang="en-US" dirty="0" smtClean="0">
                <a:latin typeface="Tahoma" panose="020B0604030504040204" pitchFamily="34" charset="0"/>
                <a:ea typeface="黑体" panose="02010609060101010101" pitchFamily="2" charset="-122"/>
              </a:rPr>
              <a:t>相同后端</a:t>
            </a:r>
            <a:r>
              <a:rPr lang="zh-CN" altLang="en-US" dirty="0">
                <a:latin typeface="Tahoma" panose="020B0604030504040204" pitchFamily="34" charset="0"/>
                <a:ea typeface="黑体" panose="02010609060101010101" pitchFamily="2" charset="-122"/>
              </a:rPr>
              <a:t>，可为</a:t>
            </a:r>
            <a:r>
              <a:rPr lang="zh-CN" altLang="en-US" dirty="0">
                <a:solidFill>
                  <a:srgbClr val="FF0000"/>
                </a:solidFill>
                <a:latin typeface="Tahoma" panose="020B0604030504040204" pitchFamily="34" charset="0"/>
                <a:ea typeface="黑体" panose="02010609060101010101" pitchFamily="2" charset="-122"/>
              </a:rPr>
              <a:t>同一机器</a:t>
            </a:r>
            <a:r>
              <a:rPr lang="zh-CN" altLang="en-US" dirty="0" smtClean="0">
                <a:latin typeface="Tahoma" panose="020B0604030504040204" pitchFamily="34" charset="0"/>
                <a:ea typeface="黑体" panose="02010609060101010101" pitchFamily="2" charset="-122"/>
              </a:rPr>
              <a:t>生成</a:t>
            </a:r>
            <a:r>
              <a:rPr lang="zh-CN" altLang="en-US" dirty="0" smtClean="0">
                <a:solidFill>
                  <a:srgbClr val="FF0000"/>
                </a:solidFill>
                <a:latin typeface="Tahoma" panose="020B0604030504040204" pitchFamily="34" charset="0"/>
                <a:ea typeface="黑体" panose="02010609060101010101" pitchFamily="2" charset="-122"/>
              </a:rPr>
              <a:t>不同语言</a:t>
            </a:r>
            <a:r>
              <a:rPr lang="zh-CN" altLang="en-US" dirty="0">
                <a:latin typeface="Tahoma" panose="020B0604030504040204" pitchFamily="34" charset="0"/>
                <a:ea typeface="黑体" panose="02010609060101010101" pitchFamily="2" charset="-122"/>
              </a:rPr>
              <a:t>的编译程序。</a:t>
            </a:r>
            <a:endParaRPr lang="zh-CN" altLang="en-US" dirty="0">
              <a:latin typeface="Tahoma" panose="020B0604030504040204" pitchFamily="34" charset="0"/>
              <a:ea typeface="黑体" panose="02010609060101010101" pitchFamily="2" charset="-122"/>
            </a:endParaRPr>
          </a:p>
        </p:txBody>
      </p:sp>
      <p:grpSp>
        <p:nvGrpSpPr>
          <p:cNvPr id="44" name="组合 43"/>
          <p:cNvGrpSpPr/>
          <p:nvPr/>
        </p:nvGrpSpPr>
        <p:grpSpPr>
          <a:xfrm>
            <a:off x="2296814" y="1700808"/>
            <a:ext cx="4291410" cy="1897623"/>
            <a:chOff x="2296814" y="1916832"/>
            <a:chExt cx="4291410" cy="1897623"/>
          </a:xfrm>
        </p:grpSpPr>
        <p:sp>
          <p:nvSpPr>
            <p:cNvPr id="8" name="矩形 7"/>
            <p:cNvSpPr/>
            <p:nvPr/>
          </p:nvSpPr>
          <p:spPr>
            <a:xfrm>
              <a:off x="2296814" y="2492896"/>
              <a:ext cx="1483098" cy="707886"/>
            </a:xfrm>
            <a:prstGeom prst="rect">
              <a:avLst/>
            </a:prstGeom>
            <a:noFill/>
          </p:spPr>
          <p:txBody>
            <a:bodyPr wrap="none" lIns="91440" tIns="45720" rIns="91440" bIns="45720">
              <a:spAutoFit/>
            </a:bodyPr>
            <a:lstStyle/>
            <a:p>
              <a:pPr algn="ctr"/>
              <a:r>
                <a:rPr lang="en-US" altLang="zh-CN" sz="4000" b="1" cap="none" spc="0" dirty="0" smtClean="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rPr>
                <a:t>C</a:t>
              </a:r>
              <a:r>
                <a:rPr lang="zh-CN" altLang="en-US" b="1" cap="none" spc="0" dirty="0" smtClean="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rPr>
                <a:t>源</a:t>
              </a:r>
              <a:r>
                <a:rPr lang="zh-CN" altLang="en-US" b="1" dirty="0" smtClean="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rPr>
                <a:t>程序</a:t>
              </a:r>
              <a:endParaRPr lang="zh-CN" altLang="en-US" b="1" dirty="0" smtClean="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endParaRPr>
            </a:p>
          </p:txBody>
        </p:sp>
        <p:pic>
          <p:nvPicPr>
            <p:cNvPr id="17413" name="Picture 5"/>
            <p:cNvPicPr>
              <a:picLocks noChangeAspect="1" noChangeArrowheads="1"/>
            </p:cNvPicPr>
            <p:nvPr/>
          </p:nvPicPr>
          <p:blipFill>
            <a:blip r:embed="rId1" cstate="print"/>
            <a:srcRect/>
            <a:stretch>
              <a:fillRect/>
            </a:stretch>
          </p:blipFill>
          <p:spPr bwMode="auto">
            <a:xfrm>
              <a:off x="5692874" y="1916832"/>
              <a:ext cx="895350" cy="792088"/>
            </a:xfrm>
            <a:prstGeom prst="rect">
              <a:avLst/>
            </a:prstGeom>
            <a:noFill/>
            <a:ln w="9525">
              <a:noFill/>
              <a:miter lim="800000"/>
              <a:headEnd/>
              <a:tailEnd/>
            </a:ln>
          </p:spPr>
        </p:pic>
        <p:pic>
          <p:nvPicPr>
            <p:cNvPr id="17414" name="Picture 6"/>
            <p:cNvPicPr>
              <a:picLocks noChangeAspect="1" noChangeArrowheads="1"/>
            </p:cNvPicPr>
            <p:nvPr/>
          </p:nvPicPr>
          <p:blipFill>
            <a:blip r:embed="rId2" cstate="print"/>
            <a:srcRect/>
            <a:stretch>
              <a:fillRect/>
            </a:stretch>
          </p:blipFill>
          <p:spPr bwMode="auto">
            <a:xfrm>
              <a:off x="5689333" y="2924944"/>
              <a:ext cx="867637" cy="889511"/>
            </a:xfrm>
            <a:prstGeom prst="rect">
              <a:avLst/>
            </a:prstGeom>
            <a:noFill/>
            <a:ln w="9525">
              <a:noFill/>
              <a:miter lim="800000"/>
              <a:headEnd/>
              <a:tailEnd/>
            </a:ln>
          </p:spPr>
        </p:pic>
        <p:cxnSp>
          <p:nvCxnSpPr>
            <p:cNvPr id="15" name="直接连接符 14"/>
            <p:cNvCxnSpPr>
              <a:stCxn id="8" idx="3"/>
            </p:cNvCxnSpPr>
            <p:nvPr/>
          </p:nvCxnSpPr>
          <p:spPr bwMode="auto">
            <a:xfrm>
              <a:off x="3779912" y="2846839"/>
              <a:ext cx="1152128" cy="609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直接连接符 16"/>
            <p:cNvCxnSpPr>
              <a:endCxn id="17413" idx="1"/>
            </p:cNvCxnSpPr>
            <p:nvPr/>
          </p:nvCxnSpPr>
          <p:spPr bwMode="auto">
            <a:xfrm flipV="1">
              <a:off x="4932040" y="2312876"/>
              <a:ext cx="760834" cy="54006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直接连接符 19"/>
            <p:cNvCxnSpPr>
              <a:endCxn id="17414" idx="1"/>
            </p:cNvCxnSpPr>
            <p:nvPr/>
          </p:nvCxnSpPr>
          <p:spPr bwMode="auto">
            <a:xfrm>
              <a:off x="4932040" y="2852936"/>
              <a:ext cx="757293" cy="516764"/>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46" name="组合 45"/>
          <p:cNvGrpSpPr/>
          <p:nvPr/>
        </p:nvGrpSpPr>
        <p:grpSpPr>
          <a:xfrm>
            <a:off x="1907704" y="4437112"/>
            <a:ext cx="5256584" cy="1427966"/>
            <a:chOff x="1331640" y="4509120"/>
            <a:chExt cx="5256584" cy="1427966"/>
          </a:xfrm>
        </p:grpSpPr>
        <p:sp>
          <p:nvSpPr>
            <p:cNvPr id="28" name="矩形 27"/>
            <p:cNvSpPr/>
            <p:nvPr/>
          </p:nvSpPr>
          <p:spPr>
            <a:xfrm>
              <a:off x="2339752" y="4509120"/>
              <a:ext cx="1483098" cy="707886"/>
            </a:xfrm>
            <a:prstGeom prst="rect">
              <a:avLst/>
            </a:prstGeom>
            <a:noFill/>
          </p:spPr>
          <p:txBody>
            <a:bodyPr wrap="square" lIns="91440" tIns="45720" rIns="91440" bIns="45720">
              <a:spAutoFit/>
            </a:bodyPr>
            <a:lstStyle/>
            <a:p>
              <a:pPr algn="ctr"/>
              <a:r>
                <a:rPr lang="en-US" altLang="zh-CN" sz="4000" b="1" cap="none" spc="0" dirty="0" smtClean="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rPr>
                <a:t>C</a:t>
              </a:r>
              <a:r>
                <a:rPr lang="zh-CN" altLang="en-US" b="1" cap="none" spc="0" dirty="0" smtClean="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rPr>
                <a:t>源</a:t>
              </a:r>
              <a:r>
                <a:rPr lang="zh-CN" altLang="en-US" b="1" dirty="0" smtClean="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rPr>
                <a:t>程序</a:t>
              </a:r>
              <a:endParaRPr lang="zh-CN" altLang="en-US" b="1" dirty="0" smtClean="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endParaRPr>
            </a:p>
          </p:txBody>
        </p:sp>
        <p:sp>
          <p:nvSpPr>
            <p:cNvPr id="29" name="矩形 28"/>
            <p:cNvSpPr/>
            <p:nvPr/>
          </p:nvSpPr>
          <p:spPr>
            <a:xfrm>
              <a:off x="1331640" y="5229200"/>
              <a:ext cx="2509020" cy="707886"/>
            </a:xfrm>
            <a:prstGeom prst="rect">
              <a:avLst/>
            </a:prstGeom>
            <a:noFill/>
          </p:spPr>
          <p:txBody>
            <a:bodyPr wrap="none" lIns="91440" tIns="45720" rIns="91440" bIns="45720">
              <a:spAutoFit/>
            </a:bodyPr>
            <a:lstStyle/>
            <a:p>
              <a:pPr algn="ctr"/>
              <a:r>
                <a:rPr lang="en-US" altLang="zh-CN" sz="4000" b="1" dirty="0" smtClean="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rPr>
                <a:t>Pascal</a:t>
              </a:r>
              <a:r>
                <a:rPr lang="zh-CN" altLang="en-US" b="1" cap="none" spc="0" dirty="0" smtClean="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rPr>
                <a:t>源</a:t>
              </a:r>
              <a:r>
                <a:rPr lang="zh-CN" altLang="en-US" b="1" dirty="0" smtClean="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rPr>
                <a:t>程序</a:t>
              </a:r>
              <a:endParaRPr lang="zh-CN" altLang="en-US" b="1" dirty="0" smtClean="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endParaRPr>
            </a:p>
          </p:txBody>
        </p:sp>
        <p:cxnSp>
          <p:nvCxnSpPr>
            <p:cNvPr id="30" name="直接连接符 29"/>
            <p:cNvCxnSpPr>
              <a:stCxn id="28" idx="3"/>
            </p:cNvCxnSpPr>
            <p:nvPr/>
          </p:nvCxnSpPr>
          <p:spPr bwMode="auto">
            <a:xfrm>
              <a:off x="3822850" y="4863063"/>
              <a:ext cx="1181198" cy="366137"/>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31" name="Picture 5"/>
            <p:cNvPicPr>
              <a:picLocks noChangeAspect="1" noChangeArrowheads="1"/>
            </p:cNvPicPr>
            <p:nvPr/>
          </p:nvPicPr>
          <p:blipFill>
            <a:blip r:embed="rId1" cstate="print"/>
            <a:srcRect/>
            <a:stretch>
              <a:fillRect/>
            </a:stretch>
          </p:blipFill>
          <p:spPr bwMode="auto">
            <a:xfrm>
              <a:off x="5692874" y="4835252"/>
              <a:ext cx="895350" cy="792088"/>
            </a:xfrm>
            <a:prstGeom prst="rect">
              <a:avLst/>
            </a:prstGeom>
            <a:noFill/>
            <a:ln w="9525">
              <a:noFill/>
              <a:miter lim="800000"/>
              <a:headEnd/>
              <a:tailEnd/>
            </a:ln>
          </p:spPr>
        </p:pic>
        <p:cxnSp>
          <p:nvCxnSpPr>
            <p:cNvPr id="37" name="直接连接符 36"/>
            <p:cNvCxnSpPr>
              <a:stCxn id="29" idx="3"/>
            </p:cNvCxnSpPr>
            <p:nvPr/>
          </p:nvCxnSpPr>
          <p:spPr bwMode="auto">
            <a:xfrm flipV="1">
              <a:off x="3840660" y="5229200"/>
              <a:ext cx="1163388" cy="35394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9" name="直接连接符 38"/>
            <p:cNvCxnSpPr>
              <a:endCxn id="31" idx="1"/>
            </p:cNvCxnSpPr>
            <p:nvPr/>
          </p:nvCxnSpPr>
          <p:spPr bwMode="auto">
            <a:xfrm>
              <a:off x="5004048" y="5229200"/>
              <a:ext cx="688826" cy="2096"/>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18434" name="Picture 2"/>
          <p:cNvPicPr>
            <a:picLocks noChangeAspect="1" noChangeArrowheads="1"/>
          </p:cNvPicPr>
          <p:nvPr/>
        </p:nvPicPr>
        <p:blipFill rotWithShape="1">
          <a:blip r:embed="rId1"/>
          <a:srcRect l="15597" t="24590" r="13201" b="47557"/>
          <a:stretch>
            <a:fillRect/>
          </a:stretch>
        </p:blipFill>
        <p:spPr bwMode="auto">
          <a:xfrm>
            <a:off x="467543" y="1653084"/>
            <a:ext cx="8179561" cy="3000052"/>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a:xfrm>
            <a:off x="395536" y="1196752"/>
            <a:ext cx="8424936" cy="4968552"/>
          </a:xfrm>
        </p:spPr>
        <p:txBody>
          <a:bodyPr>
            <a:noAutofit/>
          </a:bodyPr>
          <a:lstStyle/>
          <a:p>
            <a:pPr eaLnBrk="1" hangingPunct="1">
              <a:buFont typeface="Wingdings" panose="05000000000000000000" pitchFamily="2" charset="2"/>
              <a:buChar char="n"/>
            </a:pPr>
            <a:r>
              <a:rPr lang="zh-CN" altLang="en-US" sz="3200" b="1" dirty="0" smtClean="0">
                <a:latin typeface="宋体" panose="02010600030101010101" pitchFamily="2" charset="-122"/>
              </a:rPr>
              <a:t>从头到尾扫描程序称为一遍；</a:t>
            </a:r>
            <a:endParaRPr lang="en-US" altLang="zh-CN" sz="3200" b="1" dirty="0" smtClean="0">
              <a:latin typeface="宋体" panose="02010600030101010101" pitchFamily="2" charset="-122"/>
            </a:endParaRPr>
          </a:p>
          <a:p>
            <a:pPr eaLnBrk="1" hangingPunct="1">
              <a:buFont typeface="Wingdings" panose="05000000000000000000" pitchFamily="2" charset="2"/>
              <a:buChar char="n"/>
            </a:pPr>
            <a:r>
              <a:rPr lang="zh-CN" altLang="en-US" sz="3200" b="1" dirty="0" smtClean="0">
                <a:latin typeface="宋体" panose="02010600030101010101" pitchFamily="2" charset="-122"/>
              </a:rPr>
              <a:t>一个编译过程可由一遍或多遍完成。</a:t>
            </a:r>
            <a:endParaRPr lang="en-US" altLang="zh-CN" sz="3200" b="1" dirty="0" smtClean="0">
              <a:latin typeface="宋体" panose="02010600030101010101" pitchFamily="2" charset="-122"/>
            </a:endParaRPr>
          </a:p>
          <a:p>
            <a:pPr lvl="1" eaLnBrk="1" hangingPunct="1">
              <a:spcBef>
                <a:spcPts val="1200"/>
              </a:spcBef>
              <a:buFont typeface="Wingdings" panose="05000000000000000000" pitchFamily="2" charset="2"/>
              <a:buChar char="n"/>
            </a:pPr>
            <a:r>
              <a:rPr lang="zh-CN" altLang="en-US" sz="3200" b="1" dirty="0" smtClean="0">
                <a:solidFill>
                  <a:srgbClr val="FF0000"/>
                </a:solidFill>
                <a:latin typeface="宋体" panose="02010600030101010101" pitchFamily="2" charset="-122"/>
              </a:rPr>
              <a:t>一遍扫描法</a:t>
            </a:r>
            <a:r>
              <a:rPr lang="zh-CN" altLang="en-US" sz="3200" b="1" dirty="0" smtClean="0">
                <a:latin typeface="宋体" panose="02010600030101010101" pitchFamily="2" charset="-122"/>
              </a:rPr>
              <a:t>优点是可避免重复工作，编译速度快；缺点是当发生语法或语义错误时，前面工作可能半途而废，且算法不清晰，不便于优化。</a:t>
            </a:r>
            <a:endParaRPr lang="en-US" altLang="zh-CN" sz="3200" b="1" dirty="0" smtClean="0">
              <a:latin typeface="宋体" panose="02010600030101010101" pitchFamily="2" charset="-122"/>
            </a:endParaRPr>
          </a:p>
          <a:p>
            <a:pPr lvl="1" eaLnBrk="1" hangingPunct="1">
              <a:spcBef>
                <a:spcPts val="1200"/>
              </a:spcBef>
              <a:buFont typeface="Wingdings" panose="05000000000000000000" pitchFamily="2" charset="2"/>
              <a:buChar char="n"/>
            </a:pPr>
            <a:r>
              <a:rPr lang="zh-CN" altLang="en-US" sz="3200" b="1" dirty="0" smtClean="0">
                <a:solidFill>
                  <a:srgbClr val="FF0000"/>
                </a:solidFill>
                <a:latin typeface="宋体" panose="02010600030101010101" pitchFamily="2" charset="-122"/>
              </a:rPr>
              <a:t>多遍扫描法</a:t>
            </a:r>
            <a:r>
              <a:rPr lang="zh-CN" altLang="en-US" sz="3200" b="1" dirty="0" smtClean="0">
                <a:latin typeface="宋体" panose="02010600030101010101" pitchFamily="2" charset="-122"/>
              </a:rPr>
              <a:t>（多数编译器采用此法）占内存少，逻辑结构清晰，便于优化；缺点是消耗时间多，速度慢。</a:t>
            </a:r>
            <a:endParaRPr lang="zh-CN" altLang="en-US" sz="3200" b="1" dirty="0" smtClean="0">
              <a:latin typeface="宋体" panose="02010600030101010101" pitchFamily="2" charset="-122"/>
            </a:endParaRPr>
          </a:p>
        </p:txBody>
      </p:sp>
      <p:sp>
        <p:nvSpPr>
          <p:cNvPr id="12290" name="Rectangle 2"/>
          <p:cNvSpPr>
            <a:spLocks noGrp="1" noChangeArrowheads="1"/>
          </p:cNvSpPr>
          <p:nvPr>
            <p:ph type="title"/>
          </p:nvPr>
        </p:nvSpPr>
        <p:spPr>
          <a:xfrm>
            <a:off x="683568" y="188640"/>
            <a:ext cx="7772400" cy="914400"/>
          </a:xfrm>
        </p:spPr>
        <p:txBody>
          <a:bodyPr>
            <a:normAutofit/>
          </a:bodyPr>
          <a:lstStyle/>
          <a:p>
            <a:pPr eaLnBrk="1" hangingPunct="1"/>
            <a:r>
              <a:rPr lang="zh-CN" altLang="en-US" sz="3600" b="1" dirty="0" smtClean="0">
                <a:solidFill>
                  <a:schemeClr val="tx1"/>
                </a:solidFill>
                <a:latin typeface="黑体" panose="02010609060101010101" pitchFamily="2" charset="-122"/>
                <a:ea typeface="黑体" panose="02010609060101010101" pitchFamily="2" charset="-122"/>
              </a:rPr>
              <a:t>遍（趟，</a:t>
            </a:r>
            <a:r>
              <a:rPr lang="en-US" altLang="zh-CN" sz="3600" b="1" dirty="0" smtClean="0">
                <a:solidFill>
                  <a:schemeClr val="tx1"/>
                </a:solidFill>
                <a:latin typeface="黑体" panose="02010609060101010101" pitchFamily="2" charset="-122"/>
                <a:ea typeface="黑体" panose="02010609060101010101" pitchFamily="2" charset="-122"/>
              </a:rPr>
              <a:t>pass</a:t>
            </a:r>
            <a:r>
              <a:rPr lang="zh-CN" altLang="en-US" sz="3600" b="1" dirty="0" smtClean="0">
                <a:solidFill>
                  <a:schemeClr val="tx1"/>
                </a:solidFill>
                <a:latin typeface="黑体" panose="02010609060101010101" pitchFamily="2" charset="-122"/>
                <a:ea typeface="黑体" panose="02010609060101010101" pitchFamily="2" charset="-122"/>
              </a:rPr>
              <a:t>）</a:t>
            </a:r>
            <a:endParaRPr lang="en-US" altLang="zh-CN" sz="3600" b="1" dirty="0" smtClean="0">
              <a:solidFill>
                <a:schemeClr val="tx1"/>
              </a:solidFill>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4"/>
          <p:cNvSpPr>
            <a:spLocks noGrp="1" noChangeArrowheads="1"/>
          </p:cNvSpPr>
          <p:nvPr>
            <p:ph idx="1"/>
          </p:nvPr>
        </p:nvSpPr>
        <p:spPr>
          <a:xfrm>
            <a:off x="838200" y="838200"/>
            <a:ext cx="6858000" cy="1219200"/>
          </a:xfrm>
          <a:noFill/>
        </p:spPr>
        <p:txBody>
          <a:bodyPr/>
          <a:lstStyle/>
          <a:p>
            <a:pPr eaLnBrk="1" hangingPunct="1">
              <a:buFontTx/>
              <a:buNone/>
            </a:pPr>
            <a:endParaRPr lang="en-US" altLang="zh-CN" sz="2800" b="1" smtClean="0">
              <a:solidFill>
                <a:schemeClr val="tx2"/>
              </a:solidFill>
              <a:latin typeface="宋体" panose="02010600030101010101" pitchFamily="2" charset="-122"/>
            </a:endParaRPr>
          </a:p>
          <a:p>
            <a:pPr eaLnBrk="1" hangingPunct="1">
              <a:buFontTx/>
              <a:buNone/>
            </a:pPr>
            <a:r>
              <a:rPr lang="en-US" altLang="zh-CN" sz="2800" b="1" smtClean="0">
                <a:solidFill>
                  <a:schemeClr val="tx2"/>
                </a:solidFill>
                <a:latin typeface="宋体" panose="02010600030101010101" pitchFamily="2" charset="-122"/>
              </a:rPr>
              <a:t>1</a:t>
            </a:r>
            <a:r>
              <a:rPr lang="zh-CN" altLang="en-US" sz="2800" b="1" smtClean="0">
                <a:solidFill>
                  <a:schemeClr val="tx2"/>
                </a:solidFill>
                <a:latin typeface="宋体" panose="02010600030101010101" pitchFamily="2" charset="-122"/>
              </a:rPr>
              <a:t>）元级操作与元程序</a:t>
            </a:r>
            <a:endParaRPr lang="zh-CN" altLang="en-US" sz="2800" b="1" smtClean="0">
              <a:solidFill>
                <a:schemeClr val="tx2"/>
              </a:solidFill>
              <a:latin typeface="宋体" panose="02010600030101010101" pitchFamily="2" charset="-122"/>
            </a:endParaRPr>
          </a:p>
        </p:txBody>
      </p:sp>
      <p:sp>
        <p:nvSpPr>
          <p:cNvPr id="13314" name="Rectangle 2"/>
          <p:cNvSpPr>
            <a:spLocks noGrp="1" noChangeArrowheads="1"/>
          </p:cNvSpPr>
          <p:nvPr>
            <p:ph type="title"/>
          </p:nvPr>
        </p:nvSpPr>
        <p:spPr>
          <a:xfrm>
            <a:off x="457200" y="533400"/>
            <a:ext cx="7772400" cy="609600"/>
          </a:xfrm>
        </p:spPr>
        <p:txBody>
          <a:bodyPr/>
          <a:lstStyle/>
          <a:p>
            <a:pPr eaLnBrk="1" hangingPunct="1"/>
            <a:r>
              <a:rPr lang="en-US" altLang="zh-CN" sz="2800" b="1" smtClean="0">
                <a:solidFill>
                  <a:schemeClr val="tx1"/>
                </a:solidFill>
                <a:latin typeface="宋体" panose="02010600030101010101" pitchFamily="2" charset="-122"/>
              </a:rPr>
              <a:t>1.3</a:t>
            </a:r>
            <a:r>
              <a:rPr lang="zh-CN" altLang="en-US" sz="2800" b="1" smtClean="0">
                <a:solidFill>
                  <a:schemeClr val="tx1"/>
                </a:solidFill>
                <a:latin typeface="宋体" panose="02010600030101010101" pitchFamily="2" charset="-122"/>
              </a:rPr>
              <a:t>、编译程序的复杂性</a:t>
            </a:r>
            <a:endParaRPr lang="zh-CN" altLang="en-US" sz="2800" b="1" smtClean="0">
              <a:solidFill>
                <a:schemeClr val="tx1"/>
              </a:solidFill>
              <a:latin typeface="宋体" panose="02010600030101010101" pitchFamily="2" charset="-122"/>
            </a:endParaRPr>
          </a:p>
        </p:txBody>
      </p:sp>
      <p:cxnSp>
        <p:nvCxnSpPr>
          <p:cNvPr id="102406" name="AutoShape 6"/>
          <p:cNvCxnSpPr>
            <a:cxnSpLocks noChangeShapeType="1"/>
          </p:cNvCxnSpPr>
          <p:nvPr/>
        </p:nvCxnSpPr>
        <p:spPr bwMode="auto">
          <a:xfrm rot="16200000" flipH="1">
            <a:off x="3962400" y="1600200"/>
            <a:ext cx="457200" cy="914400"/>
          </a:xfrm>
          <a:prstGeom prst="bentConnector2">
            <a:avLst/>
          </a:prstGeom>
          <a:noFill/>
          <a:ln w="9525">
            <a:solidFill>
              <a:srgbClr val="CC0066"/>
            </a:solidFill>
            <a:miter lim="800000"/>
            <a:tailEnd type="triangle" w="med" len="med"/>
          </a:ln>
        </p:spPr>
      </p:cxnSp>
      <p:sp>
        <p:nvSpPr>
          <p:cNvPr id="102407" name="Text Box 7"/>
          <p:cNvSpPr txBox="1">
            <a:spLocks noChangeArrowheads="1"/>
          </p:cNvSpPr>
          <p:nvPr/>
        </p:nvSpPr>
        <p:spPr bwMode="auto">
          <a:xfrm>
            <a:off x="4644008" y="1844824"/>
            <a:ext cx="3886200" cy="830997"/>
          </a:xfrm>
          <a:prstGeom prst="rect">
            <a:avLst/>
          </a:prstGeom>
          <a:noFill/>
          <a:ln w="9525">
            <a:noFill/>
            <a:miter lim="800000"/>
          </a:ln>
        </p:spPr>
        <p:txBody>
          <a:bodyPr>
            <a:spAutoFit/>
          </a:bodyPr>
          <a:lstStyle/>
          <a:p>
            <a:pPr>
              <a:spcBef>
                <a:spcPct val="50000"/>
              </a:spcBef>
            </a:pPr>
            <a:r>
              <a:rPr lang="zh-CN" altLang="en-US" b="1" dirty="0"/>
              <a:t>编译程序，解释程序，程序转换、分析和调试程序</a:t>
            </a:r>
            <a:endParaRPr lang="zh-CN" altLang="en-US" b="1" dirty="0"/>
          </a:p>
        </p:txBody>
      </p:sp>
      <p:sp>
        <p:nvSpPr>
          <p:cNvPr id="102408" name="Rectangle 8"/>
          <p:cNvSpPr>
            <a:spLocks noChangeArrowheads="1"/>
          </p:cNvSpPr>
          <p:nvPr/>
        </p:nvSpPr>
        <p:spPr bwMode="auto">
          <a:xfrm>
            <a:off x="914400" y="2564904"/>
            <a:ext cx="6858000" cy="1905000"/>
          </a:xfrm>
          <a:prstGeom prst="rect">
            <a:avLst/>
          </a:prstGeom>
          <a:noFill/>
          <a:ln w="9525">
            <a:noFill/>
            <a:miter lim="800000"/>
          </a:ln>
        </p:spPr>
        <p:txBody>
          <a:bodyPr/>
          <a:lstStyle/>
          <a:p>
            <a:pPr marL="342900" indent="-342900">
              <a:spcBef>
                <a:spcPct val="20000"/>
              </a:spcBef>
              <a:buClr>
                <a:schemeClr val="accent1"/>
              </a:buClr>
            </a:pPr>
            <a:r>
              <a:rPr lang="en-US" altLang="zh-CN" sz="2800" b="1" dirty="0">
                <a:latin typeface="宋体" panose="02010600030101010101" pitchFamily="2" charset="-122"/>
              </a:rPr>
              <a:t>2</a:t>
            </a:r>
            <a:r>
              <a:rPr lang="zh-CN" altLang="en-US" sz="2800" b="1" dirty="0">
                <a:latin typeface="宋体" panose="02010600030101010101" pitchFamily="2" charset="-122"/>
              </a:rPr>
              <a:t>）编译程序设计之所以难及复杂的原因</a:t>
            </a:r>
            <a:endParaRPr lang="zh-CN" altLang="en-US" sz="2800" b="1" dirty="0">
              <a:latin typeface="宋体" panose="02010600030101010101" pitchFamily="2" charset="-122"/>
            </a:endParaRPr>
          </a:p>
          <a:p>
            <a:pPr marL="742950" lvl="1" indent="-285750">
              <a:spcBef>
                <a:spcPct val="20000"/>
              </a:spcBef>
              <a:buClr>
                <a:schemeClr val="accent1"/>
              </a:buClr>
              <a:buFontTx/>
              <a:buChar char="•"/>
            </a:pPr>
            <a:r>
              <a:rPr lang="zh-CN" altLang="en-US" dirty="0">
                <a:latin typeface="宋体" panose="02010600030101010101" pitchFamily="2" charset="-122"/>
              </a:rPr>
              <a:t>功能步骤多</a:t>
            </a:r>
            <a:endParaRPr lang="zh-CN" altLang="en-US" dirty="0">
              <a:latin typeface="宋体" panose="02010600030101010101" pitchFamily="2" charset="-122"/>
            </a:endParaRPr>
          </a:p>
          <a:p>
            <a:pPr marL="742950" lvl="1" indent="-285750">
              <a:spcBef>
                <a:spcPct val="20000"/>
              </a:spcBef>
              <a:buClr>
                <a:schemeClr val="accent1"/>
              </a:buClr>
              <a:buFontTx/>
              <a:buChar char="•"/>
            </a:pPr>
            <a:r>
              <a:rPr lang="zh-CN" altLang="en-US" dirty="0">
                <a:latin typeface="宋体" panose="02010600030101010101" pitchFamily="2" charset="-122"/>
              </a:rPr>
              <a:t>涉及到语义</a:t>
            </a:r>
            <a:endParaRPr lang="zh-CN" altLang="en-US" dirty="0">
              <a:latin typeface="宋体" panose="02010600030101010101" pitchFamily="2" charset="-122"/>
            </a:endParaRPr>
          </a:p>
          <a:p>
            <a:pPr marL="742950" lvl="1" indent="-285750">
              <a:spcBef>
                <a:spcPct val="20000"/>
              </a:spcBef>
              <a:buClr>
                <a:schemeClr val="accent1"/>
              </a:buClr>
              <a:buFontTx/>
              <a:buChar char="•"/>
            </a:pPr>
            <a:r>
              <a:rPr lang="zh-CN" altLang="en-US" dirty="0">
                <a:latin typeface="宋体" panose="02010600030101010101" pitchFamily="2" charset="-122"/>
              </a:rPr>
              <a:t>需进行优化</a:t>
            </a:r>
            <a:endParaRPr lang="zh-CN" altLang="en-US" dirty="0">
              <a:latin typeface="宋体" panose="02010600030101010101" pitchFamily="2" charset="-122"/>
            </a:endParaRPr>
          </a:p>
        </p:txBody>
      </p:sp>
      <p:sp>
        <p:nvSpPr>
          <p:cNvPr id="102409" name="Rectangle 9"/>
          <p:cNvSpPr>
            <a:spLocks noChangeArrowheads="1"/>
          </p:cNvSpPr>
          <p:nvPr/>
        </p:nvSpPr>
        <p:spPr bwMode="auto">
          <a:xfrm>
            <a:off x="914400" y="4469904"/>
            <a:ext cx="7086600" cy="609600"/>
          </a:xfrm>
          <a:prstGeom prst="rect">
            <a:avLst/>
          </a:prstGeom>
          <a:noFill/>
          <a:ln w="9525">
            <a:noFill/>
            <a:miter lim="800000"/>
          </a:ln>
        </p:spPr>
        <p:txBody>
          <a:bodyPr/>
          <a:lstStyle/>
          <a:p>
            <a:pPr marL="342900" indent="-342900">
              <a:spcBef>
                <a:spcPct val="20000"/>
              </a:spcBef>
              <a:buClr>
                <a:schemeClr val="accent1"/>
              </a:buClr>
            </a:pPr>
            <a:r>
              <a:rPr lang="en-US" altLang="zh-CN" sz="2800" b="1" dirty="0">
                <a:latin typeface="宋体" panose="02010600030101010101" pitchFamily="2" charset="-122"/>
              </a:rPr>
              <a:t>3</a:t>
            </a:r>
            <a:r>
              <a:rPr lang="zh-CN" altLang="en-US" sz="2800" b="1" dirty="0">
                <a:latin typeface="宋体" panose="02010600030101010101" pitchFamily="2" charset="-122"/>
              </a:rPr>
              <a:t>）不支持元级操作和支持元级操作的语言</a:t>
            </a:r>
            <a:endParaRPr lang="zh-CN" altLang="en-US" sz="2800" b="1" dirty="0">
              <a:latin typeface="宋体" panose="02010600030101010101" pitchFamily="2" charset="-122"/>
            </a:endParaRPr>
          </a:p>
        </p:txBody>
      </p:sp>
      <p:sp>
        <p:nvSpPr>
          <p:cNvPr id="102410" name="Line 10"/>
          <p:cNvSpPr>
            <a:spLocks noChangeShapeType="1"/>
          </p:cNvSpPr>
          <p:nvPr/>
        </p:nvSpPr>
        <p:spPr bwMode="auto">
          <a:xfrm flipH="1">
            <a:off x="2362200" y="4927104"/>
            <a:ext cx="304800" cy="457200"/>
          </a:xfrm>
          <a:prstGeom prst="line">
            <a:avLst/>
          </a:prstGeom>
          <a:noFill/>
          <a:ln w="9525">
            <a:solidFill>
              <a:srgbClr val="CC0066"/>
            </a:solidFill>
            <a:round/>
            <a:tailEnd type="triangle" w="med" len="med"/>
          </a:ln>
        </p:spPr>
        <p:txBody>
          <a:bodyPr wrap="none"/>
          <a:lstStyle/>
          <a:p>
            <a:endParaRPr lang="zh-CN" altLang="en-US"/>
          </a:p>
        </p:txBody>
      </p:sp>
      <p:sp>
        <p:nvSpPr>
          <p:cNvPr id="102411" name="Line 11"/>
          <p:cNvSpPr>
            <a:spLocks noChangeShapeType="1"/>
          </p:cNvSpPr>
          <p:nvPr/>
        </p:nvSpPr>
        <p:spPr bwMode="auto">
          <a:xfrm>
            <a:off x="5334000" y="4927104"/>
            <a:ext cx="304800" cy="457200"/>
          </a:xfrm>
          <a:prstGeom prst="line">
            <a:avLst/>
          </a:prstGeom>
          <a:noFill/>
          <a:ln w="9525">
            <a:solidFill>
              <a:srgbClr val="CC0066"/>
            </a:solidFill>
            <a:round/>
            <a:tailEnd type="triangle" w="med" len="med"/>
          </a:ln>
        </p:spPr>
        <p:txBody>
          <a:bodyPr wrap="none"/>
          <a:lstStyle/>
          <a:p>
            <a:endParaRPr lang="zh-CN" altLang="en-US"/>
          </a:p>
        </p:txBody>
      </p:sp>
      <p:sp>
        <p:nvSpPr>
          <p:cNvPr id="102412" name="Text Box 12"/>
          <p:cNvSpPr txBox="1">
            <a:spLocks noChangeArrowheads="1"/>
          </p:cNvSpPr>
          <p:nvPr/>
        </p:nvSpPr>
        <p:spPr bwMode="auto">
          <a:xfrm>
            <a:off x="1676400" y="5308104"/>
            <a:ext cx="1905000" cy="457200"/>
          </a:xfrm>
          <a:prstGeom prst="rect">
            <a:avLst/>
          </a:prstGeom>
          <a:noFill/>
          <a:ln w="9525">
            <a:noFill/>
            <a:miter lim="800000"/>
          </a:ln>
        </p:spPr>
        <p:txBody>
          <a:bodyPr>
            <a:spAutoFit/>
          </a:bodyPr>
          <a:lstStyle/>
          <a:p>
            <a:pPr>
              <a:spcBef>
                <a:spcPct val="50000"/>
              </a:spcBef>
            </a:pPr>
            <a:r>
              <a:rPr lang="en-US" altLang="zh-CN" dirty="0"/>
              <a:t>Pascal</a:t>
            </a:r>
            <a:r>
              <a:rPr lang="zh-CN" altLang="en-US" dirty="0"/>
              <a:t>、</a:t>
            </a:r>
            <a:r>
              <a:rPr lang="en-US" altLang="zh-CN" dirty="0"/>
              <a:t>C</a:t>
            </a:r>
            <a:r>
              <a:rPr lang="zh-CN" altLang="en-US" dirty="0"/>
              <a:t>等</a:t>
            </a:r>
            <a:endParaRPr lang="zh-CN" altLang="en-US" dirty="0"/>
          </a:p>
        </p:txBody>
      </p:sp>
      <p:sp>
        <p:nvSpPr>
          <p:cNvPr id="102413" name="Text Box 13"/>
          <p:cNvSpPr txBox="1">
            <a:spLocks noChangeArrowheads="1"/>
          </p:cNvSpPr>
          <p:nvPr/>
        </p:nvSpPr>
        <p:spPr bwMode="auto">
          <a:xfrm>
            <a:off x="5181600" y="5308104"/>
            <a:ext cx="1905000" cy="457200"/>
          </a:xfrm>
          <a:prstGeom prst="rect">
            <a:avLst/>
          </a:prstGeom>
          <a:noFill/>
          <a:ln w="9525">
            <a:noFill/>
            <a:miter lim="800000"/>
          </a:ln>
        </p:spPr>
        <p:txBody>
          <a:bodyPr>
            <a:spAutoFit/>
          </a:bodyPr>
          <a:lstStyle/>
          <a:p>
            <a:pPr>
              <a:spcBef>
                <a:spcPct val="50000"/>
              </a:spcBef>
            </a:pPr>
            <a:r>
              <a:rPr lang="en-US" altLang="zh-CN"/>
              <a:t>LISP</a:t>
            </a:r>
            <a:r>
              <a:rPr lang="zh-CN" altLang="en-US"/>
              <a:t>等</a:t>
            </a:r>
            <a:endParaRPr lang="zh-CN" altLang="en-US"/>
          </a:p>
        </p:txBody>
      </p:sp>
      <p:sp>
        <p:nvSpPr>
          <p:cNvPr id="12" name="TextBox 11"/>
          <p:cNvSpPr txBox="1"/>
          <p:nvPr/>
        </p:nvSpPr>
        <p:spPr>
          <a:xfrm>
            <a:off x="2496026" y="5772507"/>
            <a:ext cx="6647974" cy="830997"/>
          </a:xfrm>
          <a:prstGeom prst="rect">
            <a:avLst/>
          </a:prstGeom>
          <a:noFill/>
        </p:spPr>
        <p:txBody>
          <a:bodyPr wrap="none" rtlCol="0">
            <a:spAutoFit/>
          </a:bodyPr>
          <a:lstStyle/>
          <a:p>
            <a:r>
              <a:rPr lang="zh-CN" altLang="en-US" b="1" dirty="0" smtClean="0"/>
              <a:t>把程序作为操作对象的操作称为</a:t>
            </a:r>
            <a:r>
              <a:rPr lang="zh-CN" altLang="en-US" b="1" dirty="0" smtClean="0">
                <a:solidFill>
                  <a:srgbClr val="FF0000"/>
                </a:solidFill>
              </a:rPr>
              <a:t>元级操作</a:t>
            </a:r>
            <a:r>
              <a:rPr lang="zh-CN" altLang="en-US" b="1" dirty="0" smtClean="0"/>
              <a:t>，含有</a:t>
            </a:r>
            <a:endParaRPr lang="en-US" altLang="zh-CN" b="1" dirty="0" smtClean="0"/>
          </a:p>
          <a:p>
            <a:r>
              <a:rPr lang="zh-CN" altLang="en-US" b="1" dirty="0" smtClean="0"/>
              <a:t>元级操作的程序称为</a:t>
            </a:r>
            <a:r>
              <a:rPr lang="zh-CN" altLang="en-US" b="1" dirty="0" smtClean="0">
                <a:solidFill>
                  <a:srgbClr val="FF0000"/>
                </a:solidFill>
              </a:rPr>
              <a:t>元级程序</a:t>
            </a:r>
            <a:r>
              <a:rPr lang="zh-CN" altLang="en-US" b="1" dirty="0" smtClean="0"/>
              <a:t>。</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2406"/>
                                        </p:tgtEl>
                                        <p:attrNameLst>
                                          <p:attrName>style.visibility</p:attrName>
                                        </p:attrNameLst>
                                      </p:cBhvr>
                                      <p:to>
                                        <p:strVal val="visible"/>
                                      </p:to>
                                    </p:set>
                                    <p:anim calcmode="lin" valueType="num">
                                      <p:cBhvr additive="base">
                                        <p:cTn id="7" dur="500" fill="hold"/>
                                        <p:tgtEl>
                                          <p:spTgt spid="102406"/>
                                        </p:tgtEl>
                                        <p:attrNameLst>
                                          <p:attrName>ppt_x</p:attrName>
                                        </p:attrNameLst>
                                      </p:cBhvr>
                                      <p:tavLst>
                                        <p:tav tm="0">
                                          <p:val>
                                            <p:strVal val="0-#ppt_w/2"/>
                                          </p:val>
                                        </p:tav>
                                        <p:tav tm="100000">
                                          <p:val>
                                            <p:strVal val="#ppt_x"/>
                                          </p:val>
                                        </p:tav>
                                      </p:tavLst>
                                    </p:anim>
                                    <p:anim calcmode="lin" valueType="num">
                                      <p:cBhvr additive="base">
                                        <p:cTn id="8" dur="500" fill="hold"/>
                                        <p:tgtEl>
                                          <p:spTgt spid="10240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2407"/>
                                        </p:tgtEl>
                                        <p:attrNameLst>
                                          <p:attrName>style.visibility</p:attrName>
                                        </p:attrNameLst>
                                      </p:cBhvr>
                                      <p:to>
                                        <p:strVal val="visible"/>
                                      </p:to>
                                    </p:set>
                                    <p:anim calcmode="lin" valueType="num">
                                      <p:cBhvr additive="base">
                                        <p:cTn id="12" dur="500" fill="hold"/>
                                        <p:tgtEl>
                                          <p:spTgt spid="102407"/>
                                        </p:tgtEl>
                                        <p:attrNameLst>
                                          <p:attrName>ppt_x</p:attrName>
                                        </p:attrNameLst>
                                      </p:cBhvr>
                                      <p:tavLst>
                                        <p:tav tm="0">
                                          <p:val>
                                            <p:strVal val="0-#ppt_w/2"/>
                                          </p:val>
                                        </p:tav>
                                        <p:tav tm="100000">
                                          <p:val>
                                            <p:strVal val="#ppt_x"/>
                                          </p:val>
                                        </p:tav>
                                      </p:tavLst>
                                    </p:anim>
                                    <p:anim calcmode="lin" valueType="num">
                                      <p:cBhvr additive="base">
                                        <p:cTn id="13" dur="500" fill="hold"/>
                                        <p:tgtEl>
                                          <p:spTgt spid="10240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2408"/>
                                        </p:tgtEl>
                                        <p:attrNameLst>
                                          <p:attrName>style.visibility</p:attrName>
                                        </p:attrNameLst>
                                      </p:cBhvr>
                                      <p:to>
                                        <p:strVal val="visible"/>
                                      </p:to>
                                    </p:set>
                                    <p:anim calcmode="lin" valueType="num">
                                      <p:cBhvr additive="base">
                                        <p:cTn id="18" dur="500" fill="hold"/>
                                        <p:tgtEl>
                                          <p:spTgt spid="102408"/>
                                        </p:tgtEl>
                                        <p:attrNameLst>
                                          <p:attrName>ppt_x</p:attrName>
                                        </p:attrNameLst>
                                      </p:cBhvr>
                                      <p:tavLst>
                                        <p:tav tm="0">
                                          <p:val>
                                            <p:strVal val="0-#ppt_w/2"/>
                                          </p:val>
                                        </p:tav>
                                        <p:tav tm="100000">
                                          <p:val>
                                            <p:strVal val="#ppt_x"/>
                                          </p:val>
                                        </p:tav>
                                      </p:tavLst>
                                    </p:anim>
                                    <p:anim calcmode="lin" valueType="num">
                                      <p:cBhvr additive="base">
                                        <p:cTn id="19" dur="500" fill="hold"/>
                                        <p:tgtEl>
                                          <p:spTgt spid="10240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02409"/>
                                        </p:tgtEl>
                                        <p:attrNameLst>
                                          <p:attrName>style.visibility</p:attrName>
                                        </p:attrNameLst>
                                      </p:cBhvr>
                                      <p:to>
                                        <p:strVal val="visible"/>
                                      </p:to>
                                    </p:set>
                                    <p:anim calcmode="lin" valueType="num">
                                      <p:cBhvr additive="base">
                                        <p:cTn id="24" dur="500" fill="hold"/>
                                        <p:tgtEl>
                                          <p:spTgt spid="102409"/>
                                        </p:tgtEl>
                                        <p:attrNameLst>
                                          <p:attrName>ppt_x</p:attrName>
                                        </p:attrNameLst>
                                      </p:cBhvr>
                                      <p:tavLst>
                                        <p:tav tm="0">
                                          <p:val>
                                            <p:strVal val="0-#ppt_w/2"/>
                                          </p:val>
                                        </p:tav>
                                        <p:tav tm="100000">
                                          <p:val>
                                            <p:strVal val="#ppt_x"/>
                                          </p:val>
                                        </p:tav>
                                      </p:tavLst>
                                    </p:anim>
                                    <p:anim calcmode="lin" valueType="num">
                                      <p:cBhvr additive="base">
                                        <p:cTn id="25" dur="500" fill="hold"/>
                                        <p:tgtEl>
                                          <p:spTgt spid="10240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02410"/>
                                        </p:tgtEl>
                                        <p:attrNameLst>
                                          <p:attrName>style.visibility</p:attrName>
                                        </p:attrNameLst>
                                      </p:cBhvr>
                                      <p:to>
                                        <p:strVal val="visible"/>
                                      </p:to>
                                    </p:set>
                                    <p:anim calcmode="lin" valueType="num">
                                      <p:cBhvr additive="base">
                                        <p:cTn id="30" dur="500" fill="hold"/>
                                        <p:tgtEl>
                                          <p:spTgt spid="102410"/>
                                        </p:tgtEl>
                                        <p:attrNameLst>
                                          <p:attrName>ppt_x</p:attrName>
                                        </p:attrNameLst>
                                      </p:cBhvr>
                                      <p:tavLst>
                                        <p:tav tm="0">
                                          <p:val>
                                            <p:strVal val="0-#ppt_w/2"/>
                                          </p:val>
                                        </p:tav>
                                        <p:tav tm="100000">
                                          <p:val>
                                            <p:strVal val="#ppt_x"/>
                                          </p:val>
                                        </p:tav>
                                      </p:tavLst>
                                    </p:anim>
                                    <p:anim calcmode="lin" valueType="num">
                                      <p:cBhvr additive="base">
                                        <p:cTn id="31" dur="500" fill="hold"/>
                                        <p:tgtEl>
                                          <p:spTgt spid="102410"/>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2" presetClass="entr" presetSubtype="8" fill="hold" grpId="0" nodeType="afterEffect">
                                  <p:stCondLst>
                                    <p:cond delay="0"/>
                                  </p:stCondLst>
                                  <p:childTnLst>
                                    <p:set>
                                      <p:cBhvr>
                                        <p:cTn id="34" dur="1" fill="hold">
                                          <p:stCondLst>
                                            <p:cond delay="0"/>
                                          </p:stCondLst>
                                        </p:cTn>
                                        <p:tgtEl>
                                          <p:spTgt spid="102412"/>
                                        </p:tgtEl>
                                        <p:attrNameLst>
                                          <p:attrName>style.visibility</p:attrName>
                                        </p:attrNameLst>
                                      </p:cBhvr>
                                      <p:to>
                                        <p:strVal val="visible"/>
                                      </p:to>
                                    </p:set>
                                    <p:anim calcmode="lin" valueType="num">
                                      <p:cBhvr additive="base">
                                        <p:cTn id="35" dur="500" fill="hold"/>
                                        <p:tgtEl>
                                          <p:spTgt spid="102412"/>
                                        </p:tgtEl>
                                        <p:attrNameLst>
                                          <p:attrName>ppt_x</p:attrName>
                                        </p:attrNameLst>
                                      </p:cBhvr>
                                      <p:tavLst>
                                        <p:tav tm="0">
                                          <p:val>
                                            <p:strVal val="0-#ppt_w/2"/>
                                          </p:val>
                                        </p:tav>
                                        <p:tav tm="100000">
                                          <p:val>
                                            <p:strVal val="#ppt_x"/>
                                          </p:val>
                                        </p:tav>
                                      </p:tavLst>
                                    </p:anim>
                                    <p:anim calcmode="lin" valueType="num">
                                      <p:cBhvr additive="base">
                                        <p:cTn id="36" dur="500" fill="hold"/>
                                        <p:tgtEl>
                                          <p:spTgt spid="102412"/>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02411"/>
                                        </p:tgtEl>
                                        <p:attrNameLst>
                                          <p:attrName>style.visibility</p:attrName>
                                        </p:attrNameLst>
                                      </p:cBhvr>
                                      <p:to>
                                        <p:strVal val="visible"/>
                                      </p:to>
                                    </p:set>
                                    <p:anim calcmode="lin" valueType="num">
                                      <p:cBhvr additive="base">
                                        <p:cTn id="41" dur="500" fill="hold"/>
                                        <p:tgtEl>
                                          <p:spTgt spid="102411"/>
                                        </p:tgtEl>
                                        <p:attrNameLst>
                                          <p:attrName>ppt_x</p:attrName>
                                        </p:attrNameLst>
                                      </p:cBhvr>
                                      <p:tavLst>
                                        <p:tav tm="0">
                                          <p:val>
                                            <p:strVal val="0-#ppt_w/2"/>
                                          </p:val>
                                        </p:tav>
                                        <p:tav tm="100000">
                                          <p:val>
                                            <p:strVal val="#ppt_x"/>
                                          </p:val>
                                        </p:tav>
                                      </p:tavLst>
                                    </p:anim>
                                    <p:anim calcmode="lin" valueType="num">
                                      <p:cBhvr additive="base">
                                        <p:cTn id="42" dur="500" fill="hold"/>
                                        <p:tgtEl>
                                          <p:spTgt spid="102411"/>
                                        </p:tgtEl>
                                        <p:attrNameLst>
                                          <p:attrName>ppt_y</p:attrName>
                                        </p:attrNameLst>
                                      </p:cBhvr>
                                      <p:tavLst>
                                        <p:tav tm="0">
                                          <p:val>
                                            <p:strVal val="#ppt_y"/>
                                          </p:val>
                                        </p:tav>
                                        <p:tav tm="100000">
                                          <p:val>
                                            <p:strVal val="#ppt_y"/>
                                          </p:val>
                                        </p:tav>
                                      </p:tavLst>
                                    </p:anim>
                                  </p:childTnLst>
                                </p:cTn>
                              </p:par>
                            </p:childTnLst>
                          </p:cTn>
                        </p:par>
                        <p:par>
                          <p:cTn id="43" fill="hold">
                            <p:stCondLst>
                              <p:cond delay="500"/>
                            </p:stCondLst>
                            <p:childTnLst>
                              <p:par>
                                <p:cTn id="44" presetID="2" presetClass="entr" presetSubtype="8" fill="hold" grpId="0" nodeType="afterEffect">
                                  <p:stCondLst>
                                    <p:cond delay="0"/>
                                  </p:stCondLst>
                                  <p:childTnLst>
                                    <p:set>
                                      <p:cBhvr>
                                        <p:cTn id="45" dur="1" fill="hold">
                                          <p:stCondLst>
                                            <p:cond delay="0"/>
                                          </p:stCondLst>
                                        </p:cTn>
                                        <p:tgtEl>
                                          <p:spTgt spid="102413"/>
                                        </p:tgtEl>
                                        <p:attrNameLst>
                                          <p:attrName>style.visibility</p:attrName>
                                        </p:attrNameLst>
                                      </p:cBhvr>
                                      <p:to>
                                        <p:strVal val="visible"/>
                                      </p:to>
                                    </p:set>
                                    <p:anim calcmode="lin" valueType="num">
                                      <p:cBhvr additive="base">
                                        <p:cTn id="46" dur="500" fill="hold"/>
                                        <p:tgtEl>
                                          <p:spTgt spid="102413"/>
                                        </p:tgtEl>
                                        <p:attrNameLst>
                                          <p:attrName>ppt_x</p:attrName>
                                        </p:attrNameLst>
                                      </p:cBhvr>
                                      <p:tavLst>
                                        <p:tav tm="0">
                                          <p:val>
                                            <p:strVal val="0-#ppt_w/2"/>
                                          </p:val>
                                        </p:tav>
                                        <p:tav tm="100000">
                                          <p:val>
                                            <p:strVal val="#ppt_x"/>
                                          </p:val>
                                        </p:tav>
                                      </p:tavLst>
                                    </p:anim>
                                    <p:anim calcmode="lin" valueType="num">
                                      <p:cBhvr additive="base">
                                        <p:cTn id="47" dur="500" fill="hold"/>
                                        <p:tgtEl>
                                          <p:spTgt spid="1024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7" grpId="0" autoUpdateAnimBg="0"/>
      <p:bldP spid="102408" grpId="0" autoUpdateAnimBg="0"/>
      <p:bldP spid="102409" grpId="0" autoUpdateAnimBg="0"/>
      <p:bldP spid="102410" grpId="0" animBg="1"/>
      <p:bldP spid="102411" grpId="0" animBg="1"/>
      <p:bldP spid="102412" grpId="0" autoUpdateAnimBg="0"/>
      <p:bldP spid="102413"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1027"/>
          <p:cNvSpPr>
            <a:spLocks noGrp="1" noChangeArrowheads="1"/>
          </p:cNvSpPr>
          <p:nvPr>
            <p:ph idx="1"/>
          </p:nvPr>
        </p:nvSpPr>
        <p:spPr>
          <a:xfrm>
            <a:off x="838200" y="838200"/>
            <a:ext cx="7879080" cy="1066800"/>
          </a:xfrm>
          <a:noFill/>
        </p:spPr>
        <p:txBody>
          <a:bodyPr/>
          <a:lstStyle/>
          <a:p>
            <a:pPr eaLnBrk="1" hangingPunct="1">
              <a:buFontTx/>
              <a:buNone/>
            </a:pPr>
            <a:endParaRPr lang="en-US" altLang="zh-CN" sz="2800" b="1" dirty="0" smtClean="0">
              <a:solidFill>
                <a:schemeClr val="tx2"/>
              </a:solidFill>
              <a:latin typeface="宋体" panose="02010600030101010101" pitchFamily="2" charset="-122"/>
            </a:endParaRPr>
          </a:p>
          <a:p>
            <a:pPr eaLnBrk="1" hangingPunct="1">
              <a:buFontTx/>
              <a:buNone/>
            </a:pPr>
            <a:r>
              <a:rPr lang="en-US" altLang="zh-CN" sz="2800" b="1" dirty="0" smtClean="0">
                <a:solidFill>
                  <a:schemeClr val="tx2"/>
                </a:solidFill>
                <a:latin typeface="宋体" panose="02010600030101010101" pitchFamily="2" charset="-122"/>
              </a:rPr>
              <a:t>1</a:t>
            </a:r>
            <a:r>
              <a:rPr lang="zh-CN" altLang="en-US" sz="2800" b="1" dirty="0" smtClean="0">
                <a:solidFill>
                  <a:schemeClr val="tx2"/>
                </a:solidFill>
                <a:latin typeface="宋体" panose="02010600030101010101" pitchFamily="2" charset="-122"/>
              </a:rPr>
              <a:t>）设计者须精通</a:t>
            </a:r>
            <a:r>
              <a:rPr lang="zh-CN" altLang="en-US" sz="2800" b="1" dirty="0" smtClean="0">
                <a:solidFill>
                  <a:schemeClr val="accent2">
                    <a:lumMod val="75000"/>
                  </a:schemeClr>
                </a:solidFill>
                <a:latin typeface="宋体" panose="02010600030101010101" pitchFamily="2" charset="-122"/>
              </a:rPr>
              <a:t>源语言、目标语言及编译技术</a:t>
            </a:r>
            <a:endParaRPr lang="zh-CN" altLang="en-US" sz="2800" b="1" dirty="0" smtClean="0">
              <a:solidFill>
                <a:schemeClr val="accent2">
                  <a:lumMod val="75000"/>
                </a:schemeClr>
              </a:solidFill>
              <a:latin typeface="宋体" panose="02010600030101010101" pitchFamily="2" charset="-122"/>
            </a:endParaRPr>
          </a:p>
        </p:txBody>
      </p:sp>
      <p:sp>
        <p:nvSpPr>
          <p:cNvPr id="14338" name="Rectangle 1026"/>
          <p:cNvSpPr>
            <a:spLocks noGrp="1" noChangeArrowheads="1"/>
          </p:cNvSpPr>
          <p:nvPr>
            <p:ph type="title"/>
          </p:nvPr>
        </p:nvSpPr>
        <p:spPr>
          <a:xfrm>
            <a:off x="457200" y="533400"/>
            <a:ext cx="7772400" cy="609600"/>
          </a:xfrm>
        </p:spPr>
        <p:txBody>
          <a:bodyPr/>
          <a:lstStyle/>
          <a:p>
            <a:pPr eaLnBrk="1" hangingPunct="1"/>
            <a:r>
              <a:rPr lang="en-US" altLang="zh-CN" sz="2800" b="1" smtClean="0">
                <a:solidFill>
                  <a:schemeClr val="tx1"/>
                </a:solidFill>
                <a:latin typeface="宋体" panose="02010600030101010101" pitchFamily="2" charset="-122"/>
              </a:rPr>
              <a:t>1.4</a:t>
            </a:r>
            <a:r>
              <a:rPr lang="zh-CN" altLang="en-US" sz="2800" b="1" smtClean="0">
                <a:solidFill>
                  <a:schemeClr val="tx1"/>
                </a:solidFill>
                <a:latin typeface="宋体" panose="02010600030101010101" pitchFamily="2" charset="-122"/>
              </a:rPr>
              <a:t>、编译程序的设计实现</a:t>
            </a:r>
            <a:endParaRPr lang="zh-CN" altLang="en-US" sz="2800" b="1" smtClean="0">
              <a:solidFill>
                <a:schemeClr val="tx1"/>
              </a:solidFill>
              <a:latin typeface="宋体" panose="02010600030101010101" pitchFamily="2" charset="-122"/>
            </a:endParaRPr>
          </a:p>
        </p:txBody>
      </p:sp>
      <p:sp>
        <p:nvSpPr>
          <p:cNvPr id="103430" name="Rectangle 1030"/>
          <p:cNvSpPr>
            <a:spLocks noChangeArrowheads="1"/>
          </p:cNvSpPr>
          <p:nvPr/>
        </p:nvSpPr>
        <p:spPr bwMode="auto">
          <a:xfrm>
            <a:off x="838200" y="1981200"/>
            <a:ext cx="8054280" cy="1371600"/>
          </a:xfrm>
          <a:prstGeom prst="rect">
            <a:avLst/>
          </a:prstGeom>
          <a:noFill/>
          <a:ln w="9525">
            <a:noFill/>
            <a:miter lim="800000"/>
          </a:ln>
        </p:spPr>
        <p:txBody>
          <a:bodyPr/>
          <a:lstStyle/>
          <a:p>
            <a:pPr marL="342900" indent="-342900">
              <a:spcBef>
                <a:spcPct val="20000"/>
              </a:spcBef>
              <a:buClr>
                <a:schemeClr val="accent1"/>
              </a:buClr>
            </a:pPr>
            <a:r>
              <a:rPr lang="en-US" altLang="zh-CN" sz="2800" b="1" dirty="0">
                <a:solidFill>
                  <a:schemeClr val="tx2"/>
                </a:solidFill>
                <a:latin typeface="宋体" panose="02010600030101010101" pitchFamily="2" charset="-122"/>
              </a:rPr>
              <a:t>2</a:t>
            </a:r>
            <a:r>
              <a:rPr lang="zh-CN" altLang="en-US" sz="2800" b="1" dirty="0">
                <a:solidFill>
                  <a:schemeClr val="tx2"/>
                </a:solidFill>
                <a:latin typeface="宋体" panose="02010600030101010101" pitchFamily="2" charset="-122"/>
              </a:rPr>
              <a:t>）在</a:t>
            </a:r>
            <a:r>
              <a:rPr lang="zh-CN" altLang="en-US" sz="2800" b="1" dirty="0">
                <a:solidFill>
                  <a:schemeClr val="accent2">
                    <a:lumMod val="75000"/>
                  </a:schemeClr>
                </a:solidFill>
                <a:latin typeface="宋体" panose="02010600030101010101" pitchFamily="2" charset="-122"/>
              </a:rPr>
              <a:t>各种性能</a:t>
            </a:r>
            <a:r>
              <a:rPr lang="zh-CN" altLang="en-US" sz="2800" b="1" dirty="0">
                <a:solidFill>
                  <a:schemeClr val="tx2"/>
                </a:solidFill>
                <a:latin typeface="宋体" panose="02010600030101010101" pitchFamily="2" charset="-122"/>
              </a:rPr>
              <a:t>（往往相互矛盾）间平衡</a:t>
            </a:r>
            <a:endParaRPr lang="zh-CN" altLang="en-US" sz="2800" b="1" dirty="0">
              <a:solidFill>
                <a:schemeClr val="tx2"/>
              </a:solidFill>
              <a:latin typeface="宋体" panose="02010600030101010101" pitchFamily="2" charset="-122"/>
            </a:endParaRPr>
          </a:p>
          <a:p>
            <a:pPr marL="342900" indent="-342900">
              <a:spcBef>
                <a:spcPct val="20000"/>
              </a:spcBef>
              <a:buClr>
                <a:schemeClr val="accent1"/>
              </a:buClr>
            </a:pPr>
            <a:r>
              <a:rPr lang="zh-CN" altLang="en-US" sz="2800" b="1" dirty="0">
                <a:solidFill>
                  <a:schemeClr val="tx2"/>
                </a:solidFill>
                <a:latin typeface="宋体" panose="02010600030101010101" pitchFamily="2" charset="-122"/>
              </a:rPr>
              <a:t>       </a:t>
            </a:r>
            <a:r>
              <a:rPr lang="zh-CN" altLang="en-US" dirty="0" smtClean="0">
                <a:latin typeface="宋体" panose="02010600030101010101" pitchFamily="2" charset="-122"/>
              </a:rPr>
              <a:t>可靠性</a:t>
            </a:r>
            <a:r>
              <a:rPr lang="zh-CN" altLang="en-US" dirty="0">
                <a:latin typeface="宋体" panose="02010600030101010101" pitchFamily="2" charset="-122"/>
              </a:rPr>
              <a:t>、编译速度、目标代码的运行速度及空间</a:t>
            </a:r>
            <a:endParaRPr lang="zh-CN" altLang="en-US" dirty="0">
              <a:latin typeface="宋体" panose="02010600030101010101" pitchFamily="2" charset="-122"/>
            </a:endParaRPr>
          </a:p>
        </p:txBody>
      </p:sp>
      <p:sp>
        <p:nvSpPr>
          <p:cNvPr id="103431" name="Rectangle 1031"/>
          <p:cNvSpPr>
            <a:spLocks noChangeArrowheads="1"/>
          </p:cNvSpPr>
          <p:nvPr/>
        </p:nvSpPr>
        <p:spPr bwMode="auto">
          <a:xfrm>
            <a:off x="838200" y="3429000"/>
            <a:ext cx="7086600" cy="609600"/>
          </a:xfrm>
          <a:prstGeom prst="rect">
            <a:avLst/>
          </a:prstGeom>
          <a:noFill/>
          <a:ln w="9525">
            <a:noFill/>
            <a:miter lim="800000"/>
          </a:ln>
        </p:spPr>
        <p:txBody>
          <a:bodyPr/>
          <a:lstStyle/>
          <a:p>
            <a:pPr marL="342900" indent="-342900">
              <a:spcBef>
                <a:spcPct val="20000"/>
              </a:spcBef>
              <a:buClr>
                <a:schemeClr val="accent1"/>
              </a:buClr>
            </a:pPr>
            <a:r>
              <a:rPr lang="en-US" altLang="zh-CN" sz="2800" b="1" dirty="0">
                <a:solidFill>
                  <a:schemeClr val="tx2"/>
                </a:solidFill>
                <a:latin typeface="宋体" panose="02010600030101010101" pitchFamily="2" charset="-122"/>
              </a:rPr>
              <a:t>3</a:t>
            </a:r>
            <a:r>
              <a:rPr lang="zh-CN" altLang="en-US" sz="2800" b="1" dirty="0">
                <a:solidFill>
                  <a:schemeClr val="tx2"/>
                </a:solidFill>
                <a:latin typeface="宋体" panose="02010600030101010101" pitchFamily="2" charset="-122"/>
              </a:rPr>
              <a:t>）明确</a:t>
            </a:r>
            <a:r>
              <a:rPr lang="zh-CN" altLang="en-US" sz="2800" b="1" dirty="0">
                <a:solidFill>
                  <a:schemeClr val="accent2">
                    <a:lumMod val="75000"/>
                  </a:schemeClr>
                </a:solidFill>
                <a:latin typeface="宋体" panose="02010600030101010101" pitchFamily="2" charset="-122"/>
              </a:rPr>
              <a:t>该做何种优化</a:t>
            </a:r>
            <a:endParaRPr lang="zh-CN" altLang="en-US" sz="2800" b="1" dirty="0">
              <a:solidFill>
                <a:schemeClr val="accent2">
                  <a:lumMod val="75000"/>
                </a:schemeClr>
              </a:solidFill>
              <a:latin typeface="宋体" panose="02010600030101010101" pitchFamily="2" charset="-122"/>
            </a:endParaRPr>
          </a:p>
        </p:txBody>
      </p:sp>
      <p:sp>
        <p:nvSpPr>
          <p:cNvPr id="103437" name="Line 1037"/>
          <p:cNvSpPr>
            <a:spLocks noChangeShapeType="1"/>
          </p:cNvSpPr>
          <p:nvPr/>
        </p:nvSpPr>
        <p:spPr bwMode="auto">
          <a:xfrm>
            <a:off x="1905000" y="2514600"/>
            <a:ext cx="1295400" cy="0"/>
          </a:xfrm>
          <a:prstGeom prst="line">
            <a:avLst/>
          </a:prstGeom>
          <a:noFill/>
          <a:ln w="9525">
            <a:solidFill>
              <a:srgbClr val="CC0066"/>
            </a:solidFill>
            <a:round/>
          </a:ln>
        </p:spPr>
        <p:txBody>
          <a:bodyPr wrap="none"/>
          <a:lstStyle/>
          <a:p>
            <a:endParaRPr lang="zh-CN" altLang="en-US"/>
          </a:p>
        </p:txBody>
      </p:sp>
      <p:sp>
        <p:nvSpPr>
          <p:cNvPr id="103438" name="Rectangle 1038"/>
          <p:cNvSpPr>
            <a:spLocks noChangeArrowheads="1"/>
          </p:cNvSpPr>
          <p:nvPr/>
        </p:nvSpPr>
        <p:spPr bwMode="auto">
          <a:xfrm>
            <a:off x="838200" y="4191000"/>
            <a:ext cx="7086600" cy="609600"/>
          </a:xfrm>
          <a:prstGeom prst="rect">
            <a:avLst/>
          </a:prstGeom>
          <a:noFill/>
          <a:ln w="9525">
            <a:noFill/>
            <a:miter lim="800000"/>
          </a:ln>
        </p:spPr>
        <p:txBody>
          <a:bodyPr/>
          <a:lstStyle/>
          <a:p>
            <a:pPr marL="342900" indent="-342900">
              <a:spcBef>
                <a:spcPct val="20000"/>
              </a:spcBef>
              <a:buClr>
                <a:schemeClr val="accent1"/>
              </a:buClr>
            </a:pPr>
            <a:r>
              <a:rPr lang="en-US" altLang="zh-CN" sz="2800" b="1" dirty="0">
                <a:solidFill>
                  <a:schemeClr val="tx2"/>
                </a:solidFill>
                <a:latin typeface="宋体" panose="02010600030101010101" pitchFamily="2" charset="-122"/>
              </a:rPr>
              <a:t>4</a:t>
            </a:r>
            <a:r>
              <a:rPr lang="zh-CN" altLang="en-US" sz="2800" b="1" dirty="0">
                <a:solidFill>
                  <a:schemeClr val="tx2"/>
                </a:solidFill>
                <a:latin typeface="宋体" panose="02010600030101010101" pitchFamily="2" charset="-122"/>
              </a:rPr>
              <a:t>）</a:t>
            </a:r>
            <a:r>
              <a:rPr lang="zh-CN" altLang="en-US" sz="2800" b="1" dirty="0">
                <a:solidFill>
                  <a:schemeClr val="accent2">
                    <a:lumMod val="75000"/>
                  </a:schemeClr>
                </a:solidFill>
                <a:latin typeface="宋体" panose="02010600030101010101" pitchFamily="2" charset="-122"/>
              </a:rPr>
              <a:t>用什么工具</a:t>
            </a:r>
            <a:r>
              <a:rPr lang="zh-CN" altLang="en-US" sz="2800" b="1" dirty="0">
                <a:solidFill>
                  <a:schemeClr val="tx2"/>
                </a:solidFill>
                <a:latin typeface="宋体" panose="02010600030101010101" pitchFamily="2" charset="-122"/>
              </a:rPr>
              <a:t>书写编译程序</a:t>
            </a:r>
            <a:endParaRPr lang="zh-CN" altLang="en-US" sz="2800" b="1" dirty="0">
              <a:solidFill>
                <a:schemeClr val="tx2"/>
              </a:solidFill>
              <a:latin typeface="宋体" panose="02010600030101010101" pitchFamily="2" charset="-122"/>
            </a:endParaRPr>
          </a:p>
        </p:txBody>
      </p:sp>
      <p:grpSp>
        <p:nvGrpSpPr>
          <p:cNvPr id="14344" name="Group 1052"/>
          <p:cNvGrpSpPr/>
          <p:nvPr/>
        </p:nvGrpSpPr>
        <p:grpSpPr bwMode="auto">
          <a:xfrm>
            <a:off x="6153472" y="3933056"/>
            <a:ext cx="2667000" cy="1981200"/>
            <a:chOff x="3792" y="2400"/>
            <a:chExt cx="1680" cy="1248"/>
          </a:xfrm>
        </p:grpSpPr>
        <p:sp>
          <p:nvSpPr>
            <p:cNvPr id="14346" name="Line 1039"/>
            <p:cNvSpPr>
              <a:spLocks noChangeShapeType="1"/>
            </p:cNvSpPr>
            <p:nvPr/>
          </p:nvSpPr>
          <p:spPr bwMode="auto">
            <a:xfrm>
              <a:off x="3792" y="3168"/>
              <a:ext cx="720" cy="0"/>
            </a:xfrm>
            <a:prstGeom prst="line">
              <a:avLst/>
            </a:prstGeom>
            <a:noFill/>
            <a:ln w="9525">
              <a:solidFill>
                <a:schemeClr val="tx1"/>
              </a:solidFill>
              <a:round/>
              <a:tailEnd type="triangle" w="med" len="med"/>
            </a:ln>
          </p:spPr>
          <p:txBody>
            <a:bodyPr wrap="none"/>
            <a:lstStyle/>
            <a:p>
              <a:endParaRPr lang="zh-CN" altLang="en-US"/>
            </a:p>
          </p:txBody>
        </p:sp>
        <p:sp>
          <p:nvSpPr>
            <p:cNvPr id="14347" name="Line 1040"/>
            <p:cNvSpPr>
              <a:spLocks noChangeShapeType="1"/>
            </p:cNvSpPr>
            <p:nvPr/>
          </p:nvSpPr>
          <p:spPr bwMode="auto">
            <a:xfrm>
              <a:off x="4071" y="2543"/>
              <a:ext cx="16" cy="952"/>
            </a:xfrm>
            <a:prstGeom prst="line">
              <a:avLst/>
            </a:prstGeom>
            <a:noFill/>
            <a:ln w="9525">
              <a:solidFill>
                <a:schemeClr val="tx1"/>
              </a:solidFill>
              <a:round/>
            </a:ln>
          </p:spPr>
          <p:txBody>
            <a:bodyPr wrap="none"/>
            <a:lstStyle/>
            <a:p>
              <a:endParaRPr lang="zh-CN" altLang="en-US"/>
            </a:p>
          </p:txBody>
        </p:sp>
        <p:sp>
          <p:nvSpPr>
            <p:cNvPr id="14348" name="Line 1041"/>
            <p:cNvSpPr>
              <a:spLocks noChangeShapeType="1"/>
            </p:cNvSpPr>
            <p:nvPr/>
          </p:nvSpPr>
          <p:spPr bwMode="auto">
            <a:xfrm>
              <a:off x="4080" y="2544"/>
              <a:ext cx="432" cy="0"/>
            </a:xfrm>
            <a:prstGeom prst="line">
              <a:avLst/>
            </a:prstGeom>
            <a:noFill/>
            <a:ln w="9525">
              <a:solidFill>
                <a:schemeClr val="tx1"/>
              </a:solidFill>
              <a:round/>
              <a:tailEnd type="triangle" w="med" len="med"/>
            </a:ln>
          </p:spPr>
          <p:txBody>
            <a:bodyPr wrap="none"/>
            <a:lstStyle/>
            <a:p>
              <a:endParaRPr lang="zh-CN" altLang="en-US"/>
            </a:p>
          </p:txBody>
        </p:sp>
        <p:sp>
          <p:nvSpPr>
            <p:cNvPr id="14349" name="Line 1042"/>
            <p:cNvSpPr>
              <a:spLocks noChangeShapeType="1"/>
            </p:cNvSpPr>
            <p:nvPr/>
          </p:nvSpPr>
          <p:spPr bwMode="auto">
            <a:xfrm>
              <a:off x="4080" y="2880"/>
              <a:ext cx="432" cy="0"/>
            </a:xfrm>
            <a:prstGeom prst="line">
              <a:avLst/>
            </a:prstGeom>
            <a:noFill/>
            <a:ln w="9525">
              <a:solidFill>
                <a:schemeClr val="tx1"/>
              </a:solidFill>
              <a:round/>
              <a:tailEnd type="triangle" w="med" len="med"/>
            </a:ln>
          </p:spPr>
          <p:txBody>
            <a:bodyPr wrap="none"/>
            <a:lstStyle/>
            <a:p>
              <a:endParaRPr lang="zh-CN" altLang="en-US"/>
            </a:p>
          </p:txBody>
        </p:sp>
        <p:sp>
          <p:nvSpPr>
            <p:cNvPr id="14350" name="Line 1043"/>
            <p:cNvSpPr>
              <a:spLocks noChangeShapeType="1"/>
            </p:cNvSpPr>
            <p:nvPr/>
          </p:nvSpPr>
          <p:spPr bwMode="auto">
            <a:xfrm>
              <a:off x="4080" y="3456"/>
              <a:ext cx="432" cy="0"/>
            </a:xfrm>
            <a:prstGeom prst="line">
              <a:avLst/>
            </a:prstGeom>
            <a:noFill/>
            <a:ln w="9525">
              <a:solidFill>
                <a:schemeClr val="tx1"/>
              </a:solidFill>
              <a:round/>
              <a:tailEnd type="triangle" w="med" len="med"/>
            </a:ln>
          </p:spPr>
          <p:txBody>
            <a:bodyPr wrap="none"/>
            <a:lstStyle/>
            <a:p>
              <a:endParaRPr lang="zh-CN" altLang="en-US"/>
            </a:p>
          </p:txBody>
        </p:sp>
        <p:sp>
          <p:nvSpPr>
            <p:cNvPr id="14351" name="Text Box 1045"/>
            <p:cNvSpPr txBox="1">
              <a:spLocks noChangeArrowheads="1"/>
            </p:cNvSpPr>
            <p:nvPr/>
          </p:nvSpPr>
          <p:spPr bwMode="auto">
            <a:xfrm>
              <a:off x="4512" y="2400"/>
              <a:ext cx="960" cy="288"/>
            </a:xfrm>
            <a:prstGeom prst="rect">
              <a:avLst/>
            </a:prstGeom>
            <a:noFill/>
            <a:ln w="9525">
              <a:noFill/>
              <a:miter lim="800000"/>
            </a:ln>
          </p:spPr>
          <p:txBody>
            <a:bodyPr>
              <a:spAutoFit/>
            </a:bodyPr>
            <a:lstStyle/>
            <a:p>
              <a:pPr>
                <a:spcBef>
                  <a:spcPct val="50000"/>
                </a:spcBef>
              </a:pPr>
              <a:r>
                <a:rPr lang="zh-CN" altLang="en-US" dirty="0">
                  <a:latin typeface="宋体" panose="02010600030101010101" pitchFamily="2" charset="-122"/>
                </a:rPr>
                <a:t>预处理法</a:t>
              </a:r>
              <a:endParaRPr lang="zh-CN" altLang="en-US" dirty="0">
                <a:latin typeface="宋体" panose="02010600030101010101" pitchFamily="2" charset="-122"/>
              </a:endParaRPr>
            </a:p>
          </p:txBody>
        </p:sp>
        <p:sp>
          <p:nvSpPr>
            <p:cNvPr id="14352" name="Text Box 1046"/>
            <p:cNvSpPr txBox="1">
              <a:spLocks noChangeArrowheads="1"/>
            </p:cNvSpPr>
            <p:nvPr/>
          </p:nvSpPr>
          <p:spPr bwMode="auto">
            <a:xfrm>
              <a:off x="4512" y="2688"/>
              <a:ext cx="960" cy="288"/>
            </a:xfrm>
            <a:prstGeom prst="rect">
              <a:avLst/>
            </a:prstGeom>
            <a:noFill/>
            <a:ln w="9525">
              <a:noFill/>
              <a:miter lim="800000"/>
            </a:ln>
          </p:spPr>
          <p:txBody>
            <a:bodyPr>
              <a:spAutoFit/>
            </a:bodyPr>
            <a:lstStyle/>
            <a:p>
              <a:pPr>
                <a:spcBef>
                  <a:spcPct val="50000"/>
                </a:spcBef>
              </a:pPr>
              <a:r>
                <a:rPr lang="zh-CN" altLang="en-US">
                  <a:latin typeface="宋体" panose="02010600030101010101" pitchFamily="2" charset="-122"/>
                </a:rPr>
                <a:t>移植法</a:t>
              </a:r>
              <a:endParaRPr lang="zh-CN" altLang="en-US">
                <a:latin typeface="宋体" panose="02010600030101010101" pitchFamily="2" charset="-122"/>
              </a:endParaRPr>
            </a:p>
          </p:txBody>
        </p:sp>
        <p:sp>
          <p:nvSpPr>
            <p:cNvPr id="14353" name="Text Box 1047"/>
            <p:cNvSpPr txBox="1">
              <a:spLocks noChangeArrowheads="1"/>
            </p:cNvSpPr>
            <p:nvPr/>
          </p:nvSpPr>
          <p:spPr bwMode="auto">
            <a:xfrm>
              <a:off x="4512" y="3024"/>
              <a:ext cx="960" cy="288"/>
            </a:xfrm>
            <a:prstGeom prst="rect">
              <a:avLst/>
            </a:prstGeom>
            <a:noFill/>
            <a:ln w="9525">
              <a:noFill/>
              <a:miter lim="800000"/>
            </a:ln>
          </p:spPr>
          <p:txBody>
            <a:bodyPr>
              <a:spAutoFit/>
            </a:bodyPr>
            <a:lstStyle/>
            <a:p>
              <a:pPr>
                <a:spcBef>
                  <a:spcPct val="50000"/>
                </a:spcBef>
              </a:pPr>
              <a:r>
                <a:rPr lang="zh-CN" altLang="en-US">
                  <a:latin typeface="宋体" panose="02010600030101010101" pitchFamily="2" charset="-122"/>
                </a:rPr>
                <a:t>自展法</a:t>
              </a:r>
              <a:endParaRPr lang="zh-CN" altLang="en-US">
                <a:latin typeface="宋体" panose="02010600030101010101" pitchFamily="2" charset="-122"/>
              </a:endParaRPr>
            </a:p>
          </p:txBody>
        </p:sp>
        <p:sp>
          <p:nvSpPr>
            <p:cNvPr id="14354" name="Text Box 1048"/>
            <p:cNvSpPr txBox="1">
              <a:spLocks noChangeArrowheads="1"/>
            </p:cNvSpPr>
            <p:nvPr/>
          </p:nvSpPr>
          <p:spPr bwMode="auto">
            <a:xfrm>
              <a:off x="4512" y="3360"/>
              <a:ext cx="960" cy="288"/>
            </a:xfrm>
            <a:prstGeom prst="rect">
              <a:avLst/>
            </a:prstGeom>
            <a:noFill/>
            <a:ln w="9525">
              <a:noFill/>
              <a:miter lim="800000"/>
            </a:ln>
          </p:spPr>
          <p:txBody>
            <a:bodyPr>
              <a:spAutoFit/>
            </a:bodyPr>
            <a:lstStyle/>
            <a:p>
              <a:pPr>
                <a:spcBef>
                  <a:spcPct val="50000"/>
                </a:spcBef>
              </a:pPr>
              <a:r>
                <a:rPr lang="zh-CN" altLang="en-US">
                  <a:latin typeface="宋体" panose="02010600030101010101" pitchFamily="2" charset="-122"/>
                </a:rPr>
                <a:t>工具法</a:t>
              </a:r>
              <a:endParaRPr lang="zh-CN" altLang="en-US">
                <a:latin typeface="宋体" panose="02010600030101010101" pitchFamily="2" charset="-122"/>
              </a:endParaRPr>
            </a:p>
          </p:txBody>
        </p:sp>
      </p:grpSp>
      <p:sp>
        <p:nvSpPr>
          <p:cNvPr id="103451" name="Rectangle 1051"/>
          <p:cNvSpPr>
            <a:spLocks noChangeArrowheads="1"/>
          </p:cNvSpPr>
          <p:nvPr/>
        </p:nvSpPr>
        <p:spPr bwMode="auto">
          <a:xfrm>
            <a:off x="838200" y="4876800"/>
            <a:ext cx="7086600" cy="609600"/>
          </a:xfrm>
          <a:prstGeom prst="rect">
            <a:avLst/>
          </a:prstGeom>
          <a:noFill/>
          <a:ln w="9525">
            <a:noFill/>
            <a:miter lim="800000"/>
          </a:ln>
        </p:spPr>
        <p:txBody>
          <a:bodyPr/>
          <a:lstStyle/>
          <a:p>
            <a:pPr marL="342900" indent="-342900">
              <a:spcBef>
                <a:spcPct val="20000"/>
              </a:spcBef>
              <a:buClr>
                <a:schemeClr val="accent1"/>
              </a:buClr>
            </a:pPr>
            <a:r>
              <a:rPr lang="en-US" altLang="zh-CN" sz="2800" b="1" dirty="0" smtClean="0">
                <a:solidFill>
                  <a:schemeClr val="tx2"/>
                </a:solidFill>
                <a:latin typeface="宋体" panose="02010600030101010101" pitchFamily="2" charset="-122"/>
              </a:rPr>
              <a:t>5</a:t>
            </a:r>
            <a:r>
              <a:rPr lang="zh-CN" altLang="en-US" sz="2800" b="1" dirty="0" smtClean="0">
                <a:solidFill>
                  <a:schemeClr val="tx2"/>
                </a:solidFill>
                <a:latin typeface="宋体" panose="02010600030101010101" pitchFamily="2" charset="-122"/>
              </a:rPr>
              <a:t>）编译程序</a:t>
            </a:r>
            <a:r>
              <a:rPr lang="zh-CN" altLang="en-US" sz="2800" b="1" dirty="0">
                <a:solidFill>
                  <a:schemeClr val="tx2"/>
                </a:solidFill>
                <a:latin typeface="宋体" panose="02010600030101010101" pitchFamily="2" charset="-122"/>
              </a:rPr>
              <a:t>几种</a:t>
            </a:r>
            <a:r>
              <a:rPr lang="zh-CN" altLang="en-US" sz="2800" b="1" dirty="0">
                <a:solidFill>
                  <a:schemeClr val="accent2">
                    <a:lumMod val="75000"/>
                  </a:schemeClr>
                </a:solidFill>
                <a:latin typeface="宋体" panose="02010600030101010101" pitchFamily="2" charset="-122"/>
              </a:rPr>
              <a:t>可能</a:t>
            </a:r>
            <a:r>
              <a:rPr lang="zh-CN" altLang="en-US" sz="2800" b="1" dirty="0" smtClean="0">
                <a:solidFill>
                  <a:schemeClr val="accent2">
                    <a:lumMod val="75000"/>
                  </a:schemeClr>
                </a:solidFill>
                <a:latin typeface="宋体" panose="02010600030101010101" pitchFamily="2" charset="-122"/>
              </a:rPr>
              <a:t>的开发途径</a:t>
            </a:r>
            <a:endParaRPr lang="zh-CN" altLang="en-US" sz="2800" b="1" dirty="0">
              <a:solidFill>
                <a:schemeClr val="accent2">
                  <a:lumMod val="75000"/>
                </a:schemeClr>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430"/>
                                        </p:tgtEl>
                                        <p:attrNameLst>
                                          <p:attrName>style.visibility</p:attrName>
                                        </p:attrNameLst>
                                      </p:cBhvr>
                                      <p:to>
                                        <p:strVal val="visible"/>
                                      </p:to>
                                    </p:set>
                                    <p:anim calcmode="lin" valueType="num">
                                      <p:cBhvr additive="base">
                                        <p:cTn id="7" dur="500" fill="hold"/>
                                        <p:tgtEl>
                                          <p:spTgt spid="103430"/>
                                        </p:tgtEl>
                                        <p:attrNameLst>
                                          <p:attrName>ppt_x</p:attrName>
                                        </p:attrNameLst>
                                      </p:cBhvr>
                                      <p:tavLst>
                                        <p:tav tm="0">
                                          <p:val>
                                            <p:strVal val="0-#ppt_w/2"/>
                                          </p:val>
                                        </p:tav>
                                        <p:tav tm="100000">
                                          <p:val>
                                            <p:strVal val="#ppt_x"/>
                                          </p:val>
                                        </p:tav>
                                      </p:tavLst>
                                    </p:anim>
                                    <p:anim calcmode="lin" valueType="num">
                                      <p:cBhvr additive="base">
                                        <p:cTn id="8" dur="500" fill="hold"/>
                                        <p:tgtEl>
                                          <p:spTgt spid="10343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3437"/>
                                        </p:tgtEl>
                                        <p:attrNameLst>
                                          <p:attrName>style.visibility</p:attrName>
                                        </p:attrNameLst>
                                      </p:cBhvr>
                                      <p:to>
                                        <p:strVal val="visible"/>
                                      </p:to>
                                    </p:set>
                                    <p:anim calcmode="lin" valueType="num">
                                      <p:cBhvr additive="base">
                                        <p:cTn id="12" dur="500" fill="hold"/>
                                        <p:tgtEl>
                                          <p:spTgt spid="103437"/>
                                        </p:tgtEl>
                                        <p:attrNameLst>
                                          <p:attrName>ppt_x</p:attrName>
                                        </p:attrNameLst>
                                      </p:cBhvr>
                                      <p:tavLst>
                                        <p:tav tm="0">
                                          <p:val>
                                            <p:strVal val="0-#ppt_w/2"/>
                                          </p:val>
                                        </p:tav>
                                        <p:tav tm="100000">
                                          <p:val>
                                            <p:strVal val="#ppt_x"/>
                                          </p:val>
                                        </p:tav>
                                      </p:tavLst>
                                    </p:anim>
                                    <p:anim calcmode="lin" valueType="num">
                                      <p:cBhvr additive="base">
                                        <p:cTn id="13" dur="500" fill="hold"/>
                                        <p:tgtEl>
                                          <p:spTgt spid="10343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3431"/>
                                        </p:tgtEl>
                                        <p:attrNameLst>
                                          <p:attrName>style.visibility</p:attrName>
                                        </p:attrNameLst>
                                      </p:cBhvr>
                                      <p:to>
                                        <p:strVal val="visible"/>
                                      </p:to>
                                    </p:set>
                                    <p:anim calcmode="lin" valueType="num">
                                      <p:cBhvr additive="base">
                                        <p:cTn id="18" dur="500" fill="hold"/>
                                        <p:tgtEl>
                                          <p:spTgt spid="103431"/>
                                        </p:tgtEl>
                                        <p:attrNameLst>
                                          <p:attrName>ppt_x</p:attrName>
                                        </p:attrNameLst>
                                      </p:cBhvr>
                                      <p:tavLst>
                                        <p:tav tm="0">
                                          <p:val>
                                            <p:strVal val="0-#ppt_w/2"/>
                                          </p:val>
                                        </p:tav>
                                        <p:tav tm="100000">
                                          <p:val>
                                            <p:strVal val="#ppt_x"/>
                                          </p:val>
                                        </p:tav>
                                      </p:tavLst>
                                    </p:anim>
                                    <p:anim calcmode="lin" valueType="num">
                                      <p:cBhvr additive="base">
                                        <p:cTn id="19" dur="500" fill="hold"/>
                                        <p:tgtEl>
                                          <p:spTgt spid="10343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03438"/>
                                        </p:tgtEl>
                                        <p:attrNameLst>
                                          <p:attrName>style.visibility</p:attrName>
                                        </p:attrNameLst>
                                      </p:cBhvr>
                                      <p:to>
                                        <p:strVal val="visible"/>
                                      </p:to>
                                    </p:set>
                                    <p:anim calcmode="lin" valueType="num">
                                      <p:cBhvr additive="base">
                                        <p:cTn id="24" dur="500" fill="hold"/>
                                        <p:tgtEl>
                                          <p:spTgt spid="103438"/>
                                        </p:tgtEl>
                                        <p:attrNameLst>
                                          <p:attrName>ppt_x</p:attrName>
                                        </p:attrNameLst>
                                      </p:cBhvr>
                                      <p:tavLst>
                                        <p:tav tm="0">
                                          <p:val>
                                            <p:strVal val="0-#ppt_w/2"/>
                                          </p:val>
                                        </p:tav>
                                        <p:tav tm="100000">
                                          <p:val>
                                            <p:strVal val="#ppt_x"/>
                                          </p:val>
                                        </p:tav>
                                      </p:tavLst>
                                    </p:anim>
                                    <p:anim calcmode="lin" valueType="num">
                                      <p:cBhvr additive="base">
                                        <p:cTn id="25" dur="500" fill="hold"/>
                                        <p:tgtEl>
                                          <p:spTgt spid="10343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03451"/>
                                        </p:tgtEl>
                                        <p:attrNameLst>
                                          <p:attrName>style.visibility</p:attrName>
                                        </p:attrNameLst>
                                      </p:cBhvr>
                                      <p:to>
                                        <p:strVal val="visible"/>
                                      </p:to>
                                    </p:set>
                                    <p:anim calcmode="lin" valueType="num">
                                      <p:cBhvr additive="base">
                                        <p:cTn id="30" dur="500" fill="hold"/>
                                        <p:tgtEl>
                                          <p:spTgt spid="103451"/>
                                        </p:tgtEl>
                                        <p:attrNameLst>
                                          <p:attrName>ppt_x</p:attrName>
                                        </p:attrNameLst>
                                      </p:cBhvr>
                                      <p:tavLst>
                                        <p:tav tm="0">
                                          <p:val>
                                            <p:strVal val="0-#ppt_w/2"/>
                                          </p:val>
                                        </p:tav>
                                        <p:tav tm="100000">
                                          <p:val>
                                            <p:strVal val="#ppt_x"/>
                                          </p:val>
                                        </p:tav>
                                      </p:tavLst>
                                    </p:anim>
                                    <p:anim calcmode="lin" valueType="num">
                                      <p:cBhvr additive="base">
                                        <p:cTn id="31" dur="500" fill="hold"/>
                                        <p:tgtEl>
                                          <p:spTgt spid="1034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0" grpId="0" autoUpdateAnimBg="0"/>
      <p:bldP spid="103431" grpId="0" autoUpdateAnimBg="0"/>
      <p:bldP spid="103437" grpId="0" animBg="1"/>
      <p:bldP spid="103438" grpId="0" autoUpdateAnimBg="0"/>
      <p:bldP spid="103451"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08720"/>
            <a:ext cx="8229600" cy="4525963"/>
          </a:xfrm>
        </p:spPr>
        <p:txBody>
          <a:bodyPr/>
          <a:lstStyle/>
          <a:p>
            <a:pPr>
              <a:lnSpc>
                <a:spcPct val="120000"/>
              </a:lnSpc>
              <a:buFont typeface="Wingdings" panose="05000000000000000000" charset="0"/>
              <a:buChar char="Ø"/>
            </a:pPr>
            <a:r>
              <a:rPr lang="zh-CN" altLang="en-US" dirty="0" smtClean="0">
                <a:solidFill>
                  <a:srgbClr val="FF0000"/>
                </a:solidFill>
              </a:rPr>
              <a:t>交叉编译</a:t>
            </a:r>
            <a:r>
              <a:rPr lang="zh-CN" altLang="en-US" dirty="0" smtClean="0"/>
              <a:t>：在机器</a:t>
            </a:r>
            <a:r>
              <a:rPr lang="en-US" altLang="zh-CN" dirty="0" smtClean="0"/>
              <a:t>A</a:t>
            </a:r>
            <a:r>
              <a:rPr lang="zh-CN" altLang="en-US" dirty="0" smtClean="0"/>
              <a:t>上产生机器</a:t>
            </a:r>
            <a:r>
              <a:rPr lang="en-US" altLang="zh-CN" dirty="0" smtClean="0"/>
              <a:t>B</a:t>
            </a:r>
            <a:r>
              <a:rPr lang="zh-CN" altLang="en-US" dirty="0" smtClean="0"/>
              <a:t>的目标代码，这种编译程序称为交叉编译。</a:t>
            </a:r>
            <a:endParaRPr lang="en-US" altLang="zh-CN" dirty="0" smtClean="0"/>
          </a:p>
          <a:p>
            <a:pPr>
              <a:lnSpc>
                <a:spcPct val="120000"/>
              </a:lnSpc>
              <a:buFont typeface="Wingdings" panose="05000000000000000000" charset="0"/>
              <a:buChar char="Ø"/>
            </a:pPr>
            <a:r>
              <a:rPr lang="zh-CN" altLang="en-US" dirty="0" smtClean="0">
                <a:solidFill>
                  <a:srgbClr val="FF0000"/>
                </a:solidFill>
              </a:rPr>
              <a:t>移植</a:t>
            </a:r>
            <a:r>
              <a:rPr lang="zh-CN" altLang="en-US" dirty="0" smtClean="0"/>
              <a:t>：如果一个程序能比较容易地从一台机器上搬到另一台机器上运行，则称其为可移植的。</a:t>
            </a:r>
            <a:endParaRPr lang="en-US" altLang="zh-CN" dirty="0" smtClean="0"/>
          </a:p>
          <a:p>
            <a:pPr>
              <a:lnSpc>
                <a:spcPct val="120000"/>
              </a:lnSpc>
              <a:buFont typeface="Wingdings" panose="05000000000000000000" charset="0"/>
              <a:buChar char="Ø"/>
            </a:pPr>
            <a:r>
              <a:rPr lang="zh-CN" altLang="en-US" dirty="0" smtClean="0">
                <a:solidFill>
                  <a:srgbClr val="FF0000"/>
                </a:solidFill>
              </a:rPr>
              <a:t>编译程序生成器</a:t>
            </a:r>
            <a:r>
              <a:rPr lang="zh-CN" altLang="en-US" dirty="0" smtClean="0"/>
              <a:t>：根据语言要求、设计实现的算法，能自动产生编译程序的工具软件。图示为：</a:t>
            </a:r>
            <a:endParaRPr lang="zh-CN" altLang="en-US" dirty="0"/>
          </a:p>
        </p:txBody>
      </p:sp>
      <p:sp>
        <p:nvSpPr>
          <p:cNvPr id="3" name="标题 2"/>
          <p:cNvSpPr>
            <a:spLocks noGrp="1"/>
          </p:cNvSpPr>
          <p:nvPr>
            <p:ph type="title"/>
          </p:nvPr>
        </p:nvSpPr>
        <p:spPr/>
        <p:txBody>
          <a:bodyPr/>
          <a:lstStyle/>
          <a:p>
            <a:endParaRPr lang="zh-CN" altLang="en-US"/>
          </a:p>
        </p:txBody>
      </p:sp>
      <p:pic>
        <p:nvPicPr>
          <p:cNvPr id="18434" name="Picture 2"/>
          <p:cNvPicPr>
            <a:picLocks noChangeAspect="1" noChangeArrowheads="1"/>
          </p:cNvPicPr>
          <p:nvPr/>
        </p:nvPicPr>
        <p:blipFill>
          <a:blip r:embed="rId1"/>
          <a:srcRect l="5425" t="43628" r="11166" b="19720"/>
          <a:stretch>
            <a:fillRect/>
          </a:stretch>
        </p:blipFill>
        <p:spPr bwMode="auto">
          <a:xfrm>
            <a:off x="1357290" y="4076081"/>
            <a:ext cx="6643734" cy="2737295"/>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30000"/>
              </a:lnSpc>
              <a:buFont typeface="Wingdings" panose="05000000000000000000" charset="0"/>
              <a:buChar char="Ø"/>
            </a:pPr>
            <a:r>
              <a:rPr lang="zh-CN" altLang="en-US" dirty="0" smtClean="0">
                <a:solidFill>
                  <a:srgbClr val="FF0000"/>
                </a:solidFill>
              </a:rPr>
              <a:t>自展</a:t>
            </a:r>
            <a:r>
              <a:rPr lang="en-US" altLang="zh-CN" dirty="0" smtClean="0">
                <a:solidFill>
                  <a:srgbClr val="FF0000"/>
                </a:solidFill>
              </a:rPr>
              <a:t>(</a:t>
            </a:r>
            <a:r>
              <a:rPr lang="zh-CN" altLang="en-US" dirty="0" smtClean="0">
                <a:solidFill>
                  <a:srgbClr val="FF0000"/>
                </a:solidFill>
              </a:rPr>
              <a:t>自编译</a:t>
            </a:r>
            <a:r>
              <a:rPr lang="en-US" altLang="zh-CN" dirty="0" smtClean="0">
                <a:solidFill>
                  <a:srgbClr val="FF0000"/>
                </a:solidFill>
              </a:rPr>
              <a:t>)</a:t>
            </a:r>
            <a:r>
              <a:rPr lang="en-US" altLang="zh-CN" dirty="0" smtClean="0"/>
              <a:t>:</a:t>
            </a:r>
            <a:r>
              <a:rPr lang="zh-CN" altLang="en-US" dirty="0" smtClean="0"/>
              <a:t>类似于滚雪球。先确定一个非常简单的核心</a:t>
            </a:r>
            <a:r>
              <a:rPr lang="en-US" altLang="zh-CN" dirty="0" smtClean="0"/>
              <a:t>L0</a:t>
            </a:r>
            <a:r>
              <a:rPr lang="zh-CN" altLang="en-US" dirty="0" smtClean="0"/>
              <a:t>，用低级语言写出其编译程序</a:t>
            </a:r>
            <a:r>
              <a:rPr lang="en-US" altLang="zh-CN" dirty="0" smtClean="0"/>
              <a:t>C0</a:t>
            </a:r>
            <a:r>
              <a:rPr lang="zh-CN" altLang="en-US" dirty="0" smtClean="0"/>
              <a:t>。再把</a:t>
            </a:r>
            <a:r>
              <a:rPr lang="en-US" altLang="zh-CN" dirty="0" smtClean="0"/>
              <a:t>L0</a:t>
            </a:r>
            <a:r>
              <a:rPr lang="zh-CN" altLang="en-US" dirty="0" smtClean="0"/>
              <a:t>扩充为</a:t>
            </a:r>
            <a:r>
              <a:rPr lang="en-US" altLang="zh-CN" dirty="0" smtClean="0"/>
              <a:t>L1</a:t>
            </a:r>
            <a:r>
              <a:rPr lang="zh-CN" altLang="en-US" dirty="0" smtClean="0"/>
              <a:t>，并用</a:t>
            </a:r>
            <a:r>
              <a:rPr lang="en-US" altLang="zh-CN" dirty="0" smtClean="0"/>
              <a:t>L0</a:t>
            </a:r>
            <a:r>
              <a:rPr lang="zh-CN" altLang="en-US" dirty="0" smtClean="0"/>
              <a:t>来编写</a:t>
            </a:r>
            <a:r>
              <a:rPr lang="en-US" altLang="zh-CN" dirty="0" smtClean="0"/>
              <a:t>L1</a:t>
            </a:r>
            <a:r>
              <a:rPr lang="zh-CN" altLang="en-US" dirty="0" smtClean="0"/>
              <a:t>的编译程序。如此逐渐扩展下去，可得到一个系统编程语言族：而</a:t>
            </a:r>
            <a:r>
              <a:rPr lang="en-US" altLang="zh-CN" dirty="0" err="1" smtClean="0"/>
              <a:t>Lk</a:t>
            </a:r>
            <a:r>
              <a:rPr lang="zh-CN" altLang="en-US" dirty="0" smtClean="0"/>
              <a:t>便是我们要编译的语言，其编译程序</a:t>
            </a:r>
            <a:r>
              <a:rPr lang="en-US" altLang="zh-CN" dirty="0" smtClean="0"/>
              <a:t>CK</a:t>
            </a:r>
            <a:r>
              <a:rPr lang="zh-CN" altLang="en-US" dirty="0" smtClean="0"/>
              <a:t>可用</a:t>
            </a:r>
            <a:r>
              <a:rPr lang="en-US" altLang="zh-CN" dirty="0" smtClean="0"/>
              <a:t>Lk-1</a:t>
            </a:r>
            <a:r>
              <a:rPr lang="zh-CN" altLang="en-US" dirty="0" smtClean="0"/>
              <a:t>编写。这种滚雪球式的自展方法可大大减少开发工作量。</a:t>
            </a:r>
            <a:endParaRPr lang="zh-CN" altLang="en-US" dirty="0"/>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838200" y="990600"/>
            <a:ext cx="7910513" cy="1066800"/>
          </a:xfrm>
          <a:noFill/>
        </p:spPr>
        <p:txBody>
          <a:bodyPr/>
          <a:lstStyle/>
          <a:p>
            <a:pPr eaLnBrk="1" hangingPunct="1">
              <a:buFontTx/>
              <a:buNone/>
            </a:pPr>
            <a:endParaRPr lang="en-US" altLang="zh-CN" sz="2800" b="1" dirty="0" smtClean="0">
              <a:solidFill>
                <a:schemeClr val="tx2"/>
              </a:solidFill>
              <a:latin typeface="宋体" panose="02010600030101010101" pitchFamily="2" charset="-122"/>
            </a:endParaRPr>
          </a:p>
          <a:p>
            <a:pPr eaLnBrk="1" hangingPunct="1">
              <a:buFontTx/>
              <a:buNone/>
            </a:pPr>
            <a:r>
              <a:rPr lang="en-US" altLang="zh-CN" sz="2800" b="1" dirty="0" smtClean="0">
                <a:solidFill>
                  <a:schemeClr val="tx2"/>
                </a:solidFill>
                <a:latin typeface="宋体" panose="02010600030101010101" pitchFamily="2" charset="-122"/>
              </a:rPr>
              <a:t>1</a:t>
            </a:r>
            <a:r>
              <a:rPr lang="zh-CN" altLang="en-US" sz="2800" b="1" dirty="0" smtClean="0">
                <a:solidFill>
                  <a:schemeClr val="tx2"/>
                </a:solidFill>
                <a:latin typeface="宋体" panose="02010600030101010101" pitchFamily="2" charset="-122"/>
              </a:rPr>
              <a:t>）编译程序的测试与维护工作非常重要</a:t>
            </a:r>
            <a:r>
              <a:rPr lang="en-US" altLang="zh-CN" sz="2800" b="1" dirty="0" smtClean="0">
                <a:solidFill>
                  <a:schemeClr val="tx2"/>
                </a:solidFill>
                <a:latin typeface="宋体" panose="02010600030101010101" pitchFamily="2" charset="-122"/>
              </a:rPr>
              <a:t>(</a:t>
            </a:r>
            <a:r>
              <a:rPr lang="zh-CN" altLang="en-US" sz="2800" b="1" dirty="0" smtClean="0">
                <a:solidFill>
                  <a:schemeClr val="accent6"/>
                </a:solidFill>
                <a:latin typeface="宋体" panose="02010600030101010101" pitchFamily="2" charset="-122"/>
              </a:rPr>
              <a:t>可靠性</a:t>
            </a:r>
            <a:r>
              <a:rPr lang="en-US" altLang="zh-CN" sz="2800" b="1" dirty="0" smtClean="0">
                <a:solidFill>
                  <a:schemeClr val="tx2"/>
                </a:solidFill>
                <a:latin typeface="宋体" panose="02010600030101010101" pitchFamily="2" charset="-122"/>
              </a:rPr>
              <a:t>)</a:t>
            </a:r>
            <a:endParaRPr lang="en-US" altLang="zh-CN" sz="2800" b="1" dirty="0" smtClean="0">
              <a:solidFill>
                <a:schemeClr val="tx2"/>
              </a:solidFill>
              <a:latin typeface="宋体" panose="02010600030101010101" pitchFamily="2" charset="-122"/>
            </a:endParaRPr>
          </a:p>
        </p:txBody>
      </p:sp>
      <p:sp>
        <p:nvSpPr>
          <p:cNvPr id="15362" name="Rectangle 2"/>
          <p:cNvSpPr>
            <a:spLocks noGrp="1" noChangeArrowheads="1"/>
          </p:cNvSpPr>
          <p:nvPr>
            <p:ph type="title"/>
          </p:nvPr>
        </p:nvSpPr>
        <p:spPr>
          <a:xfrm>
            <a:off x="457200" y="533400"/>
            <a:ext cx="7772400" cy="609600"/>
          </a:xfrm>
        </p:spPr>
        <p:txBody>
          <a:bodyPr/>
          <a:lstStyle/>
          <a:p>
            <a:pPr eaLnBrk="1" hangingPunct="1"/>
            <a:r>
              <a:rPr lang="en-US" altLang="zh-CN" sz="2800" b="1" smtClean="0">
                <a:solidFill>
                  <a:schemeClr val="tx1"/>
                </a:solidFill>
                <a:latin typeface="宋体" panose="02010600030101010101" pitchFamily="2" charset="-122"/>
              </a:rPr>
              <a:t>1.5</a:t>
            </a:r>
            <a:r>
              <a:rPr lang="zh-CN" altLang="en-US" sz="2800" b="1" smtClean="0">
                <a:solidFill>
                  <a:schemeClr val="tx1"/>
                </a:solidFill>
                <a:latin typeface="宋体" panose="02010600030101010101" pitchFamily="2" charset="-122"/>
              </a:rPr>
              <a:t>、编译程序的测试与维护</a:t>
            </a:r>
            <a:endParaRPr lang="zh-CN" altLang="en-US" sz="2800" b="1" smtClean="0">
              <a:solidFill>
                <a:schemeClr val="tx1"/>
              </a:solidFill>
              <a:latin typeface="宋体" panose="02010600030101010101" pitchFamily="2" charset="-122"/>
            </a:endParaRPr>
          </a:p>
        </p:txBody>
      </p:sp>
      <p:sp>
        <p:nvSpPr>
          <p:cNvPr id="104452" name="Rectangle 4"/>
          <p:cNvSpPr>
            <a:spLocks noChangeArrowheads="1"/>
          </p:cNvSpPr>
          <p:nvPr/>
        </p:nvSpPr>
        <p:spPr bwMode="auto">
          <a:xfrm>
            <a:off x="838200" y="2133600"/>
            <a:ext cx="7838256" cy="1981200"/>
          </a:xfrm>
          <a:prstGeom prst="rect">
            <a:avLst/>
          </a:prstGeom>
          <a:noFill/>
          <a:ln w="9525">
            <a:noFill/>
            <a:miter lim="800000"/>
          </a:ln>
        </p:spPr>
        <p:txBody>
          <a:bodyPr/>
          <a:lstStyle/>
          <a:p>
            <a:pPr marL="342900" indent="-342900">
              <a:spcBef>
                <a:spcPct val="20000"/>
              </a:spcBef>
              <a:buClr>
                <a:schemeClr val="accent1"/>
              </a:buClr>
            </a:pPr>
            <a:r>
              <a:rPr lang="en-US" altLang="zh-CN" sz="2800" b="1" dirty="0">
                <a:solidFill>
                  <a:schemeClr val="tx2"/>
                </a:solidFill>
                <a:latin typeface="宋体" panose="02010600030101010101" pitchFamily="2" charset="-122"/>
              </a:rPr>
              <a:t>2</a:t>
            </a:r>
            <a:r>
              <a:rPr lang="zh-CN" altLang="en-US" sz="2800" b="1" dirty="0">
                <a:solidFill>
                  <a:schemeClr val="tx2"/>
                </a:solidFill>
                <a:latin typeface="宋体" panose="02010600030101010101" pitchFamily="2" charset="-122"/>
              </a:rPr>
              <a:t>）</a:t>
            </a:r>
            <a:r>
              <a:rPr lang="zh-CN" altLang="en-US" sz="2800" b="1" dirty="0">
                <a:solidFill>
                  <a:schemeClr val="accent6"/>
                </a:solidFill>
                <a:latin typeface="宋体" panose="02010600030101010101" pitchFamily="2" charset="-122"/>
                <a:ea typeface="+mn-ea"/>
              </a:rPr>
              <a:t>测试：</a:t>
            </a:r>
            <a:r>
              <a:rPr lang="zh-CN" altLang="en-US" sz="2800" b="1" dirty="0">
                <a:solidFill>
                  <a:schemeClr val="tx2"/>
                </a:solidFill>
                <a:latin typeface="宋体" panose="02010600030101010101" pitchFamily="2" charset="-122"/>
              </a:rPr>
              <a:t>只能靠人工和经验实现</a:t>
            </a:r>
            <a:endParaRPr lang="zh-CN" altLang="en-US" sz="2800" b="1" dirty="0">
              <a:solidFill>
                <a:schemeClr val="tx2"/>
              </a:solidFill>
              <a:latin typeface="宋体" panose="02010600030101010101" pitchFamily="2" charset="-122"/>
            </a:endParaRPr>
          </a:p>
          <a:p>
            <a:pPr marL="342900" indent="-342900">
              <a:spcBef>
                <a:spcPct val="20000"/>
              </a:spcBef>
              <a:buClr>
                <a:schemeClr val="accent1"/>
              </a:buClr>
            </a:pPr>
            <a:r>
              <a:rPr lang="zh-CN" altLang="en-US" sz="2800" b="1" dirty="0">
                <a:solidFill>
                  <a:schemeClr val="tx2"/>
                </a:solidFill>
                <a:latin typeface="宋体" panose="02010600030101010101" pitchFamily="2" charset="-122"/>
              </a:rPr>
              <a:t>   </a:t>
            </a:r>
            <a:r>
              <a:rPr lang="zh-CN" altLang="en-US" dirty="0">
                <a:latin typeface="宋体" panose="02010600030101010101" pitchFamily="2" charset="-122"/>
              </a:rPr>
              <a:t>回归测试法     保存一套适当的测试程序</a:t>
            </a:r>
            <a:r>
              <a:rPr lang="zh-CN" altLang="en-US" dirty="0" smtClean="0">
                <a:latin typeface="宋体" panose="02010600030101010101" pitchFamily="2" charset="-122"/>
              </a:rPr>
              <a:t>，保证改</a:t>
            </a:r>
            <a:endParaRPr lang="en-US" altLang="zh-CN" dirty="0" smtClean="0">
              <a:latin typeface="宋体" panose="02010600030101010101" pitchFamily="2" charset="-122"/>
            </a:endParaRPr>
          </a:p>
          <a:p>
            <a:pPr marL="342900" indent="-342900">
              <a:spcBef>
                <a:spcPct val="20000"/>
              </a:spcBef>
              <a:buClr>
                <a:schemeClr val="accent1"/>
              </a:buClr>
            </a:pPr>
            <a:r>
              <a:rPr lang="zh-CN" altLang="en-US" dirty="0" smtClean="0">
                <a:latin typeface="宋体" panose="02010600030101010101" pitchFamily="2" charset="-122"/>
              </a:rPr>
              <a:t>动</a:t>
            </a:r>
            <a:r>
              <a:rPr lang="zh-CN" altLang="en-US" dirty="0">
                <a:latin typeface="宋体" panose="02010600030101010101" pitchFamily="2" charset="-122"/>
              </a:rPr>
              <a:t>后的版本编译产生的目标程序与</a:t>
            </a:r>
            <a:r>
              <a:rPr lang="zh-CN" altLang="en-US" dirty="0" smtClean="0">
                <a:latin typeface="宋体" panose="02010600030101010101" pitchFamily="2" charset="-122"/>
              </a:rPr>
              <a:t>原版本产生的目标程序</a:t>
            </a:r>
            <a:endParaRPr lang="en-US" altLang="zh-CN" dirty="0" smtClean="0">
              <a:latin typeface="宋体" panose="02010600030101010101" pitchFamily="2" charset="-122"/>
            </a:endParaRPr>
          </a:p>
          <a:p>
            <a:pPr marL="342900" indent="-342900">
              <a:spcBef>
                <a:spcPct val="20000"/>
              </a:spcBef>
              <a:buClr>
                <a:schemeClr val="accent1"/>
              </a:buClr>
            </a:pPr>
            <a:r>
              <a:rPr lang="zh-CN" altLang="en-US" dirty="0" smtClean="0">
                <a:latin typeface="宋体" panose="02010600030101010101" pitchFamily="2" charset="-122"/>
              </a:rPr>
              <a:t>一致。</a:t>
            </a:r>
            <a:endParaRPr lang="zh-CN" altLang="en-US" dirty="0">
              <a:latin typeface="宋体" panose="02010600030101010101" pitchFamily="2" charset="-122"/>
            </a:endParaRPr>
          </a:p>
        </p:txBody>
      </p:sp>
      <p:sp>
        <p:nvSpPr>
          <p:cNvPr id="104455" name="Line 7"/>
          <p:cNvSpPr>
            <a:spLocks noChangeShapeType="1"/>
          </p:cNvSpPr>
          <p:nvPr/>
        </p:nvSpPr>
        <p:spPr bwMode="auto">
          <a:xfrm>
            <a:off x="3048000" y="2971800"/>
            <a:ext cx="609600" cy="0"/>
          </a:xfrm>
          <a:prstGeom prst="line">
            <a:avLst/>
          </a:prstGeom>
          <a:noFill/>
          <a:ln w="9525">
            <a:solidFill>
              <a:srgbClr val="CC0066"/>
            </a:solidFill>
            <a:round/>
          </a:ln>
        </p:spPr>
        <p:txBody>
          <a:bodyPr wrap="none"/>
          <a:lstStyle/>
          <a:p>
            <a:endParaRPr lang="zh-CN" altLang="en-US"/>
          </a:p>
        </p:txBody>
      </p:sp>
      <p:sp>
        <p:nvSpPr>
          <p:cNvPr id="104456" name="Rectangle 8"/>
          <p:cNvSpPr>
            <a:spLocks noChangeArrowheads="1"/>
          </p:cNvSpPr>
          <p:nvPr/>
        </p:nvSpPr>
        <p:spPr bwMode="auto">
          <a:xfrm>
            <a:off x="838200" y="4114800"/>
            <a:ext cx="7694613" cy="1219200"/>
          </a:xfrm>
          <a:prstGeom prst="rect">
            <a:avLst/>
          </a:prstGeom>
          <a:noFill/>
          <a:ln w="9525">
            <a:noFill/>
            <a:miter lim="800000"/>
          </a:ln>
        </p:spPr>
        <p:txBody>
          <a:bodyPr/>
          <a:lstStyle/>
          <a:p>
            <a:pPr marL="342900" indent="-342900">
              <a:spcBef>
                <a:spcPct val="20000"/>
              </a:spcBef>
              <a:buClr>
                <a:schemeClr val="accent1"/>
              </a:buClr>
            </a:pPr>
            <a:r>
              <a:rPr lang="en-US" altLang="zh-CN" sz="2800" b="1" dirty="0">
                <a:solidFill>
                  <a:schemeClr val="tx2"/>
                </a:solidFill>
                <a:latin typeface="宋体" panose="02010600030101010101" pitchFamily="2" charset="-122"/>
              </a:rPr>
              <a:t>3</a:t>
            </a:r>
            <a:r>
              <a:rPr lang="zh-CN" altLang="en-US" sz="2800" b="1" dirty="0">
                <a:solidFill>
                  <a:schemeClr val="tx2"/>
                </a:solidFill>
                <a:latin typeface="宋体" panose="02010600030101010101" pitchFamily="2" charset="-122"/>
              </a:rPr>
              <a:t>）</a:t>
            </a:r>
            <a:r>
              <a:rPr lang="zh-CN" altLang="en-US" sz="2800" b="1" dirty="0" smtClean="0">
                <a:solidFill>
                  <a:schemeClr val="accent6"/>
                </a:solidFill>
                <a:latin typeface="宋体" panose="02010600030101010101" pitchFamily="2" charset="-122"/>
                <a:ea typeface="+mn-ea"/>
              </a:rPr>
              <a:t>维护：</a:t>
            </a:r>
            <a:r>
              <a:rPr lang="zh-CN" altLang="en-US" sz="2800" b="1" dirty="0" smtClean="0">
                <a:solidFill>
                  <a:schemeClr val="tx2"/>
                </a:solidFill>
                <a:latin typeface="宋体" panose="02010600030101010101" pitchFamily="2" charset="-122"/>
              </a:rPr>
              <a:t>编写</a:t>
            </a:r>
            <a:r>
              <a:rPr lang="zh-CN" altLang="en-US" sz="2800" b="1" dirty="0">
                <a:solidFill>
                  <a:schemeClr val="tx2"/>
                </a:solidFill>
                <a:latin typeface="宋体" panose="02010600030101010101" pitchFamily="2" charset="-122"/>
              </a:rPr>
              <a:t>时，与一般程序</a:t>
            </a:r>
            <a:r>
              <a:rPr lang="zh-CN" altLang="en-US" sz="2800" b="1" dirty="0" smtClean="0">
                <a:solidFill>
                  <a:schemeClr val="tx2"/>
                </a:solidFill>
                <a:latin typeface="宋体" panose="02010600030101010101" pitchFamily="2" charset="-122"/>
              </a:rPr>
              <a:t>的维护原则</a:t>
            </a:r>
            <a:r>
              <a:rPr lang="zh-CN" altLang="en-US" sz="2800" b="1" dirty="0">
                <a:solidFill>
                  <a:schemeClr val="tx2"/>
                </a:solidFill>
                <a:latin typeface="宋体" panose="02010600030101010101" pitchFamily="2" charset="-122"/>
              </a:rPr>
              <a:t>一样</a:t>
            </a:r>
            <a:r>
              <a:rPr lang="zh-CN" altLang="en-US" sz="2800" b="1" dirty="0" smtClean="0">
                <a:solidFill>
                  <a:schemeClr val="tx2"/>
                </a:solidFill>
                <a:latin typeface="宋体" panose="02010600030101010101" pitchFamily="2" charset="-122"/>
              </a:rPr>
              <a:t>， </a:t>
            </a:r>
            <a:endParaRPr lang="en-US" altLang="zh-CN" sz="2800" b="1" dirty="0" smtClean="0">
              <a:solidFill>
                <a:schemeClr val="tx2"/>
              </a:solidFill>
              <a:latin typeface="宋体" panose="02010600030101010101" pitchFamily="2" charset="-122"/>
            </a:endParaRPr>
          </a:p>
          <a:p>
            <a:pPr marL="342900" indent="-342900">
              <a:spcBef>
                <a:spcPct val="20000"/>
              </a:spcBef>
              <a:buClr>
                <a:schemeClr val="accent1"/>
              </a:buClr>
            </a:pPr>
            <a:r>
              <a:rPr lang="en-US" altLang="zh-CN" sz="2800" b="1" dirty="0" smtClean="0">
                <a:solidFill>
                  <a:schemeClr val="tx2"/>
                </a:solidFill>
                <a:latin typeface="宋体" panose="02010600030101010101" pitchFamily="2" charset="-122"/>
              </a:rPr>
              <a:t>   </a:t>
            </a:r>
            <a:r>
              <a:rPr lang="zh-CN" altLang="en-US" sz="2800" b="1" dirty="0" smtClean="0">
                <a:solidFill>
                  <a:schemeClr val="tx2"/>
                </a:solidFill>
                <a:latin typeface="宋体" panose="02010600030101010101" pitchFamily="2" charset="-122"/>
              </a:rPr>
              <a:t>要</a:t>
            </a:r>
            <a:r>
              <a:rPr lang="zh-CN" altLang="en-US" sz="2800" b="1" dirty="0">
                <a:solidFill>
                  <a:schemeClr val="tx2"/>
                </a:solidFill>
                <a:latin typeface="宋体" panose="02010600030101010101" pitchFamily="2" charset="-122"/>
              </a:rPr>
              <a:t>有好的程序结构和好的文档。</a:t>
            </a:r>
            <a:endParaRPr lang="zh-CN" altLang="en-US" sz="2800" b="1" dirty="0">
              <a:solidFill>
                <a:schemeClr val="tx2"/>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4452"/>
                                        </p:tgtEl>
                                        <p:attrNameLst>
                                          <p:attrName>style.visibility</p:attrName>
                                        </p:attrNameLst>
                                      </p:cBhvr>
                                      <p:to>
                                        <p:strVal val="visible"/>
                                      </p:to>
                                    </p:set>
                                    <p:anim calcmode="lin" valueType="num">
                                      <p:cBhvr additive="base">
                                        <p:cTn id="7" dur="500" fill="hold"/>
                                        <p:tgtEl>
                                          <p:spTgt spid="104452"/>
                                        </p:tgtEl>
                                        <p:attrNameLst>
                                          <p:attrName>ppt_x</p:attrName>
                                        </p:attrNameLst>
                                      </p:cBhvr>
                                      <p:tavLst>
                                        <p:tav tm="0">
                                          <p:val>
                                            <p:strVal val="0-#ppt_w/2"/>
                                          </p:val>
                                        </p:tav>
                                        <p:tav tm="100000">
                                          <p:val>
                                            <p:strVal val="#ppt_x"/>
                                          </p:val>
                                        </p:tav>
                                      </p:tavLst>
                                    </p:anim>
                                    <p:anim calcmode="lin" valueType="num">
                                      <p:cBhvr additive="base">
                                        <p:cTn id="8" dur="500" fill="hold"/>
                                        <p:tgtEl>
                                          <p:spTgt spid="10445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4455"/>
                                        </p:tgtEl>
                                        <p:attrNameLst>
                                          <p:attrName>style.visibility</p:attrName>
                                        </p:attrNameLst>
                                      </p:cBhvr>
                                      <p:to>
                                        <p:strVal val="visible"/>
                                      </p:to>
                                    </p:set>
                                    <p:anim calcmode="lin" valueType="num">
                                      <p:cBhvr additive="base">
                                        <p:cTn id="12" dur="500" fill="hold"/>
                                        <p:tgtEl>
                                          <p:spTgt spid="104455"/>
                                        </p:tgtEl>
                                        <p:attrNameLst>
                                          <p:attrName>ppt_x</p:attrName>
                                        </p:attrNameLst>
                                      </p:cBhvr>
                                      <p:tavLst>
                                        <p:tav tm="0">
                                          <p:val>
                                            <p:strVal val="0-#ppt_w/2"/>
                                          </p:val>
                                        </p:tav>
                                        <p:tav tm="100000">
                                          <p:val>
                                            <p:strVal val="#ppt_x"/>
                                          </p:val>
                                        </p:tav>
                                      </p:tavLst>
                                    </p:anim>
                                    <p:anim calcmode="lin" valueType="num">
                                      <p:cBhvr additive="base">
                                        <p:cTn id="13" dur="500" fill="hold"/>
                                        <p:tgtEl>
                                          <p:spTgt spid="10445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4456"/>
                                        </p:tgtEl>
                                        <p:attrNameLst>
                                          <p:attrName>style.visibility</p:attrName>
                                        </p:attrNameLst>
                                      </p:cBhvr>
                                      <p:to>
                                        <p:strVal val="visible"/>
                                      </p:to>
                                    </p:set>
                                    <p:anim calcmode="lin" valueType="num">
                                      <p:cBhvr additive="base">
                                        <p:cTn id="18" dur="500" fill="hold"/>
                                        <p:tgtEl>
                                          <p:spTgt spid="104456"/>
                                        </p:tgtEl>
                                        <p:attrNameLst>
                                          <p:attrName>ppt_x</p:attrName>
                                        </p:attrNameLst>
                                      </p:cBhvr>
                                      <p:tavLst>
                                        <p:tav tm="0">
                                          <p:val>
                                            <p:strVal val="0-#ppt_w/2"/>
                                          </p:val>
                                        </p:tav>
                                        <p:tav tm="100000">
                                          <p:val>
                                            <p:strVal val="#ppt_x"/>
                                          </p:val>
                                        </p:tav>
                                      </p:tavLst>
                                    </p:anim>
                                    <p:anim calcmode="lin" valueType="num">
                                      <p:cBhvr additive="base">
                                        <p:cTn id="19" dur="500" fill="hold"/>
                                        <p:tgtEl>
                                          <p:spTgt spid="1044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autoUpdateAnimBg="0"/>
      <p:bldP spid="104455" grpId="0" animBg="1"/>
      <p:bldP spid="104456"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609600" y="1447800"/>
            <a:ext cx="8001000" cy="4572000"/>
          </a:xfrm>
        </p:spPr>
        <p:txBody>
          <a:bodyPr/>
          <a:lstStyle/>
          <a:p>
            <a:pPr eaLnBrk="1" hangingPunct="1">
              <a:lnSpc>
                <a:spcPct val="120000"/>
              </a:lnSpc>
              <a:buFont typeface="Wingdings" panose="05000000000000000000" charset="0"/>
              <a:buChar char="Ø"/>
            </a:pPr>
            <a:r>
              <a:rPr lang="zh-CN" altLang="en-US" sz="2600" dirty="0" smtClean="0">
                <a:latin typeface="黑体" panose="02010609060101010101" pitchFamily="2" charset="-122"/>
                <a:ea typeface="黑体" panose="02010609060101010101" pitchFamily="2" charset="-122"/>
              </a:rPr>
              <a:t>编译程序</a:t>
            </a:r>
            <a:r>
              <a:rPr lang="zh-CN" altLang="en-US" sz="2600" dirty="0" smtClean="0">
                <a:solidFill>
                  <a:schemeClr val="accent2">
                    <a:lumMod val="75000"/>
                  </a:schemeClr>
                </a:solidFill>
                <a:latin typeface="黑体" panose="02010609060101010101" pitchFamily="2" charset="-122"/>
                <a:ea typeface="黑体" panose="02010609060101010101" pitchFamily="2" charset="-122"/>
              </a:rPr>
              <a:t>本身也是一种软件开发工具</a:t>
            </a:r>
            <a:r>
              <a:rPr lang="zh-CN" altLang="en-US" sz="2600" dirty="0" smtClean="0">
                <a:latin typeface="黑体" panose="02010609060101010101" pitchFamily="2" charset="-122"/>
                <a:ea typeface="黑体" panose="02010609060101010101" pitchFamily="2" charset="-122"/>
              </a:rPr>
              <a:t>，软件工作人员研制了不少对源程序处理的工具，不同程度地利用到编译程序各个部分的技术和方法：</a:t>
            </a:r>
            <a:endParaRPr lang="zh-CN" altLang="en-US" sz="2600" dirty="0" smtClean="0">
              <a:latin typeface="黑体" panose="02010609060101010101" pitchFamily="2" charset="-122"/>
              <a:ea typeface="黑体" panose="02010609060101010101" pitchFamily="2" charset="-122"/>
            </a:endParaRPr>
          </a:p>
          <a:p>
            <a:pPr lvl="1" eaLnBrk="1" hangingPunct="1">
              <a:lnSpc>
                <a:spcPct val="120000"/>
              </a:lnSpc>
              <a:spcBef>
                <a:spcPts val="1800"/>
              </a:spcBef>
            </a:pPr>
            <a:r>
              <a:rPr lang="zh-CN" altLang="en-US" sz="2600" dirty="0" smtClean="0">
                <a:latin typeface="黑体" panose="02010609060101010101" pitchFamily="2" charset="-122"/>
                <a:ea typeface="黑体" panose="02010609060101010101" pitchFamily="2" charset="-122"/>
              </a:rPr>
              <a:t>语言结构化编辑器</a:t>
            </a:r>
            <a:endParaRPr lang="zh-CN" altLang="en-US" sz="2600" dirty="0" smtClean="0">
              <a:latin typeface="黑体" panose="02010609060101010101" pitchFamily="2" charset="-122"/>
              <a:ea typeface="黑体" panose="02010609060101010101" pitchFamily="2" charset="-122"/>
            </a:endParaRPr>
          </a:p>
          <a:p>
            <a:pPr lvl="1" eaLnBrk="1" hangingPunct="1">
              <a:lnSpc>
                <a:spcPct val="120000"/>
              </a:lnSpc>
              <a:spcBef>
                <a:spcPts val="1800"/>
              </a:spcBef>
            </a:pPr>
            <a:r>
              <a:rPr lang="zh-CN" altLang="en-US" sz="2600" dirty="0" smtClean="0">
                <a:latin typeface="黑体" panose="02010609060101010101" pitchFamily="2" charset="-122"/>
                <a:ea typeface="黑体" panose="02010609060101010101" pitchFamily="2" charset="-122"/>
              </a:rPr>
              <a:t>语言程序的调试工具</a:t>
            </a:r>
            <a:endParaRPr lang="zh-CN" altLang="en-US" sz="2600" dirty="0" smtClean="0">
              <a:latin typeface="黑体" panose="02010609060101010101" pitchFamily="2" charset="-122"/>
              <a:ea typeface="黑体" panose="02010609060101010101" pitchFamily="2" charset="-122"/>
            </a:endParaRPr>
          </a:p>
          <a:p>
            <a:pPr lvl="1" eaLnBrk="1" hangingPunct="1">
              <a:lnSpc>
                <a:spcPct val="120000"/>
              </a:lnSpc>
              <a:spcBef>
                <a:spcPts val="1800"/>
              </a:spcBef>
            </a:pPr>
            <a:r>
              <a:rPr lang="zh-CN" altLang="en-US" sz="2600" dirty="0" smtClean="0">
                <a:latin typeface="黑体" panose="02010609060101010101" pitchFamily="2" charset="-122"/>
                <a:ea typeface="黑体" panose="02010609060101010101" pitchFamily="2" charset="-122"/>
              </a:rPr>
              <a:t>高级语言之间的转换工具</a:t>
            </a:r>
            <a:endParaRPr lang="zh-CN" altLang="en-US" sz="2600" dirty="0" smtClean="0">
              <a:latin typeface="黑体" panose="02010609060101010101" pitchFamily="2" charset="-122"/>
              <a:ea typeface="黑体" panose="02010609060101010101" pitchFamily="2" charset="-122"/>
            </a:endParaRPr>
          </a:p>
          <a:p>
            <a:pPr lvl="1" eaLnBrk="1" hangingPunct="1">
              <a:lnSpc>
                <a:spcPct val="120000"/>
              </a:lnSpc>
              <a:spcBef>
                <a:spcPts val="1800"/>
              </a:spcBef>
            </a:pPr>
            <a:r>
              <a:rPr lang="zh-CN" altLang="en-US" sz="2600" dirty="0" smtClean="0">
                <a:latin typeface="黑体" panose="02010609060101010101" pitchFamily="2" charset="-122"/>
                <a:ea typeface="黑体" panose="02010609060101010101" pitchFamily="2" charset="-122"/>
              </a:rPr>
              <a:t>并行编译技术</a:t>
            </a:r>
            <a:endParaRPr lang="zh-CN" altLang="en-US" sz="2600" dirty="0" smtClean="0">
              <a:latin typeface="黑体" panose="02010609060101010101" pitchFamily="2" charset="-122"/>
              <a:ea typeface="黑体" panose="02010609060101010101" pitchFamily="2" charset="-122"/>
            </a:endParaRPr>
          </a:p>
        </p:txBody>
      </p:sp>
      <p:sp>
        <p:nvSpPr>
          <p:cNvPr id="16386" name="Rectangle 2"/>
          <p:cNvSpPr>
            <a:spLocks noGrp="1" noChangeArrowheads="1"/>
          </p:cNvSpPr>
          <p:nvPr>
            <p:ph type="title"/>
          </p:nvPr>
        </p:nvSpPr>
        <p:spPr>
          <a:xfrm>
            <a:off x="609600" y="381000"/>
            <a:ext cx="7772400" cy="990600"/>
          </a:xfrm>
        </p:spPr>
        <p:txBody>
          <a:bodyPr/>
          <a:lstStyle/>
          <a:p>
            <a:pPr eaLnBrk="1" hangingPunct="1"/>
            <a:r>
              <a:rPr lang="zh-CN" altLang="en-US" dirty="0" smtClean="0">
                <a:ea typeface="黑体" panose="02010609060101010101" pitchFamily="2" charset="-122"/>
              </a:rPr>
              <a:t>编译技术和软件工具</a:t>
            </a:r>
            <a:endParaRPr lang="zh-CN" altLang="en-US" dirty="0" smtClean="0">
              <a:ea typeface="黑体" panose="02010609060101010101" pitchFamily="2" charset="-122"/>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smtClean="0"/>
              <a:t>参考书</a:t>
            </a:r>
            <a:endParaRPr lang="zh-CN" altLang="en-US" dirty="0"/>
          </a:p>
        </p:txBody>
      </p:sp>
      <p:pic>
        <p:nvPicPr>
          <p:cNvPr id="17410" name="Picture 2"/>
          <p:cNvPicPr>
            <a:picLocks noChangeAspect="1" noChangeArrowheads="1"/>
          </p:cNvPicPr>
          <p:nvPr/>
        </p:nvPicPr>
        <p:blipFill>
          <a:blip r:embed="rId1"/>
          <a:srcRect l="19665" t="28206" r="9810" b="59499"/>
          <a:stretch>
            <a:fillRect/>
          </a:stretch>
        </p:blipFill>
        <p:spPr bwMode="auto">
          <a:xfrm>
            <a:off x="1214414" y="5214950"/>
            <a:ext cx="7429552" cy="1214446"/>
          </a:xfrm>
          <a:prstGeom prst="rect">
            <a:avLst/>
          </a:prstGeom>
          <a:noFill/>
          <a:ln w="9525">
            <a:noFill/>
            <a:miter lim="800000"/>
            <a:headEnd/>
            <a:tailEnd/>
          </a:ln>
          <a:effectLst/>
        </p:spPr>
      </p:pic>
      <p:pic>
        <p:nvPicPr>
          <p:cNvPr id="17411" name="Picture 3"/>
          <p:cNvPicPr>
            <a:picLocks noChangeAspect="1" noChangeArrowheads="1"/>
          </p:cNvPicPr>
          <p:nvPr/>
        </p:nvPicPr>
        <p:blipFill>
          <a:blip r:embed="rId2"/>
          <a:srcRect l="13381" t="26856" r="59494" b="27579"/>
          <a:stretch>
            <a:fillRect/>
          </a:stretch>
        </p:blipFill>
        <p:spPr bwMode="auto">
          <a:xfrm>
            <a:off x="3428992" y="642918"/>
            <a:ext cx="2857520" cy="4500594"/>
          </a:xfrm>
          <a:prstGeom prst="rect">
            <a:avLst/>
          </a:prstGeom>
          <a:noFill/>
          <a:ln w="9525">
            <a:noFill/>
            <a:miter lim="800000"/>
            <a:headEnd/>
            <a:tailEnd/>
          </a:ln>
          <a:effectLst/>
        </p:spPr>
      </p:pic>
    </p:spTree>
  </p:cSld>
  <p:clrMapOvr>
    <a:masterClrMapping/>
  </p:clrMapOvr>
</p:sld>
</file>

<file path=ppt/tags/tag1.xml><?xml version="1.0" encoding="utf-8"?>
<p:tagLst xmlns:p="http://schemas.openxmlformats.org/presentationml/2006/main">
  <p:tag name="commondata" val="eyJoZGlkIjoiMTFmMjNjNDI4OTgyMDU5N2Q3MzM5MmVjOWIyZjc2NTY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3644</Words>
  <Application>WPS 演示</Application>
  <PresentationFormat>全屏显示(4:3)</PresentationFormat>
  <Paragraphs>297</Paragraphs>
  <Slides>62</Slides>
  <Notes>0</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幻灯片标题</vt:lpstr>
      </vt:variant>
      <vt:variant>
        <vt:i4>62</vt:i4>
      </vt:variant>
      <vt:variant>
        <vt:lpstr>自定义放映</vt:lpstr>
      </vt:variant>
      <vt:variant>
        <vt:i4>3</vt:i4>
      </vt:variant>
    </vt:vector>
  </HeadingPairs>
  <TitlesOfParts>
    <vt:vector size="83" baseType="lpstr">
      <vt:lpstr>Arial</vt:lpstr>
      <vt:lpstr>宋体</vt:lpstr>
      <vt:lpstr>Wingdings</vt:lpstr>
      <vt:lpstr>Times New Roman</vt:lpstr>
      <vt:lpstr>Wingdings 3</vt:lpstr>
      <vt:lpstr>Verdana</vt:lpstr>
      <vt:lpstr>Wingdings 2</vt:lpstr>
      <vt:lpstr>楷体</vt:lpstr>
      <vt:lpstr>Wingdings</vt:lpstr>
      <vt:lpstr>黑体</vt:lpstr>
      <vt:lpstr>Tahoma</vt:lpstr>
      <vt:lpstr>Lucida Sans Unicode</vt:lpstr>
      <vt:lpstr>微软雅黑</vt:lpstr>
      <vt:lpstr>Arial Unicode MS</vt:lpstr>
      <vt:lpstr>华文琥珀</vt:lpstr>
      <vt:lpstr>华文细黑</vt:lpstr>
      <vt:lpstr>华文行楷</vt:lpstr>
      <vt:lpstr>聚合</vt:lpstr>
      <vt:lpstr>PowerPoint 演示文稿</vt:lpstr>
      <vt:lpstr>PowerPoint 演示文稿</vt:lpstr>
      <vt:lpstr>PowerPoint 演示文稿</vt:lpstr>
      <vt:lpstr>第一章 编译程序概述</vt:lpstr>
      <vt:lpstr>PowerPoint 演示文稿</vt:lpstr>
      <vt:lpstr>高级语言的主要四大类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1.2、编译过程概述</vt:lpstr>
      <vt:lpstr>PowerPoint 演示文稿</vt:lpstr>
      <vt:lpstr>PowerPoint 演示文稿</vt:lpstr>
      <vt:lpstr>五个阶段简介</vt:lpstr>
      <vt:lpstr>PowerPoint 演示文稿</vt:lpstr>
      <vt:lpstr>PowerPoint 演示文稿</vt:lpstr>
      <vt:lpstr>PowerPoint 演示文稿</vt:lpstr>
      <vt:lpstr>PowerPoint 演示文稿</vt:lpstr>
      <vt:lpstr>第二阶段: 语法分析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中间代码生成</vt:lpstr>
      <vt:lpstr>PowerPoint 演示文稿</vt:lpstr>
      <vt:lpstr>PowerPoint 演示文稿</vt:lpstr>
      <vt:lpstr>PowerPoint 演示文稿</vt:lpstr>
      <vt:lpstr>PowerPoint 演示文稿</vt:lpstr>
      <vt:lpstr>循环语句</vt:lpstr>
      <vt:lpstr>PowerPoint 演示文稿</vt:lpstr>
      <vt:lpstr>PowerPoint 演示文稿</vt:lpstr>
      <vt:lpstr>PowerPoint 演示文稿</vt:lpstr>
      <vt:lpstr>PowerPoint 演示文稿</vt:lpstr>
      <vt:lpstr>PowerPoint 演示文稿</vt:lpstr>
      <vt:lpstr>表格与表格管理</vt:lpstr>
      <vt:lpstr>PowerPoint 演示文稿</vt:lpstr>
      <vt:lpstr>出错处理</vt:lpstr>
      <vt:lpstr>PowerPoint 演示文稿</vt:lpstr>
      <vt:lpstr>PowerPoint 演示文稿</vt:lpstr>
      <vt:lpstr>前端和后端</vt:lpstr>
      <vt:lpstr>PowerPoint 演示文稿</vt:lpstr>
      <vt:lpstr>前端和后端</vt:lpstr>
      <vt:lpstr>PowerPoint 演示文稿</vt:lpstr>
      <vt:lpstr>遍（趟，pass）</vt:lpstr>
      <vt:lpstr>1.3、编译程序的复杂性</vt:lpstr>
      <vt:lpstr>1.4、编译程序的设计实现</vt:lpstr>
      <vt:lpstr>PowerPoint 演示文稿</vt:lpstr>
      <vt:lpstr>PowerPoint 演示文稿</vt:lpstr>
      <vt:lpstr>1.5、编译程序的测试与维护</vt:lpstr>
      <vt:lpstr>编译技术和软件工具</vt:lpstr>
      <vt:lpstr>参考书</vt:lpstr>
      <vt:lpstr>自定义放映1</vt:lpstr>
      <vt:lpstr>自定义放映2</vt:lpstr>
      <vt:lpstr>自定义放映3</vt:lpstr>
    </vt:vector>
  </TitlesOfParts>
  <Company>rgkj</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Viscual Basic6.0程序设       计实验指导与习题详解》</dc:title>
  <dc:creator>ws021</dc:creator>
  <cp:lastModifiedBy>娜子</cp:lastModifiedBy>
  <cp:revision>349</cp:revision>
  <dcterms:created xsi:type="dcterms:W3CDTF">2001-08-16T12:48:00Z</dcterms:created>
  <dcterms:modified xsi:type="dcterms:W3CDTF">2025-03-04T02:11:25Z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C281E27A9DB44B82AFD95E57533FEA66_12</vt:lpwstr>
  </property>
  <property fmtid="{D5CDD505-2E9C-101B-9397-08002B2CF9AE}" pid="3" name="KSOProductBuildVer">
    <vt:lpwstr>2052-12.1.0.20305</vt:lpwstr>
  </property>
</Properties>
</file>