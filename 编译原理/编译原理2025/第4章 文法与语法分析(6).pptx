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478" r:id="rId3"/>
    <p:sldId id="479" r:id="rId4"/>
    <p:sldId id="480" r:id="rId5"/>
    <p:sldId id="481" r:id="rId6"/>
    <p:sldId id="482" r:id="rId7"/>
    <p:sldId id="483" r:id="rId8"/>
    <p:sldId id="484" r:id="rId9"/>
    <p:sldId id="485" r:id="rId10"/>
    <p:sldId id="486" r:id="rId11"/>
    <p:sldId id="487" r:id="rId12"/>
    <p:sldId id="455" r:id="rId13"/>
    <p:sldId id="445" r:id="rId14"/>
    <p:sldId id="446" r:id="rId15"/>
    <p:sldId id="447" r:id="rId16"/>
    <p:sldId id="492" r:id="rId17"/>
    <p:sldId id="493" r:id="rId18"/>
    <p:sldId id="503" r:id="rId19"/>
    <p:sldId id="448" r:id="rId20"/>
    <p:sldId id="449" r:id="rId21"/>
    <p:sldId id="450" r:id="rId22"/>
    <p:sldId id="451" r:id="rId23"/>
    <p:sldId id="474" r:id="rId24"/>
    <p:sldId id="462" r:id="rId25"/>
    <p:sldId id="463" r:id="rId26"/>
    <p:sldId id="476" r:id="rId27"/>
    <p:sldId id="501" r:id="rId28"/>
    <p:sldId id="502" r:id="rId29"/>
    <p:sldId id="461" r:id="rId30"/>
    <p:sldId id="361" r:id="rId31"/>
    <p:sldId id="495" r:id="rId32"/>
    <p:sldId id="496" r:id="rId33"/>
    <p:sldId id="497" r:id="rId34"/>
    <p:sldId id="498" r:id="rId35"/>
    <p:sldId id="499" r:id="rId36"/>
    <p:sldId id="500" r:id="rId37"/>
    <p:sldId id="477" r:id="rId38"/>
    <p:sldId id="504" r:id="rId39"/>
    <p:sldId id="505" r:id="rId40"/>
  </p:sldIdLst>
  <p:sldSz cx="9144000" cy="6858000" type="screen4x3"/>
  <p:notesSz cx="6858000" cy="9144000"/>
  <p:custShowLst>
    <p:custShow name="自定义放映1" id="0">
      <p:sldLst/>
    </p:custShow>
    <p:custShow name="自定义放映2" id="1">
      <p:sldLst>
        <p:sld r:id="rId13"/>
        <p:sld r:id="rId14"/>
        <p:sld r:id="rId15"/>
        <p:sld r:id="rId16"/>
        <p:sld r:id="rId20"/>
        <p:sld r:id="rId21"/>
        <p:sld r:id="rId22"/>
        <p:sld r:id="rId23"/>
        <p:sld r:id="rId24"/>
        <p:sld r:id="rId25"/>
        <p:sld r:id="rId26"/>
        <p:sld r:id="rId27"/>
        <p:sld r:id="rId30"/>
        <p:sld r:id="rId31"/>
        <p:sld r:id="rId38"/>
      </p:sldLst>
    </p:custShow>
    <p:custShow name="自定义放映3" id="2">
      <p:sldLst>
        <p:sld r:id="rId3"/>
        <p:sld r:id="rId4"/>
        <p:sld r:id="rId6"/>
        <p:sld r:id="rId7"/>
        <p:sld r:id="rId5"/>
      </p:sldLst>
    </p:custShow>
  </p:custShowLst>
  <p:custDataLst>
    <p:tags r:id="rId46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3366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7238"/>
    <p:restoredTop sz="90928"/>
  </p:normalViewPr>
  <p:slideViewPr>
    <p:cSldViewPr showGuides="1">
      <p:cViewPr varScale="1">
        <p:scale>
          <a:sx n="92" d="100"/>
          <a:sy n="92" d="100"/>
        </p:scale>
        <p:origin x="-1038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6" Type="http://schemas.openxmlformats.org/officeDocument/2006/relationships/tags" Target="tags/tag1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handoutMaster" Target="handoutMasters/handoutMaster1.xml"/><Relationship Id="rId41" Type="http://schemas.openxmlformats.org/officeDocument/2006/relationships/notesMaster" Target="notesMasters/notesMaster1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>
              <a:buNone/>
            </a:pPr>
            <a:fld id="{9A0DB2DC-4C9A-4742-B13C-FB6460FD3503}" type="slidenum">
              <a:rPr lang="en-US" altLang="zh-CN" sz="1200" b="0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</a:fld>
            <a:endParaRPr lang="en-US" altLang="zh-CN" sz="1200" b="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4" name="Rectangle 4"/>
          <p:cNvSpPr>
            <a:spLocks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>
              <a:buNone/>
            </a:pPr>
            <a:fld id="{9A0DB2DC-4C9A-4742-B13C-FB6460FD3503}" type="slidenum">
              <a:rPr lang="en-US" altLang="zh-CN" sz="1200" b="0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</a:fld>
            <a:endParaRPr lang="en-US" altLang="zh-CN" sz="1200" b="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角三角形 10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051" name="组合 15"/>
          <p:cNvGrpSpPr/>
          <p:nvPr/>
        </p:nvGrpSpPr>
        <p:grpSpPr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2" name="任意多边形 16"/>
            <p:cNvSpPr/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3" name="任意多边形 18"/>
            <p:cNvSpPr/>
            <p:nvPr/>
          </p:nvSpPr>
          <p:spPr>
            <a:xfrm>
              <a:off x="35926" y="5135025"/>
              <a:ext cx="9108074" cy="83886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21" name="直接连接符 20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en-US" strike="noStrike" noProof="1"/>
          </a:p>
        </p:txBody>
      </p:sp>
      <p:sp>
        <p:nvSpPr>
          <p:cNvPr id="23" name="日期占位符 2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页脚占位符 18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accent1">
                  <a:tint val="20000"/>
                </a:schemeClr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灯片编号占位符 26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FFFF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3636963" y="3005138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燕尾形 15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7" name="日期占位符 3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 fontAlgn="base"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页脚占位符 5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 fontAlgn="base"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11" name="日期占位符 6"/>
          <p:cNvSpPr>
            <a:spLocks noGrp="1"/>
          </p:cNvSpPr>
          <p:nvPr>
            <p:ph type="dt" sz="half" idx="1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 fontAlgn="base"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页脚占位符 3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 fontAlgn="base"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页脚占位符 5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 fontAlgn="base"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 10"/>
          <p:cNvSpPr/>
          <p:nvPr/>
        </p:nvSpPr>
        <p:spPr bwMode="auto">
          <a:xfrm>
            <a:off x="715963" y="5002213"/>
            <a:ext cx="3802063" cy="144303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5" name="任意多边形 15"/>
          <p:cNvSpPr/>
          <p:nvPr/>
        </p:nvSpPr>
        <p:spPr>
          <a:xfrm>
            <a:off x="-53975" y="5784850"/>
            <a:ext cx="3802063" cy="838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7" name="直角三角形 16"/>
          <p:cNvSpPr/>
          <p:nvPr/>
        </p:nvSpPr>
        <p:spPr bwMode="auto">
          <a:xfrm>
            <a:off x="-6042" y="5791253"/>
            <a:ext cx="3402312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-9238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燕尾形 19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燕尾形 20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0" indent="0">
              <a:buNone/>
              <a:defRPr sz="3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23" name="日期占位符 4"/>
          <p:cNvSpPr>
            <a:spLocks noGrp="1"/>
          </p:cNvSpPr>
          <p:nvPr>
            <p:ph type="dt" sz="half" idx="1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页脚占位符 5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 fontAlgn="base"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任意多边形 12"/>
          <p:cNvSpPr/>
          <p:nvPr userDrawn="1"/>
        </p:nvSpPr>
        <p:spPr bwMode="auto">
          <a:xfrm>
            <a:off x="715963" y="5002213"/>
            <a:ext cx="3802063" cy="144303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任意多边形 11"/>
          <p:cNvSpPr/>
          <p:nvPr userDrawn="1"/>
        </p:nvSpPr>
        <p:spPr>
          <a:xfrm>
            <a:off x="-53975" y="5784850"/>
            <a:ext cx="3802063" cy="838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-9238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标题占位符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1030" name="文本占位符 29"/>
          <p:cNvSpPr>
            <a:spLocks noGrp="1"/>
          </p:cNvSpPr>
          <p:nvPr>
            <p:ph type="body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25527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2860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lstStyle>
            <a:lvl1pPr algn="r">
              <a:defRPr sz="1000" b="0"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charset="0"/>
            </a:endParaRPr>
          </a:p>
        </p:txBody>
      </p:sp>
      <p:sp>
        <p:nvSpPr>
          <p:cNvPr id="2" name="直角三角形 1"/>
          <p:cNvSpPr/>
          <p:nvPr userDrawn="1"/>
        </p:nvSpPr>
        <p:spPr bwMode="auto">
          <a:xfrm>
            <a:off x="-6350" y="5791200"/>
            <a:ext cx="3402013" cy="1081088"/>
          </a:xfrm>
          <a:prstGeom prst="rtTriangle">
            <a:avLst/>
          </a:prstGeom>
          <a:solidFill>
            <a:schemeClr val="accent1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49" charset="-122"/>
        </a:defRPr>
      </a:lvl9pPr>
    </p:titleStyle>
    <p:bodyStyle>
      <a:lvl1pPr marL="365125" indent="-255905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030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155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2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" Target="slide19.xml"/><Relationship Id="rId1" Type="http://schemas.openxmlformats.org/officeDocument/2006/relationships/slide" Target="slide2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2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内容占位符 1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indent="-255270" eaLnBrk="1" hangingPunct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1267" name="Picture 2"/>
          <p:cNvPicPr>
            <a:picLocks noChangeAspect="1"/>
          </p:cNvPicPr>
          <p:nvPr/>
        </p:nvPicPr>
        <p:blipFill>
          <a:blip r:embed="rId1"/>
          <a:srcRect l="6326" t="27403" r="10028" b="22836"/>
          <a:stretch>
            <a:fillRect/>
          </a:stretch>
        </p:blipFill>
        <p:spPr>
          <a:xfrm>
            <a:off x="285750" y="571500"/>
            <a:ext cx="8501063" cy="49291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内容占位符 1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indent="-255270" eaLnBrk="1" hangingPunct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2291" name="Picture 2"/>
          <p:cNvPicPr>
            <a:picLocks noChangeAspect="1"/>
          </p:cNvPicPr>
          <p:nvPr/>
        </p:nvPicPr>
        <p:blipFill>
          <a:blip r:embed="rId1"/>
          <a:srcRect l="8435" t="31010" r="8623" b="9856"/>
          <a:stretch>
            <a:fillRect/>
          </a:stretch>
        </p:blipFill>
        <p:spPr>
          <a:xfrm>
            <a:off x="357188" y="214313"/>
            <a:ext cx="8429625" cy="585787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6" name="直接连接符 5"/>
          <p:cNvCxnSpPr/>
          <p:nvPr/>
        </p:nvCxnSpPr>
        <p:spPr>
          <a:xfrm>
            <a:off x="6429375" y="4570413"/>
            <a:ext cx="2143125" cy="1588"/>
          </a:xfrm>
          <a:prstGeom prst="line">
            <a:avLst/>
          </a:prstGeom>
          <a:ln w="412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571500" y="5072063"/>
            <a:ext cx="2000250" cy="1588"/>
          </a:xfrm>
          <a:prstGeom prst="line">
            <a:avLst/>
          </a:prstGeom>
          <a:ln w="412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V="1">
            <a:off x="571500" y="4572000"/>
            <a:ext cx="714375" cy="1588"/>
          </a:xfrm>
          <a:prstGeom prst="line">
            <a:avLst/>
          </a:prstGeom>
          <a:ln w="412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8001000" y="4000500"/>
            <a:ext cx="357188" cy="1588"/>
          </a:xfrm>
          <a:prstGeom prst="line">
            <a:avLst/>
          </a:prstGeom>
          <a:ln w="412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内容占位符 1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indent="-255270" eaLnBrk="1" hangingPunct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3315" name="Picture 2"/>
          <p:cNvPicPr>
            <a:picLocks noChangeAspect="1"/>
          </p:cNvPicPr>
          <p:nvPr/>
        </p:nvPicPr>
        <p:blipFill>
          <a:blip r:embed="rId1"/>
          <a:srcRect l="10542" t="36058" r="10028" b="20673"/>
          <a:stretch>
            <a:fillRect/>
          </a:stretch>
        </p:blipFill>
        <p:spPr>
          <a:xfrm>
            <a:off x="428625" y="642938"/>
            <a:ext cx="8072438" cy="428625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/>
          <p:cNvCxnSpPr/>
          <p:nvPr/>
        </p:nvCxnSpPr>
        <p:spPr>
          <a:xfrm flipV="1">
            <a:off x="3500438" y="4857750"/>
            <a:ext cx="1428750" cy="1588"/>
          </a:xfrm>
          <a:prstGeom prst="line">
            <a:avLst/>
          </a:prstGeom>
          <a:ln w="412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内容占位符 1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indent="-255270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4339" name="Picture 2"/>
          <p:cNvPicPr>
            <a:picLocks noChangeAspect="1"/>
          </p:cNvPicPr>
          <p:nvPr/>
        </p:nvPicPr>
        <p:blipFill>
          <a:blip r:embed="rId1"/>
          <a:srcRect l="3906" t="20192" r="6250" b="27884"/>
          <a:stretch>
            <a:fillRect/>
          </a:stretch>
        </p:blipFill>
        <p:spPr>
          <a:xfrm>
            <a:off x="428625" y="500063"/>
            <a:ext cx="8215313" cy="51435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/>
          <p:cNvCxnSpPr/>
          <p:nvPr/>
        </p:nvCxnSpPr>
        <p:spPr>
          <a:xfrm flipV="1">
            <a:off x="2214563" y="4500563"/>
            <a:ext cx="6357938" cy="73025"/>
          </a:xfrm>
          <a:prstGeom prst="line">
            <a:avLst/>
          </a:prstGeom>
          <a:ln w="412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V="1">
            <a:off x="857250" y="5072063"/>
            <a:ext cx="1285875" cy="1588"/>
          </a:xfrm>
          <a:prstGeom prst="line">
            <a:avLst/>
          </a:prstGeom>
          <a:ln w="412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内容占位符 1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indent="-255270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5363" name="Picture 2"/>
          <p:cNvPicPr>
            <a:picLocks noChangeAspect="1"/>
          </p:cNvPicPr>
          <p:nvPr/>
        </p:nvPicPr>
        <p:blipFill>
          <a:blip r:embed="rId1"/>
          <a:srcRect l="7031" t="24519" r="3906" b="17067"/>
          <a:stretch>
            <a:fillRect/>
          </a:stretch>
        </p:blipFill>
        <p:spPr>
          <a:xfrm>
            <a:off x="642938" y="214313"/>
            <a:ext cx="8143875" cy="5786437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6" name="直接连接符 5"/>
          <p:cNvCxnSpPr/>
          <p:nvPr/>
        </p:nvCxnSpPr>
        <p:spPr>
          <a:xfrm flipV="1">
            <a:off x="1357313" y="1285875"/>
            <a:ext cx="2000250" cy="1588"/>
          </a:xfrm>
          <a:prstGeom prst="line">
            <a:avLst/>
          </a:prstGeom>
          <a:ln w="412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V="1">
            <a:off x="2428875" y="1785938"/>
            <a:ext cx="4857750" cy="1588"/>
          </a:xfrm>
          <a:prstGeom prst="line">
            <a:avLst/>
          </a:prstGeom>
          <a:ln w="412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2071688" y="2857500"/>
            <a:ext cx="2857500" cy="1588"/>
          </a:xfrm>
          <a:prstGeom prst="line">
            <a:avLst/>
          </a:prstGeom>
          <a:ln w="412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6154738" y="3875088"/>
            <a:ext cx="1500188" cy="1588"/>
          </a:xfrm>
          <a:prstGeom prst="line">
            <a:avLst/>
          </a:prstGeom>
          <a:ln w="412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V="1">
            <a:off x="1071563" y="4929188"/>
            <a:ext cx="3714750" cy="1588"/>
          </a:xfrm>
          <a:prstGeom prst="line">
            <a:avLst/>
          </a:prstGeom>
          <a:ln w="412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V="1">
            <a:off x="3643313" y="5429250"/>
            <a:ext cx="2000250" cy="1588"/>
          </a:xfrm>
          <a:prstGeom prst="line">
            <a:avLst/>
          </a:prstGeom>
          <a:ln w="412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V="1">
            <a:off x="4960938" y="5969000"/>
            <a:ext cx="1500188" cy="1588"/>
          </a:xfrm>
          <a:prstGeom prst="line">
            <a:avLst/>
          </a:prstGeom>
          <a:ln w="412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6386" name="内容占位符 7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indent="-255270"/>
            <a:endParaRPr lang="zh-CN" altLang="en-US" dirty="0"/>
          </a:p>
        </p:txBody>
      </p:sp>
      <p:pic>
        <p:nvPicPr>
          <p:cNvPr id="16387" name="Picture 5"/>
          <p:cNvPicPr>
            <a:picLocks noChangeAspect="1"/>
          </p:cNvPicPr>
          <p:nvPr/>
        </p:nvPicPr>
        <p:blipFill>
          <a:blip r:embed="rId1"/>
          <a:srcRect l="7813" t="18269" r="5469" b="34135"/>
          <a:stretch>
            <a:fillRect/>
          </a:stretch>
        </p:blipFill>
        <p:spPr>
          <a:xfrm>
            <a:off x="357188" y="571500"/>
            <a:ext cx="8289925" cy="4929188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10" name="直接连接符 9"/>
          <p:cNvCxnSpPr/>
          <p:nvPr/>
        </p:nvCxnSpPr>
        <p:spPr>
          <a:xfrm flipV="1">
            <a:off x="3143250" y="2174875"/>
            <a:ext cx="3071813" cy="0"/>
          </a:xfrm>
          <a:prstGeom prst="line">
            <a:avLst/>
          </a:prstGeom>
          <a:ln w="412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V="1">
            <a:off x="6786563" y="3786188"/>
            <a:ext cx="1500188" cy="1588"/>
          </a:xfrm>
          <a:prstGeom prst="line">
            <a:avLst/>
          </a:prstGeom>
          <a:ln w="412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V="1">
            <a:off x="3643313" y="4357688"/>
            <a:ext cx="1500188" cy="1588"/>
          </a:xfrm>
          <a:prstGeom prst="line">
            <a:avLst/>
          </a:prstGeom>
          <a:ln w="412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V="1">
            <a:off x="571500" y="5429250"/>
            <a:ext cx="1500188" cy="1588"/>
          </a:xfrm>
          <a:prstGeom prst="line">
            <a:avLst/>
          </a:prstGeom>
          <a:ln w="412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内容占位符 1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indent="-255270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7411" name="Picture 2"/>
          <p:cNvPicPr>
            <a:picLocks noChangeAspect="1"/>
          </p:cNvPicPr>
          <p:nvPr/>
        </p:nvPicPr>
        <p:blipFill>
          <a:blip r:embed="rId1"/>
          <a:srcRect l="7031" t="23077" r="3906" b="21394"/>
          <a:stretch>
            <a:fillRect/>
          </a:stretch>
        </p:blipFill>
        <p:spPr>
          <a:xfrm>
            <a:off x="571500" y="285750"/>
            <a:ext cx="8143875" cy="55006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内容占位符 1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indent="-255270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8435" name="Picture 2"/>
          <p:cNvPicPr>
            <a:picLocks noChangeAspect="1"/>
          </p:cNvPicPr>
          <p:nvPr/>
        </p:nvPicPr>
        <p:blipFill>
          <a:blip r:embed="rId1"/>
          <a:srcRect l="7813" t="27403" r="3906" b="27884"/>
          <a:stretch>
            <a:fillRect/>
          </a:stretch>
        </p:blipFill>
        <p:spPr>
          <a:xfrm>
            <a:off x="285750" y="642938"/>
            <a:ext cx="8462963" cy="4643437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6" name="直接连接符 5"/>
          <p:cNvCxnSpPr/>
          <p:nvPr/>
        </p:nvCxnSpPr>
        <p:spPr>
          <a:xfrm flipV="1">
            <a:off x="3714750" y="3500438"/>
            <a:ext cx="3000375" cy="1588"/>
          </a:xfrm>
          <a:prstGeom prst="line">
            <a:avLst/>
          </a:prstGeom>
          <a:ln w="412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内容占位符 1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indent="-255270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9459" name="Picture 2"/>
          <p:cNvPicPr>
            <a:picLocks noChangeAspect="1"/>
          </p:cNvPicPr>
          <p:nvPr/>
        </p:nvPicPr>
        <p:blipFill>
          <a:blip r:embed="rId1"/>
          <a:srcRect l="7031" t="32452" r="5469" b="30769"/>
          <a:stretch>
            <a:fillRect/>
          </a:stretch>
        </p:blipFill>
        <p:spPr>
          <a:xfrm>
            <a:off x="428625" y="1000125"/>
            <a:ext cx="8001000" cy="3643313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/>
          <p:cNvCxnSpPr/>
          <p:nvPr/>
        </p:nvCxnSpPr>
        <p:spPr>
          <a:xfrm flipV="1">
            <a:off x="3500438" y="4143375"/>
            <a:ext cx="4643438" cy="1588"/>
          </a:xfrm>
          <a:prstGeom prst="line">
            <a:avLst/>
          </a:prstGeom>
          <a:ln w="412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内容占位符 1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indent="-255270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0483" name="Picture 2"/>
          <p:cNvPicPr>
            <a:picLocks noChangeAspect="1"/>
          </p:cNvPicPr>
          <p:nvPr/>
        </p:nvPicPr>
        <p:blipFill>
          <a:blip r:embed="rId1"/>
          <a:srcRect l="7813" t="25240" r="3125" b="27164"/>
          <a:stretch>
            <a:fillRect/>
          </a:stretch>
        </p:blipFill>
        <p:spPr>
          <a:xfrm>
            <a:off x="428625" y="785813"/>
            <a:ext cx="8143875" cy="4714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Rectangle 3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1981200"/>
          </a:xfrm>
          <a:ln/>
        </p:spPr>
        <p:txBody>
          <a:bodyPr vert="horz" wrap="square" lIns="91440" tIns="45720" rIns="91440" bIns="45720" anchor="t" anchorCtr="0"/>
          <a:p>
            <a:pPr indent="-255270" eaLnBrk="1" hangingPunct="1">
              <a:buFontTx/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宋体" panose="02010600030101010101" pitchFamily="2" charset="-122"/>
              </a:rPr>
              <a:t>LR(0)</a:t>
            </a:r>
            <a:r>
              <a:rPr lang="zh-CN" altLang="en-US" sz="2400" b="1" dirty="0">
                <a:solidFill>
                  <a:schemeClr val="hlink"/>
                </a:solidFill>
                <a:latin typeface="宋体" panose="02010600030101010101" pitchFamily="2" charset="-122"/>
              </a:rPr>
              <a:t>文法能力最弱，但是是其它文法的理论基础</a:t>
            </a:r>
            <a:endParaRPr lang="zh-CN" altLang="en-US" sz="2400" b="1" dirty="0">
              <a:solidFill>
                <a:schemeClr val="hlink"/>
              </a:solidFill>
              <a:latin typeface="宋体" panose="02010600030101010101" pitchFamily="2" charset="-122"/>
            </a:endParaRPr>
          </a:p>
          <a:p>
            <a:pPr lvl="1" eaLnBrk="1" hangingPunct="1"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宋体" panose="02010600030101010101" pitchFamily="2" charset="-122"/>
              </a:rPr>
              <a:t>存在</a:t>
            </a:r>
            <a:r>
              <a:rPr lang="en-US" altLang="zh-CN" sz="2000" b="1" dirty="0">
                <a:latin typeface="宋体" panose="02010600030101010101" pitchFamily="2" charset="-122"/>
              </a:rPr>
              <a:t>DFA </a:t>
            </a:r>
            <a:r>
              <a:rPr lang="zh-CN" altLang="en-US" sz="2000" b="1" dirty="0">
                <a:latin typeface="宋体" panose="02010600030101010101" pitchFamily="2" charset="-122"/>
              </a:rPr>
              <a:t>识别活前缀</a:t>
            </a:r>
            <a:endParaRPr lang="zh-CN" altLang="en-US" sz="2000" b="1" dirty="0">
              <a:latin typeface="宋体" panose="02010600030101010101" pitchFamily="2" charset="-122"/>
            </a:endParaRPr>
          </a:p>
          <a:p>
            <a:pPr lvl="1" eaLnBrk="1" hangingPunct="1"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宋体" panose="02010600030101010101" pitchFamily="2" charset="-122"/>
              </a:rPr>
              <a:t>如何构造识别活前缀的</a:t>
            </a:r>
            <a:r>
              <a:rPr lang="en-US" altLang="zh-CN" sz="2000" b="1" dirty="0">
                <a:latin typeface="宋体" panose="02010600030101010101" pitchFamily="2" charset="-122"/>
              </a:rPr>
              <a:t>DFA</a:t>
            </a:r>
            <a:r>
              <a:rPr lang="zh-CN" altLang="en-US" sz="2000" b="1" dirty="0">
                <a:latin typeface="宋体" panose="02010600030101010101" pitchFamily="2" charset="-122"/>
              </a:rPr>
              <a:t>（构造</a:t>
            </a:r>
            <a:r>
              <a:rPr lang="en-US" altLang="zh-CN" sz="2000" b="1" dirty="0">
                <a:latin typeface="宋体" panose="02010600030101010101" pitchFamily="2" charset="-122"/>
              </a:rPr>
              <a:t>LR(0)</a:t>
            </a:r>
            <a:r>
              <a:rPr lang="zh-CN" altLang="en-US" sz="2000" b="1" dirty="0">
                <a:latin typeface="宋体" panose="02010600030101010101" pitchFamily="2" charset="-122"/>
              </a:rPr>
              <a:t>项目集规范族</a:t>
            </a:r>
            <a:r>
              <a:rPr lang="en-US" altLang="zh-CN" sz="2000" b="1" dirty="0">
                <a:latin typeface="宋体" panose="02010600030101010101" pitchFamily="2" charset="-122"/>
              </a:rPr>
              <a:t>,</a:t>
            </a:r>
            <a:r>
              <a:rPr lang="zh-CN" altLang="en-US" sz="2000" b="1" dirty="0">
                <a:latin typeface="宋体" panose="02010600030101010101" pitchFamily="2" charset="-122"/>
              </a:rPr>
              <a:t>一个项目集对应</a:t>
            </a:r>
            <a:r>
              <a:rPr lang="en-US" altLang="zh-CN" sz="2000" b="1" dirty="0">
                <a:latin typeface="宋体" panose="02010600030101010101" pitchFamily="2" charset="-122"/>
              </a:rPr>
              <a:t>DFA</a:t>
            </a:r>
            <a:r>
              <a:rPr lang="zh-CN" altLang="en-US" sz="2000" b="1" dirty="0">
                <a:latin typeface="宋体" panose="02010600030101010101" pitchFamily="2" charset="-122"/>
              </a:rPr>
              <a:t>的一个状态）</a:t>
            </a:r>
            <a:endParaRPr lang="zh-CN" altLang="en-US" sz="2000" b="1" dirty="0">
              <a:latin typeface="宋体" panose="02010600030101010101" pitchFamily="2" charset="-122"/>
            </a:endParaRPr>
          </a:p>
          <a:p>
            <a:pPr lvl="1" eaLnBrk="1" hangingPunct="1"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altLang="zh-CN" sz="2000" b="1" dirty="0">
                <a:latin typeface="宋体" panose="02010600030101010101" pitchFamily="2" charset="-122"/>
              </a:rPr>
              <a:t>LR(0)</a:t>
            </a:r>
            <a:r>
              <a:rPr lang="zh-CN" altLang="zh-CN" sz="2000" b="1" dirty="0">
                <a:latin typeface="宋体" panose="02010600030101010101" pitchFamily="2" charset="-122"/>
              </a:rPr>
              <a:t>分析表的构造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7772400" cy="533400"/>
          </a:xfrm>
          <a:noFill/>
          <a:ln>
            <a:noFill/>
          </a:ln>
          <a:effectLst/>
          <a:sp3d prstMaterial="plastic"/>
        </p:spPr>
        <p:txBody>
          <a:bodyPr vert="horz" rtlCol="0" anchor="ctr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4.6.3</a:t>
            </a:r>
            <a:r>
              <a:rPr kumimoji="0" lang="zh-CN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、</a:t>
            </a:r>
            <a:r>
              <a:rPr kumimoji="0" lang="en-US" altLang="zh-CN" sz="3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LR(0) </a:t>
            </a:r>
            <a:r>
              <a:rPr kumimoji="0" lang="zh-CN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分析</a:t>
            </a:r>
            <a:endParaRPr kumimoji="0" lang="zh-CN" altLang="en-US" sz="32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21507" name="Text Box 7"/>
          <p:cNvSpPr txBox="1"/>
          <p:nvPr/>
        </p:nvSpPr>
        <p:spPr>
          <a:xfrm>
            <a:off x="5943600" y="3276600"/>
            <a:ext cx="2667000" cy="3125788"/>
          </a:xfrm>
          <a:prstGeom prst="rect">
            <a:avLst/>
          </a:prstGeom>
          <a:noFill/>
          <a:ln w="12700" cap="flat" cmpd="sng">
            <a:solidFill>
              <a:srgbClr val="CC0000"/>
            </a:solidFill>
            <a:prstDash val="solid"/>
            <a:miter/>
            <a:headEnd type="none" w="sm" len="sm"/>
            <a:tailEnd type="none" w="sm" len="sm"/>
          </a:ln>
        </p:spPr>
        <p:txBody>
          <a:bodyPr anchor="t" anchorCtr="0">
            <a:spAutoFit/>
          </a:bodyPr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LR(0)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项目：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(0,0)  S′→ .S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(0,1)  S′→ S .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(1,0)  S → .BB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(1,1)  S → B.B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(1,2)  S → BB.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(2,0)  B → .a B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(2,1)  B → a .B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(2,2)  B → a B .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(3,0)  B → .b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>
              <a:lnSpc>
                <a:spcPct val="90000"/>
              </a:lnSpc>
              <a:buSzTx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(3,1)  B → b .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508" name="Rectangle 9"/>
          <p:cNvSpPr/>
          <p:nvPr/>
        </p:nvSpPr>
        <p:spPr>
          <a:xfrm>
            <a:off x="609600" y="3276600"/>
            <a:ext cx="5029200" cy="1820863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80000"/>
              </a:lnSpc>
              <a:spcBef>
                <a:spcPct val="10000"/>
              </a:spcBef>
              <a:buClr>
                <a:schemeClr val="accent1"/>
              </a:buClr>
              <a:buSzTx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首先扩充文法初始符号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S′→S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spcBef>
                <a:spcPct val="10000"/>
              </a:spcBef>
              <a:buClr>
                <a:schemeClr val="accent1"/>
              </a:buClr>
              <a:buSzTx/>
            </a:pPr>
            <a:r>
              <a:rPr lang="zh-CN" altLang="en-US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zh-CN" altLang="en-US" sz="2000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为使初始符不出现在任何产生式的右部）</a:t>
            </a:r>
            <a:endParaRPr lang="zh-CN" altLang="en-US" sz="2000" dirty="0">
              <a:solidFill>
                <a:schemeClr val="hlin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 algn="l" rtl="0" eaLnBrk="1" fontAlgn="base" hangingPunct="1">
              <a:lnSpc>
                <a:spcPct val="80000"/>
              </a:lnSpc>
              <a:spcBef>
                <a:spcPct val="10000"/>
              </a:spcBef>
              <a:spcAft>
                <a:spcPct val="0"/>
              </a:spcAft>
              <a:buClr>
                <a:schemeClr val="hlink"/>
              </a:buClr>
              <a:buNone/>
            </a:pP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0)   S′→ S</a:t>
            </a:r>
            <a:endParaRPr lang="en-US" altLang="zh-CN" sz="20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None/>
            </a:pP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1)   S  → B B</a:t>
            </a:r>
            <a:endParaRPr lang="en-US" altLang="zh-CN" sz="20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None/>
            </a:pP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2)   B  → a B</a:t>
            </a:r>
            <a:endParaRPr lang="en-US" altLang="zh-CN" sz="20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None/>
            </a:pP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3)   B  → b</a:t>
            </a:r>
            <a:endParaRPr lang="en-US" altLang="zh-CN" sz="20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509" name="Rectangle 11"/>
          <p:cNvSpPr/>
          <p:nvPr/>
        </p:nvSpPr>
        <p:spPr>
          <a:xfrm>
            <a:off x="457200" y="5105400"/>
            <a:ext cx="5486400" cy="1320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产生式右部有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n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个符号，则有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n+1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个位置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LR(0)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项目是在产生式右部某个位置上标分割圆点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(x,y)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表示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号产生式、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y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号位置的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LR(0)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项目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510" name="Rectangle 12"/>
          <p:cNvSpPr/>
          <p:nvPr/>
        </p:nvSpPr>
        <p:spPr>
          <a:xfrm>
            <a:off x="495300" y="2743200"/>
            <a:ext cx="4953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LR(0) </a:t>
            </a:r>
            <a:r>
              <a:rPr lang="zh-CN" altLang="en-US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</a:t>
            </a:r>
            <a:endParaRPr lang="zh-CN" altLang="en-US" dirty="0">
              <a:solidFill>
                <a:schemeClr val="hlin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43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066800"/>
            <a:ext cx="8229600" cy="2209800"/>
          </a:xfrm>
        </p:spPr>
        <p:txBody>
          <a:bodyPr vert="horz" wrap="square" lIns="91440" tIns="45720" rIns="91440" bIns="45720" numCol="1" anchor="t" anchorCtr="0" compatLnSpc="1"/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" panose="05000000000000000000" charset="0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求核心项目的闭包 </a:t>
            </a:r>
            <a:r>
              <a:rPr kumimoji="0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closure( I )</a:t>
            </a:r>
            <a:r>
              <a:rPr kumimoji="0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</a:t>
            </a:r>
            <a:endParaRPr kumimoji="0" lang="en-US" altLang="zh-CN" sz="2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621030" marR="0" lvl="1" indent="-228600" algn="l" defTabSz="914400" rtl="0" eaLnBrk="1" fontAlgn="base" latinLnBrk="0" hangingPunct="1">
              <a:lnSpc>
                <a:spcPct val="100000"/>
              </a:lnSpc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J := I;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621030" marR="0" lvl="1" indent="-228600" algn="l" defTabSz="914400" rtl="0" eaLnBrk="1" fontAlgn="base" latinLnBrk="0" hangingPunct="1">
              <a:lnSpc>
                <a:spcPct val="100000"/>
              </a:lnSpc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repeat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621030" marR="0" lvl="1" indent="-228600" algn="l" defTabSz="914400" rtl="0" eaLnBrk="1" fontAlgn="base" latinLnBrk="0" hangingPunct="1">
              <a:lnSpc>
                <a:spcPct val="100000"/>
              </a:lnSpc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 J = J ∪{ B →.η</a:t>
            </a:r>
            <a:r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｜</a:t>
            </a: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A →α.Bβ ∈J, α,β,η∈V</a:t>
            </a:r>
            <a:r>
              <a:rPr kumimoji="0" lang="en-US" altLang="zh-CN" sz="2000" b="1" i="0" u="none" strike="noStrike" kern="1200" cap="none" spc="0" normalizeH="0" baseline="3000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*</a:t>
            </a: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, B∈V</a:t>
            </a:r>
            <a:r>
              <a:rPr kumimoji="0" lang="en-US" altLang="zh-CN" sz="2000" b="1" i="0" u="none" strike="noStrike" kern="1200" cap="none" spc="0" normalizeH="0" baseline="-2500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N</a:t>
            </a: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}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621030" marR="0" lvl="1" indent="-228600" algn="l" defTabSz="914400" rtl="0" eaLnBrk="1" fontAlgn="base" latinLnBrk="0" hangingPunct="1">
              <a:lnSpc>
                <a:spcPct val="100000"/>
              </a:lnSpc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until J </a:t>
            </a:r>
            <a:r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不再扩大</a:t>
            </a:r>
            <a:endParaRPr kumimoji="0" lang="zh-CN" altLang="en-US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7772400" cy="533400"/>
          </a:xfrm>
          <a:noFill/>
          <a:ln>
            <a:noFill/>
          </a:ln>
          <a:effectLst/>
          <a:sp3d prstMaterial="plastic"/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求项目集（状态）</a:t>
            </a:r>
            <a:endParaRPr kumimoji="0" lang="zh-CN" altLang="en-US" sz="2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22531" name="Rectangle 4"/>
          <p:cNvSpPr/>
          <p:nvPr/>
        </p:nvSpPr>
        <p:spPr>
          <a:xfrm>
            <a:off x="990600" y="3505200"/>
            <a:ext cx="3048000" cy="193833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70000"/>
              </a:lnSpc>
              <a:spcBef>
                <a:spcPct val="50000"/>
              </a:spcBef>
              <a:buClr>
                <a:schemeClr val="hlink"/>
              </a:buClr>
              <a:buSzTx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0)   S′→ S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  <a:buClr>
                <a:schemeClr val="hlink"/>
              </a:buClr>
              <a:buSzTx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1)   S  → B B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  <a:buClr>
                <a:schemeClr val="hlink"/>
              </a:buClr>
              <a:buSzTx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2)   B  → a B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  <a:buClr>
                <a:schemeClr val="hlink"/>
              </a:buClr>
              <a:buSzTx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3)   B  → b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532" name="Rectangle 5"/>
          <p:cNvSpPr/>
          <p:nvPr/>
        </p:nvSpPr>
        <p:spPr>
          <a:xfrm>
            <a:off x="4903788" y="3657600"/>
            <a:ext cx="3783012" cy="15081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20000"/>
              </a:spcBef>
              <a:buClr>
                <a:schemeClr val="accent1"/>
              </a:buClr>
              <a:buSzTx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例：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accent1"/>
              </a:buClr>
              <a:buSzTx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closure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(0,0)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accent1"/>
              </a:buClr>
              <a:buSzTx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 closure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（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S′→ .S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accent1"/>
              </a:buClr>
              <a:buSzTx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 (0,0),(1,0),(2,0),(3,0)}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533" name="Rectangle 6"/>
          <p:cNvSpPr/>
          <p:nvPr/>
        </p:nvSpPr>
        <p:spPr>
          <a:xfrm>
            <a:off x="4191000" y="5751513"/>
            <a:ext cx="1270000" cy="35718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p>
            <a:pPr>
              <a:lnSpc>
                <a:spcPct val="70000"/>
              </a:lnSpc>
              <a:spcBef>
                <a:spcPct val="50000"/>
              </a:spcBef>
              <a:buClr>
                <a:schemeClr val="hlink"/>
              </a:buClr>
              <a:buSzTx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S →.BB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534" name="Rectangle 7"/>
          <p:cNvSpPr/>
          <p:nvPr/>
        </p:nvSpPr>
        <p:spPr>
          <a:xfrm>
            <a:off x="5791200" y="5757863"/>
            <a:ext cx="1260475" cy="35718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p>
            <a:pPr>
              <a:lnSpc>
                <a:spcPct val="70000"/>
              </a:lnSpc>
              <a:spcBef>
                <a:spcPct val="50000"/>
              </a:spcBef>
              <a:buClr>
                <a:schemeClr val="hlink"/>
              </a:buClr>
              <a:buSzTx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B →.aB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535" name="Rectangle 8"/>
          <p:cNvSpPr/>
          <p:nvPr/>
        </p:nvSpPr>
        <p:spPr>
          <a:xfrm>
            <a:off x="7494588" y="5757863"/>
            <a:ext cx="1116012" cy="35718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p>
            <a:pPr>
              <a:lnSpc>
                <a:spcPct val="70000"/>
              </a:lnSpc>
              <a:spcBef>
                <a:spcPct val="50000"/>
              </a:spcBef>
              <a:buClr>
                <a:schemeClr val="hlink"/>
              </a:buClr>
              <a:buSzTx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B →.b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536" name="Line 9"/>
          <p:cNvSpPr/>
          <p:nvPr/>
        </p:nvSpPr>
        <p:spPr>
          <a:xfrm flipH="1">
            <a:off x="5181600" y="5105400"/>
            <a:ext cx="106680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2537" name="Line 10"/>
          <p:cNvSpPr/>
          <p:nvPr/>
        </p:nvSpPr>
        <p:spPr>
          <a:xfrm flipH="1">
            <a:off x="6553200" y="5181600"/>
            <a:ext cx="53340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2538" name="Line 11"/>
          <p:cNvSpPr/>
          <p:nvPr/>
        </p:nvSpPr>
        <p:spPr>
          <a:xfrm>
            <a:off x="7848600" y="5181600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2539" name="AutoShape 12">
            <a:hlinkClick r:id="rId1" action="ppaction://hlinksldjump"/>
          </p:cNvPr>
          <p:cNvSpPr/>
          <p:nvPr/>
        </p:nvSpPr>
        <p:spPr>
          <a:xfrm>
            <a:off x="7162800" y="1066800"/>
            <a:ext cx="762000" cy="6096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SzTx/>
            </a:pPr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Text Box 2"/>
          <p:cNvSpPr txBox="1"/>
          <p:nvPr/>
        </p:nvSpPr>
        <p:spPr>
          <a:xfrm>
            <a:off x="4114800" y="2819400"/>
            <a:ext cx="441325" cy="519113"/>
          </a:xfrm>
          <a:prstGeom prst="rect">
            <a:avLst/>
          </a:prstGeom>
          <a:noFill/>
          <a:ln w="12700">
            <a:noFill/>
          </a:ln>
        </p:spPr>
        <p:txBody>
          <a:bodyPr wrap="none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Times New Roman" panose="02020603050405020304" charset="0"/>
                <a:ea typeface="宋体" panose="02010600030101010101" pitchFamily="2" charset="-122"/>
              </a:rPr>
              <a:t>A</a:t>
            </a:r>
            <a:endParaRPr lang="en-US" altLang="zh-CN" sz="28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cxnSp>
        <p:nvCxnSpPr>
          <p:cNvPr id="23554" name="AutoShape 3"/>
          <p:cNvCxnSpPr>
            <a:stCxn id="23553" idx="2"/>
            <a:endCxn id="23558" idx="0"/>
          </p:cNvCxnSpPr>
          <p:nvPr/>
        </p:nvCxnSpPr>
        <p:spPr>
          <a:xfrm flipH="1">
            <a:off x="4305300" y="3338513"/>
            <a:ext cx="30163" cy="1157287"/>
          </a:xfrm>
          <a:prstGeom prst="straightConnector1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555" name="Freeform 4"/>
          <p:cNvSpPr/>
          <p:nvPr/>
        </p:nvSpPr>
        <p:spPr>
          <a:xfrm>
            <a:off x="2667000" y="3381375"/>
            <a:ext cx="1524000" cy="1524000"/>
          </a:xfrm>
          <a:custGeom>
            <a:avLst/>
            <a:gdLst/>
            <a:ahLst/>
            <a:cxnLst>
              <a:cxn ang="0">
                <a:pos x="2147483647" y="0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pathLst>
              <a:path w="960" h="960">
                <a:moveTo>
                  <a:pt x="960" y="0"/>
                </a:moveTo>
                <a:lnTo>
                  <a:pt x="0" y="960"/>
                </a:lnTo>
                <a:lnTo>
                  <a:pt x="672" y="960"/>
                </a:lnTo>
                <a:lnTo>
                  <a:pt x="960" y="0"/>
                </a:lnTo>
                <a:close/>
              </a:path>
            </a:pathLst>
          </a:custGeom>
          <a:solidFill>
            <a:srgbClr val="C5FFFF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23556" name="Freeform 5"/>
          <p:cNvSpPr/>
          <p:nvPr/>
        </p:nvSpPr>
        <p:spPr>
          <a:xfrm>
            <a:off x="4495800" y="3381375"/>
            <a:ext cx="1447800" cy="15240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0"/>
              </a:cxn>
            </a:cxnLst>
            <a:pathLst>
              <a:path w="912" h="960">
                <a:moveTo>
                  <a:pt x="0" y="0"/>
                </a:moveTo>
                <a:lnTo>
                  <a:pt x="912" y="960"/>
                </a:lnTo>
                <a:lnTo>
                  <a:pt x="240" y="960"/>
                </a:lnTo>
                <a:lnTo>
                  <a:pt x="0" y="0"/>
                </a:lnTo>
                <a:close/>
              </a:path>
            </a:pathLst>
          </a:custGeom>
          <a:solidFill>
            <a:srgbClr val="C5FFFF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23557" name="AutoShape 8"/>
          <p:cNvSpPr/>
          <p:nvPr/>
        </p:nvSpPr>
        <p:spPr>
          <a:xfrm>
            <a:off x="3733800" y="5410200"/>
            <a:ext cx="1295400" cy="304800"/>
          </a:xfrm>
          <a:prstGeom prst="curvedUpArrow">
            <a:avLst>
              <a:gd name="adj1" fmla="val 65522"/>
              <a:gd name="adj2" fmla="val 150522"/>
              <a:gd name="adj3" fmla="val 33328"/>
            </a:avLst>
          </a:prstGeom>
          <a:solidFill>
            <a:srgbClr val="CC0000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pPr>
              <a:buSzTx/>
            </a:pPr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3558" name="Text Box 9"/>
          <p:cNvSpPr txBox="1"/>
          <p:nvPr/>
        </p:nvSpPr>
        <p:spPr>
          <a:xfrm>
            <a:off x="2514600" y="4495800"/>
            <a:ext cx="3581400" cy="1373188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eaLnBrk="0" hangingPunct="0">
              <a:buSzTx/>
            </a:pP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>
              <a:buSzTx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   α .  </a:t>
            </a:r>
            <a:r>
              <a:rPr lang="en-US" altLang="zh-CN" sz="2800" dirty="0">
                <a:latin typeface="Times New Roman" panose="02020603050405020304" charset="0"/>
                <a:ea typeface="宋体" panose="02010600030101010101" pitchFamily="2" charset="-122"/>
              </a:rPr>
              <a:t>X     </a:t>
            </a:r>
            <a:r>
              <a:rPr lang="zh-CN" altLang="en-US" sz="2800" dirty="0">
                <a:latin typeface="Times New Roman" panose="02020603050405020304" charset="0"/>
                <a:ea typeface="宋体" panose="02010600030101010101" pitchFamily="2" charset="-122"/>
              </a:rPr>
              <a:t>． 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β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>
              <a:buSzTx/>
            </a:pPr>
            <a:r>
              <a:rPr lang="en-US" altLang="zh-CN" sz="2800" i="1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endParaRPr lang="en-US" altLang="zh-CN" sz="2800" i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7274" name="Rectangle 10"/>
          <p:cNvSpPr>
            <a:spLocks noChangeArrowheads="1"/>
          </p:cNvSpPr>
          <p:nvPr/>
        </p:nvSpPr>
        <p:spPr bwMode="auto">
          <a:xfrm>
            <a:off x="533400" y="457200"/>
            <a:ext cx="8229600" cy="2286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•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状态转移的计算：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确定在某状态（项目集）遇到一个文法符号后的目标转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移状态（项目集）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1600200" marR="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go( I,X ) = closure( J )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其中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J={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A→αX.β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｜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A→α.Xβ∈I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, X∈V }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60" name="Line 12"/>
          <p:cNvSpPr/>
          <p:nvPr/>
        </p:nvSpPr>
        <p:spPr>
          <a:xfrm flipH="1">
            <a:off x="2590800" y="5410200"/>
            <a:ext cx="106680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3561" name="Rectangle 13"/>
          <p:cNvSpPr/>
          <p:nvPr/>
        </p:nvSpPr>
        <p:spPr>
          <a:xfrm>
            <a:off x="1219200" y="5562600"/>
            <a:ext cx="1371600" cy="822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zh-CN" altLang="en-US" i="1" dirty="0">
                <a:solidFill>
                  <a:srgbClr val="660033"/>
                </a:solidFill>
                <a:latin typeface="Times New Roman" panose="02020603050405020304" charset="0"/>
                <a:ea typeface="宋体" panose="02010600030101010101" pitchFamily="2" charset="-122"/>
              </a:rPr>
              <a:t>状态 </a:t>
            </a:r>
            <a:r>
              <a:rPr lang="en-US" altLang="zh-CN" i="1" dirty="0">
                <a:solidFill>
                  <a:srgbClr val="660033"/>
                </a:solidFill>
                <a:latin typeface="Times New Roman" panose="02020603050405020304" charset="0"/>
                <a:ea typeface="宋体" panose="02010600030101010101" pitchFamily="2" charset="-122"/>
              </a:rPr>
              <a:t>I</a:t>
            </a:r>
            <a:r>
              <a:rPr lang="zh-CN" altLang="en-US" i="1" dirty="0">
                <a:solidFill>
                  <a:srgbClr val="660033"/>
                </a:solidFill>
                <a:latin typeface="Times New Roman" panose="02020603050405020304" charset="0"/>
                <a:ea typeface="宋体" panose="02010600030101010101" pitchFamily="2" charset="-122"/>
              </a:rPr>
              <a:t>中的项目</a:t>
            </a:r>
            <a:endParaRPr lang="zh-CN" altLang="en-US" i="1" dirty="0">
              <a:solidFill>
                <a:srgbClr val="660033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3562" name="Line 14"/>
          <p:cNvSpPr/>
          <p:nvPr/>
        </p:nvSpPr>
        <p:spPr>
          <a:xfrm>
            <a:off x="5105400" y="5410200"/>
            <a:ext cx="990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3563" name="Rectangle 15"/>
          <p:cNvSpPr/>
          <p:nvPr/>
        </p:nvSpPr>
        <p:spPr>
          <a:xfrm>
            <a:off x="6172200" y="5334000"/>
            <a:ext cx="2436813" cy="1187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buSzTx/>
            </a:pPr>
            <a:r>
              <a:rPr lang="zh-CN" altLang="en-US" i="1" dirty="0">
                <a:solidFill>
                  <a:srgbClr val="660033"/>
                </a:solidFill>
                <a:latin typeface="Times New Roman" panose="02020603050405020304" charset="0"/>
                <a:ea typeface="宋体" panose="02010600030101010101" pitchFamily="2" charset="-122"/>
              </a:rPr>
              <a:t>状态</a:t>
            </a:r>
            <a:r>
              <a:rPr lang="en-US" altLang="zh-CN" i="1" dirty="0">
                <a:solidFill>
                  <a:srgbClr val="660033"/>
                </a:solidFill>
                <a:latin typeface="Times New Roman" panose="02020603050405020304" charset="0"/>
                <a:ea typeface="宋体" panose="02010600030101010101" pitchFamily="2" charset="-122"/>
              </a:rPr>
              <a:t>I</a:t>
            </a:r>
            <a:r>
              <a:rPr lang="zh-CN" altLang="en-US" i="1" dirty="0">
                <a:solidFill>
                  <a:srgbClr val="660033"/>
                </a:solidFill>
                <a:latin typeface="Times New Roman" panose="02020603050405020304" charset="0"/>
                <a:ea typeface="宋体" panose="02010600030101010101" pitchFamily="2" charset="-122"/>
              </a:rPr>
              <a:t>经</a:t>
            </a:r>
            <a:r>
              <a:rPr lang="en-US" altLang="zh-CN" i="1" dirty="0">
                <a:solidFill>
                  <a:srgbClr val="660033"/>
                </a:solidFill>
                <a:latin typeface="Times New Roman" panose="02020603050405020304" charset="0"/>
                <a:ea typeface="宋体" panose="02010600030101010101" pitchFamily="2" charset="-122"/>
              </a:rPr>
              <a:t>X</a:t>
            </a:r>
            <a:r>
              <a:rPr lang="zh-CN" altLang="en-US" i="1" dirty="0">
                <a:solidFill>
                  <a:srgbClr val="660033"/>
                </a:solidFill>
                <a:latin typeface="Times New Roman" panose="02020603050405020304" charset="0"/>
                <a:ea typeface="宋体" panose="02010600030101010101" pitchFamily="2" charset="-122"/>
              </a:rPr>
              <a:t>转移到达的状态中的一个核心项目</a:t>
            </a:r>
            <a:r>
              <a:rPr lang="en-US" altLang="zh-CN" i="1" dirty="0">
                <a:solidFill>
                  <a:srgbClr val="660033"/>
                </a:solidFill>
                <a:latin typeface="Times New Roman" panose="02020603050405020304" charset="0"/>
                <a:ea typeface="宋体" panose="02010600030101010101" pitchFamily="2" charset="-122"/>
              </a:rPr>
              <a:t>J</a:t>
            </a:r>
            <a:endParaRPr lang="en-US" altLang="zh-CN" i="1" dirty="0">
              <a:solidFill>
                <a:srgbClr val="660033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3564" name="AutoShape 16">
            <a:hlinkClick r:id="rId1" action="ppaction://hlinksldjump"/>
          </p:cNvPr>
          <p:cNvSpPr/>
          <p:nvPr/>
        </p:nvSpPr>
        <p:spPr>
          <a:xfrm>
            <a:off x="7010400" y="3505200"/>
            <a:ext cx="762000" cy="6096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SzTx/>
            </a:pPr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Rectangle 2"/>
          <p:cNvSpPr>
            <a:spLocks noGrp="1"/>
          </p:cNvSpPr>
          <p:nvPr>
            <p:ph idx="1"/>
          </p:nvPr>
        </p:nvSpPr>
        <p:spPr>
          <a:xfrm>
            <a:off x="914400" y="1219200"/>
            <a:ext cx="7696200" cy="4724400"/>
          </a:xfrm>
          <a:ln/>
        </p:spPr>
        <p:txBody>
          <a:bodyPr vert="horz" wrap="square" lIns="92075" tIns="46038" rIns="92075" bIns="46038" anchor="t" anchorCtr="0"/>
          <a:p>
            <a:pPr indent="-255270" eaLnBrk="1" hangingPunct="1"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begin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indent="-255270" eaLnBrk="1" hangingPunct="1"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I := closure( { S′→ .S } );   //closure(0,0) 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indent="-255270" eaLnBrk="1" hangingPunct="1"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indent="-255270" eaLnBrk="1" hangingPunct="1"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C := { I };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indent="-255270"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repeat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indent="-255270" eaLnBrk="1" hangingPunct="1"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  for C </a:t>
            </a:r>
            <a:r>
              <a:rPr lang="zh-CN" altLang="en-US" sz="2400" b="1" dirty="0">
                <a:latin typeface="宋体" panose="02010600030101010101" pitchFamily="2" charset="-122"/>
              </a:rPr>
              <a:t>中的每一状态 </a:t>
            </a:r>
            <a:r>
              <a:rPr lang="en-US" altLang="zh-CN" sz="2400" b="1" dirty="0">
                <a:latin typeface="宋体" panose="02010600030101010101" pitchFamily="2" charset="-122"/>
              </a:rPr>
              <a:t>I </a:t>
            </a:r>
            <a:r>
              <a:rPr lang="zh-CN" altLang="en-US" sz="2400" b="1" dirty="0">
                <a:latin typeface="宋体" panose="02010600030101010101" pitchFamily="2" charset="-122"/>
              </a:rPr>
              <a:t>和每一文法符号 </a:t>
            </a:r>
            <a:r>
              <a:rPr lang="en-US" altLang="zh-CN" sz="2400" b="1" dirty="0">
                <a:latin typeface="宋体" panose="02010600030101010101" pitchFamily="2" charset="-122"/>
              </a:rPr>
              <a:t>X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indent="-255270" eaLnBrk="1" hangingPunct="1"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     if </a:t>
            </a:r>
            <a:r>
              <a:rPr lang="en-US" altLang="zh-CN" sz="2000" dirty="0">
                <a:latin typeface="宋体" panose="02010600030101010101" pitchFamily="2" charset="-122"/>
              </a:rPr>
              <a:t>go(I,X) </a:t>
            </a:r>
            <a:r>
              <a:rPr lang="zh-CN" altLang="en-US" sz="2000" dirty="0">
                <a:latin typeface="宋体" panose="02010600030101010101" pitchFamily="2" charset="-122"/>
              </a:rPr>
              <a:t>非空且 </a:t>
            </a:r>
            <a:r>
              <a:rPr lang="en-US" altLang="zh-CN" sz="2000" dirty="0">
                <a:latin typeface="宋体" panose="02010600030101010101" pitchFamily="2" charset="-122"/>
              </a:rPr>
              <a:t>go(I,X) </a:t>
            </a:r>
            <a:r>
              <a:rPr lang="zh-CN" altLang="en-US" sz="2000" dirty="0">
                <a:latin typeface="宋体" panose="02010600030101010101" pitchFamily="2" charset="-122"/>
              </a:rPr>
              <a:t>不在 </a:t>
            </a:r>
            <a:r>
              <a:rPr lang="en-US" altLang="zh-CN" sz="2000" dirty="0">
                <a:latin typeface="宋体" panose="02010600030101010101" pitchFamily="2" charset="-122"/>
              </a:rPr>
              <a:t>C </a:t>
            </a:r>
            <a:r>
              <a:rPr lang="zh-CN" altLang="en-US" sz="2000" dirty="0">
                <a:latin typeface="宋体" panose="02010600030101010101" pitchFamily="2" charset="-122"/>
              </a:rPr>
              <a:t>中</a:t>
            </a:r>
            <a:endParaRPr lang="zh-CN" altLang="en-US" sz="2000" dirty="0">
              <a:latin typeface="宋体" panose="02010600030101010101" pitchFamily="2" charset="-122"/>
            </a:endParaRPr>
          </a:p>
          <a:p>
            <a:pPr indent="-255270" eaLnBrk="1" hangingPunct="1"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      </a:t>
            </a:r>
            <a:r>
              <a:rPr lang="en-US" altLang="zh-CN" sz="2400" b="1" dirty="0">
                <a:latin typeface="宋体" panose="02010600030101010101" pitchFamily="2" charset="-122"/>
              </a:rPr>
              <a:t>then  </a:t>
            </a:r>
            <a:r>
              <a:rPr lang="zh-CN" altLang="en-US" sz="2000" dirty="0">
                <a:latin typeface="宋体" panose="02010600030101010101" pitchFamily="2" charset="-122"/>
              </a:rPr>
              <a:t>将状态 </a:t>
            </a:r>
            <a:r>
              <a:rPr lang="en-US" altLang="zh-CN" sz="2000" dirty="0">
                <a:latin typeface="宋体" panose="02010600030101010101" pitchFamily="2" charset="-122"/>
              </a:rPr>
              <a:t>go(I,X) </a:t>
            </a:r>
            <a:r>
              <a:rPr lang="zh-CN" altLang="en-US" sz="2000" dirty="0">
                <a:latin typeface="宋体" panose="02010600030101010101" pitchFamily="2" charset="-122"/>
              </a:rPr>
              <a:t>加入到 </a:t>
            </a:r>
            <a:r>
              <a:rPr lang="en-US" altLang="zh-CN" sz="2000" dirty="0">
                <a:latin typeface="宋体" panose="02010600030101010101" pitchFamily="2" charset="-122"/>
              </a:rPr>
              <a:t>C </a:t>
            </a:r>
            <a:r>
              <a:rPr lang="zh-CN" altLang="en-US" sz="2000" dirty="0">
                <a:latin typeface="宋体" panose="02010600030101010101" pitchFamily="2" charset="-122"/>
              </a:rPr>
              <a:t>中</a:t>
            </a:r>
            <a:endParaRPr lang="zh-CN" altLang="en-US" sz="2000" dirty="0">
              <a:latin typeface="宋体" panose="02010600030101010101" pitchFamily="2" charset="-122"/>
            </a:endParaRPr>
          </a:p>
          <a:p>
            <a:pPr indent="-255270" eaLnBrk="1" hangingPunct="1"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</a:t>
            </a:r>
            <a:r>
              <a:rPr lang="en-US" altLang="zh-CN" sz="2400" b="1" dirty="0">
                <a:latin typeface="宋体" panose="02010600030101010101" pitchFamily="2" charset="-122"/>
              </a:rPr>
              <a:t>until </a:t>
            </a:r>
            <a:r>
              <a:rPr lang="zh-CN" altLang="en-US" sz="2400" b="1" dirty="0">
                <a:latin typeface="宋体" panose="02010600030101010101" pitchFamily="2" charset="-122"/>
              </a:rPr>
              <a:t>不出现新的状态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indent="-255270" eaLnBrk="1" hangingPunct="1"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end.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268291" name="Rectangle 3"/>
          <p:cNvSpPr>
            <a:spLocks noChangeArrowheads="1"/>
          </p:cNvSpPr>
          <p:nvPr/>
        </p:nvSpPr>
        <p:spPr bwMode="auto">
          <a:xfrm>
            <a:off x="457200" y="457200"/>
            <a:ext cx="8229600" cy="609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•"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计算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LR(0)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项目集规范族：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内容占位符 1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indent="-255270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5603" name="Picture 2"/>
          <p:cNvPicPr>
            <a:picLocks noChangeAspect="1"/>
          </p:cNvPicPr>
          <p:nvPr/>
        </p:nvPicPr>
        <p:blipFill>
          <a:blip r:embed="rId1"/>
          <a:srcRect l="6776" t="33894" r="2107" b="19952"/>
          <a:stretch>
            <a:fillRect/>
          </a:stretch>
        </p:blipFill>
        <p:spPr>
          <a:xfrm>
            <a:off x="285750" y="642938"/>
            <a:ext cx="8643938" cy="4572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内容占位符 1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indent="-255270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6627" name="Picture 2"/>
          <p:cNvPicPr>
            <a:picLocks noChangeAspect="1"/>
          </p:cNvPicPr>
          <p:nvPr/>
        </p:nvPicPr>
        <p:blipFill>
          <a:blip r:embed="rId1"/>
          <a:srcRect l="5270" t="28847" r="3613" b="13461"/>
          <a:stretch>
            <a:fillRect/>
          </a:stretch>
        </p:blipFill>
        <p:spPr>
          <a:xfrm>
            <a:off x="357188" y="214313"/>
            <a:ext cx="8643937" cy="5715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内容占位符 1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indent="-255270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7651" name="Picture 2"/>
          <p:cNvPicPr>
            <a:picLocks noChangeAspect="1"/>
          </p:cNvPicPr>
          <p:nvPr/>
        </p:nvPicPr>
        <p:blipFill>
          <a:blip r:embed="rId1"/>
          <a:srcRect l="5270" t="31010" r="6625" b="6250"/>
          <a:stretch>
            <a:fillRect/>
          </a:stretch>
        </p:blipFill>
        <p:spPr>
          <a:xfrm>
            <a:off x="428625" y="214313"/>
            <a:ext cx="8358188" cy="62150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Rectangle 2"/>
          <p:cNvSpPr>
            <a:spLocks noGrp="1"/>
          </p:cNvSpPr>
          <p:nvPr>
            <p:ph idx="1"/>
          </p:nvPr>
        </p:nvSpPr>
        <p:spPr>
          <a:xfrm>
            <a:off x="161925" y="1219200"/>
            <a:ext cx="8124825" cy="5868988"/>
          </a:xfrm>
          <a:ln/>
        </p:spPr>
        <p:txBody>
          <a:bodyPr vert="horz" wrap="square" lIns="92075" tIns="46038" rIns="92075" bIns="46038" anchor="t" anchorCtr="0"/>
          <a:p>
            <a:pPr indent="-255270" eaLnBrk="1" hangingPunct="1">
              <a:buFontTx/>
              <a:buNone/>
            </a:pPr>
            <a:r>
              <a:rPr lang="en-US" altLang="zh-CN" sz="2900" b="1" dirty="0">
                <a:solidFill>
                  <a:schemeClr val="tx2"/>
                </a:solidFill>
                <a:latin typeface="宋体" panose="02010600030101010101" pitchFamily="2" charset="-122"/>
              </a:rPr>
              <a:t> 0)  </a:t>
            </a:r>
            <a:r>
              <a:rPr lang="zh-CN" altLang="en-US" sz="2900" b="1" dirty="0">
                <a:solidFill>
                  <a:schemeClr val="tx2"/>
                </a:solidFill>
                <a:latin typeface="宋体" panose="02010600030101010101" pitchFamily="2" charset="-122"/>
              </a:rPr>
              <a:t>Ｅ</a:t>
            </a:r>
            <a:r>
              <a:rPr lang="en-US" altLang="zh-CN" sz="2900" b="1" dirty="0">
                <a:solidFill>
                  <a:schemeClr val="tx2"/>
                </a:solidFill>
                <a:latin typeface="宋体" panose="02010600030101010101" pitchFamily="2" charset="-122"/>
              </a:rPr>
              <a:t>′→        </a:t>
            </a:r>
            <a:r>
              <a:rPr lang="zh-CN" altLang="en-US" sz="2900" b="1" dirty="0">
                <a:solidFill>
                  <a:schemeClr val="tx2"/>
                </a:solidFill>
                <a:latin typeface="宋体" panose="02010600030101010101" pitchFamily="2" charset="-122"/>
              </a:rPr>
              <a:t>Ｅ</a:t>
            </a:r>
            <a:endParaRPr lang="zh-CN" altLang="en-US" sz="29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indent="-255270" eaLnBrk="1" hangingPunct="1">
              <a:buFontTx/>
              <a:buNone/>
            </a:pPr>
            <a:r>
              <a:rPr lang="zh-CN" altLang="en-US" sz="2900" b="1" dirty="0">
                <a:solidFill>
                  <a:schemeClr val="tx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900" b="1" dirty="0">
                <a:solidFill>
                  <a:schemeClr val="tx2"/>
                </a:solidFill>
                <a:latin typeface="宋体" panose="02010600030101010101" pitchFamily="2" charset="-122"/>
              </a:rPr>
              <a:t>1)  </a:t>
            </a:r>
            <a:r>
              <a:rPr lang="zh-CN" altLang="en-US" sz="2900" b="1" dirty="0">
                <a:solidFill>
                  <a:schemeClr val="tx2"/>
                </a:solidFill>
                <a:latin typeface="宋体" panose="02010600030101010101" pitchFamily="2" charset="-122"/>
              </a:rPr>
              <a:t>Ｅ  →        Ｅ　    </a:t>
            </a:r>
            <a:r>
              <a:rPr lang="en-US" altLang="zh-CN" sz="2900" b="1" dirty="0">
                <a:solidFill>
                  <a:schemeClr val="tx2"/>
                </a:solidFill>
                <a:latin typeface="宋体" panose="02010600030101010101" pitchFamily="2" charset="-122"/>
              </a:rPr>
              <a:t>+    </a:t>
            </a:r>
            <a:r>
              <a:rPr lang="zh-CN" altLang="en-US" sz="2900" b="1" dirty="0">
                <a:solidFill>
                  <a:schemeClr val="tx2"/>
                </a:solidFill>
                <a:latin typeface="宋体" panose="02010600030101010101" pitchFamily="2" charset="-122"/>
              </a:rPr>
              <a:t>Ｔ</a:t>
            </a:r>
            <a:endParaRPr lang="zh-CN" altLang="en-US" sz="29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indent="-255270" eaLnBrk="1" hangingPunct="1">
              <a:buFontTx/>
              <a:buNone/>
            </a:pPr>
            <a:r>
              <a:rPr lang="zh-CN" altLang="en-US" sz="2900" b="1" dirty="0">
                <a:solidFill>
                  <a:schemeClr val="tx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900" b="1" dirty="0">
                <a:solidFill>
                  <a:schemeClr val="tx2"/>
                </a:solidFill>
                <a:latin typeface="宋体" panose="02010600030101010101" pitchFamily="2" charset="-122"/>
              </a:rPr>
              <a:t>2)  </a:t>
            </a:r>
            <a:r>
              <a:rPr lang="zh-CN" altLang="en-US" sz="2900" b="1" dirty="0">
                <a:solidFill>
                  <a:schemeClr val="tx2"/>
                </a:solidFill>
                <a:latin typeface="宋体" panose="02010600030101010101" pitchFamily="2" charset="-122"/>
              </a:rPr>
              <a:t>Ｅ  →        Ｔ</a:t>
            </a:r>
            <a:endParaRPr lang="zh-CN" altLang="en-US" sz="29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indent="-255270" eaLnBrk="1" hangingPunct="1">
              <a:buFontTx/>
              <a:buNone/>
            </a:pPr>
            <a:r>
              <a:rPr lang="zh-CN" altLang="en-US" sz="2900" b="1" dirty="0">
                <a:solidFill>
                  <a:schemeClr val="tx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900" b="1" dirty="0">
                <a:solidFill>
                  <a:schemeClr val="tx2"/>
                </a:solidFill>
                <a:latin typeface="宋体" panose="02010600030101010101" pitchFamily="2" charset="-122"/>
              </a:rPr>
              <a:t>3)  </a:t>
            </a:r>
            <a:r>
              <a:rPr lang="zh-CN" altLang="en-US" sz="2900" b="1" dirty="0">
                <a:solidFill>
                  <a:schemeClr val="tx2"/>
                </a:solidFill>
                <a:latin typeface="宋体" panose="02010600030101010101" pitchFamily="2" charset="-122"/>
              </a:rPr>
              <a:t>Ｔ  →        Ｔ      *    Ｆ</a:t>
            </a:r>
            <a:endParaRPr lang="zh-CN" altLang="en-US" sz="29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indent="-255270" eaLnBrk="1" hangingPunct="1">
              <a:buFontTx/>
              <a:buNone/>
            </a:pPr>
            <a:r>
              <a:rPr lang="zh-CN" altLang="en-US" sz="2900" b="1" dirty="0">
                <a:solidFill>
                  <a:schemeClr val="tx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900" b="1" dirty="0">
                <a:solidFill>
                  <a:schemeClr val="tx2"/>
                </a:solidFill>
                <a:latin typeface="宋体" panose="02010600030101010101" pitchFamily="2" charset="-122"/>
              </a:rPr>
              <a:t>4)  </a:t>
            </a:r>
            <a:r>
              <a:rPr lang="zh-CN" altLang="en-US" sz="2900" b="1" dirty="0">
                <a:solidFill>
                  <a:schemeClr val="tx2"/>
                </a:solidFill>
                <a:latin typeface="宋体" panose="02010600030101010101" pitchFamily="2" charset="-122"/>
              </a:rPr>
              <a:t>Ｔ  →        Ｆ</a:t>
            </a:r>
            <a:endParaRPr lang="zh-CN" altLang="en-US" sz="29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indent="-255270" eaLnBrk="1" hangingPunct="1">
              <a:buFontTx/>
              <a:buNone/>
            </a:pPr>
            <a:r>
              <a:rPr lang="zh-CN" altLang="en-US" sz="2900" b="1" dirty="0">
                <a:solidFill>
                  <a:schemeClr val="tx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900" b="1" dirty="0">
                <a:solidFill>
                  <a:schemeClr val="tx2"/>
                </a:solidFill>
                <a:latin typeface="宋体" panose="02010600030101010101" pitchFamily="2" charset="-122"/>
              </a:rPr>
              <a:t>5)  </a:t>
            </a:r>
            <a:r>
              <a:rPr lang="zh-CN" altLang="en-US" sz="2900" b="1" dirty="0">
                <a:solidFill>
                  <a:schemeClr val="tx2"/>
                </a:solidFill>
                <a:latin typeface="宋体" panose="02010600030101010101" pitchFamily="2" charset="-122"/>
              </a:rPr>
              <a:t>Ｆ  →        </a:t>
            </a:r>
            <a:r>
              <a:rPr lang="en-US" altLang="zh-CN" sz="2900" b="1" dirty="0">
                <a:solidFill>
                  <a:schemeClr val="tx2"/>
                </a:solidFill>
                <a:latin typeface="宋体" panose="02010600030101010101" pitchFamily="2" charset="-122"/>
              </a:rPr>
              <a:t>(       </a:t>
            </a:r>
            <a:r>
              <a:rPr lang="zh-CN" altLang="en-US" sz="2900" b="1" dirty="0">
                <a:solidFill>
                  <a:schemeClr val="tx2"/>
                </a:solidFill>
                <a:latin typeface="宋体" panose="02010600030101010101" pitchFamily="2" charset="-122"/>
              </a:rPr>
              <a:t>Ｅ    </a:t>
            </a:r>
            <a:r>
              <a:rPr lang="en-US" altLang="zh-CN" sz="2900" b="1" dirty="0">
                <a:solidFill>
                  <a:schemeClr val="tx2"/>
                </a:solidFill>
                <a:latin typeface="宋体" panose="02010600030101010101" pitchFamily="2" charset="-122"/>
              </a:rPr>
              <a:t>)</a:t>
            </a:r>
            <a:endParaRPr lang="en-US" altLang="zh-CN" sz="29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indent="-255270" eaLnBrk="1" hangingPunct="1">
              <a:buFontTx/>
              <a:buNone/>
            </a:pPr>
            <a:r>
              <a:rPr lang="en-US" altLang="zh-CN" sz="2900" b="1" dirty="0">
                <a:solidFill>
                  <a:schemeClr val="tx2"/>
                </a:solidFill>
                <a:latin typeface="宋体" panose="02010600030101010101" pitchFamily="2" charset="-122"/>
              </a:rPr>
              <a:t> 6)  </a:t>
            </a:r>
            <a:r>
              <a:rPr lang="zh-CN" altLang="en-US" sz="2900" b="1" dirty="0">
                <a:solidFill>
                  <a:schemeClr val="tx2"/>
                </a:solidFill>
                <a:latin typeface="宋体" panose="02010600030101010101" pitchFamily="2" charset="-122"/>
              </a:rPr>
              <a:t>Ｆ  →        </a:t>
            </a:r>
            <a:r>
              <a:rPr lang="en-US" altLang="zh-CN" sz="2900" b="1" dirty="0">
                <a:solidFill>
                  <a:schemeClr val="tx2"/>
                </a:solidFill>
                <a:latin typeface="宋体" panose="02010600030101010101" pitchFamily="2" charset="-122"/>
              </a:rPr>
              <a:t>id</a:t>
            </a:r>
            <a:endParaRPr lang="en-US" altLang="zh-CN" sz="29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indent="-255270" eaLnBrk="1" hangingPunct="1">
              <a:lnSpc>
                <a:spcPct val="80000"/>
              </a:lnSpc>
              <a:buFontTx/>
              <a:buNone/>
            </a:pPr>
            <a:endParaRPr lang="en-US" altLang="zh-CN" sz="29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28674" name="Rectangle 3"/>
          <p:cNvSpPr/>
          <p:nvPr/>
        </p:nvSpPr>
        <p:spPr>
          <a:xfrm>
            <a:off x="2571750" y="1143000"/>
            <a:ext cx="4648200" cy="5638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/>
          <a:p>
            <a:pPr>
              <a:lnSpc>
                <a:spcPct val="120000"/>
              </a:lnSpc>
              <a:buSzTx/>
            </a:pPr>
            <a:r>
              <a:rPr lang="en-US" altLang="zh-CN" sz="28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0         1</a:t>
            </a:r>
            <a:endParaRPr lang="en-US" altLang="zh-CN" sz="2800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SzTx/>
            </a:pPr>
            <a:r>
              <a:rPr lang="en-US" altLang="zh-CN" sz="28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0,4       1,8    6    9</a:t>
            </a:r>
            <a:endParaRPr lang="en-US" altLang="zh-CN" sz="2800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SzTx/>
            </a:pPr>
            <a:r>
              <a:rPr lang="en-US" altLang="zh-CN" sz="28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0,4       2</a:t>
            </a:r>
            <a:endParaRPr lang="en-US" altLang="zh-CN" sz="2800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SzTx/>
            </a:pPr>
            <a:r>
              <a:rPr lang="en-US" altLang="zh-CN" sz="28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0,4,6     2,9    7    10</a:t>
            </a:r>
            <a:endParaRPr lang="en-US" altLang="zh-CN" sz="2800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SzTx/>
            </a:pPr>
            <a:r>
              <a:rPr lang="en-US" altLang="zh-CN" sz="28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0,4,6     3</a:t>
            </a:r>
            <a:endParaRPr lang="en-US" altLang="zh-CN" sz="2800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SzTx/>
            </a:pPr>
            <a:r>
              <a:rPr lang="en-US" altLang="zh-CN" sz="28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0,4,6,7   4      8    11</a:t>
            </a:r>
            <a:endParaRPr lang="en-US" altLang="zh-CN" sz="2800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SzTx/>
            </a:pPr>
            <a:r>
              <a:rPr lang="en-US" altLang="zh-CN" sz="28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0,4,6,7   5</a:t>
            </a:r>
            <a:endParaRPr lang="en-US" altLang="zh-CN" sz="2800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9316" name="Rectangle 4"/>
          <p:cNvSpPr>
            <a:spLocks noChangeArrowheads="1"/>
          </p:cNvSpPr>
          <p:nvPr/>
        </p:nvSpPr>
        <p:spPr bwMode="auto">
          <a:xfrm>
            <a:off x="457200" y="457200"/>
            <a:ext cx="8229600" cy="609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例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：表达式拓展文法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G[E]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/>
          </p:cNvSpPr>
          <p:nvPr>
            <p:ph idx="1"/>
          </p:nvPr>
        </p:nvSpPr>
        <p:spPr>
          <a:xfrm>
            <a:off x="609600" y="2057400"/>
            <a:ext cx="8153400" cy="4343400"/>
          </a:xfrm>
          <a:ln/>
        </p:spPr>
        <p:txBody>
          <a:bodyPr vert="horz" wrap="square" lIns="92075" tIns="46038" rIns="92075" bIns="46038" anchor="t" anchorCtr="0"/>
          <a:p>
            <a:pPr indent="-255270" eaLnBrk="1" hangingPunct="1">
              <a:buFontTx/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宋体" panose="02010600030101010101" pitchFamily="2" charset="-122"/>
              </a:rPr>
              <a:t>Go(I,X) </a:t>
            </a:r>
            <a:r>
              <a:rPr lang="zh-CN" altLang="en-US" sz="2000" b="1" dirty="0">
                <a:solidFill>
                  <a:schemeClr val="hlink"/>
                </a:solidFill>
                <a:latin typeface="宋体" panose="02010600030101010101" pitchFamily="2" charset="-122"/>
              </a:rPr>
              <a:t>状态</a:t>
            </a:r>
            <a:r>
              <a:rPr lang="en-US" altLang="zh-CN" sz="2000" b="1" dirty="0">
                <a:solidFill>
                  <a:schemeClr val="hlink"/>
                </a:solidFill>
                <a:latin typeface="宋体" panose="02010600030101010101" pitchFamily="2" charset="-122"/>
              </a:rPr>
              <a:t>I</a:t>
            </a:r>
            <a:r>
              <a:rPr lang="en-US" altLang="zh-CN" sz="2400" b="1" dirty="0">
                <a:solidFill>
                  <a:schemeClr val="hlink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000" b="1" dirty="0">
                <a:solidFill>
                  <a:schemeClr val="hlink"/>
                </a:solidFill>
                <a:latin typeface="宋体" panose="02010600030101010101" pitchFamily="2" charset="-122"/>
              </a:rPr>
              <a:t>项目核心</a:t>
            </a:r>
            <a:r>
              <a:rPr lang="en-US" altLang="zh-CN" sz="2000" b="1" dirty="0">
                <a:solidFill>
                  <a:schemeClr val="hlink"/>
                </a:solidFill>
                <a:latin typeface="宋体" panose="02010600030101010101" pitchFamily="2" charset="-122"/>
              </a:rPr>
              <a:t>J</a:t>
            </a:r>
            <a:r>
              <a:rPr lang="en-US" altLang="zh-CN" sz="2400" b="1" dirty="0">
                <a:solidFill>
                  <a:schemeClr val="hlink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chemeClr val="hlink"/>
                </a:solidFill>
                <a:latin typeface="宋体" panose="02010600030101010101" pitchFamily="2" charset="-122"/>
              </a:rPr>
              <a:t>计算</a:t>
            </a:r>
            <a:r>
              <a:rPr lang="en-US" altLang="zh-CN" sz="2000" b="1" dirty="0">
                <a:solidFill>
                  <a:schemeClr val="hlink"/>
                </a:solidFill>
                <a:latin typeface="宋体" panose="02010600030101010101" pitchFamily="2" charset="-122"/>
              </a:rPr>
              <a:t>closure(J)</a:t>
            </a:r>
            <a:r>
              <a:rPr lang="zh-CN" altLang="en-US" sz="2000" b="1" dirty="0">
                <a:solidFill>
                  <a:schemeClr val="hlink"/>
                </a:solidFill>
                <a:latin typeface="宋体" panose="02010600030101010101" pitchFamily="2" charset="-122"/>
              </a:rPr>
              <a:t>后添加的项目</a:t>
            </a:r>
            <a:endParaRPr lang="zh-CN" altLang="en-US" sz="2000" b="1" dirty="0">
              <a:solidFill>
                <a:schemeClr val="hlink"/>
              </a:solidFill>
              <a:latin typeface="宋体" panose="02010600030101010101" pitchFamily="2" charset="-122"/>
            </a:endParaRPr>
          </a:p>
          <a:p>
            <a:pPr indent="-255270" eaLnBrk="1" hangingPunct="1">
              <a:lnSpc>
                <a:spcPct val="120000"/>
              </a:lnSpc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</a:rPr>
              <a:t>         </a:t>
            </a:r>
            <a:r>
              <a:rPr lang="en-US" altLang="zh-CN" sz="2000" b="1" dirty="0">
                <a:solidFill>
                  <a:schemeClr val="hlink"/>
                </a:solidFill>
                <a:latin typeface="宋体" panose="02010600030101010101" pitchFamily="2" charset="-122"/>
              </a:rPr>
              <a:t>0 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</a:rPr>
              <a:t>  (0,0)       (1,0) (2,0) (3,0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</a:rPr>
              <a:t>）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</a:rPr>
              <a:t>(4,0) (5,0) (6,0) </a:t>
            </a:r>
            <a:endParaRPr lang="en-US" altLang="zh-CN" sz="20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indent="-255270" eaLnBrk="1" hangingPunct="1">
              <a:lnSpc>
                <a:spcPct val="120000"/>
              </a:lnSpc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</a:rPr>
              <a:t>go(0,E)  1   (0,1) (1,1)</a:t>
            </a:r>
            <a:endParaRPr lang="en-US" altLang="zh-CN" sz="20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indent="-255270" eaLnBrk="1" hangingPunct="1">
              <a:lnSpc>
                <a:spcPct val="120000"/>
              </a:lnSpc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</a:rPr>
              <a:t>go(0,T)  2   (2,1) (3,1)</a:t>
            </a:r>
            <a:endParaRPr lang="en-US" altLang="zh-CN" sz="20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indent="-255270" eaLnBrk="1" hangingPunct="1">
              <a:lnSpc>
                <a:spcPct val="120000"/>
              </a:lnSpc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</a:rPr>
              <a:t>go(0,F)  3   (4,1)</a:t>
            </a:r>
            <a:endParaRPr lang="en-US" altLang="zh-CN" sz="20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indent="-255270" eaLnBrk="1" hangingPunct="1">
              <a:lnSpc>
                <a:spcPct val="120000"/>
              </a:lnSpc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</a:rPr>
              <a:t>go(0,( ) 4   (5,1)       (1,0) (2,0) (3,0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</a:rPr>
              <a:t>）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</a:rPr>
              <a:t>(4,0) (5,0) (6,0) </a:t>
            </a:r>
            <a:endParaRPr lang="en-US" altLang="zh-CN" sz="20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indent="-255270" eaLnBrk="1" hangingPunct="1">
              <a:lnSpc>
                <a:spcPct val="120000"/>
              </a:lnSpc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</a:rPr>
              <a:t>go(0,id) 5   (6,1)</a:t>
            </a:r>
            <a:endParaRPr lang="en-US" altLang="zh-CN" sz="20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indent="-255270" eaLnBrk="1" hangingPunct="1">
              <a:lnSpc>
                <a:spcPct val="120000"/>
              </a:lnSpc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</a:rPr>
              <a:t>go(1,+)  6   (1,2)       (3,0) (4,0) (5,0) (6,0)</a:t>
            </a:r>
            <a:endParaRPr lang="en-US" altLang="zh-CN" sz="20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indent="-255270" eaLnBrk="1" hangingPunct="1">
              <a:lnSpc>
                <a:spcPct val="120000"/>
              </a:lnSpc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</a:rPr>
              <a:t>go(2,*)  7   (3,2)       (5,0) (6,0)</a:t>
            </a:r>
            <a:endParaRPr lang="en-US" altLang="zh-CN" sz="20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indent="-255270" eaLnBrk="1" hangingPunct="1">
              <a:lnSpc>
                <a:spcPct val="120000"/>
              </a:lnSpc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</a:rPr>
              <a:t>go(4,E)  8   (5,2) (1,1) 	</a:t>
            </a:r>
            <a:endParaRPr lang="en-US" altLang="zh-CN" sz="20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indent="-255270" eaLnBrk="1" hangingPunct="1">
              <a:lnSpc>
                <a:spcPct val="120000"/>
              </a:lnSpc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</a:rPr>
              <a:t>go(4,T)  2   (2,1) (3,1)</a:t>
            </a:r>
            <a:endParaRPr lang="en-US" altLang="zh-CN" sz="20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29698" name="Line 3"/>
          <p:cNvSpPr/>
          <p:nvPr/>
        </p:nvSpPr>
        <p:spPr>
          <a:xfrm>
            <a:off x="533400" y="2500313"/>
            <a:ext cx="82296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99" name="Line 4"/>
          <p:cNvSpPr/>
          <p:nvPr/>
        </p:nvSpPr>
        <p:spPr>
          <a:xfrm>
            <a:off x="3929063" y="2133600"/>
            <a:ext cx="0" cy="44196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00" name="Line 5"/>
          <p:cNvSpPr/>
          <p:nvPr/>
        </p:nvSpPr>
        <p:spPr>
          <a:xfrm>
            <a:off x="2500313" y="2133600"/>
            <a:ext cx="0" cy="44196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01" name="Line 6"/>
          <p:cNvSpPr/>
          <p:nvPr/>
        </p:nvSpPr>
        <p:spPr>
          <a:xfrm>
            <a:off x="1857375" y="2133600"/>
            <a:ext cx="0" cy="44196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02" name="Line 7"/>
          <p:cNvSpPr/>
          <p:nvPr/>
        </p:nvSpPr>
        <p:spPr>
          <a:xfrm>
            <a:off x="533400" y="6553200"/>
            <a:ext cx="82296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03" name="Line 8"/>
          <p:cNvSpPr/>
          <p:nvPr/>
        </p:nvSpPr>
        <p:spPr>
          <a:xfrm>
            <a:off x="533400" y="2133600"/>
            <a:ext cx="82296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04" name="Line 9"/>
          <p:cNvSpPr/>
          <p:nvPr/>
        </p:nvSpPr>
        <p:spPr>
          <a:xfrm>
            <a:off x="8763000" y="2133600"/>
            <a:ext cx="0" cy="44196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05" name="Line 10"/>
          <p:cNvSpPr/>
          <p:nvPr/>
        </p:nvSpPr>
        <p:spPr>
          <a:xfrm>
            <a:off x="533400" y="2133600"/>
            <a:ext cx="0" cy="44196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06" name="Rectangle 11"/>
          <p:cNvSpPr/>
          <p:nvPr/>
        </p:nvSpPr>
        <p:spPr>
          <a:xfrm>
            <a:off x="533400" y="457200"/>
            <a:ext cx="2743200" cy="838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/>
          <a:p>
            <a:pPr marL="342900" indent="-342900">
              <a:lnSpc>
                <a:spcPct val="70000"/>
              </a:lnSpc>
              <a:spcBef>
                <a:spcPct val="20000"/>
              </a:spcBef>
              <a:buClr>
                <a:schemeClr val="accent1"/>
              </a:buClr>
              <a:buSzTx/>
            </a:pPr>
            <a:r>
              <a:rPr lang="en-US" altLang="zh-CN" sz="2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0)  </a:t>
            </a:r>
            <a:r>
              <a:rPr lang="zh-CN" altLang="en-US" sz="2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Ｅ</a:t>
            </a:r>
            <a:r>
              <a:rPr lang="en-US" altLang="zh-CN" sz="2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′→ </a:t>
            </a:r>
            <a:r>
              <a:rPr lang="zh-CN" altLang="en-US" sz="2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Ｅ</a:t>
            </a:r>
            <a:endParaRPr lang="zh-CN" altLang="en-US" sz="2000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70000"/>
              </a:lnSpc>
              <a:spcBef>
                <a:spcPct val="20000"/>
              </a:spcBef>
              <a:buClr>
                <a:schemeClr val="accent1"/>
              </a:buClr>
              <a:buSzTx/>
            </a:pPr>
            <a:r>
              <a:rPr lang="zh-CN" altLang="en-US" sz="2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1)  </a:t>
            </a:r>
            <a:r>
              <a:rPr lang="zh-CN" altLang="en-US" sz="2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Ｅ  → Ｅ</a:t>
            </a:r>
            <a:r>
              <a:rPr lang="en-US" altLang="zh-CN" sz="2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sz="2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Ｔ</a:t>
            </a:r>
            <a:endParaRPr lang="zh-CN" altLang="en-US" sz="2000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70000"/>
              </a:lnSpc>
              <a:spcBef>
                <a:spcPct val="20000"/>
              </a:spcBef>
              <a:buClr>
                <a:schemeClr val="accent1"/>
              </a:buClr>
              <a:buSzTx/>
            </a:pPr>
            <a:r>
              <a:rPr lang="zh-CN" altLang="en-US" sz="2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2)  </a:t>
            </a:r>
            <a:r>
              <a:rPr lang="zh-CN" altLang="en-US" sz="2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Ｅ  → Ｔ</a:t>
            </a:r>
            <a:endParaRPr lang="zh-CN" altLang="en-US" sz="2000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707" name="Rectangle 12"/>
          <p:cNvSpPr/>
          <p:nvPr/>
        </p:nvSpPr>
        <p:spPr>
          <a:xfrm>
            <a:off x="3352800" y="457200"/>
            <a:ext cx="2971800" cy="12795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  <a:buClr>
                <a:schemeClr val="accent1"/>
              </a:buClr>
              <a:buSzTx/>
            </a:pPr>
            <a:r>
              <a:rPr lang="en-US" altLang="zh-CN" sz="2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3)  </a:t>
            </a:r>
            <a:r>
              <a:rPr lang="zh-CN" altLang="en-US" sz="2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Ｔ  → Ｔ*Ｆ</a:t>
            </a:r>
            <a:endParaRPr lang="zh-CN" altLang="en-US" sz="2000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  <a:buClr>
                <a:schemeClr val="accent1"/>
              </a:buClr>
              <a:buSzTx/>
            </a:pPr>
            <a:r>
              <a:rPr lang="en-US" altLang="zh-CN" sz="2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4)  </a:t>
            </a:r>
            <a:r>
              <a:rPr lang="zh-CN" altLang="en-US" sz="2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Ｔ  → Ｆ</a:t>
            </a:r>
            <a:endParaRPr lang="zh-CN" altLang="en-US" sz="2000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  <a:buClr>
                <a:schemeClr val="accent1"/>
              </a:buClr>
              <a:buSzTx/>
            </a:pPr>
            <a:r>
              <a:rPr lang="en-US" altLang="zh-CN" sz="2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5)  </a:t>
            </a:r>
            <a:r>
              <a:rPr lang="zh-CN" altLang="en-US" sz="2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Ｆ  → </a:t>
            </a:r>
            <a:r>
              <a:rPr lang="en-US" altLang="zh-CN" sz="2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Ｅ</a:t>
            </a:r>
            <a:r>
              <a:rPr lang="en-US" altLang="zh-CN" sz="2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en-US" altLang="zh-CN" sz="2000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  <a:buClr>
                <a:schemeClr val="accent1"/>
              </a:buClr>
              <a:buSzTx/>
            </a:pPr>
            <a:r>
              <a:rPr lang="en-US" altLang="zh-CN" sz="2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6)  </a:t>
            </a:r>
            <a:r>
              <a:rPr lang="zh-CN" altLang="en-US" sz="2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Ｆ  → </a:t>
            </a:r>
            <a:r>
              <a:rPr lang="en-US" altLang="zh-CN" sz="2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id</a:t>
            </a:r>
            <a:endParaRPr lang="en-US" altLang="zh-CN" sz="2000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708" name="Line 13"/>
          <p:cNvSpPr/>
          <p:nvPr/>
        </p:nvSpPr>
        <p:spPr>
          <a:xfrm>
            <a:off x="533400" y="2928938"/>
            <a:ext cx="822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9709" name="Line 14"/>
          <p:cNvSpPr/>
          <p:nvPr/>
        </p:nvSpPr>
        <p:spPr>
          <a:xfrm>
            <a:off x="533400" y="4953000"/>
            <a:ext cx="822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9710" name="Line 15"/>
          <p:cNvSpPr/>
          <p:nvPr/>
        </p:nvSpPr>
        <p:spPr>
          <a:xfrm>
            <a:off x="533400" y="5334000"/>
            <a:ext cx="822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9711" name="Line 16"/>
          <p:cNvSpPr/>
          <p:nvPr/>
        </p:nvSpPr>
        <p:spPr>
          <a:xfrm>
            <a:off x="533400" y="5786438"/>
            <a:ext cx="822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9712" name="Line 17"/>
          <p:cNvSpPr/>
          <p:nvPr/>
        </p:nvSpPr>
        <p:spPr>
          <a:xfrm>
            <a:off x="533400" y="4191000"/>
            <a:ext cx="822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9713" name="Line 18"/>
          <p:cNvSpPr/>
          <p:nvPr/>
        </p:nvSpPr>
        <p:spPr>
          <a:xfrm>
            <a:off x="533400" y="4572000"/>
            <a:ext cx="822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9714" name="AutoShape 25">
            <a:hlinkClick r:id="rId1" action="ppaction://hlinksldjump"/>
          </p:cNvPr>
          <p:cNvSpPr/>
          <p:nvPr/>
        </p:nvSpPr>
        <p:spPr>
          <a:xfrm>
            <a:off x="7467600" y="1295400"/>
            <a:ext cx="457200" cy="381000"/>
          </a:xfrm>
          <a:prstGeom prst="downArrow">
            <a:avLst>
              <a:gd name="adj1" fmla="val 58333"/>
              <a:gd name="adj2" fmla="val 55898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SzTx/>
            </a:pPr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charRg st="0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650">
                                            <p:txEl>
                                              <p:charRg st="0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charRg st="42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7650">
                                            <p:txEl>
                                              <p:charRg st="42" end="10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charRg st="103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7650">
                                            <p:txEl>
                                              <p:charRg st="103" end="1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charRg st="128" end="1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7650">
                                            <p:txEl>
                                              <p:charRg st="128" end="1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charRg st="153" end="1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7650">
                                            <p:txEl>
                                              <p:charRg st="153" end="1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charRg st="172" end="2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7650">
                                            <p:txEl>
                                              <p:charRg st="172" end="2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charRg st="233" end="2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7650">
                                            <p:txEl>
                                              <p:charRg st="233" end="2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charRg st="252" end="3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7650">
                                            <p:txEl>
                                              <p:charRg st="252" end="30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charRg st="301" end="3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7650">
                                            <p:txEl>
                                              <p:charRg st="301" end="3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charRg st="338" end="3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7650">
                                            <p:txEl>
                                              <p:charRg st="338" end="3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charRg st="365" end="3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7650">
                                            <p:txEl>
                                              <p:charRg st="365" end="39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2"/>
          <p:cNvSpPr>
            <a:spLocks noGrp="1"/>
          </p:cNvSpPr>
          <p:nvPr>
            <p:ph idx="1"/>
          </p:nvPr>
        </p:nvSpPr>
        <p:spPr>
          <a:xfrm>
            <a:off x="714375" y="533400"/>
            <a:ext cx="8286750" cy="3681413"/>
          </a:xfrm>
          <a:ln/>
        </p:spPr>
        <p:txBody>
          <a:bodyPr vert="horz" wrap="square" lIns="92075" tIns="46038" rIns="92075" bIns="46038" anchor="t" anchorCtr="0"/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1900" b="1" dirty="0">
                <a:solidFill>
                  <a:schemeClr val="tx2"/>
                </a:solidFill>
                <a:latin typeface="宋体" panose="02010600030101010101" pitchFamily="2" charset="-122"/>
              </a:rPr>
              <a:t>go(4,F)   3     (4,1)</a:t>
            </a:r>
            <a:endParaRPr lang="en-US" altLang="zh-CN" sz="19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1900" b="1" dirty="0">
                <a:solidFill>
                  <a:schemeClr val="tx2"/>
                </a:solidFill>
                <a:latin typeface="宋体" panose="02010600030101010101" pitchFamily="2" charset="-122"/>
              </a:rPr>
              <a:t>go(4,()   4     (5,1)      (1,0) (2,0) (3,0</a:t>
            </a:r>
            <a:r>
              <a:rPr lang="zh-CN" altLang="en-US" sz="1900" b="1" dirty="0">
                <a:solidFill>
                  <a:schemeClr val="tx2"/>
                </a:solidFill>
                <a:latin typeface="宋体" panose="02010600030101010101" pitchFamily="2" charset="-122"/>
              </a:rPr>
              <a:t>）</a:t>
            </a:r>
            <a:r>
              <a:rPr lang="en-US" altLang="zh-CN" sz="1900" b="1" dirty="0">
                <a:solidFill>
                  <a:schemeClr val="tx2"/>
                </a:solidFill>
                <a:latin typeface="宋体" panose="02010600030101010101" pitchFamily="2" charset="-122"/>
              </a:rPr>
              <a:t>(4,0) (5,0) (6,0) </a:t>
            </a:r>
            <a:endParaRPr lang="en-US" altLang="zh-CN" sz="19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1900" b="1" dirty="0">
                <a:solidFill>
                  <a:schemeClr val="tx2"/>
                </a:solidFill>
                <a:latin typeface="宋体" panose="02010600030101010101" pitchFamily="2" charset="-122"/>
              </a:rPr>
              <a:t>go(4,id)  5     (6,1)</a:t>
            </a:r>
            <a:endParaRPr lang="en-US" altLang="zh-CN" sz="19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1900" b="1" dirty="0">
                <a:solidFill>
                  <a:schemeClr val="tx2"/>
                </a:solidFill>
                <a:latin typeface="宋体" panose="02010600030101010101" pitchFamily="2" charset="-122"/>
              </a:rPr>
              <a:t>go(6,T)   9     (1,3) (3,1)</a:t>
            </a:r>
            <a:endParaRPr lang="en-US" altLang="zh-CN" sz="19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1900" b="1" dirty="0">
                <a:solidFill>
                  <a:schemeClr val="tx2"/>
                </a:solidFill>
                <a:latin typeface="宋体" panose="02010600030101010101" pitchFamily="2" charset="-122"/>
              </a:rPr>
              <a:t>go(6,F)   3     (4,1)</a:t>
            </a:r>
            <a:endParaRPr lang="en-US" altLang="zh-CN" sz="19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1900" b="1" dirty="0">
                <a:solidFill>
                  <a:schemeClr val="tx2"/>
                </a:solidFill>
                <a:latin typeface="宋体" panose="02010600030101010101" pitchFamily="2" charset="-122"/>
              </a:rPr>
              <a:t>go(6,()   4     (5,1)      (1,0) (2,0) (3,0</a:t>
            </a:r>
            <a:r>
              <a:rPr lang="zh-CN" altLang="en-US" sz="1900" b="1" dirty="0">
                <a:solidFill>
                  <a:schemeClr val="tx2"/>
                </a:solidFill>
                <a:latin typeface="宋体" panose="02010600030101010101" pitchFamily="2" charset="-122"/>
              </a:rPr>
              <a:t>）</a:t>
            </a:r>
            <a:r>
              <a:rPr lang="en-US" altLang="zh-CN" sz="1900" b="1" dirty="0">
                <a:solidFill>
                  <a:schemeClr val="tx2"/>
                </a:solidFill>
                <a:latin typeface="宋体" panose="02010600030101010101" pitchFamily="2" charset="-122"/>
              </a:rPr>
              <a:t>(4,0) (5,0) (6,0) </a:t>
            </a:r>
            <a:endParaRPr lang="en-US" altLang="zh-CN" sz="19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1900" b="1" dirty="0">
                <a:solidFill>
                  <a:schemeClr val="tx2"/>
                </a:solidFill>
                <a:latin typeface="宋体" panose="02010600030101010101" pitchFamily="2" charset="-122"/>
              </a:rPr>
              <a:t>go(6,id)  5     (6,1)</a:t>
            </a:r>
            <a:endParaRPr lang="en-US" altLang="zh-CN" sz="19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1900" b="1" dirty="0">
                <a:solidFill>
                  <a:schemeClr val="tx2"/>
                </a:solidFill>
                <a:latin typeface="宋体" panose="02010600030101010101" pitchFamily="2" charset="-122"/>
              </a:rPr>
              <a:t>go(7,F)   10    (3,3) </a:t>
            </a:r>
            <a:endParaRPr lang="en-US" altLang="zh-CN" sz="19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1900" b="1" dirty="0">
                <a:solidFill>
                  <a:schemeClr val="tx2"/>
                </a:solidFill>
                <a:latin typeface="宋体" panose="02010600030101010101" pitchFamily="2" charset="-122"/>
              </a:rPr>
              <a:t>go(7,()   4     (5,1)      (1,0) (2,0) (3,0</a:t>
            </a:r>
            <a:r>
              <a:rPr lang="zh-CN" altLang="en-US" sz="1900" b="1" dirty="0">
                <a:solidFill>
                  <a:schemeClr val="tx2"/>
                </a:solidFill>
                <a:latin typeface="宋体" panose="02010600030101010101" pitchFamily="2" charset="-122"/>
              </a:rPr>
              <a:t>）</a:t>
            </a:r>
            <a:r>
              <a:rPr lang="en-US" altLang="zh-CN" sz="1900" b="1" dirty="0">
                <a:solidFill>
                  <a:schemeClr val="tx2"/>
                </a:solidFill>
                <a:latin typeface="宋体" panose="02010600030101010101" pitchFamily="2" charset="-122"/>
              </a:rPr>
              <a:t>(4,0) (5,0) (6,0) </a:t>
            </a:r>
            <a:endParaRPr lang="en-US" altLang="zh-CN" sz="19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1900" b="1" dirty="0">
                <a:solidFill>
                  <a:schemeClr val="tx2"/>
                </a:solidFill>
                <a:latin typeface="宋体" panose="02010600030101010101" pitchFamily="2" charset="-122"/>
              </a:rPr>
              <a:t>go(7,id)  5     (6,1)</a:t>
            </a:r>
            <a:endParaRPr lang="en-US" altLang="zh-CN" sz="19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1900" b="1" dirty="0">
                <a:solidFill>
                  <a:schemeClr val="tx2"/>
                </a:solidFill>
                <a:latin typeface="宋体" panose="02010600030101010101" pitchFamily="2" charset="-122"/>
              </a:rPr>
              <a:t>go(8,))   11    (5,3) </a:t>
            </a:r>
            <a:endParaRPr lang="en-US" altLang="zh-CN" sz="19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1900" b="1" dirty="0">
                <a:solidFill>
                  <a:schemeClr val="tx2"/>
                </a:solidFill>
                <a:latin typeface="宋体" panose="02010600030101010101" pitchFamily="2" charset="-122"/>
              </a:rPr>
              <a:t>go(8,+)   6     (1,2)      (3,0</a:t>
            </a:r>
            <a:r>
              <a:rPr lang="zh-CN" altLang="en-US" sz="1900" b="1" dirty="0">
                <a:solidFill>
                  <a:schemeClr val="tx2"/>
                </a:solidFill>
                <a:latin typeface="宋体" panose="02010600030101010101" pitchFamily="2" charset="-122"/>
              </a:rPr>
              <a:t>）</a:t>
            </a:r>
            <a:r>
              <a:rPr lang="en-US" altLang="zh-CN" sz="1900" b="1" dirty="0">
                <a:solidFill>
                  <a:schemeClr val="tx2"/>
                </a:solidFill>
                <a:latin typeface="宋体" panose="02010600030101010101" pitchFamily="2" charset="-122"/>
              </a:rPr>
              <a:t>(4,0) (5,0) (6,0) </a:t>
            </a:r>
            <a:endParaRPr lang="en-US" altLang="zh-CN" sz="19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1900" b="1" dirty="0">
                <a:solidFill>
                  <a:schemeClr val="tx2"/>
                </a:solidFill>
                <a:latin typeface="宋体" panose="02010600030101010101" pitchFamily="2" charset="-122"/>
              </a:rPr>
              <a:t>go(9,*)   7     (3,2)      (5,0) (6,0)</a:t>
            </a:r>
            <a:endParaRPr lang="en-US" altLang="zh-CN" sz="1900" b="1" dirty="0">
              <a:latin typeface="宋体" panose="02010600030101010101" pitchFamily="2" charset="-122"/>
            </a:endParaRPr>
          </a:p>
        </p:txBody>
      </p:sp>
      <p:sp>
        <p:nvSpPr>
          <p:cNvPr id="30722" name="Rectangle 3"/>
          <p:cNvSpPr/>
          <p:nvPr/>
        </p:nvSpPr>
        <p:spPr>
          <a:xfrm>
            <a:off x="857250" y="381000"/>
            <a:ext cx="7753350" cy="3690938"/>
          </a:xfrm>
          <a:prstGeom prst="rect">
            <a:avLst/>
          </a:prstGeom>
          <a:noFill/>
          <a:ln w="38100" cap="flat" cmpd="dbl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SzTx/>
            </a:pPr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0723" name="Line 4"/>
          <p:cNvSpPr/>
          <p:nvPr/>
        </p:nvSpPr>
        <p:spPr>
          <a:xfrm>
            <a:off x="2214563" y="357188"/>
            <a:ext cx="0" cy="371475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24" name="Line 7"/>
          <p:cNvSpPr/>
          <p:nvPr/>
        </p:nvSpPr>
        <p:spPr>
          <a:xfrm>
            <a:off x="914400" y="838200"/>
            <a:ext cx="769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25" name="Line 8"/>
          <p:cNvSpPr/>
          <p:nvPr/>
        </p:nvSpPr>
        <p:spPr>
          <a:xfrm>
            <a:off x="914400" y="1071563"/>
            <a:ext cx="769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26" name="Line 9"/>
          <p:cNvSpPr/>
          <p:nvPr/>
        </p:nvSpPr>
        <p:spPr>
          <a:xfrm>
            <a:off x="914400" y="2714625"/>
            <a:ext cx="769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27" name="Line 10"/>
          <p:cNvSpPr/>
          <p:nvPr/>
        </p:nvSpPr>
        <p:spPr>
          <a:xfrm>
            <a:off x="914400" y="3000375"/>
            <a:ext cx="769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28" name="Line 11"/>
          <p:cNvSpPr/>
          <p:nvPr/>
        </p:nvSpPr>
        <p:spPr>
          <a:xfrm>
            <a:off x="914400" y="1895475"/>
            <a:ext cx="769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29" name="Line 12"/>
          <p:cNvSpPr/>
          <p:nvPr/>
        </p:nvSpPr>
        <p:spPr>
          <a:xfrm>
            <a:off x="914400" y="2143125"/>
            <a:ext cx="769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30" name="Line 13"/>
          <p:cNvSpPr/>
          <p:nvPr/>
        </p:nvSpPr>
        <p:spPr>
          <a:xfrm>
            <a:off x="914400" y="3500438"/>
            <a:ext cx="769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31" name="Line 14"/>
          <p:cNvSpPr/>
          <p:nvPr/>
        </p:nvSpPr>
        <p:spPr>
          <a:xfrm>
            <a:off x="914400" y="3786188"/>
            <a:ext cx="769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32" name="Line 4"/>
          <p:cNvSpPr/>
          <p:nvPr/>
        </p:nvSpPr>
        <p:spPr>
          <a:xfrm>
            <a:off x="2928938" y="357188"/>
            <a:ext cx="0" cy="371475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33" name="Line 4"/>
          <p:cNvSpPr/>
          <p:nvPr/>
        </p:nvSpPr>
        <p:spPr>
          <a:xfrm>
            <a:off x="4500563" y="357188"/>
            <a:ext cx="0" cy="371475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34" name="矩形 14"/>
          <p:cNvSpPr/>
          <p:nvPr/>
        </p:nvSpPr>
        <p:spPr>
          <a:xfrm>
            <a:off x="2286000" y="5300663"/>
            <a:ext cx="4572000" cy="1200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至此，所有状态转移的可能都被考虑到了，不可能再产生新的状态。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674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charRg st="22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8674">
                                            <p:txEl>
                                              <p:charRg st="22" end="8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charRg st="85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8674">
                                            <p:txEl>
                                              <p:charRg st="85" end="10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charRg st="107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8674">
                                            <p:txEl>
                                              <p:charRg st="107" end="1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charRg st="135" end="1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8674">
                                            <p:txEl>
                                              <p:charRg st="135" end="1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charRg st="157" end="2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8674">
                                            <p:txEl>
                                              <p:charRg st="157" end="2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charRg st="220" end="2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8674">
                                            <p:txEl>
                                              <p:charRg st="220" end="2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charRg st="242" end="2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8674">
                                            <p:txEl>
                                              <p:charRg st="242" end="2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charRg st="265" end="3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8674">
                                            <p:txEl>
                                              <p:charRg st="265" end="3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charRg st="328" end="3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8674">
                                            <p:txEl>
                                              <p:charRg st="328" end="3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charRg st="350" end="3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8674">
                                            <p:txEl>
                                              <p:charRg st="350" end="3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charRg st="373" end="4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8674">
                                            <p:txEl>
                                              <p:charRg st="373" end="4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charRg st="424" end="4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8674">
                                            <p:txEl>
                                              <p:charRg st="424" end="4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Rectangle 3"/>
          <p:cNvSpPr>
            <a:spLocks noGrp="1"/>
          </p:cNvSpPr>
          <p:nvPr>
            <p:ph idx="1"/>
          </p:nvPr>
        </p:nvSpPr>
        <p:spPr>
          <a:xfrm>
            <a:off x="5638800" y="5334000"/>
            <a:ext cx="3505200" cy="1143000"/>
          </a:xfrm>
          <a:ln/>
        </p:spPr>
        <p:txBody>
          <a:bodyPr vert="horz" wrap="square" lIns="91440" tIns="45720" rIns="91440" bIns="45720" anchor="t" anchorCtr="0"/>
          <a:p>
            <a:pPr indent="-255270" eaLnBrk="1" hangingPunct="1">
              <a:lnSpc>
                <a:spcPct val="130000"/>
              </a:lnSpc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以状态为结点，以状态转移为有向弧。</a:t>
            </a:r>
            <a:endParaRPr lang="zh-CN" altLang="en-US" sz="28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7772400" cy="533400"/>
          </a:xfrm>
          <a:noFill/>
          <a:ln>
            <a:noFill/>
          </a:ln>
          <a:effectLst/>
          <a:sp3d prstMaterial="plastic"/>
        </p:spPr>
        <p:txBody>
          <a:bodyPr vert="horz" rtlCol="0" anchor="ctr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构造识别活前缀的有限自动机</a:t>
            </a:r>
            <a:endParaRPr kumimoji="0" lang="zh-CN" altLang="en-US" sz="2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grpSp>
        <p:nvGrpSpPr>
          <p:cNvPr id="31747" name="Group 61"/>
          <p:cNvGrpSpPr/>
          <p:nvPr/>
        </p:nvGrpSpPr>
        <p:grpSpPr>
          <a:xfrm>
            <a:off x="365125" y="685800"/>
            <a:ext cx="8555038" cy="5867400"/>
            <a:chOff x="230" y="432"/>
            <a:chExt cx="5389" cy="3696"/>
          </a:xfrm>
        </p:grpSpPr>
        <p:sp>
          <p:nvSpPr>
            <p:cNvPr id="31748" name="Oval 4"/>
            <p:cNvSpPr/>
            <p:nvPr/>
          </p:nvSpPr>
          <p:spPr>
            <a:xfrm>
              <a:off x="720" y="1440"/>
              <a:ext cx="432" cy="384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 eaLnBrk="0" hangingPunct="0">
                <a:buSzTx/>
              </a:pPr>
              <a:r>
                <a:rPr lang="en-US" altLang="zh-CN" sz="2800" dirty="0">
                  <a:solidFill>
                    <a:srgbClr val="CC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I</a:t>
              </a:r>
              <a:r>
                <a:rPr lang="en-US" altLang="zh-CN" sz="2900" baseline="-25000" dirty="0">
                  <a:solidFill>
                    <a:srgbClr val="CC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</a:t>
              </a:r>
              <a:endParaRPr lang="en-US" altLang="zh-CN" sz="2800" dirty="0">
                <a:solidFill>
                  <a:srgbClr val="CC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1749" name="Oval 5"/>
            <p:cNvSpPr/>
            <p:nvPr/>
          </p:nvSpPr>
          <p:spPr>
            <a:xfrm>
              <a:off x="3600" y="2832"/>
              <a:ext cx="432" cy="384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 eaLnBrk="0" hangingPunct="0">
                <a:buSzTx/>
              </a:pPr>
              <a:r>
                <a:rPr lang="en-US" altLang="zh-CN" sz="2800" dirty="0">
                  <a:solidFill>
                    <a:srgbClr val="CC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I</a:t>
              </a:r>
              <a:r>
                <a:rPr lang="en-US" altLang="zh-CN" sz="2900" baseline="-25000" dirty="0">
                  <a:solidFill>
                    <a:srgbClr val="CC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en-US" altLang="zh-CN" sz="2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1750" name="Oval 6"/>
            <p:cNvSpPr/>
            <p:nvPr/>
          </p:nvSpPr>
          <p:spPr>
            <a:xfrm>
              <a:off x="2016" y="1968"/>
              <a:ext cx="432" cy="384"/>
            </a:xfrm>
            <a:prstGeom prst="ellipse">
              <a:avLst/>
            </a:prstGeom>
            <a:solidFill>
              <a:schemeClr val="accent1"/>
            </a:solidFill>
            <a:ln w="38100" cap="flat" cmpd="dbl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 eaLnBrk="0" hangingPunct="0">
                <a:buSzTx/>
              </a:pPr>
              <a:r>
                <a:rPr lang="en-US" altLang="zh-CN" sz="2800" dirty="0">
                  <a:solidFill>
                    <a:srgbClr val="CC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I</a:t>
              </a:r>
              <a:r>
                <a:rPr lang="en-US" altLang="zh-CN" sz="2900" baseline="-25000" dirty="0">
                  <a:solidFill>
                    <a:srgbClr val="CC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en-US" altLang="zh-CN" sz="2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1751" name="Oval 7"/>
            <p:cNvSpPr/>
            <p:nvPr/>
          </p:nvSpPr>
          <p:spPr>
            <a:xfrm>
              <a:off x="576" y="2928"/>
              <a:ext cx="432" cy="384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 eaLnBrk="0" hangingPunct="0">
                <a:buSzTx/>
              </a:pPr>
              <a:r>
                <a:rPr lang="en-US" altLang="zh-CN" sz="2800" dirty="0">
                  <a:solidFill>
                    <a:srgbClr val="CC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I</a:t>
              </a:r>
              <a:r>
                <a:rPr lang="en-US" altLang="zh-CN" sz="2900" baseline="-25000" dirty="0">
                  <a:solidFill>
                    <a:srgbClr val="CC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en-US" altLang="zh-CN" sz="2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1752" name="Oval 8"/>
            <p:cNvSpPr/>
            <p:nvPr/>
          </p:nvSpPr>
          <p:spPr>
            <a:xfrm>
              <a:off x="3120" y="672"/>
              <a:ext cx="432" cy="384"/>
            </a:xfrm>
            <a:prstGeom prst="ellipse">
              <a:avLst/>
            </a:prstGeom>
            <a:solidFill>
              <a:schemeClr val="accent1"/>
            </a:solidFill>
            <a:ln w="38100" cap="flat" cmpd="dbl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 eaLnBrk="0" hangingPunct="0">
                <a:buSzTx/>
              </a:pPr>
              <a:r>
                <a:rPr lang="en-US" altLang="zh-CN" sz="2800" dirty="0">
                  <a:solidFill>
                    <a:srgbClr val="CC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I</a:t>
              </a:r>
              <a:r>
                <a:rPr lang="en-US" altLang="zh-CN" sz="2900" baseline="-25000" dirty="0">
                  <a:solidFill>
                    <a:srgbClr val="CC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5</a:t>
              </a:r>
              <a:endParaRPr lang="en-US" altLang="zh-CN" sz="2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1753" name="Oval 9"/>
            <p:cNvSpPr/>
            <p:nvPr/>
          </p:nvSpPr>
          <p:spPr>
            <a:xfrm>
              <a:off x="5136" y="1536"/>
              <a:ext cx="432" cy="384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 eaLnBrk="0" hangingPunct="0">
                <a:buSzTx/>
              </a:pPr>
              <a:r>
                <a:rPr lang="en-US" altLang="zh-CN" sz="2800" dirty="0">
                  <a:solidFill>
                    <a:srgbClr val="CC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I</a:t>
              </a:r>
              <a:r>
                <a:rPr lang="en-US" altLang="zh-CN" sz="2900" baseline="-25000" dirty="0">
                  <a:solidFill>
                    <a:srgbClr val="CC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7</a:t>
              </a:r>
              <a:endParaRPr lang="en-US" altLang="zh-CN" sz="2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1754" name="Oval 10"/>
            <p:cNvSpPr/>
            <p:nvPr/>
          </p:nvSpPr>
          <p:spPr>
            <a:xfrm>
              <a:off x="3120" y="1968"/>
              <a:ext cx="432" cy="384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 eaLnBrk="0" hangingPunct="0">
                <a:buSzTx/>
              </a:pPr>
              <a:r>
                <a:rPr lang="en-US" altLang="zh-CN" sz="2800" dirty="0">
                  <a:solidFill>
                    <a:srgbClr val="CC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I</a:t>
              </a:r>
              <a:r>
                <a:rPr lang="en-US" altLang="zh-CN" sz="2900" baseline="-25000" dirty="0">
                  <a:solidFill>
                    <a:srgbClr val="CC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6</a:t>
              </a:r>
              <a:endParaRPr lang="en-US" altLang="zh-CN" sz="2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1755" name="Oval 11"/>
            <p:cNvSpPr/>
            <p:nvPr/>
          </p:nvSpPr>
          <p:spPr>
            <a:xfrm>
              <a:off x="1344" y="3744"/>
              <a:ext cx="432" cy="384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 eaLnBrk="0" hangingPunct="0">
                <a:buSzTx/>
              </a:pPr>
              <a:r>
                <a:rPr lang="en-US" altLang="zh-CN" sz="2800" dirty="0">
                  <a:solidFill>
                    <a:srgbClr val="CC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I</a:t>
              </a:r>
              <a:r>
                <a:rPr lang="en-US" altLang="zh-CN" sz="2900" baseline="-25000" dirty="0">
                  <a:solidFill>
                    <a:srgbClr val="CC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8</a:t>
              </a:r>
              <a:endParaRPr lang="en-US" altLang="zh-CN" sz="2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1756" name="Oval 12"/>
            <p:cNvSpPr/>
            <p:nvPr/>
          </p:nvSpPr>
          <p:spPr>
            <a:xfrm>
              <a:off x="4176" y="1968"/>
              <a:ext cx="432" cy="384"/>
            </a:xfrm>
            <a:prstGeom prst="ellipse">
              <a:avLst/>
            </a:prstGeom>
            <a:solidFill>
              <a:schemeClr val="accent1"/>
            </a:solidFill>
            <a:ln w="38100" cap="flat" cmpd="dbl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 eaLnBrk="0" hangingPunct="0">
                <a:buSzTx/>
              </a:pPr>
              <a:r>
                <a:rPr lang="en-US" altLang="zh-CN" sz="2800" dirty="0">
                  <a:solidFill>
                    <a:srgbClr val="CC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I</a:t>
              </a:r>
              <a:r>
                <a:rPr lang="en-US" altLang="zh-CN" sz="2900" baseline="-25000" dirty="0">
                  <a:solidFill>
                    <a:srgbClr val="CC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9</a:t>
              </a:r>
              <a:endParaRPr lang="en-US" altLang="zh-CN" sz="2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1757" name="Oval 13"/>
            <p:cNvSpPr/>
            <p:nvPr/>
          </p:nvSpPr>
          <p:spPr>
            <a:xfrm>
              <a:off x="5136" y="432"/>
              <a:ext cx="432" cy="384"/>
            </a:xfrm>
            <a:prstGeom prst="ellipse">
              <a:avLst/>
            </a:prstGeom>
            <a:solidFill>
              <a:schemeClr val="accent1"/>
            </a:solidFill>
            <a:ln w="38100" cap="flat" cmpd="dbl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 eaLnBrk="0" hangingPunct="0">
                <a:buSzTx/>
              </a:pPr>
              <a:r>
                <a:rPr lang="en-US" altLang="zh-CN" sz="2800" dirty="0">
                  <a:solidFill>
                    <a:srgbClr val="CC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I</a:t>
              </a:r>
              <a:r>
                <a:rPr lang="en-US" altLang="zh-CN" sz="2900" baseline="-25000" dirty="0">
                  <a:solidFill>
                    <a:srgbClr val="CC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10</a:t>
              </a:r>
              <a:endParaRPr lang="en-US" altLang="zh-CN" sz="2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1758" name="Oval 14"/>
            <p:cNvSpPr/>
            <p:nvPr/>
          </p:nvSpPr>
          <p:spPr>
            <a:xfrm>
              <a:off x="2832" y="3744"/>
              <a:ext cx="432" cy="384"/>
            </a:xfrm>
            <a:prstGeom prst="ellipse">
              <a:avLst/>
            </a:prstGeom>
            <a:solidFill>
              <a:schemeClr val="accent1"/>
            </a:solidFill>
            <a:ln w="38100" cap="flat" cmpd="dbl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 eaLnBrk="0" hangingPunct="0">
                <a:buSzTx/>
              </a:pPr>
              <a:r>
                <a:rPr lang="en-US" altLang="zh-CN" sz="2800" dirty="0">
                  <a:solidFill>
                    <a:srgbClr val="CC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I</a:t>
              </a:r>
              <a:r>
                <a:rPr lang="en-US" altLang="zh-CN" sz="2900" baseline="-25000" dirty="0">
                  <a:solidFill>
                    <a:srgbClr val="CC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11</a:t>
              </a:r>
              <a:endParaRPr lang="en-US" altLang="zh-CN" sz="2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1759" name="Oval 15"/>
            <p:cNvSpPr/>
            <p:nvPr/>
          </p:nvSpPr>
          <p:spPr>
            <a:xfrm>
              <a:off x="2256" y="1200"/>
              <a:ext cx="432" cy="384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 eaLnBrk="0" hangingPunct="0">
                <a:buSzTx/>
              </a:pPr>
              <a:r>
                <a:rPr lang="en-US" altLang="zh-CN" sz="2800" dirty="0">
                  <a:solidFill>
                    <a:srgbClr val="CC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I</a:t>
              </a:r>
              <a:r>
                <a:rPr lang="en-US" altLang="zh-CN" sz="2900" baseline="-25000" dirty="0">
                  <a:solidFill>
                    <a:srgbClr val="CC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2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cxnSp>
          <p:nvCxnSpPr>
            <p:cNvPr id="31760" name="AutoShape 16"/>
            <p:cNvCxnSpPr>
              <a:stCxn id="31748" idx="7"/>
              <a:endCxn id="31759" idx="2"/>
            </p:cNvCxnSpPr>
            <p:nvPr/>
          </p:nvCxnSpPr>
          <p:spPr>
            <a:xfrm rot="-5400000">
              <a:off x="1619" y="859"/>
              <a:ext cx="104" cy="1167"/>
            </a:xfrm>
            <a:prstGeom prst="curvedConnector2">
              <a:avLst/>
            </a:prstGeom>
            <a:ln w="3175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1761" name="AutoShape 17"/>
            <p:cNvCxnSpPr>
              <a:stCxn id="31759" idx="5"/>
              <a:endCxn id="31754" idx="1"/>
            </p:cNvCxnSpPr>
            <p:nvPr/>
          </p:nvCxnSpPr>
          <p:spPr>
            <a:xfrm rot="-5400000" flipH="1">
              <a:off x="2656" y="1497"/>
              <a:ext cx="496" cy="558"/>
            </a:xfrm>
            <a:prstGeom prst="curvedConnector3">
              <a:avLst>
                <a:gd name="adj1" fmla="val 50000"/>
              </a:avLst>
            </a:prstGeom>
            <a:ln w="3175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1762" name="AutoShape 18"/>
            <p:cNvCxnSpPr>
              <a:stCxn id="31748" idx="4"/>
              <a:endCxn id="31749" idx="2"/>
            </p:cNvCxnSpPr>
            <p:nvPr/>
          </p:nvCxnSpPr>
          <p:spPr>
            <a:xfrm rot="-5400000" flipH="1">
              <a:off x="1668" y="1092"/>
              <a:ext cx="1200" cy="2664"/>
            </a:xfrm>
            <a:prstGeom prst="curvedConnector2">
              <a:avLst/>
            </a:prstGeom>
            <a:ln w="3175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1763" name="AutoShape 19"/>
            <p:cNvCxnSpPr>
              <a:stCxn id="31748" idx="5"/>
              <a:endCxn id="31750" idx="2"/>
            </p:cNvCxnSpPr>
            <p:nvPr/>
          </p:nvCxnSpPr>
          <p:spPr>
            <a:xfrm rot="-5400000" flipH="1">
              <a:off x="1349" y="1505"/>
              <a:ext cx="392" cy="915"/>
            </a:xfrm>
            <a:prstGeom prst="curvedConnector2">
              <a:avLst/>
            </a:prstGeom>
            <a:ln w="3175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1764" name="AutoShape 20"/>
            <p:cNvCxnSpPr>
              <a:stCxn id="31748" idx="3"/>
              <a:endCxn id="31751" idx="0"/>
            </p:cNvCxnSpPr>
            <p:nvPr/>
          </p:nvCxnSpPr>
          <p:spPr>
            <a:xfrm rot="-5400000" flipH="1">
              <a:off x="206" y="2342"/>
              <a:ext cx="1160" cy="9"/>
            </a:xfrm>
            <a:prstGeom prst="curvedConnector3">
              <a:avLst>
                <a:gd name="adj1" fmla="val 52412"/>
              </a:avLst>
            </a:prstGeom>
            <a:ln w="3175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1765" name="AutoShape 21"/>
            <p:cNvCxnSpPr>
              <a:stCxn id="31748" idx="0"/>
              <a:endCxn id="31752" idx="2"/>
            </p:cNvCxnSpPr>
            <p:nvPr/>
          </p:nvCxnSpPr>
          <p:spPr>
            <a:xfrm rot="-5400000">
              <a:off x="1734" y="66"/>
              <a:ext cx="576" cy="2172"/>
            </a:xfrm>
            <a:prstGeom prst="curvedConnector2">
              <a:avLst/>
            </a:prstGeom>
            <a:ln w="3175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1766" name="AutoShape 22"/>
            <p:cNvCxnSpPr>
              <a:stCxn id="31749" idx="6"/>
              <a:endCxn id="31753" idx="4"/>
            </p:cNvCxnSpPr>
            <p:nvPr/>
          </p:nvCxnSpPr>
          <p:spPr>
            <a:xfrm flipV="1">
              <a:off x="4032" y="1920"/>
              <a:ext cx="1320" cy="1104"/>
            </a:xfrm>
            <a:prstGeom prst="curvedConnector2">
              <a:avLst/>
            </a:prstGeom>
            <a:ln w="3175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1767" name="AutoShape 23"/>
            <p:cNvCxnSpPr>
              <a:stCxn id="31751" idx="7"/>
              <a:endCxn id="31750" idx="4"/>
            </p:cNvCxnSpPr>
            <p:nvPr/>
          </p:nvCxnSpPr>
          <p:spPr>
            <a:xfrm rot="-5400000">
              <a:off x="1277" y="2029"/>
              <a:ext cx="620" cy="1287"/>
            </a:xfrm>
            <a:prstGeom prst="curvedConnector3">
              <a:avLst>
                <a:gd name="adj1" fmla="val 55486"/>
              </a:avLst>
            </a:prstGeom>
            <a:ln w="3175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1768" name="AutoShape 24"/>
            <p:cNvCxnSpPr>
              <a:stCxn id="31751" idx="5"/>
              <a:endCxn id="31749" idx="3"/>
            </p:cNvCxnSpPr>
            <p:nvPr/>
          </p:nvCxnSpPr>
          <p:spPr>
            <a:xfrm rot="5400000" flipH="1" flipV="1">
              <a:off x="2256" y="1849"/>
              <a:ext cx="96" cy="2718"/>
            </a:xfrm>
            <a:prstGeom prst="curvedConnector3">
              <a:avLst>
                <a:gd name="adj1" fmla="val -208333"/>
              </a:avLst>
            </a:prstGeom>
            <a:ln w="3175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1769" name="AutoShape 25"/>
            <p:cNvCxnSpPr>
              <a:stCxn id="31751" idx="4"/>
              <a:endCxn id="31755" idx="2"/>
            </p:cNvCxnSpPr>
            <p:nvPr/>
          </p:nvCxnSpPr>
          <p:spPr>
            <a:xfrm rot="-5400000" flipH="1">
              <a:off x="756" y="3348"/>
              <a:ext cx="624" cy="552"/>
            </a:xfrm>
            <a:prstGeom prst="curvedConnector2">
              <a:avLst/>
            </a:prstGeom>
            <a:ln w="3175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1770" name="AutoShape 26"/>
            <p:cNvCxnSpPr>
              <a:stCxn id="31751" idx="2"/>
              <a:endCxn id="31752" idx="0"/>
            </p:cNvCxnSpPr>
            <p:nvPr/>
          </p:nvCxnSpPr>
          <p:spPr>
            <a:xfrm rot="-10800000" flipH="1">
              <a:off x="576" y="660"/>
              <a:ext cx="2760" cy="2460"/>
            </a:xfrm>
            <a:prstGeom prst="curvedConnector4">
              <a:avLst>
                <a:gd name="adj1" fmla="val -5218"/>
                <a:gd name="adj2" fmla="val 105366"/>
              </a:avLst>
            </a:prstGeom>
            <a:ln w="3175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1771" name="AutoShape 27"/>
            <p:cNvCxnSpPr>
              <a:stCxn id="31754" idx="2"/>
              <a:endCxn id="31750" idx="6"/>
            </p:cNvCxnSpPr>
            <p:nvPr/>
          </p:nvCxnSpPr>
          <p:spPr>
            <a:xfrm rot="10800000">
              <a:off x="2460" y="2160"/>
              <a:ext cx="660" cy="0"/>
            </a:xfrm>
            <a:prstGeom prst="straightConnector1">
              <a:avLst/>
            </a:prstGeom>
            <a:ln w="3175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1772" name="AutoShape 28"/>
            <p:cNvCxnSpPr>
              <a:stCxn id="31754" idx="3"/>
              <a:endCxn id="31751" idx="6"/>
            </p:cNvCxnSpPr>
            <p:nvPr/>
          </p:nvCxnSpPr>
          <p:spPr>
            <a:xfrm rot="5400000">
              <a:off x="1682" y="1619"/>
              <a:ext cx="824" cy="2175"/>
            </a:xfrm>
            <a:prstGeom prst="curvedConnector2">
              <a:avLst/>
            </a:prstGeom>
            <a:ln w="3175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1773" name="AutoShape 29"/>
            <p:cNvCxnSpPr>
              <a:stCxn id="31754" idx="0"/>
              <a:endCxn id="31752" idx="4"/>
            </p:cNvCxnSpPr>
            <p:nvPr/>
          </p:nvCxnSpPr>
          <p:spPr>
            <a:xfrm rot="-5400000">
              <a:off x="2886" y="1518"/>
              <a:ext cx="900" cy="0"/>
            </a:xfrm>
            <a:prstGeom prst="straightConnector1">
              <a:avLst/>
            </a:prstGeom>
            <a:ln w="3175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1774" name="AutoShape 30"/>
            <p:cNvCxnSpPr>
              <a:stCxn id="31754" idx="6"/>
              <a:endCxn id="31756" idx="2"/>
            </p:cNvCxnSpPr>
            <p:nvPr/>
          </p:nvCxnSpPr>
          <p:spPr>
            <a:xfrm>
              <a:off x="3552" y="2160"/>
              <a:ext cx="612" cy="0"/>
            </a:xfrm>
            <a:prstGeom prst="straightConnector1">
              <a:avLst/>
            </a:prstGeom>
            <a:ln w="3175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1775" name="AutoShape 31"/>
            <p:cNvCxnSpPr>
              <a:stCxn id="31756" idx="7"/>
              <a:endCxn id="31753" idx="2"/>
            </p:cNvCxnSpPr>
            <p:nvPr/>
          </p:nvCxnSpPr>
          <p:spPr>
            <a:xfrm rot="-5400000">
              <a:off x="4697" y="1573"/>
              <a:ext cx="284" cy="591"/>
            </a:xfrm>
            <a:prstGeom prst="curvedConnector2">
              <a:avLst/>
            </a:prstGeom>
            <a:ln w="3175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1776" name="AutoShape 32"/>
            <p:cNvCxnSpPr>
              <a:stCxn id="31753" idx="1"/>
              <a:endCxn id="31752" idx="6"/>
            </p:cNvCxnSpPr>
            <p:nvPr/>
          </p:nvCxnSpPr>
          <p:spPr>
            <a:xfrm rot="5400000" flipH="1">
              <a:off x="4016" y="409"/>
              <a:ext cx="728" cy="1635"/>
            </a:xfrm>
            <a:prstGeom prst="curvedConnector2">
              <a:avLst/>
            </a:prstGeom>
            <a:ln w="3175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1777" name="AutoShape 33"/>
            <p:cNvCxnSpPr>
              <a:stCxn id="31753" idx="0"/>
              <a:endCxn id="31757" idx="4"/>
            </p:cNvCxnSpPr>
            <p:nvPr/>
          </p:nvCxnSpPr>
          <p:spPr>
            <a:xfrm rot="-5400000">
              <a:off x="4998" y="1182"/>
              <a:ext cx="708" cy="0"/>
            </a:xfrm>
            <a:prstGeom prst="straightConnector1">
              <a:avLst/>
            </a:prstGeom>
            <a:ln w="3175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1778" name="AutoShape 34"/>
            <p:cNvCxnSpPr>
              <a:stCxn id="31755" idx="6"/>
              <a:endCxn id="31758" idx="2"/>
            </p:cNvCxnSpPr>
            <p:nvPr/>
          </p:nvCxnSpPr>
          <p:spPr>
            <a:xfrm>
              <a:off x="1776" y="3936"/>
              <a:ext cx="1044" cy="0"/>
            </a:xfrm>
            <a:prstGeom prst="straightConnector1">
              <a:avLst/>
            </a:prstGeom>
            <a:ln w="3175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1779" name="AutoShape 35"/>
            <p:cNvCxnSpPr>
              <a:stCxn id="31755" idx="0"/>
              <a:endCxn id="31754" idx="4"/>
            </p:cNvCxnSpPr>
            <p:nvPr/>
          </p:nvCxnSpPr>
          <p:spPr>
            <a:xfrm rot="-5400000">
              <a:off x="1752" y="2160"/>
              <a:ext cx="1392" cy="1776"/>
            </a:xfrm>
            <a:prstGeom prst="curvedConnector3">
              <a:avLst>
                <a:gd name="adj1" fmla="val 37139"/>
              </a:avLst>
            </a:prstGeom>
            <a:ln w="3175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31780" name="Text Box 36"/>
            <p:cNvSpPr txBox="1"/>
            <p:nvPr/>
          </p:nvSpPr>
          <p:spPr>
            <a:xfrm>
              <a:off x="1574" y="1146"/>
              <a:ext cx="265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SzTx/>
              </a:pPr>
              <a:r>
                <a:rPr lang="en-US" altLang="zh-CN" sz="2800" dirty="0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endParaRPr lang="en-US" altLang="zh-CN" sz="2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1781" name="Text Box 37"/>
            <p:cNvSpPr txBox="1"/>
            <p:nvPr/>
          </p:nvSpPr>
          <p:spPr>
            <a:xfrm>
              <a:off x="1382" y="1770"/>
              <a:ext cx="253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SzTx/>
              </a:pPr>
              <a:r>
                <a:rPr lang="en-US" altLang="zh-CN" sz="2800" dirty="0">
                  <a:latin typeface="Times New Roman" panose="02020603050405020304" charset="0"/>
                  <a:ea typeface="宋体" panose="02010600030101010101" pitchFamily="2" charset="-122"/>
                </a:rPr>
                <a:t>F</a:t>
              </a:r>
              <a:endParaRPr lang="en-US" altLang="zh-CN" sz="2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1782" name="Text Box 38"/>
            <p:cNvSpPr txBox="1"/>
            <p:nvPr/>
          </p:nvSpPr>
          <p:spPr>
            <a:xfrm>
              <a:off x="1286" y="2106"/>
              <a:ext cx="265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SzTx/>
              </a:pPr>
              <a:r>
                <a:rPr lang="en-US" altLang="zh-CN" sz="2800" dirty="0">
                  <a:latin typeface="Times New Roman" panose="02020603050405020304" charset="0"/>
                  <a:ea typeface="宋体" panose="02010600030101010101" pitchFamily="2" charset="-122"/>
                </a:rPr>
                <a:t>T</a:t>
              </a:r>
              <a:endParaRPr lang="en-US" altLang="zh-CN" sz="2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1783" name="Text Box 39"/>
            <p:cNvSpPr txBox="1"/>
            <p:nvPr/>
          </p:nvSpPr>
          <p:spPr>
            <a:xfrm>
              <a:off x="528" y="2080"/>
              <a:ext cx="191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SzTx/>
              </a:pPr>
              <a:r>
                <a:rPr lang="en-US" altLang="zh-CN" sz="2800" dirty="0">
                  <a:latin typeface="Times New Roman" panose="02020603050405020304" charset="0"/>
                  <a:ea typeface="宋体" panose="02010600030101010101" pitchFamily="2" charset="-122"/>
                </a:rPr>
                <a:t>(</a:t>
              </a:r>
              <a:endParaRPr lang="en-US" altLang="zh-CN" sz="2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1784" name="Text Box 40"/>
            <p:cNvSpPr txBox="1"/>
            <p:nvPr/>
          </p:nvSpPr>
          <p:spPr>
            <a:xfrm>
              <a:off x="1718" y="714"/>
              <a:ext cx="303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SzTx/>
              </a:pPr>
              <a:r>
                <a:rPr lang="en-US" altLang="zh-CN" sz="2800" dirty="0">
                  <a:latin typeface="Times New Roman" panose="02020603050405020304" charset="0"/>
                  <a:ea typeface="宋体" panose="02010600030101010101" pitchFamily="2" charset="-122"/>
                </a:rPr>
                <a:t>id</a:t>
              </a:r>
              <a:endParaRPr lang="en-US" altLang="zh-CN" sz="2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1785" name="Text Box 41"/>
            <p:cNvSpPr txBox="1"/>
            <p:nvPr/>
          </p:nvSpPr>
          <p:spPr>
            <a:xfrm>
              <a:off x="2726" y="1434"/>
              <a:ext cx="244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SzTx/>
              </a:pPr>
              <a:r>
                <a:rPr lang="en-US" altLang="zh-CN" sz="2800" dirty="0">
                  <a:latin typeface="Times New Roman" panose="02020603050405020304" charset="0"/>
                  <a:ea typeface="宋体" panose="02010600030101010101" pitchFamily="2" charset="-122"/>
                </a:rPr>
                <a:t>+</a:t>
              </a:r>
              <a:endParaRPr lang="en-US" altLang="zh-CN" sz="2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1786" name="Text Box 42"/>
            <p:cNvSpPr txBox="1"/>
            <p:nvPr/>
          </p:nvSpPr>
          <p:spPr>
            <a:xfrm>
              <a:off x="3686" y="1866"/>
              <a:ext cx="265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SzTx/>
              </a:pPr>
              <a:r>
                <a:rPr lang="en-US" altLang="zh-CN" sz="2800" dirty="0">
                  <a:latin typeface="Times New Roman" panose="02020603050405020304" charset="0"/>
                  <a:ea typeface="宋体" panose="02010600030101010101" pitchFamily="2" charset="-122"/>
                </a:rPr>
                <a:t>T</a:t>
              </a:r>
              <a:endParaRPr lang="en-US" altLang="zh-CN" sz="2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1787" name="Text Box 43"/>
            <p:cNvSpPr txBox="1"/>
            <p:nvPr/>
          </p:nvSpPr>
          <p:spPr>
            <a:xfrm>
              <a:off x="4464" y="2688"/>
              <a:ext cx="22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SzTx/>
              </a:pPr>
              <a:r>
                <a:rPr lang="en-US" altLang="zh-CN" sz="2800" dirty="0">
                  <a:latin typeface="Times New Roman" panose="02020603050405020304" charset="0"/>
                  <a:ea typeface="宋体" panose="02010600030101010101" pitchFamily="2" charset="-122"/>
                </a:rPr>
                <a:t>*</a:t>
              </a:r>
              <a:endParaRPr lang="en-US" altLang="zh-CN" sz="2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1788" name="Text Box 44"/>
            <p:cNvSpPr txBox="1"/>
            <p:nvPr/>
          </p:nvSpPr>
          <p:spPr>
            <a:xfrm>
              <a:off x="470" y="618"/>
              <a:ext cx="303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SzTx/>
              </a:pPr>
              <a:r>
                <a:rPr lang="en-US" altLang="zh-CN" sz="2800" dirty="0">
                  <a:latin typeface="Times New Roman" panose="02020603050405020304" charset="0"/>
                  <a:ea typeface="宋体" panose="02010600030101010101" pitchFamily="2" charset="-122"/>
                </a:rPr>
                <a:t>id</a:t>
              </a:r>
              <a:endParaRPr lang="en-US" altLang="zh-CN" sz="2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cxnSp>
          <p:nvCxnSpPr>
            <p:cNvPr id="31789" name="AutoShape 45"/>
            <p:cNvCxnSpPr>
              <a:stCxn id="31751" idx="2"/>
              <a:endCxn id="31751" idx="3"/>
            </p:cNvCxnSpPr>
            <p:nvPr/>
          </p:nvCxnSpPr>
          <p:spPr>
            <a:xfrm rot="10800000" flipH="1" flipV="1">
              <a:off x="576" y="3120"/>
              <a:ext cx="63" cy="136"/>
            </a:xfrm>
            <a:prstGeom prst="curvedConnector4">
              <a:avLst>
                <a:gd name="adj1" fmla="val -666671"/>
                <a:gd name="adj2" fmla="val 438231"/>
              </a:avLst>
            </a:prstGeom>
            <a:ln w="3175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31790" name="Text Box 46"/>
            <p:cNvSpPr txBox="1"/>
            <p:nvPr/>
          </p:nvSpPr>
          <p:spPr>
            <a:xfrm>
              <a:off x="230" y="3354"/>
              <a:ext cx="191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SzTx/>
              </a:pPr>
              <a:r>
                <a:rPr lang="en-US" altLang="zh-CN" sz="2800" dirty="0">
                  <a:latin typeface="Times New Roman" panose="02020603050405020304" charset="0"/>
                  <a:ea typeface="宋体" panose="02010600030101010101" pitchFamily="2" charset="-122"/>
                </a:rPr>
                <a:t>(</a:t>
              </a:r>
              <a:endParaRPr lang="en-US" altLang="zh-CN" sz="2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1791" name="Text Box 47"/>
            <p:cNvSpPr txBox="1"/>
            <p:nvPr/>
          </p:nvSpPr>
          <p:spPr>
            <a:xfrm>
              <a:off x="1238" y="3114"/>
              <a:ext cx="265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SzTx/>
              </a:pPr>
              <a:r>
                <a:rPr lang="en-US" altLang="zh-CN" sz="2800" dirty="0">
                  <a:latin typeface="Times New Roman" panose="02020603050405020304" charset="0"/>
                  <a:ea typeface="宋体" panose="02010600030101010101" pitchFamily="2" charset="-122"/>
                </a:rPr>
                <a:t>T</a:t>
              </a:r>
              <a:endParaRPr lang="en-US" altLang="zh-CN" sz="2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1792" name="Text Box 48"/>
            <p:cNvSpPr txBox="1"/>
            <p:nvPr/>
          </p:nvSpPr>
          <p:spPr>
            <a:xfrm>
              <a:off x="710" y="3642"/>
              <a:ext cx="265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SzTx/>
              </a:pPr>
              <a:r>
                <a:rPr lang="en-US" altLang="zh-CN" sz="2800" dirty="0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endParaRPr lang="en-US" altLang="zh-CN" sz="2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1793" name="Text Box 49"/>
            <p:cNvSpPr txBox="1"/>
            <p:nvPr/>
          </p:nvSpPr>
          <p:spPr>
            <a:xfrm>
              <a:off x="2198" y="3642"/>
              <a:ext cx="191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SzTx/>
              </a:pPr>
              <a:r>
                <a:rPr lang="en-US" altLang="zh-CN" sz="2800" dirty="0">
                  <a:latin typeface="Times New Roman" panose="02020603050405020304" charset="0"/>
                  <a:ea typeface="宋体" panose="02010600030101010101" pitchFamily="2" charset="-122"/>
                </a:rPr>
                <a:t>)</a:t>
              </a:r>
              <a:endParaRPr lang="en-US" altLang="zh-CN" sz="2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1794" name="Text Box 50"/>
            <p:cNvSpPr txBox="1"/>
            <p:nvPr/>
          </p:nvSpPr>
          <p:spPr>
            <a:xfrm>
              <a:off x="2630" y="1866"/>
              <a:ext cx="253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SzTx/>
              </a:pPr>
              <a:r>
                <a:rPr lang="en-US" altLang="zh-CN" sz="2800" dirty="0">
                  <a:latin typeface="Times New Roman" panose="02020603050405020304" charset="0"/>
                  <a:ea typeface="宋体" panose="02010600030101010101" pitchFamily="2" charset="-122"/>
                </a:rPr>
                <a:t>F</a:t>
              </a:r>
              <a:endParaRPr lang="en-US" altLang="zh-CN" sz="2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1795" name="Text Box 51"/>
            <p:cNvSpPr txBox="1"/>
            <p:nvPr/>
          </p:nvSpPr>
          <p:spPr>
            <a:xfrm>
              <a:off x="3350" y="1242"/>
              <a:ext cx="303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SzTx/>
              </a:pPr>
              <a:r>
                <a:rPr lang="en-US" altLang="zh-CN" sz="2800" dirty="0">
                  <a:latin typeface="Times New Roman" panose="02020603050405020304" charset="0"/>
                  <a:ea typeface="宋体" panose="02010600030101010101" pitchFamily="2" charset="-122"/>
                </a:rPr>
                <a:t>id</a:t>
              </a:r>
              <a:endParaRPr lang="en-US" altLang="zh-CN" sz="2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1796" name="Text Box 52"/>
            <p:cNvSpPr txBox="1"/>
            <p:nvPr/>
          </p:nvSpPr>
          <p:spPr>
            <a:xfrm>
              <a:off x="4166" y="618"/>
              <a:ext cx="303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SzTx/>
              </a:pPr>
              <a:r>
                <a:rPr lang="en-US" altLang="zh-CN" sz="2800" dirty="0">
                  <a:latin typeface="Times New Roman" panose="02020603050405020304" charset="0"/>
                  <a:ea typeface="宋体" panose="02010600030101010101" pitchFamily="2" charset="-122"/>
                </a:rPr>
                <a:t>id</a:t>
              </a:r>
              <a:endParaRPr lang="en-US" altLang="zh-CN" sz="2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1797" name="Text Box 53"/>
            <p:cNvSpPr txBox="1"/>
            <p:nvPr/>
          </p:nvSpPr>
          <p:spPr>
            <a:xfrm>
              <a:off x="4694" y="1818"/>
              <a:ext cx="22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SzTx/>
              </a:pPr>
              <a:r>
                <a:rPr lang="en-US" altLang="zh-CN" sz="2800" dirty="0">
                  <a:latin typeface="Times New Roman" panose="02020603050405020304" charset="0"/>
                  <a:ea typeface="宋体" panose="02010600030101010101" pitchFamily="2" charset="-122"/>
                </a:rPr>
                <a:t>*</a:t>
              </a:r>
              <a:endParaRPr lang="en-US" altLang="zh-CN" sz="2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1798" name="Text Box 54"/>
            <p:cNvSpPr txBox="1"/>
            <p:nvPr/>
          </p:nvSpPr>
          <p:spPr>
            <a:xfrm>
              <a:off x="5366" y="1002"/>
              <a:ext cx="253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SzTx/>
              </a:pPr>
              <a:r>
                <a:rPr lang="en-US" altLang="zh-CN" sz="2800" dirty="0">
                  <a:latin typeface="Times New Roman" panose="02020603050405020304" charset="0"/>
                  <a:ea typeface="宋体" panose="02010600030101010101" pitchFamily="2" charset="-122"/>
                </a:rPr>
                <a:t>F</a:t>
              </a:r>
              <a:endParaRPr lang="en-US" altLang="zh-CN" sz="2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1799" name="AutoShape 55"/>
            <p:cNvSpPr/>
            <p:nvPr/>
          </p:nvSpPr>
          <p:spPr>
            <a:xfrm>
              <a:off x="384" y="1584"/>
              <a:ext cx="288" cy="96"/>
            </a:xfrm>
            <a:prstGeom prst="rightArrow">
              <a:avLst>
                <a:gd name="adj1" fmla="val 50000"/>
                <a:gd name="adj2" fmla="val 75000"/>
              </a:avLst>
            </a:prstGeom>
            <a:solidFill>
              <a:schemeClr val="accent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pPr>
                <a:buSzTx/>
              </a:pPr>
              <a:endParaRPr lang="zh-CN" altLang="en-US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1800" name="Text Box 56"/>
            <p:cNvSpPr txBox="1"/>
            <p:nvPr/>
          </p:nvSpPr>
          <p:spPr>
            <a:xfrm>
              <a:off x="1286" y="2778"/>
              <a:ext cx="191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SzTx/>
              </a:pPr>
              <a:r>
                <a:rPr lang="en-US" altLang="zh-CN" sz="2800" dirty="0">
                  <a:latin typeface="Times New Roman" panose="02020603050405020304" charset="0"/>
                  <a:ea typeface="宋体" panose="02010600030101010101" pitchFamily="2" charset="-122"/>
                </a:rPr>
                <a:t>(</a:t>
              </a:r>
              <a:endParaRPr lang="en-US" altLang="zh-CN" b="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1801" name="Text Box 57"/>
            <p:cNvSpPr txBox="1"/>
            <p:nvPr/>
          </p:nvSpPr>
          <p:spPr>
            <a:xfrm>
              <a:off x="1008" y="2480"/>
              <a:ext cx="253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SzTx/>
              </a:pPr>
              <a:r>
                <a:rPr lang="en-US" altLang="zh-CN" sz="2800" dirty="0">
                  <a:latin typeface="Times New Roman" panose="02020603050405020304" charset="0"/>
                  <a:ea typeface="宋体" panose="02010600030101010101" pitchFamily="2" charset="-122"/>
                </a:rPr>
                <a:t>F</a:t>
              </a:r>
              <a:endParaRPr lang="en-US" altLang="zh-CN" sz="2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1802" name="Text Box 58"/>
            <p:cNvSpPr txBox="1"/>
            <p:nvPr/>
          </p:nvSpPr>
          <p:spPr>
            <a:xfrm>
              <a:off x="2304" y="2985"/>
              <a:ext cx="244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SzTx/>
              </a:pPr>
              <a:r>
                <a:rPr lang="en-US" altLang="zh-CN" sz="2800" dirty="0">
                  <a:latin typeface="Times New Roman" panose="02020603050405020304" charset="0"/>
                  <a:ea typeface="宋体" panose="02010600030101010101" pitchFamily="2" charset="-122"/>
                </a:rPr>
                <a:t>+</a:t>
              </a:r>
              <a:endParaRPr lang="en-US" altLang="zh-CN" sz="2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cxnSp>
          <p:nvCxnSpPr>
            <p:cNvPr id="31803" name="AutoShape 59"/>
            <p:cNvCxnSpPr>
              <a:stCxn id="31753" idx="5"/>
              <a:endCxn id="31751" idx="4"/>
            </p:cNvCxnSpPr>
            <p:nvPr/>
          </p:nvCxnSpPr>
          <p:spPr>
            <a:xfrm rot="5400000">
              <a:off x="2423" y="230"/>
              <a:ext cx="1448" cy="4713"/>
            </a:xfrm>
            <a:prstGeom prst="curvedConnector3">
              <a:avLst>
                <a:gd name="adj1" fmla="val 126171"/>
              </a:avLst>
            </a:prstGeom>
            <a:ln w="3175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31804" name="Text Box 60"/>
            <p:cNvSpPr txBox="1"/>
            <p:nvPr/>
          </p:nvSpPr>
          <p:spPr>
            <a:xfrm>
              <a:off x="4896" y="2880"/>
              <a:ext cx="191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SzTx/>
              </a:pPr>
              <a:r>
                <a:rPr lang="en-US" altLang="zh-CN" sz="2800" dirty="0">
                  <a:latin typeface="Times New Roman" panose="02020603050405020304" charset="0"/>
                  <a:ea typeface="宋体" panose="02010600030101010101" pitchFamily="2" charset="-122"/>
                </a:rPr>
                <a:t>(</a:t>
              </a:r>
              <a:endParaRPr lang="en-US" altLang="zh-CN" sz="2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1805" name="AutoShape 62">
            <a:hlinkClick r:id="rId1" action="ppaction://hlinksldjump"/>
          </p:cNvPr>
          <p:cNvSpPr/>
          <p:nvPr/>
        </p:nvSpPr>
        <p:spPr>
          <a:xfrm>
            <a:off x="8458200" y="4724400"/>
            <a:ext cx="304800" cy="381000"/>
          </a:xfrm>
          <a:prstGeom prst="downArrow">
            <a:avLst>
              <a:gd name="adj1" fmla="val 59370"/>
              <a:gd name="adj2" fmla="val 54681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SzTx/>
            </a:pPr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62" name="Rectangle 2"/>
          <p:cNvSpPr>
            <a:spLocks noChangeArrowheads="1"/>
          </p:cNvSpPr>
          <p:nvPr/>
        </p:nvSpPr>
        <p:spPr bwMode="auto">
          <a:xfrm>
            <a:off x="609600" y="438150"/>
            <a:ext cx="2133600" cy="9461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例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2: G[S]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的扩展文法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: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296963" name="Rectangle 3"/>
          <p:cNvSpPr>
            <a:spLocks noChangeArrowheads="1"/>
          </p:cNvSpPr>
          <p:nvPr/>
        </p:nvSpPr>
        <p:spPr bwMode="auto">
          <a:xfrm>
            <a:off x="2895600" y="474663"/>
            <a:ext cx="4648200" cy="17541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0) S′ S         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1) S   a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c B e    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2) A   b          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3) A  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Ab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        	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4) B   d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44"/>
          <p:cNvGrpSpPr/>
          <p:nvPr/>
        </p:nvGrpSpPr>
        <p:grpSpPr>
          <a:xfrm>
            <a:off x="609600" y="2476500"/>
            <a:ext cx="7848600" cy="3810000"/>
            <a:chOff x="336" y="1560"/>
            <a:chExt cx="4944" cy="2400"/>
          </a:xfrm>
        </p:grpSpPr>
        <p:sp>
          <p:nvSpPr>
            <p:cNvPr id="32772" name="Rectangle 4"/>
            <p:cNvSpPr/>
            <p:nvPr/>
          </p:nvSpPr>
          <p:spPr>
            <a:xfrm>
              <a:off x="576" y="1656"/>
              <a:ext cx="1152" cy="44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>
                <a:buSzTx/>
              </a:pP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S</a:t>
              </a: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′</a:t>
              </a: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→</a:t>
              </a:r>
              <a:r>
                <a:rPr lang="zh-CN" altLang="en-US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．</a:t>
              </a: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S</a:t>
              </a:r>
              <a:endPara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>
                <a:buSzTx/>
              </a:pP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S  </a:t>
              </a: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→</a:t>
              </a:r>
              <a:r>
                <a:rPr lang="zh-CN" altLang="en-US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．</a:t>
              </a: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aAcBe</a:t>
              </a:r>
              <a:endPara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2773" name="Rectangle 5"/>
            <p:cNvSpPr/>
            <p:nvPr/>
          </p:nvSpPr>
          <p:spPr>
            <a:xfrm>
              <a:off x="2328" y="1704"/>
              <a:ext cx="909" cy="25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>
                <a:buSzTx/>
              </a:pP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S</a:t>
              </a: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′</a:t>
              </a: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→S </a:t>
              </a:r>
              <a:r>
                <a:rPr lang="zh-CN" altLang="en-US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．</a:t>
              </a:r>
              <a:endPara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2774" name="Rectangle 6"/>
            <p:cNvSpPr/>
            <p:nvPr/>
          </p:nvSpPr>
          <p:spPr>
            <a:xfrm>
              <a:off x="576" y="2520"/>
              <a:ext cx="1008" cy="64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>
                <a:buSzTx/>
              </a:pP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S</a:t>
              </a: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→</a:t>
              </a: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r>
                <a:rPr lang="zh-CN" altLang="en-US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．</a:t>
              </a: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AcBe</a:t>
              </a:r>
              <a:endPara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>
                <a:buSzTx/>
              </a:pP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A→.b</a:t>
              </a:r>
              <a:endPara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>
                <a:buSzTx/>
              </a:pP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A→.Ab</a:t>
              </a:r>
              <a:endPara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2775" name="Rectangle 7"/>
            <p:cNvSpPr/>
            <p:nvPr/>
          </p:nvSpPr>
          <p:spPr>
            <a:xfrm>
              <a:off x="2304" y="2328"/>
              <a:ext cx="1008" cy="44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>
                <a:buSzTx/>
              </a:pP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S</a:t>
              </a: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→</a:t>
              </a: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aA</a:t>
              </a:r>
              <a:r>
                <a:rPr lang="zh-CN" altLang="en-US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．</a:t>
              </a: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cBe</a:t>
              </a:r>
              <a:endPara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>
                <a:buSzTx/>
              </a:pP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A→A.b</a:t>
              </a:r>
              <a:endPara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2776" name="Rectangle 8"/>
            <p:cNvSpPr/>
            <p:nvPr/>
          </p:nvSpPr>
          <p:spPr>
            <a:xfrm>
              <a:off x="768" y="3584"/>
              <a:ext cx="576" cy="25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>
                <a:buSzTx/>
              </a:pP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A→b.</a:t>
              </a:r>
              <a:endPara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2777" name="Rectangle 9"/>
            <p:cNvSpPr/>
            <p:nvPr/>
          </p:nvSpPr>
          <p:spPr>
            <a:xfrm>
              <a:off x="3888" y="2328"/>
              <a:ext cx="1008" cy="44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>
                <a:buSzTx/>
              </a:pP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S</a:t>
              </a: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→</a:t>
              </a: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aAc</a:t>
              </a:r>
              <a:r>
                <a:rPr lang="zh-CN" altLang="en-US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．</a:t>
              </a: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Be</a:t>
              </a:r>
              <a:endPara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>
                <a:buSzTx/>
              </a:pP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B</a:t>
              </a: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→.d</a:t>
              </a:r>
              <a:endPara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2778" name="Rectangle 10"/>
            <p:cNvSpPr/>
            <p:nvPr/>
          </p:nvSpPr>
          <p:spPr>
            <a:xfrm>
              <a:off x="2304" y="3224"/>
              <a:ext cx="720" cy="25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>
                <a:buSzTx/>
              </a:pP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A→Ab .</a:t>
              </a:r>
              <a:endPara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2779" name="Rectangle 11"/>
            <p:cNvSpPr/>
            <p:nvPr/>
          </p:nvSpPr>
          <p:spPr>
            <a:xfrm>
              <a:off x="3264" y="3216"/>
              <a:ext cx="1008" cy="25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>
                <a:buSzTx/>
              </a:pP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S</a:t>
              </a: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→</a:t>
              </a: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aAcB</a:t>
              </a:r>
              <a:r>
                <a:rPr lang="zh-CN" altLang="en-US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．</a:t>
              </a: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e</a:t>
              </a:r>
              <a:endPara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2780" name="Rectangle 12"/>
            <p:cNvSpPr/>
            <p:nvPr/>
          </p:nvSpPr>
          <p:spPr>
            <a:xfrm>
              <a:off x="4656" y="3192"/>
              <a:ext cx="624" cy="25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>
                <a:buSzTx/>
              </a:pP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B</a:t>
              </a: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→d .</a:t>
              </a:r>
              <a:endPara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2781" name="Line 13"/>
            <p:cNvSpPr/>
            <p:nvPr/>
          </p:nvSpPr>
          <p:spPr>
            <a:xfrm>
              <a:off x="1008" y="2136"/>
              <a:ext cx="0" cy="38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2782" name="Rectangle 14"/>
            <p:cNvSpPr/>
            <p:nvPr/>
          </p:nvSpPr>
          <p:spPr>
            <a:xfrm>
              <a:off x="984" y="2144"/>
              <a:ext cx="19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buSzTx/>
              </a:pP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a</a:t>
              </a:r>
              <a:endPara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2783" name="Line 15"/>
            <p:cNvSpPr/>
            <p:nvPr/>
          </p:nvSpPr>
          <p:spPr>
            <a:xfrm>
              <a:off x="1744" y="1848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2784" name="Rectangle 16"/>
            <p:cNvSpPr/>
            <p:nvPr/>
          </p:nvSpPr>
          <p:spPr>
            <a:xfrm>
              <a:off x="1920" y="1790"/>
              <a:ext cx="19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buSzTx/>
              </a:pP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S</a:t>
              </a:r>
              <a:endPara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2785" name="Line 17"/>
            <p:cNvSpPr/>
            <p:nvPr/>
          </p:nvSpPr>
          <p:spPr>
            <a:xfrm>
              <a:off x="1016" y="3184"/>
              <a:ext cx="0" cy="38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2786" name="Rectangle 18"/>
            <p:cNvSpPr/>
            <p:nvPr/>
          </p:nvSpPr>
          <p:spPr>
            <a:xfrm>
              <a:off x="992" y="3192"/>
              <a:ext cx="19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buSzTx/>
              </a:pP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b</a:t>
              </a:r>
              <a:endPara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2787" name="Line 19"/>
            <p:cNvSpPr/>
            <p:nvPr/>
          </p:nvSpPr>
          <p:spPr>
            <a:xfrm flipV="1">
              <a:off x="1584" y="2568"/>
              <a:ext cx="672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2788" name="Rectangle 21"/>
            <p:cNvSpPr/>
            <p:nvPr/>
          </p:nvSpPr>
          <p:spPr>
            <a:xfrm>
              <a:off x="1824" y="2448"/>
              <a:ext cx="19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buSzTx/>
              </a:pP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A</a:t>
              </a:r>
              <a:endPara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2789" name="Rectangle 22"/>
            <p:cNvSpPr/>
            <p:nvPr/>
          </p:nvSpPr>
          <p:spPr>
            <a:xfrm>
              <a:off x="2624" y="2808"/>
              <a:ext cx="19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buSzTx/>
              </a:pP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b</a:t>
              </a:r>
              <a:endPara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2790" name="Rectangle 23"/>
            <p:cNvSpPr/>
            <p:nvPr/>
          </p:nvSpPr>
          <p:spPr>
            <a:xfrm>
              <a:off x="3499" y="2440"/>
              <a:ext cx="19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buSzTx/>
              </a:pP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c</a:t>
              </a:r>
              <a:endPara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2791" name="Line 24"/>
            <p:cNvSpPr/>
            <p:nvPr/>
          </p:nvSpPr>
          <p:spPr>
            <a:xfrm>
              <a:off x="3312" y="2520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2792" name="Line 25"/>
            <p:cNvSpPr/>
            <p:nvPr/>
          </p:nvSpPr>
          <p:spPr>
            <a:xfrm>
              <a:off x="2640" y="2808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2793" name="Line 26"/>
            <p:cNvSpPr/>
            <p:nvPr/>
          </p:nvSpPr>
          <p:spPr>
            <a:xfrm flipH="1">
              <a:off x="3744" y="2808"/>
              <a:ext cx="336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2794" name="Rectangle 27"/>
            <p:cNvSpPr/>
            <p:nvPr/>
          </p:nvSpPr>
          <p:spPr>
            <a:xfrm>
              <a:off x="3744" y="2808"/>
              <a:ext cx="19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B</a:t>
              </a:r>
              <a:endPara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2795" name="Rectangle 28"/>
            <p:cNvSpPr/>
            <p:nvPr/>
          </p:nvSpPr>
          <p:spPr>
            <a:xfrm>
              <a:off x="4512" y="2808"/>
              <a:ext cx="19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d</a:t>
              </a:r>
              <a:endPara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2796" name="Line 29"/>
            <p:cNvSpPr/>
            <p:nvPr/>
          </p:nvSpPr>
          <p:spPr>
            <a:xfrm>
              <a:off x="4560" y="2800"/>
              <a:ext cx="432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2797" name="Rectangle 30"/>
            <p:cNvSpPr/>
            <p:nvPr/>
          </p:nvSpPr>
          <p:spPr>
            <a:xfrm>
              <a:off x="336" y="1560"/>
              <a:ext cx="24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000" dirty="0">
                  <a:solidFill>
                    <a:schemeClr val="hlin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lang="en-US" altLang="zh-CN" sz="2000" baseline="-25000" dirty="0">
                  <a:solidFill>
                    <a:schemeClr val="hlin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  <a:endParaRPr lang="en-US" altLang="zh-CN" sz="2000" baseline="-25000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2798" name="Rectangle 31"/>
            <p:cNvSpPr/>
            <p:nvPr/>
          </p:nvSpPr>
          <p:spPr>
            <a:xfrm>
              <a:off x="4464" y="3048"/>
              <a:ext cx="24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000" dirty="0">
                  <a:solidFill>
                    <a:schemeClr val="hlin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lang="en-US" altLang="zh-CN" sz="2000" baseline="-25000" dirty="0">
                  <a:solidFill>
                    <a:schemeClr val="hlin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8</a:t>
              </a:r>
              <a:endParaRPr lang="en-US" altLang="zh-CN" sz="2000" baseline="-25000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2799" name="Rectangle 32"/>
            <p:cNvSpPr/>
            <p:nvPr/>
          </p:nvSpPr>
          <p:spPr>
            <a:xfrm>
              <a:off x="3048" y="3096"/>
              <a:ext cx="24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buSzTx/>
              </a:pPr>
              <a:r>
                <a:rPr lang="en-US" altLang="zh-CN" sz="2000" dirty="0">
                  <a:solidFill>
                    <a:schemeClr val="hlin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lang="en-US" altLang="zh-CN" sz="2000" baseline="-25000" dirty="0">
                  <a:solidFill>
                    <a:schemeClr val="hlin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7</a:t>
              </a:r>
              <a:endParaRPr lang="en-US" altLang="zh-CN" sz="2000" baseline="-25000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2800" name="Rectangle 33"/>
            <p:cNvSpPr/>
            <p:nvPr/>
          </p:nvSpPr>
          <p:spPr>
            <a:xfrm>
              <a:off x="3648" y="2232"/>
              <a:ext cx="24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000" dirty="0">
                  <a:solidFill>
                    <a:schemeClr val="hlin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lang="en-US" altLang="zh-CN" sz="2000" baseline="-25000" dirty="0">
                  <a:solidFill>
                    <a:schemeClr val="hlin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5</a:t>
              </a:r>
              <a:endParaRPr lang="en-US" altLang="zh-CN" sz="2000" baseline="-25000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2801" name="Rectangle 34"/>
            <p:cNvSpPr/>
            <p:nvPr/>
          </p:nvSpPr>
          <p:spPr>
            <a:xfrm>
              <a:off x="2064" y="3096"/>
              <a:ext cx="24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buSzTx/>
              </a:pPr>
              <a:r>
                <a:rPr lang="en-US" altLang="zh-CN" sz="2000" dirty="0">
                  <a:solidFill>
                    <a:schemeClr val="hlin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lang="en-US" altLang="zh-CN" sz="2000" baseline="-25000" dirty="0">
                  <a:solidFill>
                    <a:schemeClr val="hlin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6</a:t>
              </a:r>
              <a:endParaRPr lang="en-US" altLang="zh-CN" sz="2000" baseline="-25000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2802" name="Rectangle 35"/>
            <p:cNvSpPr/>
            <p:nvPr/>
          </p:nvSpPr>
          <p:spPr>
            <a:xfrm>
              <a:off x="2064" y="2208"/>
              <a:ext cx="24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000" dirty="0">
                  <a:solidFill>
                    <a:schemeClr val="hlin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lang="en-US" altLang="zh-CN" sz="2000" baseline="-25000" dirty="0">
                  <a:solidFill>
                    <a:schemeClr val="hlin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3</a:t>
              </a:r>
              <a:endParaRPr lang="en-US" altLang="zh-CN" sz="2000" baseline="-25000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2803" name="Rectangle 36"/>
            <p:cNvSpPr/>
            <p:nvPr/>
          </p:nvSpPr>
          <p:spPr>
            <a:xfrm>
              <a:off x="528" y="3432"/>
              <a:ext cx="24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buSzTx/>
              </a:pPr>
              <a:r>
                <a:rPr lang="en-US" altLang="zh-CN" sz="2000" dirty="0">
                  <a:solidFill>
                    <a:schemeClr val="hlin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lang="en-US" altLang="zh-CN" sz="2000" baseline="-25000" dirty="0">
                  <a:solidFill>
                    <a:schemeClr val="hlin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4</a:t>
              </a:r>
              <a:endParaRPr lang="en-US" altLang="zh-CN" sz="2000" baseline="-25000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2804" name="Rectangle 37"/>
            <p:cNvSpPr/>
            <p:nvPr/>
          </p:nvSpPr>
          <p:spPr>
            <a:xfrm>
              <a:off x="336" y="2424"/>
              <a:ext cx="24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buSzTx/>
              </a:pPr>
              <a:r>
                <a:rPr lang="en-US" altLang="zh-CN" sz="2000" dirty="0">
                  <a:solidFill>
                    <a:schemeClr val="hlin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lang="en-US" altLang="zh-CN" sz="2000" baseline="-25000" dirty="0">
                  <a:solidFill>
                    <a:schemeClr val="hlin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endParaRPr lang="en-US" altLang="zh-CN" sz="2000" baseline="-25000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2805" name="Rectangle 38"/>
            <p:cNvSpPr/>
            <p:nvPr/>
          </p:nvSpPr>
          <p:spPr>
            <a:xfrm>
              <a:off x="2096" y="1560"/>
              <a:ext cx="24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000" dirty="0">
                  <a:solidFill>
                    <a:schemeClr val="hlin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lang="en-US" altLang="zh-CN" sz="2000" baseline="-25000" dirty="0">
                  <a:solidFill>
                    <a:schemeClr val="hlin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endParaRPr lang="en-US" altLang="zh-CN" sz="2000" baseline="-25000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2806" name="Rectangle 40"/>
            <p:cNvSpPr/>
            <p:nvPr/>
          </p:nvSpPr>
          <p:spPr>
            <a:xfrm>
              <a:off x="3264" y="3704"/>
              <a:ext cx="1008" cy="25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>
                <a:buSzTx/>
              </a:pP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S</a:t>
              </a: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→</a:t>
              </a: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aAcBe </a:t>
              </a:r>
              <a:r>
                <a:rPr lang="zh-CN" altLang="en-US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．</a:t>
              </a:r>
              <a:endPara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2807" name="Rectangle 41"/>
            <p:cNvSpPr/>
            <p:nvPr/>
          </p:nvSpPr>
          <p:spPr>
            <a:xfrm>
              <a:off x="3000" y="3584"/>
              <a:ext cx="24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000" dirty="0">
                  <a:solidFill>
                    <a:schemeClr val="hlin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lang="en-US" altLang="zh-CN" sz="2000" baseline="-25000" dirty="0">
                  <a:solidFill>
                    <a:schemeClr val="hlin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9</a:t>
              </a:r>
              <a:endParaRPr lang="en-US" altLang="zh-CN" sz="2000" baseline="-25000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2808" name="Line 42"/>
            <p:cNvSpPr/>
            <p:nvPr/>
          </p:nvSpPr>
          <p:spPr>
            <a:xfrm>
              <a:off x="3744" y="347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2809" name="Rectangle 43"/>
            <p:cNvSpPr/>
            <p:nvPr/>
          </p:nvSpPr>
          <p:spPr>
            <a:xfrm>
              <a:off x="3547" y="3438"/>
              <a:ext cx="19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buSzTx/>
              </a:pPr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e</a:t>
              </a:r>
              <a:endPara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32810" name="AutoShape 45">
            <a:hlinkClick r:id="rId1" action="ppaction://hlinksldjump"/>
          </p:cNvPr>
          <p:cNvSpPr/>
          <p:nvPr/>
        </p:nvSpPr>
        <p:spPr>
          <a:xfrm>
            <a:off x="7848600" y="1600200"/>
            <a:ext cx="304800" cy="381000"/>
          </a:xfrm>
          <a:prstGeom prst="downArrow">
            <a:avLst>
              <a:gd name="adj1" fmla="val 59370"/>
              <a:gd name="adj2" fmla="val 54681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SzTx/>
            </a:pPr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Rectangle 3"/>
          <p:cNvSpPr>
            <a:spLocks noGrp="1"/>
          </p:cNvSpPr>
          <p:nvPr>
            <p:ph idx="1"/>
          </p:nvPr>
        </p:nvSpPr>
        <p:spPr>
          <a:xfrm>
            <a:off x="609600" y="990600"/>
            <a:ext cx="8229600" cy="3200400"/>
          </a:xfrm>
          <a:ln/>
        </p:spPr>
        <p:txBody>
          <a:bodyPr vert="horz" wrap="square" lIns="91440" tIns="45720" rIns="91440" bIns="45720" anchor="t" anchorCtr="0"/>
          <a:p>
            <a:pPr indent="-255270" eaLnBrk="1" hangingPunct="1">
              <a:buFontTx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1. 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构造扩展文法 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G′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的状态集合  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{ I</a:t>
            </a:r>
            <a:r>
              <a:rPr lang="en-US" altLang="zh-CN" sz="2400" b="1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0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I</a:t>
            </a:r>
            <a:r>
              <a:rPr lang="en-US" altLang="zh-CN" sz="2400" b="1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charset="0"/>
              </a:rPr>
              <a:t>…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 I</a:t>
            </a:r>
            <a:r>
              <a:rPr lang="en-US" altLang="zh-CN" sz="2400" b="1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n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 }</a:t>
            </a:r>
            <a:endParaRPr lang="en-US" altLang="zh-CN" sz="24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indent="-255270" eaLnBrk="1" hangingPunct="1">
              <a:buFontTx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2. action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为一维表，状态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I</a:t>
            </a:r>
            <a:r>
              <a:rPr lang="en-US" altLang="zh-CN" sz="2400" b="1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i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的分析动作为：</a:t>
            </a:r>
            <a:endParaRPr lang="zh-CN" altLang="en-US" sz="28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lvl="1" eaLnBrk="1" hangingPunct="1">
              <a:buFontTx/>
              <a:buNone/>
            </a:pPr>
            <a:r>
              <a:rPr lang="en-US" altLang="zh-CN" sz="2000" b="1" dirty="0">
                <a:latin typeface="宋体" panose="02010600030101010101" pitchFamily="2" charset="-122"/>
              </a:rPr>
              <a:t>a) if A→α.aβ∈I</a:t>
            </a:r>
            <a:r>
              <a:rPr lang="en-US" altLang="zh-CN" sz="2000" b="1" baseline="-25000" dirty="0">
                <a:latin typeface="宋体" panose="02010600030101010101" pitchFamily="2" charset="-122"/>
              </a:rPr>
              <a:t>i</a:t>
            </a:r>
            <a:r>
              <a:rPr lang="en-US" altLang="zh-CN" sz="2000" b="1" dirty="0">
                <a:latin typeface="宋体" panose="02010600030101010101" pitchFamily="2" charset="-122"/>
              </a:rPr>
              <a:t>  a∈V</a:t>
            </a:r>
            <a:r>
              <a:rPr lang="en-US" altLang="zh-CN" sz="2000" b="1" baseline="-25000" dirty="0">
                <a:latin typeface="宋体" panose="02010600030101010101" pitchFamily="2" charset="-122"/>
              </a:rPr>
              <a:t>T</a:t>
            </a:r>
            <a:r>
              <a:rPr lang="en-US" altLang="zh-CN" sz="2000" b="1" dirty="0">
                <a:latin typeface="宋体" panose="02010600030101010101" pitchFamily="2" charset="-122"/>
              </a:rPr>
              <a:t> then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lvl="1" eaLnBrk="1" hangingPunct="1">
              <a:buFontTx/>
              <a:buNone/>
            </a:pPr>
            <a:r>
              <a:rPr lang="en-US" altLang="zh-CN" sz="2000" b="1" dirty="0">
                <a:latin typeface="宋体" panose="02010600030101010101" pitchFamily="2" charset="-122"/>
              </a:rPr>
              <a:t>       </a:t>
            </a:r>
            <a:r>
              <a:rPr lang="zh-CN" altLang="en-US" sz="2000" b="1" dirty="0">
                <a:latin typeface="宋体" panose="02010600030101010101" pitchFamily="2" charset="-122"/>
              </a:rPr>
              <a:t>将 </a:t>
            </a:r>
            <a:r>
              <a:rPr lang="zh-CN" altLang="en-US" sz="2000" b="1" dirty="0">
                <a:latin typeface="Times New Roman" panose="02020603050405020304" charset="0"/>
              </a:rPr>
              <a:t>‘</a:t>
            </a:r>
            <a:r>
              <a:rPr lang="en-US" altLang="zh-CN" sz="2000" b="1" dirty="0">
                <a:latin typeface="宋体" panose="02010600030101010101" pitchFamily="2" charset="-122"/>
              </a:rPr>
              <a:t>S</a:t>
            </a:r>
            <a:r>
              <a:rPr lang="en-US" altLang="zh-CN" sz="2000" b="1" dirty="0">
                <a:latin typeface="Times New Roman" panose="02020603050405020304" charset="0"/>
              </a:rPr>
              <a:t>’</a:t>
            </a:r>
            <a:r>
              <a:rPr lang="en-US" altLang="zh-CN" sz="2000" b="1" dirty="0">
                <a:latin typeface="宋体" panose="02010600030101010101" pitchFamily="2" charset="-122"/>
              </a:rPr>
              <a:t> </a:t>
            </a:r>
            <a:r>
              <a:rPr lang="zh-CN" altLang="en-US" sz="2000" b="1" dirty="0">
                <a:latin typeface="宋体" panose="02010600030101010101" pitchFamily="2" charset="-122"/>
              </a:rPr>
              <a:t>置入 </a:t>
            </a:r>
            <a:r>
              <a:rPr lang="en-US" altLang="zh-CN" sz="2000" b="1" dirty="0">
                <a:latin typeface="宋体" panose="02010600030101010101" pitchFamily="2" charset="-122"/>
              </a:rPr>
              <a:t>action[i]      </a:t>
            </a:r>
            <a:r>
              <a:rPr lang="en-US" altLang="zh-CN" sz="2000" b="1" dirty="0">
                <a:solidFill>
                  <a:schemeClr val="hlink"/>
                </a:solidFill>
                <a:latin typeface="宋体" panose="02010600030101010101" pitchFamily="2" charset="-122"/>
              </a:rPr>
              <a:t>//</a:t>
            </a:r>
            <a:r>
              <a:rPr lang="zh-CN" altLang="en-US" sz="2000" b="1" dirty="0">
                <a:solidFill>
                  <a:schemeClr val="hlink"/>
                </a:solidFill>
                <a:latin typeface="宋体" panose="02010600030101010101" pitchFamily="2" charset="-122"/>
              </a:rPr>
              <a:t>做移进动作</a:t>
            </a:r>
            <a:endParaRPr lang="zh-CN" altLang="en-US" sz="2000" b="1" dirty="0">
              <a:solidFill>
                <a:schemeClr val="hlink"/>
              </a:solidFill>
              <a:latin typeface="宋体" panose="02010600030101010101" pitchFamily="2" charset="-122"/>
            </a:endParaRPr>
          </a:p>
          <a:p>
            <a:pPr lvl="1" eaLnBrk="1" hangingPunct="1">
              <a:buFontTx/>
              <a:buNone/>
            </a:pPr>
            <a:r>
              <a:rPr lang="en-US" altLang="zh-CN" sz="2000" b="1" dirty="0">
                <a:latin typeface="宋体" panose="02010600030101010101" pitchFamily="2" charset="-122"/>
              </a:rPr>
              <a:t>b) if A→α. ∈I</a:t>
            </a:r>
            <a:r>
              <a:rPr lang="en-US" altLang="zh-CN" sz="2000" b="1" baseline="-25000" dirty="0">
                <a:latin typeface="宋体" panose="02010600030101010101" pitchFamily="2" charset="-122"/>
              </a:rPr>
              <a:t>i</a:t>
            </a:r>
            <a:r>
              <a:rPr lang="en-US" altLang="zh-CN" sz="2000" b="1" dirty="0">
                <a:latin typeface="宋体" panose="02010600030101010101" pitchFamily="2" charset="-122"/>
              </a:rPr>
              <a:t>  then   </a:t>
            </a:r>
            <a:r>
              <a:rPr lang="en-US" altLang="zh-CN" sz="2000" b="1" dirty="0">
                <a:solidFill>
                  <a:schemeClr val="hlink"/>
                </a:solidFill>
                <a:latin typeface="宋体" panose="02010600030101010101" pitchFamily="2" charset="-122"/>
              </a:rPr>
              <a:t>//</a:t>
            </a:r>
            <a:r>
              <a:rPr lang="zh-CN" altLang="en-US" sz="2000" b="1" dirty="0">
                <a:solidFill>
                  <a:schemeClr val="hlink"/>
                </a:solidFill>
                <a:latin typeface="宋体" panose="02010600030101010101" pitchFamily="2" charset="-122"/>
              </a:rPr>
              <a:t>在识别 </a:t>
            </a:r>
            <a:r>
              <a:rPr lang="en-US" altLang="zh-CN" sz="2000" b="1" dirty="0">
                <a:solidFill>
                  <a:schemeClr val="hlink"/>
                </a:solidFill>
                <a:latin typeface="宋体" panose="02010600030101010101" pitchFamily="2" charset="-122"/>
              </a:rPr>
              <a:t>α </a:t>
            </a:r>
            <a:r>
              <a:rPr lang="zh-CN" altLang="en-US" sz="2000" b="1" dirty="0">
                <a:solidFill>
                  <a:schemeClr val="hlink"/>
                </a:solidFill>
                <a:latin typeface="宋体" panose="02010600030101010101" pitchFamily="2" charset="-122"/>
              </a:rPr>
              <a:t>之后，应做归约</a:t>
            </a:r>
            <a:endParaRPr lang="zh-CN" altLang="en-US" sz="2000" b="1" dirty="0">
              <a:solidFill>
                <a:schemeClr val="hlink"/>
              </a:solidFill>
              <a:latin typeface="宋体" panose="02010600030101010101" pitchFamily="2" charset="-122"/>
            </a:endParaRPr>
          </a:p>
          <a:p>
            <a:pPr lvl="1" eaLnBrk="1" hangingPunct="1">
              <a:buFontTx/>
              <a:buNone/>
            </a:pPr>
            <a:r>
              <a:rPr lang="zh-CN" altLang="en-US" sz="2000" b="1" dirty="0">
                <a:latin typeface="宋体" panose="02010600030101010101" pitchFamily="2" charset="-122"/>
              </a:rPr>
              <a:t>       将 </a:t>
            </a:r>
            <a:r>
              <a:rPr lang="zh-CN" altLang="en-US" sz="2000" b="1" dirty="0">
                <a:latin typeface="Times New Roman" panose="02020603050405020304" charset="0"/>
              </a:rPr>
              <a:t>‘</a:t>
            </a:r>
            <a:r>
              <a:rPr lang="en-US" altLang="zh-CN" sz="2000" b="1" dirty="0">
                <a:latin typeface="宋体" panose="02010600030101010101" pitchFamily="2" charset="-122"/>
              </a:rPr>
              <a:t>rj</a:t>
            </a:r>
            <a:r>
              <a:rPr lang="en-US" altLang="zh-CN" sz="2000" b="1" dirty="0">
                <a:latin typeface="Times New Roman" panose="02020603050405020304" charset="0"/>
              </a:rPr>
              <a:t>’</a:t>
            </a:r>
            <a:r>
              <a:rPr lang="en-US" altLang="zh-CN" sz="2000" b="1" dirty="0">
                <a:latin typeface="宋体" panose="02010600030101010101" pitchFamily="2" charset="-122"/>
              </a:rPr>
              <a:t> </a:t>
            </a:r>
            <a:r>
              <a:rPr lang="zh-CN" altLang="en-US" sz="2000" b="1" dirty="0">
                <a:latin typeface="宋体" panose="02010600030101010101" pitchFamily="2" charset="-122"/>
              </a:rPr>
              <a:t>置入</a:t>
            </a:r>
            <a:r>
              <a:rPr lang="en-US" altLang="zh-CN" sz="2000" b="1" dirty="0">
                <a:latin typeface="宋体" panose="02010600030101010101" pitchFamily="2" charset="-122"/>
              </a:rPr>
              <a:t>action[i]   </a:t>
            </a:r>
            <a:r>
              <a:rPr lang="en-US" altLang="zh-CN" sz="2000" b="1" dirty="0">
                <a:solidFill>
                  <a:schemeClr val="hlink"/>
                </a:solidFill>
                <a:latin typeface="宋体" panose="02010600030101010101" pitchFamily="2" charset="-122"/>
              </a:rPr>
              <a:t>// A→α</a:t>
            </a:r>
            <a:r>
              <a:rPr lang="zh-CN" altLang="en-US" sz="2000" b="1" dirty="0">
                <a:solidFill>
                  <a:schemeClr val="hlink"/>
                </a:solidFill>
                <a:latin typeface="宋体" panose="02010600030101010101" pitchFamily="2" charset="-122"/>
              </a:rPr>
              <a:t>为文法的第</a:t>
            </a:r>
            <a:r>
              <a:rPr lang="en-US" altLang="zh-CN" sz="2000" b="1" dirty="0">
                <a:solidFill>
                  <a:schemeClr val="hlink"/>
                </a:solidFill>
                <a:latin typeface="宋体" panose="02010600030101010101" pitchFamily="2" charset="-122"/>
              </a:rPr>
              <a:t>j</a:t>
            </a:r>
            <a:r>
              <a:rPr lang="zh-CN" altLang="en-US" sz="2000" b="1" dirty="0">
                <a:solidFill>
                  <a:schemeClr val="hlink"/>
                </a:solidFill>
                <a:latin typeface="宋体" panose="02010600030101010101" pitchFamily="2" charset="-122"/>
              </a:rPr>
              <a:t>个产生式</a:t>
            </a:r>
            <a:endParaRPr lang="zh-CN" altLang="en-US" sz="2000" b="1" dirty="0">
              <a:solidFill>
                <a:schemeClr val="hlink"/>
              </a:solidFill>
              <a:latin typeface="宋体" panose="02010600030101010101" pitchFamily="2" charset="-122"/>
            </a:endParaRPr>
          </a:p>
          <a:p>
            <a:pPr lvl="1" eaLnBrk="1" hangingPunct="1">
              <a:buFontTx/>
              <a:buNone/>
            </a:pPr>
            <a:r>
              <a:rPr lang="en-US" altLang="zh-CN" sz="2000" b="1" dirty="0">
                <a:latin typeface="宋体" panose="02010600030101010101" pitchFamily="2" charset="-122"/>
              </a:rPr>
              <a:t>c) if S′→S. ∈I</a:t>
            </a:r>
            <a:r>
              <a:rPr lang="en-US" altLang="zh-CN" sz="2000" b="1" baseline="-25000" dirty="0">
                <a:latin typeface="宋体" panose="02010600030101010101" pitchFamily="2" charset="-122"/>
              </a:rPr>
              <a:t>i</a:t>
            </a:r>
            <a:r>
              <a:rPr lang="en-US" altLang="zh-CN" sz="2000" b="1" dirty="0">
                <a:latin typeface="宋体" panose="02010600030101010101" pitchFamily="2" charset="-122"/>
              </a:rPr>
              <a:t>  then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lvl="1" eaLnBrk="1" hangingPunct="1">
              <a:buFontTx/>
              <a:buNone/>
            </a:pPr>
            <a:r>
              <a:rPr lang="en-US" altLang="zh-CN" sz="2000" b="1" dirty="0">
                <a:latin typeface="宋体" panose="02010600030101010101" pitchFamily="2" charset="-122"/>
              </a:rPr>
              <a:t>       </a:t>
            </a:r>
            <a:r>
              <a:rPr lang="zh-CN" altLang="en-US" sz="2000" b="1" dirty="0">
                <a:latin typeface="宋体" panose="02010600030101010101" pitchFamily="2" charset="-122"/>
              </a:rPr>
              <a:t>将 </a:t>
            </a:r>
            <a:r>
              <a:rPr lang="zh-CN" altLang="en-US" sz="2000" b="1" dirty="0">
                <a:latin typeface="Times New Roman" panose="02020603050405020304" charset="0"/>
              </a:rPr>
              <a:t>‘</a:t>
            </a:r>
            <a:r>
              <a:rPr lang="en-US" altLang="zh-CN" sz="2000" b="1" dirty="0">
                <a:latin typeface="宋体" panose="02010600030101010101" pitchFamily="2" charset="-122"/>
              </a:rPr>
              <a:t>acc</a:t>
            </a:r>
            <a:r>
              <a:rPr lang="en-US" altLang="zh-CN" sz="2000" b="1" dirty="0">
                <a:latin typeface="Times New Roman" panose="02020603050405020304" charset="0"/>
              </a:rPr>
              <a:t>’</a:t>
            </a:r>
            <a:r>
              <a:rPr lang="en-US" altLang="zh-CN" sz="2000" b="1" dirty="0">
                <a:latin typeface="宋体" panose="02010600030101010101" pitchFamily="2" charset="-122"/>
              </a:rPr>
              <a:t> </a:t>
            </a:r>
            <a:r>
              <a:rPr lang="zh-CN" altLang="en-US" sz="2000" b="1" dirty="0">
                <a:latin typeface="宋体" panose="02010600030101010101" pitchFamily="2" charset="-122"/>
              </a:rPr>
              <a:t>置入 </a:t>
            </a:r>
            <a:r>
              <a:rPr lang="en-US" altLang="zh-CN" sz="2000" b="1" dirty="0">
                <a:latin typeface="宋体" panose="02010600030101010101" pitchFamily="2" charset="-122"/>
              </a:rPr>
              <a:t>action[i]     </a:t>
            </a:r>
            <a:r>
              <a:rPr lang="en-US" altLang="zh-CN" sz="2000" b="1" dirty="0">
                <a:solidFill>
                  <a:schemeClr val="hlink"/>
                </a:solidFill>
                <a:latin typeface="宋体" panose="02010600030101010101" pitchFamily="2" charset="-122"/>
              </a:rPr>
              <a:t>//</a:t>
            </a:r>
            <a:r>
              <a:rPr lang="zh-CN" altLang="en-US" sz="2000" b="1" dirty="0">
                <a:solidFill>
                  <a:schemeClr val="hlink"/>
                </a:solidFill>
                <a:latin typeface="宋体" panose="02010600030101010101" pitchFamily="2" charset="-122"/>
              </a:rPr>
              <a:t>接受，分析成功</a:t>
            </a:r>
            <a:endParaRPr lang="zh-CN" altLang="en-US" sz="2000" b="1" dirty="0">
              <a:solidFill>
                <a:schemeClr val="hlink"/>
              </a:solidFill>
              <a:latin typeface="宋体" panose="02010600030101010101" pitchFamily="2" charset="-122"/>
            </a:endParaRPr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7772400" cy="533400"/>
          </a:xfrm>
          <a:noFill/>
          <a:ln>
            <a:noFill/>
          </a:ln>
          <a:effectLst/>
          <a:sp3d prstMaterial="plastic"/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LR(0)</a:t>
            </a: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分析中构造</a:t>
            </a:r>
            <a:r>
              <a:rPr kumimoji="0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Action</a:t>
            </a: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和</a:t>
            </a:r>
            <a:r>
              <a:rPr kumimoji="0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Goto</a:t>
            </a: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表的算法：</a:t>
            </a:r>
            <a:endParaRPr kumimoji="0" lang="zh-CN" altLang="en-US" sz="2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33795" name="Rectangle 4"/>
          <p:cNvSpPr/>
          <p:nvPr/>
        </p:nvSpPr>
        <p:spPr>
          <a:xfrm>
            <a:off x="609600" y="4267200"/>
            <a:ext cx="8382000" cy="20574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Tx/>
            </a:pPr>
            <a:r>
              <a:rPr lang="en-US" altLang="zh-CN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3. goto</a:t>
            </a:r>
            <a:r>
              <a:rPr lang="zh-CN" altLang="en-US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为二维表，行为状态，列为文法符号</a:t>
            </a:r>
            <a:r>
              <a:rPr lang="en-US" altLang="zh-CN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Tx/>
            </a:pPr>
            <a:r>
              <a:rPr lang="zh-CN" altLang="en-US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if go(I</a:t>
            </a:r>
            <a:r>
              <a:rPr lang="en-US" altLang="zh-CN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,X) = I</a:t>
            </a:r>
            <a:r>
              <a:rPr lang="en-US" altLang="zh-CN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then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置入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goto[i,X]</a:t>
            </a:r>
            <a:r>
              <a:rPr lang="en-US" altLang="zh-CN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lang="zh-CN" altLang="en-US" sz="2000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设置状态转移</a:t>
            </a:r>
            <a:endParaRPr lang="zh-CN" altLang="en-US" sz="2000" dirty="0">
              <a:solidFill>
                <a:schemeClr val="hlin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Tx/>
            </a:pPr>
            <a:r>
              <a:rPr lang="en-US" altLang="zh-CN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4. </a:t>
            </a:r>
            <a:r>
              <a:rPr lang="zh-CN" altLang="en-US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所有空格置 </a:t>
            </a:r>
            <a:r>
              <a:rPr lang="en-US" altLang="zh-CN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error</a:t>
            </a:r>
            <a:endParaRPr lang="en-US" altLang="zh-CN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Tx/>
            </a:pPr>
            <a:r>
              <a:rPr lang="en-US" altLang="zh-CN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5. </a:t>
            </a:r>
            <a:r>
              <a:rPr lang="zh-CN" altLang="en-US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 </a:t>
            </a:r>
            <a:r>
              <a:rPr lang="en-US" altLang="zh-CN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S′→.S </a:t>
            </a:r>
            <a:r>
              <a:rPr lang="zh-CN" altLang="en-US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（即项目</a:t>
            </a:r>
            <a:r>
              <a:rPr lang="en-US" altLang="zh-CN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(0,0)</a:t>
            </a:r>
            <a:r>
              <a:rPr lang="zh-CN" altLang="en-US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）所在的状态为初态</a:t>
            </a:r>
            <a:endParaRPr lang="zh-CN" altLang="en-US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85287" name="Group 615"/>
          <p:cNvGraphicFramePr>
            <a:graphicFrameLocks noGrp="1"/>
          </p:cNvGraphicFramePr>
          <p:nvPr/>
        </p:nvGraphicFramePr>
        <p:xfrm>
          <a:off x="609600" y="866775"/>
          <a:ext cx="7696200" cy="5546725"/>
        </p:xfrm>
        <a:graphic>
          <a:graphicData uri="http://schemas.openxmlformats.org/drawingml/2006/table">
            <a:tbl>
              <a:tblPr/>
              <a:tblGrid>
                <a:gridCol w="533400"/>
                <a:gridCol w="2159000"/>
                <a:gridCol w="584200"/>
                <a:gridCol w="609600"/>
                <a:gridCol w="609600"/>
                <a:gridCol w="609600"/>
                <a:gridCol w="609600"/>
                <a:gridCol w="609600"/>
                <a:gridCol w="685800"/>
                <a:gridCol w="685800"/>
              </a:tblGrid>
              <a:tr h="381000">
                <a:tc rowSpan="2"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ACTION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8"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GOTO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2738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+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*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(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id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E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2738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2738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acc</a:t>
                      </a: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2738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r2</a:t>
                      </a: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2738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r4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8"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2738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1150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r6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8"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2738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2738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2738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2738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2738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r3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8"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2738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r5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8"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285239" name="Rectangle 567"/>
          <p:cNvSpPr>
            <a:spLocks noChangeArrowheads="1"/>
          </p:cNvSpPr>
          <p:nvPr/>
        </p:nvSpPr>
        <p:spPr bwMode="auto">
          <a:xfrm>
            <a:off x="533400" y="304800"/>
            <a:ext cx="4122738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例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的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ACTION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表和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GOTO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表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: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34962" name="AutoShape 568">
            <a:hlinkClick r:id="rId1" action="ppaction://hlinksldjump"/>
          </p:cNvPr>
          <p:cNvSpPr/>
          <p:nvPr/>
        </p:nvSpPr>
        <p:spPr>
          <a:xfrm>
            <a:off x="6324600" y="914400"/>
            <a:ext cx="381000" cy="304800"/>
          </a:xfrm>
          <a:prstGeom prst="upArrow">
            <a:avLst>
              <a:gd name="adj1" fmla="val 70000"/>
              <a:gd name="adj2" fmla="val 58851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SzTx/>
            </a:pPr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4963" name="AutoShape 569">
            <a:hlinkClick r:id="rId2" action="ppaction://hlinksldjump"/>
          </p:cNvPr>
          <p:cNvSpPr/>
          <p:nvPr/>
        </p:nvSpPr>
        <p:spPr>
          <a:xfrm>
            <a:off x="2743200" y="1219200"/>
            <a:ext cx="381000" cy="304800"/>
          </a:xfrm>
          <a:prstGeom prst="upArrow">
            <a:avLst>
              <a:gd name="adj1" fmla="val 70000"/>
              <a:gd name="adj2" fmla="val 58851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SzTx/>
            </a:pPr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4964" name="AutoShape 616"/>
          <p:cNvSpPr/>
          <p:nvPr/>
        </p:nvSpPr>
        <p:spPr>
          <a:xfrm>
            <a:off x="8458200" y="5334000"/>
            <a:ext cx="457200" cy="304800"/>
          </a:xfrm>
          <a:prstGeom prst="downArrow">
            <a:avLst>
              <a:gd name="adj1" fmla="val 55555"/>
              <a:gd name="adj2" fmla="val 50513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SzTx/>
            </a:pPr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5841" name="Group 3"/>
          <p:cNvGrpSpPr/>
          <p:nvPr/>
        </p:nvGrpSpPr>
        <p:grpSpPr>
          <a:xfrm>
            <a:off x="609600" y="1295400"/>
            <a:ext cx="7835900" cy="4416425"/>
            <a:chOff x="0" y="0"/>
            <a:chExt cx="3511" cy="6922"/>
          </a:xfrm>
        </p:grpSpPr>
        <p:grpSp>
          <p:nvGrpSpPr>
            <p:cNvPr id="35842" name="Group 4"/>
            <p:cNvGrpSpPr/>
            <p:nvPr/>
          </p:nvGrpSpPr>
          <p:grpSpPr>
            <a:xfrm>
              <a:off x="0" y="0"/>
              <a:ext cx="316" cy="970"/>
              <a:chOff x="0" y="0"/>
              <a:chExt cx="316" cy="970"/>
            </a:xfrm>
          </p:grpSpPr>
          <p:sp>
            <p:nvSpPr>
              <p:cNvPr id="35843" name="Rectangle 5"/>
              <p:cNvSpPr/>
              <p:nvPr/>
            </p:nvSpPr>
            <p:spPr>
              <a:xfrm>
                <a:off x="43" y="0"/>
                <a:ext cx="230" cy="97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44" name="Rectangle 6"/>
              <p:cNvSpPr/>
              <p:nvPr/>
            </p:nvSpPr>
            <p:spPr>
              <a:xfrm>
                <a:off x="0" y="0"/>
                <a:ext cx="316" cy="97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845" name="Group 7"/>
            <p:cNvGrpSpPr/>
            <p:nvPr/>
          </p:nvGrpSpPr>
          <p:grpSpPr>
            <a:xfrm>
              <a:off x="316" y="0"/>
              <a:ext cx="332" cy="490"/>
              <a:chOff x="316" y="0"/>
              <a:chExt cx="332" cy="490"/>
            </a:xfrm>
          </p:grpSpPr>
          <p:sp>
            <p:nvSpPr>
              <p:cNvPr id="35846" name="Rectangle 8"/>
              <p:cNvSpPr/>
              <p:nvPr/>
            </p:nvSpPr>
            <p:spPr>
              <a:xfrm>
                <a:off x="359" y="0"/>
                <a:ext cx="246" cy="4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bIns="0" anchor="t" anchorCtr="0"/>
              <a:p>
                <a:pPr algn="ctr" eaLnBrk="0" hangingPunct="0">
                  <a:buSzTx/>
                </a:pPr>
                <a:endParaRPr lang="zh-CN" altLang="zh-CN" sz="2000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47" name="Rectangle 9"/>
              <p:cNvSpPr/>
              <p:nvPr/>
            </p:nvSpPr>
            <p:spPr>
              <a:xfrm>
                <a:off x="316" y="0"/>
                <a:ext cx="332" cy="49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848" name="Group 10"/>
            <p:cNvGrpSpPr/>
            <p:nvPr/>
          </p:nvGrpSpPr>
          <p:grpSpPr>
            <a:xfrm>
              <a:off x="648" y="0"/>
              <a:ext cx="2863" cy="490"/>
              <a:chOff x="648" y="0"/>
              <a:chExt cx="2863" cy="490"/>
            </a:xfrm>
          </p:grpSpPr>
          <p:sp>
            <p:nvSpPr>
              <p:cNvPr id="35849" name="Rectangle 11"/>
              <p:cNvSpPr/>
              <p:nvPr/>
            </p:nvSpPr>
            <p:spPr>
              <a:xfrm>
                <a:off x="691" y="0"/>
                <a:ext cx="2777" cy="4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2000" dirty="0">
                    <a:solidFill>
                      <a:schemeClr val="hlink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rPr>
                  <a:t>GOTO</a:t>
                </a: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50" name="Rectangle 12"/>
              <p:cNvSpPr/>
              <p:nvPr/>
            </p:nvSpPr>
            <p:spPr>
              <a:xfrm>
                <a:off x="648" y="0"/>
                <a:ext cx="2863" cy="49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851" name="Group 13"/>
            <p:cNvGrpSpPr/>
            <p:nvPr/>
          </p:nvGrpSpPr>
          <p:grpSpPr>
            <a:xfrm>
              <a:off x="316" y="490"/>
              <a:ext cx="332" cy="480"/>
              <a:chOff x="316" y="490"/>
              <a:chExt cx="332" cy="480"/>
            </a:xfrm>
          </p:grpSpPr>
          <p:sp>
            <p:nvSpPr>
              <p:cNvPr id="35852" name="Rectangle 14"/>
              <p:cNvSpPr/>
              <p:nvPr/>
            </p:nvSpPr>
            <p:spPr>
              <a:xfrm>
                <a:off x="359" y="490"/>
                <a:ext cx="246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53" name="Rectangle 15"/>
              <p:cNvSpPr/>
              <p:nvPr/>
            </p:nvSpPr>
            <p:spPr>
              <a:xfrm>
                <a:off x="316" y="490"/>
                <a:ext cx="332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854" name="Group 16"/>
            <p:cNvGrpSpPr/>
            <p:nvPr/>
          </p:nvGrpSpPr>
          <p:grpSpPr>
            <a:xfrm>
              <a:off x="648" y="490"/>
              <a:ext cx="300" cy="480"/>
              <a:chOff x="648" y="490"/>
              <a:chExt cx="300" cy="480"/>
            </a:xfrm>
          </p:grpSpPr>
          <p:sp>
            <p:nvSpPr>
              <p:cNvPr id="35855" name="Rectangle 17"/>
              <p:cNvSpPr/>
              <p:nvPr/>
            </p:nvSpPr>
            <p:spPr>
              <a:xfrm>
                <a:off x="691" y="490"/>
                <a:ext cx="214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2000" dirty="0">
                    <a:solidFill>
                      <a:schemeClr val="hlink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rPr>
                  <a:t>a</a:t>
                </a:r>
                <a:endParaRPr lang="en-US" altLang="zh-CN" sz="1000" dirty="0">
                  <a:solidFill>
                    <a:schemeClr val="hlink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solidFill>
                    <a:schemeClr val="hlink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56" name="Rectangle 18"/>
              <p:cNvSpPr/>
              <p:nvPr/>
            </p:nvSpPr>
            <p:spPr>
              <a:xfrm>
                <a:off x="648" y="490"/>
                <a:ext cx="300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857" name="Group 19"/>
            <p:cNvGrpSpPr/>
            <p:nvPr/>
          </p:nvGrpSpPr>
          <p:grpSpPr>
            <a:xfrm>
              <a:off x="948" y="490"/>
              <a:ext cx="316" cy="480"/>
              <a:chOff x="948" y="490"/>
              <a:chExt cx="316" cy="480"/>
            </a:xfrm>
          </p:grpSpPr>
          <p:sp>
            <p:nvSpPr>
              <p:cNvPr id="35858" name="Rectangle 20"/>
              <p:cNvSpPr/>
              <p:nvPr/>
            </p:nvSpPr>
            <p:spPr>
              <a:xfrm>
                <a:off x="991" y="490"/>
                <a:ext cx="230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2000" dirty="0">
                    <a:solidFill>
                      <a:schemeClr val="hlink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rPr>
                  <a:t>c</a:t>
                </a:r>
                <a:endParaRPr lang="en-US" altLang="zh-CN" sz="2000" dirty="0">
                  <a:solidFill>
                    <a:schemeClr val="hlink"/>
                  </a:solidFill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  <a:p>
                <a:pPr algn="ctr">
                  <a:buSzTx/>
                </a:pPr>
                <a:endParaRPr lang="en-US" altLang="zh-CN" sz="2000" dirty="0">
                  <a:solidFill>
                    <a:schemeClr val="hlink"/>
                  </a:solidFill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59" name="Rectangle 21"/>
              <p:cNvSpPr/>
              <p:nvPr/>
            </p:nvSpPr>
            <p:spPr>
              <a:xfrm>
                <a:off x="948" y="490"/>
                <a:ext cx="316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860" name="Group 22"/>
            <p:cNvGrpSpPr/>
            <p:nvPr/>
          </p:nvGrpSpPr>
          <p:grpSpPr>
            <a:xfrm>
              <a:off x="1264" y="490"/>
              <a:ext cx="316" cy="480"/>
              <a:chOff x="1264" y="490"/>
              <a:chExt cx="316" cy="480"/>
            </a:xfrm>
          </p:grpSpPr>
          <p:sp>
            <p:nvSpPr>
              <p:cNvPr id="35861" name="Rectangle 23"/>
              <p:cNvSpPr/>
              <p:nvPr/>
            </p:nvSpPr>
            <p:spPr>
              <a:xfrm>
                <a:off x="1307" y="490"/>
                <a:ext cx="230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2000" dirty="0">
                    <a:solidFill>
                      <a:schemeClr val="hlink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rPr>
                  <a:t>e</a:t>
                </a:r>
                <a:endParaRPr lang="en-US" altLang="zh-CN" sz="1000" dirty="0">
                  <a:solidFill>
                    <a:schemeClr val="hlink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62" name="Rectangle 24"/>
              <p:cNvSpPr/>
              <p:nvPr/>
            </p:nvSpPr>
            <p:spPr>
              <a:xfrm>
                <a:off x="1264" y="490"/>
                <a:ext cx="316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863" name="Group 25"/>
            <p:cNvGrpSpPr/>
            <p:nvPr/>
          </p:nvGrpSpPr>
          <p:grpSpPr>
            <a:xfrm>
              <a:off x="1580" y="490"/>
              <a:ext cx="315" cy="480"/>
              <a:chOff x="1580" y="490"/>
              <a:chExt cx="315" cy="480"/>
            </a:xfrm>
          </p:grpSpPr>
          <p:sp>
            <p:nvSpPr>
              <p:cNvPr id="35864" name="Rectangle 26"/>
              <p:cNvSpPr/>
              <p:nvPr/>
            </p:nvSpPr>
            <p:spPr>
              <a:xfrm>
                <a:off x="1623" y="490"/>
                <a:ext cx="229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2000" dirty="0">
                    <a:solidFill>
                      <a:schemeClr val="hlink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rPr>
                  <a:t>b</a:t>
                </a:r>
                <a:endParaRPr lang="en-US" altLang="zh-CN" sz="1000" dirty="0">
                  <a:solidFill>
                    <a:schemeClr val="hlink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65" name="Rectangle 27"/>
              <p:cNvSpPr/>
              <p:nvPr/>
            </p:nvSpPr>
            <p:spPr>
              <a:xfrm>
                <a:off x="1580" y="490"/>
                <a:ext cx="315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866" name="Group 28"/>
            <p:cNvGrpSpPr/>
            <p:nvPr/>
          </p:nvGrpSpPr>
          <p:grpSpPr>
            <a:xfrm>
              <a:off x="1895" y="490"/>
              <a:ext cx="316" cy="480"/>
              <a:chOff x="1895" y="490"/>
              <a:chExt cx="316" cy="480"/>
            </a:xfrm>
          </p:grpSpPr>
          <p:sp>
            <p:nvSpPr>
              <p:cNvPr id="35867" name="Rectangle 29"/>
              <p:cNvSpPr/>
              <p:nvPr/>
            </p:nvSpPr>
            <p:spPr>
              <a:xfrm>
                <a:off x="1938" y="490"/>
                <a:ext cx="230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2000" dirty="0">
                    <a:solidFill>
                      <a:schemeClr val="hlink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rPr>
                  <a:t>d</a:t>
                </a:r>
                <a:endParaRPr lang="en-US" altLang="zh-CN" sz="1000" dirty="0">
                  <a:solidFill>
                    <a:schemeClr val="hlink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solidFill>
                    <a:schemeClr val="hlink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68" name="Rectangle 30"/>
              <p:cNvSpPr/>
              <p:nvPr/>
            </p:nvSpPr>
            <p:spPr>
              <a:xfrm>
                <a:off x="1895" y="490"/>
                <a:ext cx="316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869" name="Group 31"/>
            <p:cNvGrpSpPr/>
            <p:nvPr/>
          </p:nvGrpSpPr>
          <p:grpSpPr>
            <a:xfrm>
              <a:off x="2211" y="490"/>
              <a:ext cx="315" cy="480"/>
              <a:chOff x="2211" y="490"/>
              <a:chExt cx="315" cy="480"/>
            </a:xfrm>
          </p:grpSpPr>
          <p:sp>
            <p:nvSpPr>
              <p:cNvPr id="35870" name="Rectangle 32"/>
              <p:cNvSpPr/>
              <p:nvPr/>
            </p:nvSpPr>
            <p:spPr>
              <a:xfrm>
                <a:off x="2254" y="490"/>
                <a:ext cx="229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endParaRPr lang="zh-CN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71" name="Rectangle 33"/>
              <p:cNvSpPr/>
              <p:nvPr/>
            </p:nvSpPr>
            <p:spPr>
              <a:xfrm>
                <a:off x="2211" y="490"/>
                <a:ext cx="315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872" name="Group 34"/>
            <p:cNvGrpSpPr/>
            <p:nvPr/>
          </p:nvGrpSpPr>
          <p:grpSpPr>
            <a:xfrm>
              <a:off x="2526" y="490"/>
              <a:ext cx="315" cy="480"/>
              <a:chOff x="2526" y="490"/>
              <a:chExt cx="315" cy="480"/>
            </a:xfrm>
          </p:grpSpPr>
          <p:sp>
            <p:nvSpPr>
              <p:cNvPr id="35873" name="Rectangle 35"/>
              <p:cNvSpPr/>
              <p:nvPr/>
            </p:nvSpPr>
            <p:spPr>
              <a:xfrm>
                <a:off x="2569" y="490"/>
                <a:ext cx="229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2000" dirty="0">
                    <a:solidFill>
                      <a:schemeClr val="hlink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rPr>
                  <a:t>S</a:t>
                </a:r>
                <a:endParaRPr lang="en-US" altLang="zh-CN" sz="1000" dirty="0">
                  <a:solidFill>
                    <a:schemeClr val="hlink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74" name="Rectangle 36"/>
              <p:cNvSpPr/>
              <p:nvPr/>
            </p:nvSpPr>
            <p:spPr>
              <a:xfrm>
                <a:off x="2526" y="490"/>
                <a:ext cx="315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875" name="Group 37"/>
            <p:cNvGrpSpPr/>
            <p:nvPr/>
          </p:nvGrpSpPr>
          <p:grpSpPr>
            <a:xfrm>
              <a:off x="2841" y="490"/>
              <a:ext cx="315" cy="480"/>
              <a:chOff x="2841" y="490"/>
              <a:chExt cx="315" cy="480"/>
            </a:xfrm>
          </p:grpSpPr>
          <p:sp>
            <p:nvSpPr>
              <p:cNvPr id="35876" name="Rectangle 38"/>
              <p:cNvSpPr/>
              <p:nvPr/>
            </p:nvSpPr>
            <p:spPr>
              <a:xfrm>
                <a:off x="2884" y="490"/>
                <a:ext cx="229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2000" dirty="0">
                    <a:solidFill>
                      <a:schemeClr val="hlink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rPr>
                  <a:t>A</a:t>
                </a:r>
                <a:endParaRPr lang="en-US" altLang="zh-CN" sz="1000" dirty="0">
                  <a:solidFill>
                    <a:schemeClr val="hlink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77" name="Rectangle 39"/>
              <p:cNvSpPr/>
              <p:nvPr/>
            </p:nvSpPr>
            <p:spPr>
              <a:xfrm>
                <a:off x="2841" y="490"/>
                <a:ext cx="315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878" name="Group 40"/>
            <p:cNvGrpSpPr/>
            <p:nvPr/>
          </p:nvGrpSpPr>
          <p:grpSpPr>
            <a:xfrm>
              <a:off x="3156" y="490"/>
              <a:ext cx="355" cy="480"/>
              <a:chOff x="3156" y="490"/>
              <a:chExt cx="355" cy="480"/>
            </a:xfrm>
          </p:grpSpPr>
          <p:sp>
            <p:nvSpPr>
              <p:cNvPr id="35879" name="Rectangle 41"/>
              <p:cNvSpPr/>
              <p:nvPr/>
            </p:nvSpPr>
            <p:spPr>
              <a:xfrm>
                <a:off x="3199" y="490"/>
                <a:ext cx="269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2000" dirty="0">
                    <a:solidFill>
                      <a:schemeClr val="hlink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rPr>
                  <a:t>B</a:t>
                </a:r>
                <a:endParaRPr lang="en-US" altLang="zh-CN" sz="1000" dirty="0">
                  <a:solidFill>
                    <a:schemeClr val="hlink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80" name="Rectangle 42"/>
              <p:cNvSpPr/>
              <p:nvPr/>
            </p:nvSpPr>
            <p:spPr>
              <a:xfrm>
                <a:off x="3156" y="490"/>
                <a:ext cx="355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881" name="Group 43"/>
            <p:cNvGrpSpPr/>
            <p:nvPr/>
          </p:nvGrpSpPr>
          <p:grpSpPr>
            <a:xfrm>
              <a:off x="0" y="970"/>
              <a:ext cx="316" cy="480"/>
              <a:chOff x="0" y="970"/>
              <a:chExt cx="316" cy="480"/>
            </a:xfrm>
          </p:grpSpPr>
          <p:sp>
            <p:nvSpPr>
              <p:cNvPr id="35882" name="Rectangle 44"/>
              <p:cNvSpPr/>
              <p:nvPr/>
            </p:nvSpPr>
            <p:spPr>
              <a:xfrm>
                <a:off x="43" y="970"/>
                <a:ext cx="230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2000" dirty="0">
                    <a:solidFill>
                      <a:schemeClr val="hlink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rPr>
                  <a:t>0</a:t>
                </a:r>
                <a:endParaRPr lang="en-US" altLang="zh-CN" sz="1000" dirty="0">
                  <a:solidFill>
                    <a:schemeClr val="hlink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solidFill>
                    <a:schemeClr val="hlink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83" name="Rectangle 45"/>
              <p:cNvSpPr/>
              <p:nvPr/>
            </p:nvSpPr>
            <p:spPr>
              <a:xfrm>
                <a:off x="0" y="970"/>
                <a:ext cx="316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884" name="Group 46"/>
            <p:cNvGrpSpPr/>
            <p:nvPr/>
          </p:nvGrpSpPr>
          <p:grpSpPr>
            <a:xfrm>
              <a:off x="316" y="970"/>
              <a:ext cx="332" cy="480"/>
              <a:chOff x="316" y="970"/>
              <a:chExt cx="332" cy="480"/>
            </a:xfrm>
          </p:grpSpPr>
          <p:sp>
            <p:nvSpPr>
              <p:cNvPr id="35885" name="Rectangle 47"/>
              <p:cNvSpPr/>
              <p:nvPr/>
            </p:nvSpPr>
            <p:spPr>
              <a:xfrm>
                <a:off x="359" y="970"/>
                <a:ext cx="246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2000" dirty="0">
                    <a:latin typeface="Comic Sans MS" panose="030F0702030302020204" pitchFamily="66" charset="0"/>
                    <a:ea typeface="宋体" panose="02010600030101010101" pitchFamily="2" charset="-122"/>
                  </a:rPr>
                  <a:t>S</a:t>
                </a:r>
                <a:endParaRPr lang="en-US" altLang="zh-CN" sz="100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86" name="Rectangle 48"/>
              <p:cNvSpPr/>
              <p:nvPr/>
            </p:nvSpPr>
            <p:spPr>
              <a:xfrm>
                <a:off x="316" y="970"/>
                <a:ext cx="332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887" name="Group 49"/>
            <p:cNvGrpSpPr/>
            <p:nvPr/>
          </p:nvGrpSpPr>
          <p:grpSpPr>
            <a:xfrm>
              <a:off x="648" y="970"/>
              <a:ext cx="300" cy="480"/>
              <a:chOff x="648" y="970"/>
              <a:chExt cx="300" cy="480"/>
            </a:xfrm>
          </p:grpSpPr>
          <p:sp>
            <p:nvSpPr>
              <p:cNvPr id="35888" name="Rectangle 50"/>
              <p:cNvSpPr/>
              <p:nvPr/>
            </p:nvSpPr>
            <p:spPr>
              <a:xfrm>
                <a:off x="691" y="970"/>
                <a:ext cx="214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2000" dirty="0">
                    <a:latin typeface="Comic Sans MS" panose="030F0702030302020204" pitchFamily="66" charset="0"/>
                    <a:ea typeface="宋体" panose="02010600030101010101" pitchFamily="2" charset="-122"/>
                  </a:rPr>
                  <a:t>2</a:t>
                </a:r>
                <a:endParaRPr lang="en-US" altLang="zh-CN" sz="100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89" name="Rectangle 51"/>
              <p:cNvSpPr/>
              <p:nvPr/>
            </p:nvSpPr>
            <p:spPr>
              <a:xfrm>
                <a:off x="648" y="970"/>
                <a:ext cx="300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890" name="Group 52"/>
            <p:cNvGrpSpPr/>
            <p:nvPr/>
          </p:nvGrpSpPr>
          <p:grpSpPr>
            <a:xfrm>
              <a:off x="948" y="970"/>
              <a:ext cx="316" cy="480"/>
              <a:chOff x="948" y="970"/>
              <a:chExt cx="316" cy="480"/>
            </a:xfrm>
          </p:grpSpPr>
          <p:sp>
            <p:nvSpPr>
              <p:cNvPr id="35891" name="Rectangle 53"/>
              <p:cNvSpPr/>
              <p:nvPr/>
            </p:nvSpPr>
            <p:spPr>
              <a:xfrm>
                <a:off x="991" y="970"/>
                <a:ext cx="230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92" name="Rectangle 54"/>
              <p:cNvSpPr/>
              <p:nvPr/>
            </p:nvSpPr>
            <p:spPr>
              <a:xfrm>
                <a:off x="948" y="970"/>
                <a:ext cx="316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893" name="Group 55"/>
            <p:cNvGrpSpPr/>
            <p:nvPr/>
          </p:nvGrpSpPr>
          <p:grpSpPr>
            <a:xfrm>
              <a:off x="1264" y="970"/>
              <a:ext cx="316" cy="480"/>
              <a:chOff x="1264" y="970"/>
              <a:chExt cx="316" cy="480"/>
            </a:xfrm>
          </p:grpSpPr>
          <p:sp>
            <p:nvSpPr>
              <p:cNvPr id="35894" name="Rectangle 56"/>
              <p:cNvSpPr/>
              <p:nvPr/>
            </p:nvSpPr>
            <p:spPr>
              <a:xfrm>
                <a:off x="1307" y="970"/>
                <a:ext cx="230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95" name="Rectangle 57"/>
              <p:cNvSpPr/>
              <p:nvPr/>
            </p:nvSpPr>
            <p:spPr>
              <a:xfrm>
                <a:off x="1264" y="970"/>
                <a:ext cx="316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896" name="Group 58"/>
            <p:cNvGrpSpPr/>
            <p:nvPr/>
          </p:nvGrpSpPr>
          <p:grpSpPr>
            <a:xfrm>
              <a:off x="1580" y="970"/>
              <a:ext cx="315" cy="480"/>
              <a:chOff x="1580" y="970"/>
              <a:chExt cx="315" cy="480"/>
            </a:xfrm>
          </p:grpSpPr>
          <p:sp>
            <p:nvSpPr>
              <p:cNvPr id="35897" name="Rectangle 59"/>
              <p:cNvSpPr/>
              <p:nvPr/>
            </p:nvSpPr>
            <p:spPr>
              <a:xfrm>
                <a:off x="1623" y="970"/>
                <a:ext cx="229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98" name="Rectangle 60"/>
              <p:cNvSpPr/>
              <p:nvPr/>
            </p:nvSpPr>
            <p:spPr>
              <a:xfrm>
                <a:off x="1580" y="970"/>
                <a:ext cx="315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899" name="Group 61"/>
            <p:cNvGrpSpPr/>
            <p:nvPr/>
          </p:nvGrpSpPr>
          <p:grpSpPr>
            <a:xfrm>
              <a:off x="1895" y="970"/>
              <a:ext cx="316" cy="480"/>
              <a:chOff x="1895" y="970"/>
              <a:chExt cx="316" cy="480"/>
            </a:xfrm>
          </p:grpSpPr>
          <p:sp>
            <p:nvSpPr>
              <p:cNvPr id="35900" name="Rectangle 62"/>
              <p:cNvSpPr/>
              <p:nvPr/>
            </p:nvSpPr>
            <p:spPr>
              <a:xfrm>
                <a:off x="1938" y="970"/>
                <a:ext cx="230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901" name="Rectangle 63"/>
              <p:cNvSpPr/>
              <p:nvPr/>
            </p:nvSpPr>
            <p:spPr>
              <a:xfrm>
                <a:off x="1895" y="970"/>
                <a:ext cx="316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902" name="Group 64"/>
            <p:cNvGrpSpPr/>
            <p:nvPr/>
          </p:nvGrpSpPr>
          <p:grpSpPr>
            <a:xfrm>
              <a:off x="2211" y="970"/>
              <a:ext cx="315" cy="480"/>
              <a:chOff x="2211" y="970"/>
              <a:chExt cx="315" cy="480"/>
            </a:xfrm>
          </p:grpSpPr>
          <p:sp>
            <p:nvSpPr>
              <p:cNvPr id="35903" name="Rectangle 65"/>
              <p:cNvSpPr/>
              <p:nvPr/>
            </p:nvSpPr>
            <p:spPr>
              <a:xfrm>
                <a:off x="2254" y="970"/>
                <a:ext cx="229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904" name="Rectangle 66"/>
              <p:cNvSpPr/>
              <p:nvPr/>
            </p:nvSpPr>
            <p:spPr>
              <a:xfrm>
                <a:off x="2211" y="970"/>
                <a:ext cx="315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905" name="Group 67"/>
            <p:cNvGrpSpPr/>
            <p:nvPr/>
          </p:nvGrpSpPr>
          <p:grpSpPr>
            <a:xfrm>
              <a:off x="2526" y="970"/>
              <a:ext cx="315" cy="480"/>
              <a:chOff x="2526" y="970"/>
              <a:chExt cx="315" cy="480"/>
            </a:xfrm>
          </p:grpSpPr>
          <p:sp>
            <p:nvSpPr>
              <p:cNvPr id="35906" name="Rectangle 68"/>
              <p:cNvSpPr/>
              <p:nvPr/>
            </p:nvSpPr>
            <p:spPr>
              <a:xfrm>
                <a:off x="2569" y="970"/>
                <a:ext cx="229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2000" dirty="0">
                    <a:latin typeface="Comic Sans MS" panose="030F0702030302020204" pitchFamily="66" charset="0"/>
                    <a:ea typeface="宋体" panose="02010600030101010101" pitchFamily="2" charset="-122"/>
                  </a:rPr>
                  <a:t>1</a:t>
                </a:r>
                <a:endParaRPr lang="en-US" altLang="zh-CN" sz="100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907" name="Rectangle 69"/>
              <p:cNvSpPr/>
              <p:nvPr/>
            </p:nvSpPr>
            <p:spPr>
              <a:xfrm>
                <a:off x="2526" y="970"/>
                <a:ext cx="315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908" name="Group 70"/>
            <p:cNvGrpSpPr/>
            <p:nvPr/>
          </p:nvGrpSpPr>
          <p:grpSpPr>
            <a:xfrm>
              <a:off x="2841" y="970"/>
              <a:ext cx="315" cy="480"/>
              <a:chOff x="2841" y="970"/>
              <a:chExt cx="315" cy="480"/>
            </a:xfrm>
          </p:grpSpPr>
          <p:sp>
            <p:nvSpPr>
              <p:cNvPr id="35909" name="Rectangle 71"/>
              <p:cNvSpPr/>
              <p:nvPr/>
            </p:nvSpPr>
            <p:spPr>
              <a:xfrm>
                <a:off x="2884" y="970"/>
                <a:ext cx="229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910" name="Rectangle 72"/>
              <p:cNvSpPr/>
              <p:nvPr/>
            </p:nvSpPr>
            <p:spPr>
              <a:xfrm>
                <a:off x="2841" y="970"/>
                <a:ext cx="315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911" name="Group 73"/>
            <p:cNvGrpSpPr/>
            <p:nvPr/>
          </p:nvGrpSpPr>
          <p:grpSpPr>
            <a:xfrm>
              <a:off x="3156" y="970"/>
              <a:ext cx="355" cy="480"/>
              <a:chOff x="3156" y="970"/>
              <a:chExt cx="355" cy="480"/>
            </a:xfrm>
          </p:grpSpPr>
          <p:sp>
            <p:nvSpPr>
              <p:cNvPr id="35912" name="Rectangle 74"/>
              <p:cNvSpPr/>
              <p:nvPr/>
            </p:nvSpPr>
            <p:spPr>
              <a:xfrm>
                <a:off x="3199" y="970"/>
                <a:ext cx="269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913" name="Rectangle 75"/>
              <p:cNvSpPr/>
              <p:nvPr/>
            </p:nvSpPr>
            <p:spPr>
              <a:xfrm>
                <a:off x="3156" y="970"/>
                <a:ext cx="355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914" name="Group 76"/>
            <p:cNvGrpSpPr/>
            <p:nvPr/>
          </p:nvGrpSpPr>
          <p:grpSpPr>
            <a:xfrm>
              <a:off x="0" y="1450"/>
              <a:ext cx="316" cy="864"/>
              <a:chOff x="0" y="1450"/>
              <a:chExt cx="316" cy="864"/>
            </a:xfrm>
          </p:grpSpPr>
          <p:sp>
            <p:nvSpPr>
              <p:cNvPr id="35915" name="Rectangle 77"/>
              <p:cNvSpPr/>
              <p:nvPr/>
            </p:nvSpPr>
            <p:spPr>
              <a:xfrm>
                <a:off x="43" y="1450"/>
                <a:ext cx="230" cy="8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2000" dirty="0">
                    <a:solidFill>
                      <a:schemeClr val="hlink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rPr>
                  <a:t>1</a:t>
                </a:r>
                <a:endParaRPr lang="en-US" altLang="zh-CN" sz="1000" dirty="0">
                  <a:solidFill>
                    <a:schemeClr val="hlink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916" name="Rectangle 78"/>
              <p:cNvSpPr/>
              <p:nvPr/>
            </p:nvSpPr>
            <p:spPr>
              <a:xfrm>
                <a:off x="0" y="1450"/>
                <a:ext cx="316" cy="86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917" name="Group 79"/>
            <p:cNvGrpSpPr/>
            <p:nvPr/>
          </p:nvGrpSpPr>
          <p:grpSpPr>
            <a:xfrm>
              <a:off x="316" y="1450"/>
              <a:ext cx="332" cy="864"/>
              <a:chOff x="316" y="1450"/>
              <a:chExt cx="332" cy="864"/>
            </a:xfrm>
          </p:grpSpPr>
          <p:sp>
            <p:nvSpPr>
              <p:cNvPr id="35918" name="Rectangle 80"/>
              <p:cNvSpPr/>
              <p:nvPr/>
            </p:nvSpPr>
            <p:spPr>
              <a:xfrm>
                <a:off x="359" y="1450"/>
                <a:ext cx="246" cy="8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SzTx/>
                </a:pPr>
                <a:r>
                  <a:rPr lang="en-US" altLang="zh-CN" sz="1800" dirty="0">
                    <a:latin typeface="Comic Sans MS" panose="030F0702030302020204" pitchFamily="66" charset="0"/>
                    <a:ea typeface="宋体" panose="02010600030101010101" pitchFamily="2" charset="-122"/>
                  </a:rPr>
                  <a:t>acc</a:t>
                </a:r>
                <a:endParaRPr lang="en-US" altLang="zh-CN" sz="180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sz="18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919" name="Rectangle 81"/>
              <p:cNvSpPr/>
              <p:nvPr/>
            </p:nvSpPr>
            <p:spPr>
              <a:xfrm>
                <a:off x="316" y="1450"/>
                <a:ext cx="332" cy="86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920" name="Group 82"/>
            <p:cNvGrpSpPr/>
            <p:nvPr/>
          </p:nvGrpSpPr>
          <p:grpSpPr>
            <a:xfrm>
              <a:off x="648" y="1450"/>
              <a:ext cx="300" cy="864"/>
              <a:chOff x="648" y="1450"/>
              <a:chExt cx="300" cy="864"/>
            </a:xfrm>
          </p:grpSpPr>
          <p:sp>
            <p:nvSpPr>
              <p:cNvPr id="35921" name="Rectangle 83"/>
              <p:cNvSpPr/>
              <p:nvPr/>
            </p:nvSpPr>
            <p:spPr>
              <a:xfrm>
                <a:off x="691" y="1450"/>
                <a:ext cx="214" cy="8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922" name="Rectangle 84"/>
              <p:cNvSpPr/>
              <p:nvPr/>
            </p:nvSpPr>
            <p:spPr>
              <a:xfrm>
                <a:off x="648" y="1450"/>
                <a:ext cx="300" cy="86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923" name="Group 85"/>
            <p:cNvGrpSpPr/>
            <p:nvPr/>
          </p:nvGrpSpPr>
          <p:grpSpPr>
            <a:xfrm>
              <a:off x="948" y="1450"/>
              <a:ext cx="316" cy="864"/>
              <a:chOff x="948" y="1450"/>
              <a:chExt cx="316" cy="864"/>
            </a:xfrm>
          </p:grpSpPr>
          <p:sp>
            <p:nvSpPr>
              <p:cNvPr id="35924" name="Rectangle 86"/>
              <p:cNvSpPr/>
              <p:nvPr/>
            </p:nvSpPr>
            <p:spPr>
              <a:xfrm>
                <a:off x="991" y="1450"/>
                <a:ext cx="230" cy="8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925" name="Rectangle 87"/>
              <p:cNvSpPr/>
              <p:nvPr/>
            </p:nvSpPr>
            <p:spPr>
              <a:xfrm>
                <a:off x="948" y="1450"/>
                <a:ext cx="316" cy="86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926" name="Group 88"/>
            <p:cNvGrpSpPr/>
            <p:nvPr/>
          </p:nvGrpSpPr>
          <p:grpSpPr>
            <a:xfrm>
              <a:off x="1264" y="1450"/>
              <a:ext cx="316" cy="864"/>
              <a:chOff x="1264" y="1450"/>
              <a:chExt cx="316" cy="864"/>
            </a:xfrm>
          </p:grpSpPr>
          <p:sp>
            <p:nvSpPr>
              <p:cNvPr id="35927" name="Rectangle 89"/>
              <p:cNvSpPr/>
              <p:nvPr/>
            </p:nvSpPr>
            <p:spPr>
              <a:xfrm>
                <a:off x="1307" y="1450"/>
                <a:ext cx="230" cy="8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928" name="Rectangle 90"/>
              <p:cNvSpPr/>
              <p:nvPr/>
            </p:nvSpPr>
            <p:spPr>
              <a:xfrm>
                <a:off x="1264" y="1450"/>
                <a:ext cx="316" cy="86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929" name="Group 91"/>
            <p:cNvGrpSpPr/>
            <p:nvPr/>
          </p:nvGrpSpPr>
          <p:grpSpPr>
            <a:xfrm>
              <a:off x="1580" y="1450"/>
              <a:ext cx="315" cy="864"/>
              <a:chOff x="1580" y="1450"/>
              <a:chExt cx="315" cy="864"/>
            </a:xfrm>
          </p:grpSpPr>
          <p:sp>
            <p:nvSpPr>
              <p:cNvPr id="35930" name="Rectangle 92"/>
              <p:cNvSpPr/>
              <p:nvPr/>
            </p:nvSpPr>
            <p:spPr>
              <a:xfrm>
                <a:off x="1623" y="1450"/>
                <a:ext cx="229" cy="8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931" name="Rectangle 93"/>
              <p:cNvSpPr/>
              <p:nvPr/>
            </p:nvSpPr>
            <p:spPr>
              <a:xfrm>
                <a:off x="1580" y="1450"/>
                <a:ext cx="315" cy="86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932" name="Group 94"/>
            <p:cNvGrpSpPr/>
            <p:nvPr/>
          </p:nvGrpSpPr>
          <p:grpSpPr>
            <a:xfrm>
              <a:off x="1895" y="1450"/>
              <a:ext cx="316" cy="864"/>
              <a:chOff x="1895" y="1450"/>
              <a:chExt cx="316" cy="864"/>
            </a:xfrm>
          </p:grpSpPr>
          <p:sp>
            <p:nvSpPr>
              <p:cNvPr id="35933" name="Rectangle 95"/>
              <p:cNvSpPr/>
              <p:nvPr/>
            </p:nvSpPr>
            <p:spPr>
              <a:xfrm>
                <a:off x="1938" y="1450"/>
                <a:ext cx="230" cy="8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934" name="Rectangle 96"/>
              <p:cNvSpPr/>
              <p:nvPr/>
            </p:nvSpPr>
            <p:spPr>
              <a:xfrm>
                <a:off x="1895" y="1450"/>
                <a:ext cx="316" cy="86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935" name="Group 97"/>
            <p:cNvGrpSpPr/>
            <p:nvPr/>
          </p:nvGrpSpPr>
          <p:grpSpPr>
            <a:xfrm>
              <a:off x="2211" y="1450"/>
              <a:ext cx="315" cy="864"/>
              <a:chOff x="2211" y="1450"/>
              <a:chExt cx="315" cy="864"/>
            </a:xfrm>
          </p:grpSpPr>
          <p:sp>
            <p:nvSpPr>
              <p:cNvPr id="35936" name="Rectangle 98"/>
              <p:cNvSpPr/>
              <p:nvPr/>
            </p:nvSpPr>
            <p:spPr>
              <a:xfrm>
                <a:off x="2254" y="1450"/>
                <a:ext cx="229" cy="8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937" name="Rectangle 99"/>
              <p:cNvSpPr/>
              <p:nvPr/>
            </p:nvSpPr>
            <p:spPr>
              <a:xfrm>
                <a:off x="2211" y="1450"/>
                <a:ext cx="315" cy="86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938" name="Group 100"/>
            <p:cNvGrpSpPr/>
            <p:nvPr/>
          </p:nvGrpSpPr>
          <p:grpSpPr>
            <a:xfrm>
              <a:off x="2526" y="1450"/>
              <a:ext cx="315" cy="864"/>
              <a:chOff x="2526" y="1450"/>
              <a:chExt cx="315" cy="864"/>
            </a:xfrm>
          </p:grpSpPr>
          <p:sp>
            <p:nvSpPr>
              <p:cNvPr id="35939" name="Rectangle 101"/>
              <p:cNvSpPr/>
              <p:nvPr/>
            </p:nvSpPr>
            <p:spPr>
              <a:xfrm>
                <a:off x="2569" y="1450"/>
                <a:ext cx="229" cy="8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940" name="Rectangle 102"/>
              <p:cNvSpPr/>
              <p:nvPr/>
            </p:nvSpPr>
            <p:spPr>
              <a:xfrm>
                <a:off x="2526" y="1450"/>
                <a:ext cx="315" cy="86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941" name="Group 103"/>
            <p:cNvGrpSpPr/>
            <p:nvPr/>
          </p:nvGrpSpPr>
          <p:grpSpPr>
            <a:xfrm>
              <a:off x="2841" y="1450"/>
              <a:ext cx="315" cy="864"/>
              <a:chOff x="2841" y="1450"/>
              <a:chExt cx="315" cy="864"/>
            </a:xfrm>
          </p:grpSpPr>
          <p:sp>
            <p:nvSpPr>
              <p:cNvPr id="35942" name="Rectangle 104"/>
              <p:cNvSpPr/>
              <p:nvPr/>
            </p:nvSpPr>
            <p:spPr>
              <a:xfrm>
                <a:off x="2884" y="1450"/>
                <a:ext cx="229" cy="8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943" name="Rectangle 105"/>
              <p:cNvSpPr/>
              <p:nvPr/>
            </p:nvSpPr>
            <p:spPr>
              <a:xfrm>
                <a:off x="2841" y="1450"/>
                <a:ext cx="315" cy="86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944" name="Group 106"/>
            <p:cNvGrpSpPr/>
            <p:nvPr/>
          </p:nvGrpSpPr>
          <p:grpSpPr>
            <a:xfrm>
              <a:off x="3156" y="1450"/>
              <a:ext cx="355" cy="864"/>
              <a:chOff x="3156" y="1450"/>
              <a:chExt cx="355" cy="864"/>
            </a:xfrm>
          </p:grpSpPr>
          <p:sp>
            <p:nvSpPr>
              <p:cNvPr id="35945" name="Rectangle 107"/>
              <p:cNvSpPr/>
              <p:nvPr/>
            </p:nvSpPr>
            <p:spPr>
              <a:xfrm>
                <a:off x="3199" y="1450"/>
                <a:ext cx="269" cy="8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946" name="Rectangle 108"/>
              <p:cNvSpPr/>
              <p:nvPr/>
            </p:nvSpPr>
            <p:spPr>
              <a:xfrm>
                <a:off x="3156" y="1450"/>
                <a:ext cx="355" cy="86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947" name="Group 109"/>
            <p:cNvGrpSpPr/>
            <p:nvPr/>
          </p:nvGrpSpPr>
          <p:grpSpPr>
            <a:xfrm>
              <a:off x="0" y="2314"/>
              <a:ext cx="316" cy="480"/>
              <a:chOff x="0" y="2314"/>
              <a:chExt cx="316" cy="480"/>
            </a:xfrm>
          </p:grpSpPr>
          <p:sp>
            <p:nvSpPr>
              <p:cNvPr id="35948" name="Rectangle 110"/>
              <p:cNvSpPr/>
              <p:nvPr/>
            </p:nvSpPr>
            <p:spPr>
              <a:xfrm>
                <a:off x="43" y="2314"/>
                <a:ext cx="230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2000" dirty="0">
                    <a:solidFill>
                      <a:schemeClr val="hlink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rPr>
                  <a:t>2</a:t>
                </a:r>
                <a:endParaRPr lang="en-US" altLang="zh-CN" sz="1000" dirty="0">
                  <a:solidFill>
                    <a:schemeClr val="hlink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949" name="Rectangle 111"/>
              <p:cNvSpPr/>
              <p:nvPr/>
            </p:nvSpPr>
            <p:spPr>
              <a:xfrm>
                <a:off x="0" y="2314"/>
                <a:ext cx="316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950" name="Group 112"/>
            <p:cNvGrpSpPr/>
            <p:nvPr/>
          </p:nvGrpSpPr>
          <p:grpSpPr>
            <a:xfrm>
              <a:off x="316" y="2314"/>
              <a:ext cx="332" cy="480"/>
              <a:chOff x="316" y="2314"/>
              <a:chExt cx="332" cy="480"/>
            </a:xfrm>
          </p:grpSpPr>
          <p:sp>
            <p:nvSpPr>
              <p:cNvPr id="35951" name="Rectangle 113"/>
              <p:cNvSpPr/>
              <p:nvPr/>
            </p:nvSpPr>
            <p:spPr>
              <a:xfrm>
                <a:off x="359" y="2314"/>
                <a:ext cx="246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2000" dirty="0">
                    <a:latin typeface="Comic Sans MS" panose="030F0702030302020204" pitchFamily="66" charset="0"/>
                    <a:ea typeface="宋体" panose="02010600030101010101" pitchFamily="2" charset="-122"/>
                  </a:rPr>
                  <a:t>S</a:t>
                </a:r>
                <a:endParaRPr lang="en-US" altLang="zh-CN" sz="100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952" name="Rectangle 114"/>
              <p:cNvSpPr/>
              <p:nvPr/>
            </p:nvSpPr>
            <p:spPr>
              <a:xfrm>
                <a:off x="316" y="2314"/>
                <a:ext cx="332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953" name="Group 115"/>
            <p:cNvGrpSpPr/>
            <p:nvPr/>
          </p:nvGrpSpPr>
          <p:grpSpPr>
            <a:xfrm>
              <a:off x="648" y="2314"/>
              <a:ext cx="300" cy="480"/>
              <a:chOff x="648" y="2314"/>
              <a:chExt cx="300" cy="480"/>
            </a:xfrm>
          </p:grpSpPr>
          <p:sp>
            <p:nvSpPr>
              <p:cNvPr id="35954" name="Rectangle 116"/>
              <p:cNvSpPr/>
              <p:nvPr/>
            </p:nvSpPr>
            <p:spPr>
              <a:xfrm>
                <a:off x="691" y="2314"/>
                <a:ext cx="214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955" name="Rectangle 117"/>
              <p:cNvSpPr/>
              <p:nvPr/>
            </p:nvSpPr>
            <p:spPr>
              <a:xfrm>
                <a:off x="648" y="2314"/>
                <a:ext cx="300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956" name="Group 118"/>
            <p:cNvGrpSpPr/>
            <p:nvPr/>
          </p:nvGrpSpPr>
          <p:grpSpPr>
            <a:xfrm>
              <a:off x="948" y="2314"/>
              <a:ext cx="316" cy="480"/>
              <a:chOff x="948" y="2314"/>
              <a:chExt cx="316" cy="480"/>
            </a:xfrm>
          </p:grpSpPr>
          <p:sp>
            <p:nvSpPr>
              <p:cNvPr id="35957" name="Rectangle 119"/>
              <p:cNvSpPr/>
              <p:nvPr/>
            </p:nvSpPr>
            <p:spPr>
              <a:xfrm>
                <a:off x="991" y="2314"/>
                <a:ext cx="230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958" name="Rectangle 120"/>
              <p:cNvSpPr/>
              <p:nvPr/>
            </p:nvSpPr>
            <p:spPr>
              <a:xfrm>
                <a:off x="948" y="2314"/>
                <a:ext cx="316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959" name="Group 121"/>
            <p:cNvGrpSpPr/>
            <p:nvPr/>
          </p:nvGrpSpPr>
          <p:grpSpPr>
            <a:xfrm>
              <a:off x="1264" y="2314"/>
              <a:ext cx="316" cy="480"/>
              <a:chOff x="1264" y="2314"/>
              <a:chExt cx="316" cy="480"/>
            </a:xfrm>
          </p:grpSpPr>
          <p:sp>
            <p:nvSpPr>
              <p:cNvPr id="35960" name="Rectangle 122"/>
              <p:cNvSpPr/>
              <p:nvPr/>
            </p:nvSpPr>
            <p:spPr>
              <a:xfrm>
                <a:off x="1307" y="2314"/>
                <a:ext cx="230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961" name="Rectangle 123"/>
              <p:cNvSpPr/>
              <p:nvPr/>
            </p:nvSpPr>
            <p:spPr>
              <a:xfrm>
                <a:off x="1264" y="2314"/>
                <a:ext cx="316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962" name="Group 124"/>
            <p:cNvGrpSpPr/>
            <p:nvPr/>
          </p:nvGrpSpPr>
          <p:grpSpPr>
            <a:xfrm>
              <a:off x="1580" y="2314"/>
              <a:ext cx="315" cy="480"/>
              <a:chOff x="1580" y="2314"/>
              <a:chExt cx="315" cy="480"/>
            </a:xfrm>
          </p:grpSpPr>
          <p:sp>
            <p:nvSpPr>
              <p:cNvPr id="35963" name="Rectangle 125"/>
              <p:cNvSpPr/>
              <p:nvPr/>
            </p:nvSpPr>
            <p:spPr>
              <a:xfrm>
                <a:off x="1623" y="2314"/>
                <a:ext cx="229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2000" dirty="0">
                    <a:latin typeface="Comic Sans MS" panose="030F0702030302020204" pitchFamily="66" charset="0"/>
                    <a:ea typeface="宋体" panose="02010600030101010101" pitchFamily="2" charset="-122"/>
                  </a:rPr>
                  <a:t>4</a:t>
                </a: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964" name="Rectangle 126"/>
              <p:cNvSpPr/>
              <p:nvPr/>
            </p:nvSpPr>
            <p:spPr>
              <a:xfrm>
                <a:off x="1580" y="2314"/>
                <a:ext cx="315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965" name="Group 127"/>
            <p:cNvGrpSpPr/>
            <p:nvPr/>
          </p:nvGrpSpPr>
          <p:grpSpPr>
            <a:xfrm>
              <a:off x="1895" y="2314"/>
              <a:ext cx="316" cy="480"/>
              <a:chOff x="1895" y="2314"/>
              <a:chExt cx="316" cy="480"/>
            </a:xfrm>
          </p:grpSpPr>
          <p:sp>
            <p:nvSpPr>
              <p:cNvPr id="35966" name="Rectangle 128"/>
              <p:cNvSpPr/>
              <p:nvPr/>
            </p:nvSpPr>
            <p:spPr>
              <a:xfrm>
                <a:off x="1938" y="2314"/>
                <a:ext cx="230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967" name="Rectangle 129"/>
              <p:cNvSpPr/>
              <p:nvPr/>
            </p:nvSpPr>
            <p:spPr>
              <a:xfrm>
                <a:off x="1895" y="2314"/>
                <a:ext cx="316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968" name="Group 130"/>
            <p:cNvGrpSpPr/>
            <p:nvPr/>
          </p:nvGrpSpPr>
          <p:grpSpPr>
            <a:xfrm>
              <a:off x="2211" y="2314"/>
              <a:ext cx="315" cy="480"/>
              <a:chOff x="2211" y="2314"/>
              <a:chExt cx="315" cy="480"/>
            </a:xfrm>
          </p:grpSpPr>
          <p:sp>
            <p:nvSpPr>
              <p:cNvPr id="35969" name="Rectangle 131"/>
              <p:cNvSpPr/>
              <p:nvPr/>
            </p:nvSpPr>
            <p:spPr>
              <a:xfrm>
                <a:off x="2254" y="2314"/>
                <a:ext cx="229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970" name="Rectangle 132"/>
              <p:cNvSpPr/>
              <p:nvPr/>
            </p:nvSpPr>
            <p:spPr>
              <a:xfrm>
                <a:off x="2211" y="2314"/>
                <a:ext cx="315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971" name="Group 133"/>
            <p:cNvGrpSpPr/>
            <p:nvPr/>
          </p:nvGrpSpPr>
          <p:grpSpPr>
            <a:xfrm>
              <a:off x="2526" y="2314"/>
              <a:ext cx="315" cy="480"/>
              <a:chOff x="2526" y="2314"/>
              <a:chExt cx="315" cy="480"/>
            </a:xfrm>
          </p:grpSpPr>
          <p:sp>
            <p:nvSpPr>
              <p:cNvPr id="35972" name="Rectangle 134"/>
              <p:cNvSpPr/>
              <p:nvPr/>
            </p:nvSpPr>
            <p:spPr>
              <a:xfrm>
                <a:off x="2569" y="2314"/>
                <a:ext cx="229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973" name="Rectangle 135"/>
              <p:cNvSpPr/>
              <p:nvPr/>
            </p:nvSpPr>
            <p:spPr>
              <a:xfrm>
                <a:off x="2526" y="2314"/>
                <a:ext cx="315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974" name="Group 136"/>
            <p:cNvGrpSpPr/>
            <p:nvPr/>
          </p:nvGrpSpPr>
          <p:grpSpPr>
            <a:xfrm>
              <a:off x="2841" y="2314"/>
              <a:ext cx="315" cy="480"/>
              <a:chOff x="2841" y="2314"/>
              <a:chExt cx="315" cy="480"/>
            </a:xfrm>
          </p:grpSpPr>
          <p:sp>
            <p:nvSpPr>
              <p:cNvPr id="35975" name="Rectangle 137"/>
              <p:cNvSpPr/>
              <p:nvPr/>
            </p:nvSpPr>
            <p:spPr>
              <a:xfrm>
                <a:off x="2884" y="2314"/>
                <a:ext cx="229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2000" dirty="0">
                    <a:latin typeface="Comic Sans MS" panose="030F0702030302020204" pitchFamily="66" charset="0"/>
                    <a:ea typeface="宋体" panose="02010600030101010101" pitchFamily="2" charset="-122"/>
                  </a:rPr>
                  <a:t>3</a:t>
                </a:r>
                <a:endParaRPr lang="en-US" altLang="zh-CN" sz="100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976" name="Rectangle 138"/>
              <p:cNvSpPr/>
              <p:nvPr/>
            </p:nvSpPr>
            <p:spPr>
              <a:xfrm>
                <a:off x="2841" y="2314"/>
                <a:ext cx="315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977" name="Group 139"/>
            <p:cNvGrpSpPr/>
            <p:nvPr/>
          </p:nvGrpSpPr>
          <p:grpSpPr>
            <a:xfrm>
              <a:off x="3156" y="2314"/>
              <a:ext cx="355" cy="480"/>
              <a:chOff x="3156" y="2314"/>
              <a:chExt cx="355" cy="480"/>
            </a:xfrm>
          </p:grpSpPr>
          <p:sp>
            <p:nvSpPr>
              <p:cNvPr id="35978" name="Rectangle 140"/>
              <p:cNvSpPr/>
              <p:nvPr/>
            </p:nvSpPr>
            <p:spPr>
              <a:xfrm>
                <a:off x="3199" y="2314"/>
                <a:ext cx="269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979" name="Rectangle 141"/>
              <p:cNvSpPr/>
              <p:nvPr/>
            </p:nvSpPr>
            <p:spPr>
              <a:xfrm>
                <a:off x="3156" y="2314"/>
                <a:ext cx="355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980" name="Group 142"/>
            <p:cNvGrpSpPr/>
            <p:nvPr/>
          </p:nvGrpSpPr>
          <p:grpSpPr>
            <a:xfrm>
              <a:off x="0" y="2794"/>
              <a:ext cx="316" cy="480"/>
              <a:chOff x="0" y="2794"/>
              <a:chExt cx="316" cy="480"/>
            </a:xfrm>
          </p:grpSpPr>
          <p:sp>
            <p:nvSpPr>
              <p:cNvPr id="35981" name="Rectangle 143"/>
              <p:cNvSpPr/>
              <p:nvPr/>
            </p:nvSpPr>
            <p:spPr>
              <a:xfrm>
                <a:off x="43" y="2794"/>
                <a:ext cx="230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2000" dirty="0">
                    <a:solidFill>
                      <a:schemeClr val="hlink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rPr>
                  <a:t>3</a:t>
                </a:r>
                <a:endParaRPr lang="en-US" altLang="zh-CN" sz="1000" dirty="0">
                  <a:solidFill>
                    <a:schemeClr val="hlink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982" name="Rectangle 144"/>
              <p:cNvSpPr/>
              <p:nvPr/>
            </p:nvSpPr>
            <p:spPr>
              <a:xfrm>
                <a:off x="0" y="2794"/>
                <a:ext cx="316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983" name="Group 145"/>
            <p:cNvGrpSpPr/>
            <p:nvPr/>
          </p:nvGrpSpPr>
          <p:grpSpPr>
            <a:xfrm>
              <a:off x="316" y="2794"/>
              <a:ext cx="332" cy="480"/>
              <a:chOff x="316" y="2794"/>
              <a:chExt cx="332" cy="480"/>
            </a:xfrm>
          </p:grpSpPr>
          <p:sp>
            <p:nvSpPr>
              <p:cNvPr id="35984" name="Rectangle 146"/>
              <p:cNvSpPr/>
              <p:nvPr/>
            </p:nvSpPr>
            <p:spPr>
              <a:xfrm>
                <a:off x="359" y="2794"/>
                <a:ext cx="246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2000" dirty="0">
                    <a:latin typeface="Comic Sans MS" panose="030F0702030302020204" pitchFamily="66" charset="0"/>
                    <a:ea typeface="宋体" panose="02010600030101010101" pitchFamily="2" charset="-122"/>
                  </a:rPr>
                  <a:t>S</a:t>
                </a:r>
                <a:endParaRPr lang="en-US" altLang="zh-CN" sz="100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985" name="Rectangle 147"/>
              <p:cNvSpPr/>
              <p:nvPr/>
            </p:nvSpPr>
            <p:spPr>
              <a:xfrm>
                <a:off x="316" y="2794"/>
                <a:ext cx="332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986" name="Group 148"/>
            <p:cNvGrpSpPr/>
            <p:nvPr/>
          </p:nvGrpSpPr>
          <p:grpSpPr>
            <a:xfrm>
              <a:off x="648" y="2794"/>
              <a:ext cx="300" cy="480"/>
              <a:chOff x="648" y="2794"/>
              <a:chExt cx="300" cy="480"/>
            </a:xfrm>
          </p:grpSpPr>
          <p:sp>
            <p:nvSpPr>
              <p:cNvPr id="35987" name="Rectangle 149"/>
              <p:cNvSpPr/>
              <p:nvPr/>
            </p:nvSpPr>
            <p:spPr>
              <a:xfrm>
                <a:off x="691" y="2794"/>
                <a:ext cx="214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988" name="Rectangle 150"/>
              <p:cNvSpPr/>
              <p:nvPr/>
            </p:nvSpPr>
            <p:spPr>
              <a:xfrm>
                <a:off x="648" y="2794"/>
                <a:ext cx="300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989" name="Group 151"/>
            <p:cNvGrpSpPr/>
            <p:nvPr/>
          </p:nvGrpSpPr>
          <p:grpSpPr>
            <a:xfrm>
              <a:off x="948" y="2794"/>
              <a:ext cx="316" cy="480"/>
              <a:chOff x="948" y="2794"/>
              <a:chExt cx="316" cy="480"/>
            </a:xfrm>
          </p:grpSpPr>
          <p:sp>
            <p:nvSpPr>
              <p:cNvPr id="35990" name="Rectangle 152"/>
              <p:cNvSpPr/>
              <p:nvPr/>
            </p:nvSpPr>
            <p:spPr>
              <a:xfrm>
                <a:off x="991" y="2794"/>
                <a:ext cx="230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2000" dirty="0">
                    <a:latin typeface="Comic Sans MS" panose="030F0702030302020204" pitchFamily="66" charset="0"/>
                    <a:ea typeface="宋体" panose="02010600030101010101" pitchFamily="2" charset="-122"/>
                  </a:rPr>
                  <a:t>5</a:t>
                </a:r>
                <a:endParaRPr lang="en-US" altLang="zh-CN" sz="100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991" name="Rectangle 153"/>
              <p:cNvSpPr/>
              <p:nvPr/>
            </p:nvSpPr>
            <p:spPr>
              <a:xfrm>
                <a:off x="948" y="2794"/>
                <a:ext cx="316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992" name="Group 154"/>
            <p:cNvGrpSpPr/>
            <p:nvPr/>
          </p:nvGrpSpPr>
          <p:grpSpPr>
            <a:xfrm>
              <a:off x="1264" y="2794"/>
              <a:ext cx="316" cy="480"/>
              <a:chOff x="1264" y="2794"/>
              <a:chExt cx="316" cy="480"/>
            </a:xfrm>
          </p:grpSpPr>
          <p:sp>
            <p:nvSpPr>
              <p:cNvPr id="35993" name="Rectangle 155"/>
              <p:cNvSpPr/>
              <p:nvPr/>
            </p:nvSpPr>
            <p:spPr>
              <a:xfrm>
                <a:off x="1307" y="2794"/>
                <a:ext cx="230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994" name="Rectangle 156"/>
              <p:cNvSpPr/>
              <p:nvPr/>
            </p:nvSpPr>
            <p:spPr>
              <a:xfrm>
                <a:off x="1264" y="2794"/>
                <a:ext cx="316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995" name="Group 157"/>
            <p:cNvGrpSpPr/>
            <p:nvPr/>
          </p:nvGrpSpPr>
          <p:grpSpPr>
            <a:xfrm>
              <a:off x="1580" y="2794"/>
              <a:ext cx="315" cy="480"/>
              <a:chOff x="1580" y="2794"/>
              <a:chExt cx="315" cy="480"/>
            </a:xfrm>
          </p:grpSpPr>
          <p:sp>
            <p:nvSpPr>
              <p:cNvPr id="35996" name="Rectangle 158"/>
              <p:cNvSpPr/>
              <p:nvPr/>
            </p:nvSpPr>
            <p:spPr>
              <a:xfrm>
                <a:off x="1623" y="2794"/>
                <a:ext cx="229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2000" dirty="0">
                    <a:latin typeface="Comic Sans MS" panose="030F0702030302020204" pitchFamily="66" charset="0"/>
                    <a:ea typeface="宋体" panose="02010600030101010101" pitchFamily="2" charset="-122"/>
                  </a:rPr>
                  <a:t>6</a:t>
                </a:r>
                <a:endParaRPr lang="en-US" altLang="zh-CN" sz="100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997" name="Rectangle 159"/>
              <p:cNvSpPr/>
              <p:nvPr/>
            </p:nvSpPr>
            <p:spPr>
              <a:xfrm>
                <a:off x="1580" y="2794"/>
                <a:ext cx="315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998" name="Group 160"/>
            <p:cNvGrpSpPr/>
            <p:nvPr/>
          </p:nvGrpSpPr>
          <p:grpSpPr>
            <a:xfrm>
              <a:off x="1895" y="2794"/>
              <a:ext cx="316" cy="480"/>
              <a:chOff x="1895" y="2794"/>
              <a:chExt cx="316" cy="480"/>
            </a:xfrm>
          </p:grpSpPr>
          <p:sp>
            <p:nvSpPr>
              <p:cNvPr id="35999" name="Rectangle 161"/>
              <p:cNvSpPr/>
              <p:nvPr/>
            </p:nvSpPr>
            <p:spPr>
              <a:xfrm>
                <a:off x="1938" y="2794"/>
                <a:ext cx="230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000" name="Rectangle 162"/>
              <p:cNvSpPr/>
              <p:nvPr/>
            </p:nvSpPr>
            <p:spPr>
              <a:xfrm>
                <a:off x="1895" y="2794"/>
                <a:ext cx="316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6001" name="Group 163"/>
            <p:cNvGrpSpPr/>
            <p:nvPr/>
          </p:nvGrpSpPr>
          <p:grpSpPr>
            <a:xfrm>
              <a:off x="2211" y="2794"/>
              <a:ext cx="315" cy="480"/>
              <a:chOff x="2211" y="2794"/>
              <a:chExt cx="315" cy="480"/>
            </a:xfrm>
          </p:grpSpPr>
          <p:sp>
            <p:nvSpPr>
              <p:cNvPr id="36002" name="Rectangle 164"/>
              <p:cNvSpPr/>
              <p:nvPr/>
            </p:nvSpPr>
            <p:spPr>
              <a:xfrm>
                <a:off x="2254" y="2794"/>
                <a:ext cx="229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003" name="Rectangle 165"/>
              <p:cNvSpPr/>
              <p:nvPr/>
            </p:nvSpPr>
            <p:spPr>
              <a:xfrm>
                <a:off x="2211" y="2794"/>
                <a:ext cx="315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6004" name="Group 166"/>
            <p:cNvGrpSpPr/>
            <p:nvPr/>
          </p:nvGrpSpPr>
          <p:grpSpPr>
            <a:xfrm>
              <a:off x="2526" y="2794"/>
              <a:ext cx="315" cy="480"/>
              <a:chOff x="2526" y="2794"/>
              <a:chExt cx="315" cy="480"/>
            </a:xfrm>
          </p:grpSpPr>
          <p:sp>
            <p:nvSpPr>
              <p:cNvPr id="36005" name="Rectangle 167"/>
              <p:cNvSpPr/>
              <p:nvPr/>
            </p:nvSpPr>
            <p:spPr>
              <a:xfrm>
                <a:off x="2569" y="2794"/>
                <a:ext cx="229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006" name="Rectangle 168"/>
              <p:cNvSpPr/>
              <p:nvPr/>
            </p:nvSpPr>
            <p:spPr>
              <a:xfrm>
                <a:off x="2526" y="2794"/>
                <a:ext cx="315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6007" name="Group 169"/>
            <p:cNvGrpSpPr/>
            <p:nvPr/>
          </p:nvGrpSpPr>
          <p:grpSpPr>
            <a:xfrm>
              <a:off x="2841" y="2794"/>
              <a:ext cx="315" cy="480"/>
              <a:chOff x="2841" y="2794"/>
              <a:chExt cx="315" cy="480"/>
            </a:xfrm>
          </p:grpSpPr>
          <p:sp>
            <p:nvSpPr>
              <p:cNvPr id="36008" name="Rectangle 170"/>
              <p:cNvSpPr/>
              <p:nvPr/>
            </p:nvSpPr>
            <p:spPr>
              <a:xfrm>
                <a:off x="2884" y="2794"/>
                <a:ext cx="229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009" name="Rectangle 171"/>
              <p:cNvSpPr/>
              <p:nvPr/>
            </p:nvSpPr>
            <p:spPr>
              <a:xfrm>
                <a:off x="2841" y="2794"/>
                <a:ext cx="315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6010" name="Group 172"/>
            <p:cNvGrpSpPr/>
            <p:nvPr/>
          </p:nvGrpSpPr>
          <p:grpSpPr>
            <a:xfrm>
              <a:off x="3156" y="2794"/>
              <a:ext cx="355" cy="480"/>
              <a:chOff x="3156" y="2794"/>
              <a:chExt cx="355" cy="480"/>
            </a:xfrm>
          </p:grpSpPr>
          <p:sp>
            <p:nvSpPr>
              <p:cNvPr id="36011" name="Rectangle 173"/>
              <p:cNvSpPr/>
              <p:nvPr/>
            </p:nvSpPr>
            <p:spPr>
              <a:xfrm>
                <a:off x="3199" y="2794"/>
                <a:ext cx="269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012" name="Rectangle 174"/>
              <p:cNvSpPr/>
              <p:nvPr/>
            </p:nvSpPr>
            <p:spPr>
              <a:xfrm>
                <a:off x="3156" y="2794"/>
                <a:ext cx="355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6013" name="Group 175"/>
            <p:cNvGrpSpPr/>
            <p:nvPr/>
          </p:nvGrpSpPr>
          <p:grpSpPr>
            <a:xfrm>
              <a:off x="0" y="3274"/>
              <a:ext cx="316" cy="672"/>
              <a:chOff x="0" y="3274"/>
              <a:chExt cx="316" cy="672"/>
            </a:xfrm>
          </p:grpSpPr>
          <p:sp>
            <p:nvSpPr>
              <p:cNvPr id="36014" name="Rectangle 176"/>
              <p:cNvSpPr/>
              <p:nvPr/>
            </p:nvSpPr>
            <p:spPr>
              <a:xfrm>
                <a:off x="43" y="3274"/>
                <a:ext cx="230" cy="6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2000" dirty="0">
                    <a:latin typeface="Comic Sans MS" panose="030F0702030302020204" pitchFamily="66" charset="0"/>
                    <a:ea typeface="宋体" panose="02010600030101010101" pitchFamily="2" charset="-122"/>
                  </a:rPr>
                  <a:t>4</a:t>
                </a:r>
                <a:endParaRPr lang="en-US" altLang="zh-CN" sz="100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015" name="Rectangle 177"/>
              <p:cNvSpPr/>
              <p:nvPr/>
            </p:nvSpPr>
            <p:spPr>
              <a:xfrm>
                <a:off x="0" y="3274"/>
                <a:ext cx="316" cy="672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6016" name="Group 178"/>
            <p:cNvGrpSpPr/>
            <p:nvPr/>
          </p:nvGrpSpPr>
          <p:grpSpPr>
            <a:xfrm>
              <a:off x="316" y="3274"/>
              <a:ext cx="332" cy="672"/>
              <a:chOff x="316" y="3274"/>
              <a:chExt cx="332" cy="672"/>
            </a:xfrm>
          </p:grpSpPr>
          <p:sp>
            <p:nvSpPr>
              <p:cNvPr id="36017" name="Rectangle 179"/>
              <p:cNvSpPr/>
              <p:nvPr/>
            </p:nvSpPr>
            <p:spPr>
              <a:xfrm>
                <a:off x="359" y="3274"/>
                <a:ext cx="246" cy="6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2000" dirty="0">
                    <a:latin typeface="Comic Sans MS" panose="030F0702030302020204" pitchFamily="66" charset="0"/>
                    <a:ea typeface="宋体" panose="02010600030101010101" pitchFamily="2" charset="-122"/>
                  </a:rPr>
                  <a:t>r</a:t>
                </a:r>
                <a:r>
                  <a:rPr lang="en-US" altLang="zh-CN" sz="2000" baseline="-30000" dirty="0">
                    <a:latin typeface="Comic Sans MS" panose="030F0702030302020204" pitchFamily="66" charset="0"/>
                    <a:ea typeface="宋体" panose="02010600030101010101" pitchFamily="2" charset="-122"/>
                  </a:rPr>
                  <a:t>2</a:t>
                </a:r>
                <a:endParaRPr lang="en-US" altLang="zh-CN" sz="100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018" name="Rectangle 180"/>
              <p:cNvSpPr/>
              <p:nvPr/>
            </p:nvSpPr>
            <p:spPr>
              <a:xfrm>
                <a:off x="316" y="3274"/>
                <a:ext cx="332" cy="672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6019" name="Group 181"/>
            <p:cNvGrpSpPr/>
            <p:nvPr/>
          </p:nvGrpSpPr>
          <p:grpSpPr>
            <a:xfrm>
              <a:off x="648" y="3274"/>
              <a:ext cx="2863" cy="672"/>
              <a:chOff x="648" y="3274"/>
              <a:chExt cx="2863" cy="672"/>
            </a:xfrm>
          </p:grpSpPr>
          <p:sp>
            <p:nvSpPr>
              <p:cNvPr id="36020" name="Rectangle 182"/>
              <p:cNvSpPr/>
              <p:nvPr/>
            </p:nvSpPr>
            <p:spPr>
              <a:xfrm>
                <a:off x="691" y="3274"/>
                <a:ext cx="2777" cy="6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021" name="Rectangle 183"/>
              <p:cNvSpPr/>
              <p:nvPr/>
            </p:nvSpPr>
            <p:spPr>
              <a:xfrm>
                <a:off x="648" y="3274"/>
                <a:ext cx="2863" cy="672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6022" name="Group 184"/>
            <p:cNvGrpSpPr/>
            <p:nvPr/>
          </p:nvGrpSpPr>
          <p:grpSpPr>
            <a:xfrm>
              <a:off x="0" y="3946"/>
              <a:ext cx="316" cy="480"/>
              <a:chOff x="0" y="3946"/>
              <a:chExt cx="316" cy="480"/>
            </a:xfrm>
          </p:grpSpPr>
          <p:sp>
            <p:nvSpPr>
              <p:cNvPr id="36023" name="Rectangle 185"/>
              <p:cNvSpPr/>
              <p:nvPr/>
            </p:nvSpPr>
            <p:spPr>
              <a:xfrm>
                <a:off x="43" y="3946"/>
                <a:ext cx="230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2000" dirty="0">
                    <a:solidFill>
                      <a:schemeClr val="hlink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rPr>
                  <a:t>5</a:t>
                </a:r>
                <a:endParaRPr lang="en-US" altLang="zh-CN" sz="1000" dirty="0">
                  <a:solidFill>
                    <a:schemeClr val="hlink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solidFill>
                    <a:schemeClr val="hlink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024" name="Rectangle 186"/>
              <p:cNvSpPr/>
              <p:nvPr/>
            </p:nvSpPr>
            <p:spPr>
              <a:xfrm>
                <a:off x="0" y="3946"/>
                <a:ext cx="316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6025" name="Group 187"/>
            <p:cNvGrpSpPr/>
            <p:nvPr/>
          </p:nvGrpSpPr>
          <p:grpSpPr>
            <a:xfrm>
              <a:off x="316" y="3946"/>
              <a:ext cx="332" cy="480"/>
              <a:chOff x="316" y="3946"/>
              <a:chExt cx="332" cy="480"/>
            </a:xfrm>
          </p:grpSpPr>
          <p:sp>
            <p:nvSpPr>
              <p:cNvPr id="36026" name="Rectangle 188"/>
              <p:cNvSpPr/>
              <p:nvPr/>
            </p:nvSpPr>
            <p:spPr>
              <a:xfrm>
                <a:off x="359" y="3946"/>
                <a:ext cx="246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2000" dirty="0">
                    <a:latin typeface="Comic Sans MS" panose="030F0702030302020204" pitchFamily="66" charset="0"/>
                    <a:ea typeface="宋体" panose="02010600030101010101" pitchFamily="2" charset="-122"/>
                  </a:rPr>
                  <a:t>S</a:t>
                </a:r>
                <a:endParaRPr lang="en-US" altLang="zh-CN" sz="2000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sz="18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027" name="Rectangle 189"/>
              <p:cNvSpPr/>
              <p:nvPr/>
            </p:nvSpPr>
            <p:spPr>
              <a:xfrm>
                <a:off x="316" y="3946"/>
                <a:ext cx="332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6028" name="Group 190"/>
            <p:cNvGrpSpPr/>
            <p:nvPr/>
          </p:nvGrpSpPr>
          <p:grpSpPr>
            <a:xfrm>
              <a:off x="648" y="3946"/>
              <a:ext cx="300" cy="480"/>
              <a:chOff x="648" y="3946"/>
              <a:chExt cx="300" cy="480"/>
            </a:xfrm>
          </p:grpSpPr>
          <p:sp>
            <p:nvSpPr>
              <p:cNvPr id="36029" name="Rectangle 191"/>
              <p:cNvSpPr/>
              <p:nvPr/>
            </p:nvSpPr>
            <p:spPr>
              <a:xfrm>
                <a:off x="691" y="3946"/>
                <a:ext cx="214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030" name="Rectangle 192"/>
              <p:cNvSpPr/>
              <p:nvPr/>
            </p:nvSpPr>
            <p:spPr>
              <a:xfrm>
                <a:off x="648" y="3946"/>
                <a:ext cx="300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6031" name="Group 193"/>
            <p:cNvGrpSpPr/>
            <p:nvPr/>
          </p:nvGrpSpPr>
          <p:grpSpPr>
            <a:xfrm>
              <a:off x="948" y="3946"/>
              <a:ext cx="316" cy="480"/>
              <a:chOff x="948" y="3946"/>
              <a:chExt cx="316" cy="480"/>
            </a:xfrm>
          </p:grpSpPr>
          <p:sp>
            <p:nvSpPr>
              <p:cNvPr id="36032" name="Rectangle 194"/>
              <p:cNvSpPr/>
              <p:nvPr/>
            </p:nvSpPr>
            <p:spPr>
              <a:xfrm>
                <a:off x="991" y="3946"/>
                <a:ext cx="230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033" name="Rectangle 195"/>
              <p:cNvSpPr/>
              <p:nvPr/>
            </p:nvSpPr>
            <p:spPr>
              <a:xfrm>
                <a:off x="948" y="3946"/>
                <a:ext cx="316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6034" name="Group 196"/>
            <p:cNvGrpSpPr/>
            <p:nvPr/>
          </p:nvGrpSpPr>
          <p:grpSpPr>
            <a:xfrm>
              <a:off x="1264" y="3946"/>
              <a:ext cx="316" cy="480"/>
              <a:chOff x="1264" y="3946"/>
              <a:chExt cx="316" cy="480"/>
            </a:xfrm>
          </p:grpSpPr>
          <p:sp>
            <p:nvSpPr>
              <p:cNvPr id="36035" name="Rectangle 197"/>
              <p:cNvSpPr/>
              <p:nvPr/>
            </p:nvSpPr>
            <p:spPr>
              <a:xfrm>
                <a:off x="1307" y="3946"/>
                <a:ext cx="230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036" name="Rectangle 198"/>
              <p:cNvSpPr/>
              <p:nvPr/>
            </p:nvSpPr>
            <p:spPr>
              <a:xfrm>
                <a:off x="1264" y="3946"/>
                <a:ext cx="316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6037" name="Group 199"/>
            <p:cNvGrpSpPr/>
            <p:nvPr/>
          </p:nvGrpSpPr>
          <p:grpSpPr>
            <a:xfrm>
              <a:off x="1580" y="3946"/>
              <a:ext cx="315" cy="480"/>
              <a:chOff x="1580" y="3946"/>
              <a:chExt cx="315" cy="480"/>
            </a:xfrm>
          </p:grpSpPr>
          <p:sp>
            <p:nvSpPr>
              <p:cNvPr id="36038" name="Rectangle 200"/>
              <p:cNvSpPr/>
              <p:nvPr/>
            </p:nvSpPr>
            <p:spPr>
              <a:xfrm>
                <a:off x="1623" y="3946"/>
                <a:ext cx="229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039" name="Rectangle 201"/>
              <p:cNvSpPr/>
              <p:nvPr/>
            </p:nvSpPr>
            <p:spPr>
              <a:xfrm>
                <a:off x="1580" y="3946"/>
                <a:ext cx="315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6040" name="Group 202"/>
            <p:cNvGrpSpPr/>
            <p:nvPr/>
          </p:nvGrpSpPr>
          <p:grpSpPr>
            <a:xfrm>
              <a:off x="1895" y="3946"/>
              <a:ext cx="316" cy="480"/>
              <a:chOff x="1895" y="3946"/>
              <a:chExt cx="316" cy="480"/>
            </a:xfrm>
          </p:grpSpPr>
          <p:sp>
            <p:nvSpPr>
              <p:cNvPr id="36041" name="Rectangle 203"/>
              <p:cNvSpPr/>
              <p:nvPr/>
            </p:nvSpPr>
            <p:spPr>
              <a:xfrm>
                <a:off x="1938" y="3946"/>
                <a:ext cx="230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bIns="0" anchor="t" anchorCtr="0"/>
              <a:p>
                <a:pPr algn="ctr">
                  <a:buSzTx/>
                </a:pPr>
                <a:r>
                  <a:rPr lang="en-US" altLang="zh-CN" sz="2000" dirty="0">
                    <a:latin typeface="Comic Sans MS" panose="030F0702030302020204" pitchFamily="66" charset="0"/>
                    <a:ea typeface="宋体" panose="02010600030101010101" pitchFamily="2" charset="-122"/>
                  </a:rPr>
                  <a:t>8</a:t>
                </a:r>
                <a:endParaRPr lang="en-US" altLang="zh-CN" sz="2000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042" name="Rectangle 204"/>
              <p:cNvSpPr/>
              <p:nvPr/>
            </p:nvSpPr>
            <p:spPr>
              <a:xfrm>
                <a:off x="1895" y="3946"/>
                <a:ext cx="316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6043" name="Group 205"/>
            <p:cNvGrpSpPr/>
            <p:nvPr/>
          </p:nvGrpSpPr>
          <p:grpSpPr>
            <a:xfrm>
              <a:off x="2211" y="3946"/>
              <a:ext cx="315" cy="480"/>
              <a:chOff x="2211" y="3946"/>
              <a:chExt cx="315" cy="480"/>
            </a:xfrm>
          </p:grpSpPr>
          <p:sp>
            <p:nvSpPr>
              <p:cNvPr id="36044" name="Rectangle 206"/>
              <p:cNvSpPr/>
              <p:nvPr/>
            </p:nvSpPr>
            <p:spPr>
              <a:xfrm>
                <a:off x="2254" y="3946"/>
                <a:ext cx="229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045" name="Rectangle 207"/>
              <p:cNvSpPr/>
              <p:nvPr/>
            </p:nvSpPr>
            <p:spPr>
              <a:xfrm>
                <a:off x="2211" y="3946"/>
                <a:ext cx="315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6046" name="Group 208"/>
            <p:cNvGrpSpPr/>
            <p:nvPr/>
          </p:nvGrpSpPr>
          <p:grpSpPr>
            <a:xfrm>
              <a:off x="2526" y="3946"/>
              <a:ext cx="315" cy="480"/>
              <a:chOff x="2526" y="3946"/>
              <a:chExt cx="315" cy="480"/>
            </a:xfrm>
          </p:grpSpPr>
          <p:sp>
            <p:nvSpPr>
              <p:cNvPr id="36047" name="Rectangle 209"/>
              <p:cNvSpPr/>
              <p:nvPr/>
            </p:nvSpPr>
            <p:spPr>
              <a:xfrm>
                <a:off x="2569" y="3946"/>
                <a:ext cx="229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048" name="Rectangle 210"/>
              <p:cNvSpPr/>
              <p:nvPr/>
            </p:nvSpPr>
            <p:spPr>
              <a:xfrm>
                <a:off x="2526" y="3946"/>
                <a:ext cx="315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6049" name="Group 211"/>
            <p:cNvGrpSpPr/>
            <p:nvPr/>
          </p:nvGrpSpPr>
          <p:grpSpPr>
            <a:xfrm>
              <a:off x="2841" y="3946"/>
              <a:ext cx="315" cy="480"/>
              <a:chOff x="2841" y="3946"/>
              <a:chExt cx="315" cy="480"/>
            </a:xfrm>
          </p:grpSpPr>
          <p:sp>
            <p:nvSpPr>
              <p:cNvPr id="36050" name="Rectangle 212"/>
              <p:cNvSpPr/>
              <p:nvPr/>
            </p:nvSpPr>
            <p:spPr>
              <a:xfrm>
                <a:off x="2884" y="3946"/>
                <a:ext cx="229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051" name="Rectangle 213"/>
              <p:cNvSpPr/>
              <p:nvPr/>
            </p:nvSpPr>
            <p:spPr>
              <a:xfrm>
                <a:off x="2841" y="3946"/>
                <a:ext cx="315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6052" name="Group 214"/>
            <p:cNvGrpSpPr/>
            <p:nvPr/>
          </p:nvGrpSpPr>
          <p:grpSpPr>
            <a:xfrm>
              <a:off x="3156" y="3946"/>
              <a:ext cx="355" cy="480"/>
              <a:chOff x="3156" y="3946"/>
              <a:chExt cx="355" cy="480"/>
            </a:xfrm>
          </p:grpSpPr>
          <p:sp>
            <p:nvSpPr>
              <p:cNvPr id="36053" name="Rectangle 215"/>
              <p:cNvSpPr/>
              <p:nvPr/>
            </p:nvSpPr>
            <p:spPr>
              <a:xfrm>
                <a:off x="3199" y="3946"/>
                <a:ext cx="269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2000" dirty="0">
                    <a:latin typeface="Comic Sans MS" panose="030F0702030302020204" pitchFamily="66" charset="0"/>
                    <a:ea typeface="宋体" panose="02010600030101010101" pitchFamily="2" charset="-122"/>
                  </a:rPr>
                  <a:t>7</a:t>
                </a:r>
                <a:endParaRPr lang="en-US" altLang="zh-CN" sz="100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054" name="Rectangle 216"/>
              <p:cNvSpPr/>
              <p:nvPr/>
            </p:nvSpPr>
            <p:spPr>
              <a:xfrm>
                <a:off x="3156" y="3946"/>
                <a:ext cx="355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6055" name="Group 217"/>
            <p:cNvGrpSpPr/>
            <p:nvPr/>
          </p:nvGrpSpPr>
          <p:grpSpPr>
            <a:xfrm>
              <a:off x="0" y="4426"/>
              <a:ext cx="316" cy="672"/>
              <a:chOff x="0" y="4426"/>
              <a:chExt cx="316" cy="672"/>
            </a:xfrm>
          </p:grpSpPr>
          <p:sp>
            <p:nvSpPr>
              <p:cNvPr id="36056" name="Rectangle 218"/>
              <p:cNvSpPr/>
              <p:nvPr/>
            </p:nvSpPr>
            <p:spPr>
              <a:xfrm>
                <a:off x="43" y="4426"/>
                <a:ext cx="230" cy="6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2000" dirty="0">
                    <a:solidFill>
                      <a:schemeClr val="hlink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rPr>
                  <a:t>6</a:t>
                </a:r>
                <a:endParaRPr lang="en-US" altLang="zh-CN" sz="1000" dirty="0">
                  <a:solidFill>
                    <a:schemeClr val="hlink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057" name="Rectangle 219"/>
              <p:cNvSpPr/>
              <p:nvPr/>
            </p:nvSpPr>
            <p:spPr>
              <a:xfrm>
                <a:off x="0" y="4426"/>
                <a:ext cx="316" cy="672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6058" name="Group 220"/>
            <p:cNvGrpSpPr/>
            <p:nvPr/>
          </p:nvGrpSpPr>
          <p:grpSpPr>
            <a:xfrm>
              <a:off x="316" y="4426"/>
              <a:ext cx="332" cy="672"/>
              <a:chOff x="316" y="4426"/>
              <a:chExt cx="332" cy="672"/>
            </a:xfrm>
          </p:grpSpPr>
          <p:sp>
            <p:nvSpPr>
              <p:cNvPr id="36059" name="Rectangle 221"/>
              <p:cNvSpPr/>
              <p:nvPr/>
            </p:nvSpPr>
            <p:spPr>
              <a:xfrm>
                <a:off x="359" y="4426"/>
                <a:ext cx="246" cy="6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2000" dirty="0">
                    <a:latin typeface="Comic Sans MS" panose="030F0702030302020204" pitchFamily="66" charset="0"/>
                    <a:ea typeface="宋体" panose="02010600030101010101" pitchFamily="2" charset="-122"/>
                  </a:rPr>
                  <a:t>r</a:t>
                </a:r>
                <a:r>
                  <a:rPr lang="en-US" altLang="zh-CN" sz="2000" baseline="-30000" dirty="0">
                    <a:latin typeface="Comic Sans MS" panose="030F0702030302020204" pitchFamily="66" charset="0"/>
                    <a:ea typeface="宋体" panose="02010600030101010101" pitchFamily="2" charset="-122"/>
                  </a:rPr>
                  <a:t>3</a:t>
                </a:r>
                <a:endParaRPr lang="en-US" altLang="zh-CN" sz="100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060" name="Rectangle 222"/>
              <p:cNvSpPr/>
              <p:nvPr/>
            </p:nvSpPr>
            <p:spPr>
              <a:xfrm>
                <a:off x="316" y="4426"/>
                <a:ext cx="332" cy="672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6061" name="Group 223"/>
            <p:cNvGrpSpPr/>
            <p:nvPr/>
          </p:nvGrpSpPr>
          <p:grpSpPr>
            <a:xfrm>
              <a:off x="648" y="4426"/>
              <a:ext cx="2863" cy="672"/>
              <a:chOff x="648" y="4426"/>
              <a:chExt cx="2863" cy="672"/>
            </a:xfrm>
          </p:grpSpPr>
          <p:sp>
            <p:nvSpPr>
              <p:cNvPr id="36062" name="Rectangle 224"/>
              <p:cNvSpPr/>
              <p:nvPr/>
            </p:nvSpPr>
            <p:spPr>
              <a:xfrm>
                <a:off x="691" y="4426"/>
                <a:ext cx="2777" cy="6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063" name="Rectangle 225"/>
              <p:cNvSpPr/>
              <p:nvPr/>
            </p:nvSpPr>
            <p:spPr>
              <a:xfrm>
                <a:off x="648" y="4426"/>
                <a:ext cx="2863" cy="672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6064" name="Group 226"/>
            <p:cNvGrpSpPr/>
            <p:nvPr/>
          </p:nvGrpSpPr>
          <p:grpSpPr>
            <a:xfrm>
              <a:off x="0" y="5098"/>
              <a:ext cx="316" cy="480"/>
              <a:chOff x="0" y="5098"/>
              <a:chExt cx="316" cy="480"/>
            </a:xfrm>
          </p:grpSpPr>
          <p:sp>
            <p:nvSpPr>
              <p:cNvPr id="36065" name="Rectangle 227"/>
              <p:cNvSpPr/>
              <p:nvPr/>
            </p:nvSpPr>
            <p:spPr>
              <a:xfrm>
                <a:off x="43" y="5098"/>
                <a:ext cx="230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2000" dirty="0">
                    <a:latin typeface="Comic Sans MS" panose="030F0702030302020204" pitchFamily="66" charset="0"/>
                    <a:ea typeface="宋体" panose="02010600030101010101" pitchFamily="2" charset="-122"/>
                  </a:rPr>
                  <a:t>7</a:t>
                </a:r>
                <a:endParaRPr lang="en-US" altLang="zh-CN" sz="100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066" name="Rectangle 228"/>
              <p:cNvSpPr/>
              <p:nvPr/>
            </p:nvSpPr>
            <p:spPr>
              <a:xfrm>
                <a:off x="0" y="5098"/>
                <a:ext cx="316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6067" name="Group 229"/>
            <p:cNvGrpSpPr/>
            <p:nvPr/>
          </p:nvGrpSpPr>
          <p:grpSpPr>
            <a:xfrm>
              <a:off x="316" y="5098"/>
              <a:ext cx="332" cy="480"/>
              <a:chOff x="316" y="5098"/>
              <a:chExt cx="332" cy="480"/>
            </a:xfrm>
          </p:grpSpPr>
          <p:sp>
            <p:nvSpPr>
              <p:cNvPr id="36068" name="Rectangle 230"/>
              <p:cNvSpPr/>
              <p:nvPr/>
            </p:nvSpPr>
            <p:spPr>
              <a:xfrm>
                <a:off x="359" y="5098"/>
                <a:ext cx="246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2000" dirty="0">
                    <a:latin typeface="Comic Sans MS" panose="030F0702030302020204" pitchFamily="66" charset="0"/>
                    <a:ea typeface="宋体" panose="02010600030101010101" pitchFamily="2" charset="-122"/>
                  </a:rPr>
                  <a:t>S</a:t>
                </a:r>
                <a:endParaRPr lang="en-US" altLang="zh-CN" sz="100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069" name="Rectangle 231"/>
              <p:cNvSpPr/>
              <p:nvPr/>
            </p:nvSpPr>
            <p:spPr>
              <a:xfrm>
                <a:off x="316" y="5098"/>
                <a:ext cx="332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6070" name="Group 232"/>
            <p:cNvGrpSpPr/>
            <p:nvPr/>
          </p:nvGrpSpPr>
          <p:grpSpPr>
            <a:xfrm>
              <a:off x="648" y="5098"/>
              <a:ext cx="300" cy="480"/>
              <a:chOff x="648" y="5098"/>
              <a:chExt cx="300" cy="480"/>
            </a:xfrm>
          </p:grpSpPr>
          <p:sp>
            <p:nvSpPr>
              <p:cNvPr id="36071" name="Rectangle 233"/>
              <p:cNvSpPr/>
              <p:nvPr/>
            </p:nvSpPr>
            <p:spPr>
              <a:xfrm>
                <a:off x="691" y="5098"/>
                <a:ext cx="214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072" name="Rectangle 234"/>
              <p:cNvSpPr/>
              <p:nvPr/>
            </p:nvSpPr>
            <p:spPr>
              <a:xfrm>
                <a:off x="648" y="5098"/>
                <a:ext cx="300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6073" name="Group 235"/>
            <p:cNvGrpSpPr/>
            <p:nvPr/>
          </p:nvGrpSpPr>
          <p:grpSpPr>
            <a:xfrm>
              <a:off x="948" y="5098"/>
              <a:ext cx="316" cy="480"/>
              <a:chOff x="948" y="5098"/>
              <a:chExt cx="316" cy="480"/>
            </a:xfrm>
          </p:grpSpPr>
          <p:sp>
            <p:nvSpPr>
              <p:cNvPr id="36074" name="Rectangle 236"/>
              <p:cNvSpPr/>
              <p:nvPr/>
            </p:nvSpPr>
            <p:spPr>
              <a:xfrm>
                <a:off x="991" y="5098"/>
                <a:ext cx="230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075" name="Rectangle 237"/>
              <p:cNvSpPr/>
              <p:nvPr/>
            </p:nvSpPr>
            <p:spPr>
              <a:xfrm>
                <a:off x="948" y="5098"/>
                <a:ext cx="316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6076" name="Group 238"/>
            <p:cNvGrpSpPr/>
            <p:nvPr/>
          </p:nvGrpSpPr>
          <p:grpSpPr>
            <a:xfrm>
              <a:off x="1264" y="5098"/>
              <a:ext cx="316" cy="480"/>
              <a:chOff x="1264" y="5098"/>
              <a:chExt cx="316" cy="480"/>
            </a:xfrm>
          </p:grpSpPr>
          <p:sp>
            <p:nvSpPr>
              <p:cNvPr id="36077" name="Rectangle 239"/>
              <p:cNvSpPr/>
              <p:nvPr/>
            </p:nvSpPr>
            <p:spPr>
              <a:xfrm>
                <a:off x="1307" y="5098"/>
                <a:ext cx="230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2000" dirty="0">
                    <a:latin typeface="Comic Sans MS" panose="030F0702030302020204" pitchFamily="66" charset="0"/>
                    <a:ea typeface="宋体" panose="02010600030101010101" pitchFamily="2" charset="-122"/>
                  </a:rPr>
                  <a:t>9</a:t>
                </a:r>
                <a:endParaRPr lang="en-US" altLang="zh-CN" sz="100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078" name="Rectangle 240"/>
              <p:cNvSpPr/>
              <p:nvPr/>
            </p:nvSpPr>
            <p:spPr>
              <a:xfrm>
                <a:off x="1264" y="5098"/>
                <a:ext cx="316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6079" name="Group 241"/>
            <p:cNvGrpSpPr/>
            <p:nvPr/>
          </p:nvGrpSpPr>
          <p:grpSpPr>
            <a:xfrm>
              <a:off x="1580" y="5098"/>
              <a:ext cx="315" cy="480"/>
              <a:chOff x="1580" y="5098"/>
              <a:chExt cx="315" cy="480"/>
            </a:xfrm>
          </p:grpSpPr>
          <p:sp>
            <p:nvSpPr>
              <p:cNvPr id="36080" name="Rectangle 242"/>
              <p:cNvSpPr/>
              <p:nvPr/>
            </p:nvSpPr>
            <p:spPr>
              <a:xfrm>
                <a:off x="1623" y="5098"/>
                <a:ext cx="229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081" name="Rectangle 243"/>
              <p:cNvSpPr/>
              <p:nvPr/>
            </p:nvSpPr>
            <p:spPr>
              <a:xfrm>
                <a:off x="1580" y="5098"/>
                <a:ext cx="315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6082" name="Group 244"/>
            <p:cNvGrpSpPr/>
            <p:nvPr/>
          </p:nvGrpSpPr>
          <p:grpSpPr>
            <a:xfrm>
              <a:off x="1895" y="5098"/>
              <a:ext cx="316" cy="480"/>
              <a:chOff x="1895" y="5098"/>
              <a:chExt cx="316" cy="480"/>
            </a:xfrm>
          </p:grpSpPr>
          <p:sp>
            <p:nvSpPr>
              <p:cNvPr id="36083" name="Rectangle 245"/>
              <p:cNvSpPr/>
              <p:nvPr/>
            </p:nvSpPr>
            <p:spPr>
              <a:xfrm>
                <a:off x="1938" y="5098"/>
                <a:ext cx="230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084" name="Rectangle 246"/>
              <p:cNvSpPr/>
              <p:nvPr/>
            </p:nvSpPr>
            <p:spPr>
              <a:xfrm>
                <a:off x="1895" y="5098"/>
                <a:ext cx="316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6085" name="Group 247"/>
            <p:cNvGrpSpPr/>
            <p:nvPr/>
          </p:nvGrpSpPr>
          <p:grpSpPr>
            <a:xfrm>
              <a:off x="2211" y="5098"/>
              <a:ext cx="315" cy="480"/>
              <a:chOff x="2211" y="5098"/>
              <a:chExt cx="315" cy="480"/>
            </a:xfrm>
          </p:grpSpPr>
          <p:sp>
            <p:nvSpPr>
              <p:cNvPr id="36086" name="Rectangle 248"/>
              <p:cNvSpPr/>
              <p:nvPr/>
            </p:nvSpPr>
            <p:spPr>
              <a:xfrm>
                <a:off x="2254" y="5098"/>
                <a:ext cx="229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087" name="Rectangle 249"/>
              <p:cNvSpPr/>
              <p:nvPr/>
            </p:nvSpPr>
            <p:spPr>
              <a:xfrm>
                <a:off x="2211" y="5098"/>
                <a:ext cx="315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6088" name="Group 250"/>
            <p:cNvGrpSpPr/>
            <p:nvPr/>
          </p:nvGrpSpPr>
          <p:grpSpPr>
            <a:xfrm>
              <a:off x="2526" y="5098"/>
              <a:ext cx="315" cy="480"/>
              <a:chOff x="2526" y="5098"/>
              <a:chExt cx="315" cy="480"/>
            </a:xfrm>
          </p:grpSpPr>
          <p:sp>
            <p:nvSpPr>
              <p:cNvPr id="36089" name="Rectangle 251"/>
              <p:cNvSpPr/>
              <p:nvPr/>
            </p:nvSpPr>
            <p:spPr>
              <a:xfrm>
                <a:off x="2569" y="5098"/>
                <a:ext cx="229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090" name="Rectangle 252"/>
              <p:cNvSpPr/>
              <p:nvPr/>
            </p:nvSpPr>
            <p:spPr>
              <a:xfrm>
                <a:off x="2526" y="5098"/>
                <a:ext cx="315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6091" name="Group 253"/>
            <p:cNvGrpSpPr/>
            <p:nvPr/>
          </p:nvGrpSpPr>
          <p:grpSpPr>
            <a:xfrm>
              <a:off x="2841" y="5098"/>
              <a:ext cx="315" cy="480"/>
              <a:chOff x="2841" y="5098"/>
              <a:chExt cx="315" cy="480"/>
            </a:xfrm>
          </p:grpSpPr>
          <p:sp>
            <p:nvSpPr>
              <p:cNvPr id="36092" name="Rectangle 254"/>
              <p:cNvSpPr/>
              <p:nvPr/>
            </p:nvSpPr>
            <p:spPr>
              <a:xfrm>
                <a:off x="2884" y="5098"/>
                <a:ext cx="229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093" name="Rectangle 255"/>
              <p:cNvSpPr/>
              <p:nvPr/>
            </p:nvSpPr>
            <p:spPr>
              <a:xfrm>
                <a:off x="2841" y="5098"/>
                <a:ext cx="315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6094" name="Group 256"/>
            <p:cNvGrpSpPr/>
            <p:nvPr/>
          </p:nvGrpSpPr>
          <p:grpSpPr>
            <a:xfrm>
              <a:off x="3156" y="5098"/>
              <a:ext cx="355" cy="480"/>
              <a:chOff x="3156" y="5098"/>
              <a:chExt cx="355" cy="480"/>
            </a:xfrm>
          </p:grpSpPr>
          <p:sp>
            <p:nvSpPr>
              <p:cNvPr id="36095" name="Rectangle 257"/>
              <p:cNvSpPr/>
              <p:nvPr/>
            </p:nvSpPr>
            <p:spPr>
              <a:xfrm>
                <a:off x="3199" y="5098"/>
                <a:ext cx="269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096" name="Rectangle 258"/>
              <p:cNvSpPr/>
              <p:nvPr/>
            </p:nvSpPr>
            <p:spPr>
              <a:xfrm>
                <a:off x="3156" y="5098"/>
                <a:ext cx="355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6097" name="Group 259"/>
            <p:cNvGrpSpPr/>
            <p:nvPr/>
          </p:nvGrpSpPr>
          <p:grpSpPr>
            <a:xfrm>
              <a:off x="0" y="5578"/>
              <a:ext cx="316" cy="672"/>
              <a:chOff x="0" y="5578"/>
              <a:chExt cx="316" cy="672"/>
            </a:xfrm>
          </p:grpSpPr>
          <p:sp>
            <p:nvSpPr>
              <p:cNvPr id="36098" name="Rectangle 260"/>
              <p:cNvSpPr/>
              <p:nvPr/>
            </p:nvSpPr>
            <p:spPr>
              <a:xfrm>
                <a:off x="43" y="5578"/>
                <a:ext cx="230" cy="6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2000" dirty="0">
                    <a:solidFill>
                      <a:schemeClr val="hlink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rPr>
                  <a:t>8</a:t>
                </a:r>
                <a:endParaRPr lang="en-US" altLang="zh-CN" sz="1000" dirty="0">
                  <a:solidFill>
                    <a:schemeClr val="hlink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099" name="Rectangle 261"/>
              <p:cNvSpPr/>
              <p:nvPr/>
            </p:nvSpPr>
            <p:spPr>
              <a:xfrm>
                <a:off x="0" y="5578"/>
                <a:ext cx="316" cy="672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6100" name="Group 262"/>
            <p:cNvGrpSpPr/>
            <p:nvPr/>
          </p:nvGrpSpPr>
          <p:grpSpPr>
            <a:xfrm>
              <a:off x="316" y="5578"/>
              <a:ext cx="332" cy="672"/>
              <a:chOff x="316" y="5578"/>
              <a:chExt cx="332" cy="672"/>
            </a:xfrm>
          </p:grpSpPr>
          <p:sp>
            <p:nvSpPr>
              <p:cNvPr id="36101" name="Rectangle 263"/>
              <p:cNvSpPr/>
              <p:nvPr/>
            </p:nvSpPr>
            <p:spPr>
              <a:xfrm>
                <a:off x="359" y="5578"/>
                <a:ext cx="246" cy="6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2000" dirty="0">
                    <a:latin typeface="Comic Sans MS" panose="030F0702030302020204" pitchFamily="66" charset="0"/>
                    <a:ea typeface="宋体" panose="02010600030101010101" pitchFamily="2" charset="-122"/>
                  </a:rPr>
                  <a:t>r</a:t>
                </a:r>
                <a:r>
                  <a:rPr lang="en-US" altLang="zh-CN" sz="2000" baseline="-30000" dirty="0">
                    <a:latin typeface="Comic Sans MS" panose="030F0702030302020204" pitchFamily="66" charset="0"/>
                    <a:ea typeface="宋体" panose="02010600030101010101" pitchFamily="2" charset="-122"/>
                  </a:rPr>
                  <a:t>4</a:t>
                </a:r>
                <a:endParaRPr lang="en-US" altLang="zh-CN" sz="100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102" name="Rectangle 264"/>
              <p:cNvSpPr/>
              <p:nvPr/>
            </p:nvSpPr>
            <p:spPr>
              <a:xfrm>
                <a:off x="316" y="5578"/>
                <a:ext cx="332" cy="672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6103" name="Group 265"/>
            <p:cNvGrpSpPr/>
            <p:nvPr/>
          </p:nvGrpSpPr>
          <p:grpSpPr>
            <a:xfrm>
              <a:off x="648" y="5578"/>
              <a:ext cx="2863" cy="672"/>
              <a:chOff x="648" y="5578"/>
              <a:chExt cx="2863" cy="672"/>
            </a:xfrm>
          </p:grpSpPr>
          <p:sp>
            <p:nvSpPr>
              <p:cNvPr id="36104" name="Rectangle 266"/>
              <p:cNvSpPr/>
              <p:nvPr/>
            </p:nvSpPr>
            <p:spPr>
              <a:xfrm>
                <a:off x="691" y="5578"/>
                <a:ext cx="2777" cy="6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105" name="Rectangle 267"/>
              <p:cNvSpPr/>
              <p:nvPr/>
            </p:nvSpPr>
            <p:spPr>
              <a:xfrm>
                <a:off x="648" y="5578"/>
                <a:ext cx="2863" cy="672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6106" name="Group 268"/>
            <p:cNvGrpSpPr/>
            <p:nvPr/>
          </p:nvGrpSpPr>
          <p:grpSpPr>
            <a:xfrm>
              <a:off x="0" y="6250"/>
              <a:ext cx="316" cy="672"/>
              <a:chOff x="0" y="6250"/>
              <a:chExt cx="316" cy="672"/>
            </a:xfrm>
          </p:grpSpPr>
          <p:sp>
            <p:nvSpPr>
              <p:cNvPr id="36107" name="Rectangle 269"/>
              <p:cNvSpPr/>
              <p:nvPr/>
            </p:nvSpPr>
            <p:spPr>
              <a:xfrm>
                <a:off x="43" y="6250"/>
                <a:ext cx="230" cy="6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2000" dirty="0">
                    <a:solidFill>
                      <a:schemeClr val="hlink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rPr>
                  <a:t>9</a:t>
                </a:r>
                <a:endParaRPr lang="en-US" altLang="zh-CN" sz="1000" dirty="0">
                  <a:solidFill>
                    <a:schemeClr val="hlink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108" name="Rectangle 270"/>
              <p:cNvSpPr/>
              <p:nvPr/>
            </p:nvSpPr>
            <p:spPr>
              <a:xfrm>
                <a:off x="0" y="6250"/>
                <a:ext cx="316" cy="672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6109" name="Group 271"/>
            <p:cNvGrpSpPr/>
            <p:nvPr/>
          </p:nvGrpSpPr>
          <p:grpSpPr>
            <a:xfrm>
              <a:off x="316" y="6250"/>
              <a:ext cx="332" cy="672"/>
              <a:chOff x="316" y="6250"/>
              <a:chExt cx="332" cy="672"/>
            </a:xfrm>
          </p:grpSpPr>
          <p:sp>
            <p:nvSpPr>
              <p:cNvPr id="36110" name="Rectangle 272"/>
              <p:cNvSpPr/>
              <p:nvPr/>
            </p:nvSpPr>
            <p:spPr>
              <a:xfrm>
                <a:off x="359" y="6250"/>
                <a:ext cx="246" cy="6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2000" dirty="0">
                    <a:latin typeface="Comic Sans MS" panose="030F0702030302020204" pitchFamily="66" charset="0"/>
                    <a:ea typeface="宋体" panose="02010600030101010101" pitchFamily="2" charset="-122"/>
                  </a:rPr>
                  <a:t>r</a:t>
                </a:r>
                <a:r>
                  <a:rPr lang="en-US" altLang="zh-CN" sz="2000" baseline="-30000" dirty="0">
                    <a:latin typeface="Comic Sans MS" panose="030F0702030302020204" pitchFamily="66" charset="0"/>
                    <a:ea typeface="宋体" panose="02010600030101010101" pitchFamily="2" charset="-122"/>
                  </a:rPr>
                  <a:t>1</a:t>
                </a:r>
                <a:endParaRPr lang="en-US" altLang="zh-CN" sz="100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111" name="Rectangle 273"/>
              <p:cNvSpPr/>
              <p:nvPr/>
            </p:nvSpPr>
            <p:spPr>
              <a:xfrm>
                <a:off x="316" y="6250"/>
                <a:ext cx="332" cy="672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6112" name="Group 274"/>
            <p:cNvGrpSpPr/>
            <p:nvPr/>
          </p:nvGrpSpPr>
          <p:grpSpPr>
            <a:xfrm>
              <a:off x="648" y="6250"/>
              <a:ext cx="2863" cy="672"/>
              <a:chOff x="648" y="6250"/>
              <a:chExt cx="2863" cy="672"/>
            </a:xfrm>
          </p:grpSpPr>
          <p:sp>
            <p:nvSpPr>
              <p:cNvPr id="36113" name="Rectangle 275"/>
              <p:cNvSpPr/>
              <p:nvPr/>
            </p:nvSpPr>
            <p:spPr>
              <a:xfrm>
                <a:off x="691" y="6250"/>
                <a:ext cx="2777" cy="6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000" b="0" dirty="0">
                    <a:latin typeface="Times New Roman" panose="02020603050405020304" charset="0"/>
                    <a:ea typeface="宋体" panose="02010600030101010101" pitchFamily="2" charset="-122"/>
                  </a:rPr>
                  <a:t> </a:t>
                </a:r>
                <a:endParaRPr lang="en-US" altLang="zh-CN" sz="1000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algn="ctr" eaLnBrk="0" hangingPunct="0">
                  <a:buSzTx/>
                </a:pPr>
                <a:endParaRPr lang="en-US" altLang="zh-CN" b="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114" name="Rectangle 276"/>
              <p:cNvSpPr/>
              <p:nvPr/>
            </p:nvSpPr>
            <p:spPr>
              <a:xfrm>
                <a:off x="648" y="6250"/>
                <a:ext cx="2863" cy="672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>
                  <a:buSzTx/>
                </a:pPr>
                <a:endParaRPr lang="zh-CN" altLang="en-US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36115" name="Rectangle 277"/>
          <p:cNvSpPr/>
          <p:nvPr/>
        </p:nvSpPr>
        <p:spPr>
          <a:xfrm>
            <a:off x="609600" y="1295400"/>
            <a:ext cx="7848600" cy="4419600"/>
          </a:xfrm>
          <a:prstGeom prst="rect">
            <a:avLst/>
          </a:prstGeom>
          <a:noFill/>
          <a:ln w="9525" cap="flat" cmpd="sng">
            <a:solidFill>
              <a:srgbClr val="A0A0A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6116" name="Rectangle 278"/>
          <p:cNvSpPr/>
          <p:nvPr/>
        </p:nvSpPr>
        <p:spPr>
          <a:xfrm>
            <a:off x="1308100" y="1320800"/>
            <a:ext cx="677863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SzTx/>
            </a:pPr>
            <a:r>
              <a:rPr lang="en-US" altLang="zh-CN" sz="1800" dirty="0">
                <a:solidFill>
                  <a:schemeClr val="hlink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ACT</a:t>
            </a:r>
            <a:endParaRPr lang="en-US" altLang="zh-CN" sz="1800" dirty="0">
              <a:solidFill>
                <a:schemeClr val="hlink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en-US" altLang="zh-CN" sz="1800" dirty="0">
                <a:solidFill>
                  <a:schemeClr val="hlink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ION</a:t>
            </a:r>
            <a:endParaRPr lang="en-US" altLang="zh-CN" sz="1800" dirty="0">
              <a:solidFill>
                <a:schemeClr val="hlink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99287" name="Rectangle 279"/>
          <p:cNvSpPr>
            <a:spLocks noChangeArrowheads="1"/>
          </p:cNvSpPr>
          <p:nvPr/>
        </p:nvSpPr>
        <p:spPr bwMode="auto">
          <a:xfrm>
            <a:off x="533400" y="533400"/>
            <a:ext cx="4122738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例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2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的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ACTION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表和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GOTO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表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: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36118" name="AutoShape 280">
            <a:hlinkClick r:id="rId1" action="ppaction://hlinksldjump"/>
          </p:cNvPr>
          <p:cNvSpPr/>
          <p:nvPr/>
        </p:nvSpPr>
        <p:spPr>
          <a:xfrm>
            <a:off x="5410200" y="685800"/>
            <a:ext cx="381000" cy="304800"/>
          </a:xfrm>
          <a:prstGeom prst="upArrow">
            <a:avLst>
              <a:gd name="adj1" fmla="val 70000"/>
              <a:gd name="adj2" fmla="val 58851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SzTx/>
            </a:pPr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6865" name="Picture 2"/>
          <p:cNvPicPr>
            <a:picLocks noChangeAspect="1"/>
          </p:cNvPicPr>
          <p:nvPr/>
        </p:nvPicPr>
        <p:blipFill>
          <a:blip r:embed="rId1"/>
          <a:srcRect l="2856" t="20192" r="12857" b="16345"/>
          <a:stretch>
            <a:fillRect/>
          </a:stretch>
        </p:blipFill>
        <p:spPr>
          <a:xfrm>
            <a:off x="357188" y="214313"/>
            <a:ext cx="8429625" cy="6286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7889" name="Picture 2"/>
          <p:cNvPicPr>
            <a:picLocks noChangeAspect="1"/>
          </p:cNvPicPr>
          <p:nvPr/>
        </p:nvPicPr>
        <p:blipFill>
          <a:blip r:embed="rId1"/>
          <a:srcRect l="2142" t="17308" r="14999" b="24278"/>
          <a:stretch>
            <a:fillRect/>
          </a:stretch>
        </p:blipFill>
        <p:spPr>
          <a:xfrm>
            <a:off x="500063" y="357188"/>
            <a:ext cx="8286750" cy="57864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Rectangle 3"/>
          <p:cNvSpPr>
            <a:spLocks noGrp="1"/>
          </p:cNvSpPr>
          <p:nvPr>
            <p:ph idx="1"/>
          </p:nvPr>
        </p:nvSpPr>
        <p:spPr>
          <a:xfrm>
            <a:off x="428625" y="814388"/>
            <a:ext cx="8153400" cy="4114800"/>
          </a:xfrm>
          <a:ln/>
        </p:spPr>
        <p:txBody>
          <a:bodyPr vert="horz" wrap="square" lIns="91440" tIns="45720" rIns="91440" bIns="45720" anchor="t" anchorCtr="0"/>
          <a:p>
            <a:pPr indent="-255270" eaLnBrk="1" hangingPunct="1">
              <a:lnSpc>
                <a:spcPct val="120000"/>
              </a:lnSpc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表中入口含多重定义的情况：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  <a:buFontTx/>
              <a:buNone/>
            </a:pPr>
            <a:r>
              <a:rPr lang="zh-CN" altLang="en-US" sz="2400" dirty="0">
                <a:solidFill>
                  <a:schemeClr val="hlink"/>
                </a:solidFill>
                <a:latin typeface="宋体" panose="02010600030101010101" pitchFamily="2" charset="-122"/>
              </a:rPr>
              <a:t>文法有移进</a:t>
            </a:r>
            <a:r>
              <a:rPr lang="en-US" altLang="zh-CN" sz="2400" dirty="0">
                <a:solidFill>
                  <a:schemeClr val="hlink"/>
                </a:solidFill>
                <a:latin typeface="宋体" panose="02010600030101010101" pitchFamily="2" charset="-122"/>
              </a:rPr>
              <a:t>-</a:t>
            </a:r>
            <a:r>
              <a:rPr lang="zh-CN" altLang="en-US" sz="2400" dirty="0">
                <a:solidFill>
                  <a:schemeClr val="hlink"/>
                </a:solidFill>
                <a:latin typeface="宋体" panose="02010600030101010101" pitchFamily="2" charset="-122"/>
              </a:rPr>
              <a:t>归约冲突或归约</a:t>
            </a:r>
            <a:r>
              <a:rPr lang="en-US" altLang="zh-CN" sz="2400" dirty="0">
                <a:solidFill>
                  <a:schemeClr val="hlink"/>
                </a:solidFill>
                <a:latin typeface="宋体" panose="02010600030101010101" pitchFamily="2" charset="-122"/>
              </a:rPr>
              <a:t>-</a:t>
            </a:r>
            <a:r>
              <a:rPr lang="zh-CN" altLang="en-US" sz="2400" dirty="0">
                <a:solidFill>
                  <a:schemeClr val="hlink"/>
                </a:solidFill>
                <a:latin typeface="宋体" panose="02010600030101010101" pitchFamily="2" charset="-122"/>
              </a:rPr>
              <a:t>归约冲突的时候。</a:t>
            </a:r>
            <a:endParaRPr lang="zh-CN" altLang="en-US" sz="2400" dirty="0">
              <a:solidFill>
                <a:schemeClr val="hlink"/>
              </a:solidFill>
              <a:latin typeface="宋体" panose="02010600030101010101" pitchFamily="2" charset="-122"/>
            </a:endParaRPr>
          </a:p>
          <a:p>
            <a:pPr indent="-255270" eaLnBrk="1" hangingPunct="1">
              <a:lnSpc>
                <a:spcPct val="120000"/>
              </a:lnSpc>
              <a:buFontTx/>
              <a:buNone/>
            </a:pPr>
            <a:endParaRPr lang="zh-CN" altLang="en-US" sz="2400" dirty="0">
              <a:solidFill>
                <a:schemeClr val="hlink"/>
              </a:solidFill>
              <a:latin typeface="宋体" panose="02010600030101010101" pitchFamily="2" charset="-122"/>
            </a:endParaRPr>
          </a:p>
          <a:p>
            <a:pPr indent="-255270" eaLnBrk="1" hangingPunct="1">
              <a:lnSpc>
                <a:spcPct val="120000"/>
              </a:lnSpc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按上述算法构造的含有</a:t>
            </a:r>
            <a:r>
              <a:rPr lang="en-US" altLang="zh-CN" sz="2800" b="1" dirty="0">
                <a:latin typeface="宋体" panose="02010600030101010101" pitchFamily="2" charset="-122"/>
              </a:rPr>
              <a:t>ACTION</a:t>
            </a:r>
            <a:r>
              <a:rPr lang="zh-CN" altLang="en-US" sz="2800" b="1" dirty="0">
                <a:latin typeface="宋体" panose="02010600030101010101" pitchFamily="2" charset="-122"/>
              </a:rPr>
              <a:t>和</a:t>
            </a:r>
            <a:r>
              <a:rPr lang="en-US" altLang="zh-CN" sz="2800" b="1" dirty="0">
                <a:latin typeface="宋体" panose="02010600030101010101" pitchFamily="2" charset="-122"/>
              </a:rPr>
              <a:t>GOTO</a:t>
            </a:r>
            <a:r>
              <a:rPr lang="zh-CN" altLang="en-US" sz="2800" b="1" dirty="0">
                <a:latin typeface="宋体" panose="02010600030101010101" pitchFamily="2" charset="-122"/>
              </a:rPr>
              <a:t>两部分的分析表，如果每个入口不含多重定义，则称它为文法</a:t>
            </a:r>
            <a:r>
              <a:rPr lang="en-US" altLang="zh-CN" sz="2800" b="1" dirty="0">
                <a:latin typeface="宋体" panose="02010600030101010101" pitchFamily="2" charset="-122"/>
              </a:rPr>
              <a:t>G</a:t>
            </a:r>
            <a:r>
              <a:rPr lang="zh-CN" altLang="en-US" sz="2800" b="1" dirty="0">
                <a:latin typeface="宋体" panose="02010600030101010101" pitchFamily="2" charset="-122"/>
              </a:rPr>
              <a:t>的</a:t>
            </a:r>
            <a:r>
              <a:rPr lang="en-US" altLang="zh-CN" sz="2800" b="1" dirty="0">
                <a:latin typeface="宋体" panose="02010600030101010101" pitchFamily="2" charset="-122"/>
              </a:rPr>
              <a:t>LR(0)</a:t>
            </a:r>
            <a:r>
              <a:rPr lang="zh-CN" altLang="en-US" sz="2800" b="1" dirty="0">
                <a:latin typeface="宋体" panose="02010600030101010101" pitchFamily="2" charset="-122"/>
              </a:rPr>
              <a:t>表。具有</a:t>
            </a:r>
            <a:r>
              <a:rPr lang="en-US" altLang="zh-CN" sz="2800" b="1" dirty="0">
                <a:latin typeface="宋体" panose="02010600030101010101" pitchFamily="2" charset="-122"/>
              </a:rPr>
              <a:t>LR(0)</a:t>
            </a:r>
            <a:r>
              <a:rPr lang="zh-CN" altLang="en-US" sz="2800" b="1" dirty="0">
                <a:latin typeface="宋体" panose="02010600030101010101" pitchFamily="2" charset="-122"/>
              </a:rPr>
              <a:t>表的文法</a:t>
            </a:r>
            <a:r>
              <a:rPr lang="en-US" altLang="zh-CN" sz="2800" b="1" dirty="0">
                <a:latin typeface="宋体" panose="02010600030101010101" pitchFamily="2" charset="-122"/>
              </a:rPr>
              <a:t>G</a:t>
            </a:r>
            <a:r>
              <a:rPr lang="zh-CN" altLang="en-US" sz="2800" b="1" dirty="0">
                <a:latin typeface="宋体" panose="02010600030101010101" pitchFamily="2" charset="-122"/>
              </a:rPr>
              <a:t>称为</a:t>
            </a:r>
            <a:r>
              <a:rPr lang="en-US" altLang="zh-CN" sz="2800" b="1" dirty="0">
                <a:latin typeface="宋体" panose="02010600030101010101" pitchFamily="2" charset="-122"/>
              </a:rPr>
              <a:t>LR(0)</a:t>
            </a:r>
            <a:r>
              <a:rPr lang="zh-CN" altLang="en-US" sz="2800" b="1" dirty="0">
                <a:latin typeface="宋体" panose="02010600030101010101" pitchFamily="2" charset="-122"/>
              </a:rPr>
              <a:t>文法。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 indent="-255270"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LR(0)</a:t>
            </a:r>
            <a:r>
              <a:rPr lang="zh-CN" altLang="en-US" sz="2800" b="1" dirty="0">
                <a:latin typeface="宋体" panose="02010600030101010101" pitchFamily="2" charset="-122"/>
              </a:rPr>
              <a:t>文法是无二义的。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Rectangle 3"/>
          <p:cNvSpPr>
            <a:spLocks noGrp="1"/>
          </p:cNvSpPr>
          <p:nvPr>
            <p:ph idx="1"/>
          </p:nvPr>
        </p:nvSpPr>
        <p:spPr>
          <a:xfrm>
            <a:off x="609600" y="1066800"/>
            <a:ext cx="8077200" cy="5410200"/>
          </a:xfrm>
          <a:ln/>
        </p:spPr>
        <p:txBody>
          <a:bodyPr vert="horz" wrap="square" lIns="91440" tIns="45720" rIns="91440" bIns="45720" anchor="t" anchorCtr="0"/>
          <a:p>
            <a:pPr indent="-255270" eaLnBrk="1" hangingPunct="1">
              <a:lnSpc>
                <a:spcPct val="90000"/>
              </a:lnSpc>
            </a:pPr>
            <a:r>
              <a:rPr lang="zh-CN" altLang="en-US" sz="2000" b="1" dirty="0">
                <a:latin typeface="宋体" panose="02010600030101010101" pitchFamily="2" charset="-122"/>
              </a:rPr>
              <a:t>置</a:t>
            </a:r>
            <a:r>
              <a:rPr lang="en-US" altLang="en-US" sz="2000" b="1" dirty="0">
                <a:latin typeface="宋体" panose="02010600030101010101" pitchFamily="2" charset="-122"/>
              </a:rPr>
              <a:t>ip</a:t>
            </a:r>
            <a:r>
              <a:rPr lang="zh-CN" altLang="en-US" sz="2000" b="1" dirty="0">
                <a:latin typeface="宋体" panose="02010600030101010101" pitchFamily="2" charset="-122"/>
              </a:rPr>
              <a:t>指向输入串</a:t>
            </a:r>
            <a:r>
              <a:rPr lang="en-US" altLang="zh-CN" sz="2000" b="1" dirty="0">
                <a:latin typeface="宋体" panose="02010600030101010101" pitchFamily="2" charset="-122"/>
              </a:rPr>
              <a:t>w</a:t>
            </a:r>
            <a:r>
              <a:rPr lang="zh-CN" altLang="en-US" sz="2000" b="1" dirty="0">
                <a:latin typeface="宋体" panose="02010600030101010101" pitchFamily="2" charset="-122"/>
              </a:rPr>
              <a:t>的第一个符号，初始状态入状态栈，</a:t>
            </a:r>
            <a:r>
              <a:rPr lang="en-US" altLang="zh-CN" sz="2000" b="1" dirty="0">
                <a:latin typeface="宋体" panose="02010600030101010101" pitchFamily="2" charset="-122"/>
              </a:rPr>
              <a:t>#</a:t>
            </a:r>
            <a:r>
              <a:rPr lang="zh-CN" altLang="en-US" sz="2000" b="1" dirty="0">
                <a:latin typeface="宋体" panose="02010600030101010101" pitchFamily="2" charset="-122"/>
              </a:rPr>
              <a:t>入符号栈</a:t>
            </a:r>
            <a:endParaRPr lang="zh-CN" altLang="en-US" sz="2000" b="1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令</a:t>
            </a:r>
            <a:r>
              <a:rPr lang="en-US" altLang="zh-CN" sz="1600" b="1" dirty="0">
                <a:latin typeface="宋体" panose="02010600030101010101" pitchFamily="2" charset="-122"/>
              </a:rPr>
              <a:t>St</a:t>
            </a:r>
            <a:r>
              <a:rPr lang="zh-CN" altLang="en-US" sz="1600" b="1" dirty="0">
                <a:latin typeface="宋体" panose="02010600030101010101" pitchFamily="2" charset="-122"/>
              </a:rPr>
              <a:t>为栈顶状态，</a:t>
            </a:r>
            <a:r>
              <a:rPr lang="en-US" altLang="zh-CN" sz="1600" b="1" dirty="0">
                <a:latin typeface="宋体" panose="02010600030101010101" pitchFamily="2" charset="-122"/>
              </a:rPr>
              <a:t>a</a:t>
            </a:r>
            <a:r>
              <a:rPr lang="zh-CN" altLang="en-US" sz="1600" b="1" dirty="0">
                <a:latin typeface="宋体" panose="02010600030101010101" pitchFamily="2" charset="-122"/>
              </a:rPr>
              <a:t>是</a:t>
            </a:r>
            <a:r>
              <a:rPr lang="en-US" altLang="zh-CN" sz="1600" b="1" dirty="0">
                <a:latin typeface="宋体" panose="02010600030101010101" pitchFamily="2" charset="-122"/>
              </a:rPr>
              <a:t>ip</a:t>
            </a:r>
            <a:r>
              <a:rPr lang="zh-CN" altLang="en-US" sz="1600" b="1" dirty="0">
                <a:latin typeface="宋体" panose="02010600030101010101" pitchFamily="2" charset="-122"/>
              </a:rPr>
              <a:t>指向的符号</a:t>
            </a:r>
            <a:endParaRPr lang="zh-CN" altLang="en-US" sz="1600" b="1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LOOP 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zh-CN" sz="1800" b="1" dirty="0">
                <a:latin typeface="宋体" panose="02010600030101010101" pitchFamily="2" charset="-122"/>
              </a:rPr>
              <a:t>begin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lvl="3" eaLnBrk="1" hangingPunct="1">
              <a:lnSpc>
                <a:spcPct val="90000"/>
              </a:lnSpc>
              <a:buFontTx/>
              <a:buNone/>
            </a:pPr>
            <a:r>
              <a:rPr lang="en-US" altLang="zh-CN" sz="1800" b="1" dirty="0">
                <a:latin typeface="宋体" panose="02010600030101010101" pitchFamily="2" charset="-122"/>
              </a:rPr>
              <a:t>if  S∈ACTION[St]</a:t>
            </a:r>
            <a:endParaRPr lang="en-US" altLang="zh-CN" sz="1800" b="1" baseline="-25000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sz="1800" b="1" dirty="0">
                <a:latin typeface="宋体" panose="02010600030101010101" pitchFamily="2" charset="-122"/>
              </a:rPr>
              <a:t>        then  begin  PUSH GOTO(St,a),a(</a:t>
            </a:r>
            <a:r>
              <a:rPr lang="zh-CN" altLang="en-US" sz="1800" b="1" dirty="0">
                <a:latin typeface="宋体" panose="02010600030101010101" pitchFamily="2" charset="-122"/>
              </a:rPr>
              <a:t>进栈</a:t>
            </a:r>
            <a:r>
              <a:rPr lang="en-US" altLang="zh-CN" sz="1800" b="1" dirty="0">
                <a:latin typeface="Times New Roman" panose="02020603050405020304" charset="0"/>
              </a:rPr>
              <a:t>——</a:t>
            </a:r>
            <a:r>
              <a:rPr lang="zh-CN" altLang="en-US" sz="1800" b="1" dirty="0">
                <a:latin typeface="宋体" panose="02010600030101010101" pitchFamily="2" charset="-122"/>
              </a:rPr>
              <a:t>状态栈和符号栈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sz="1800" b="1" dirty="0">
                <a:latin typeface="宋体" panose="02010600030101010101" pitchFamily="2" charset="-122"/>
              </a:rPr>
              <a:t>                          ip </a:t>
            </a:r>
            <a:r>
              <a:rPr lang="zh-CN" altLang="en-US" sz="1800" b="1" dirty="0">
                <a:latin typeface="宋体" panose="02010600030101010101" pitchFamily="2" charset="-122"/>
              </a:rPr>
              <a:t>前进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指向下一输入符号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sz="1800" b="1" dirty="0">
                <a:latin typeface="宋体" panose="02010600030101010101" pitchFamily="2" charset="-122"/>
              </a:rPr>
              <a:t>              end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lvl="3" eaLnBrk="1" hangingPunct="1">
              <a:lnSpc>
                <a:spcPct val="90000"/>
              </a:lnSpc>
              <a:buFontTx/>
              <a:buNone/>
            </a:pPr>
            <a:r>
              <a:rPr lang="en-US" altLang="zh-CN" sz="1800" b="1" dirty="0">
                <a:latin typeface="宋体" panose="02010600030101010101" pitchFamily="2" charset="-122"/>
              </a:rPr>
              <a:t>else if rj∈ACTION[St]     (</a:t>
            </a:r>
            <a:r>
              <a:rPr lang="zh-CN" altLang="en-US" sz="1800" b="1" dirty="0">
                <a:solidFill>
                  <a:schemeClr val="hlink"/>
                </a:solidFill>
                <a:latin typeface="宋体" panose="02010600030101010101" pitchFamily="2" charset="-122"/>
              </a:rPr>
              <a:t>第</a:t>
            </a:r>
            <a:r>
              <a:rPr lang="en-US" altLang="zh-CN" sz="1800" b="1" dirty="0">
                <a:solidFill>
                  <a:schemeClr val="hlink"/>
                </a:solidFill>
                <a:latin typeface="宋体" panose="02010600030101010101" pitchFamily="2" charset="-122"/>
              </a:rPr>
              <a:t>j</a:t>
            </a:r>
            <a:r>
              <a:rPr lang="zh-CN" altLang="en-US" sz="1800" b="1" dirty="0">
                <a:solidFill>
                  <a:schemeClr val="hlink"/>
                </a:solidFill>
                <a:latin typeface="宋体" panose="02010600030101010101" pitchFamily="2" charset="-122"/>
              </a:rPr>
              <a:t>条产生式为</a:t>
            </a:r>
            <a:r>
              <a:rPr lang="en-US" altLang="zh-CN" sz="1800" b="1" dirty="0">
                <a:solidFill>
                  <a:schemeClr val="hlink"/>
                </a:solidFill>
                <a:latin typeface="宋体" panose="02010600030101010101" pitchFamily="2" charset="-122"/>
              </a:rPr>
              <a:t>A</a:t>
            </a:r>
            <a:r>
              <a:rPr lang="en-US" altLang="zh-CN" sz="1800" b="1" dirty="0">
                <a:solidFill>
                  <a:schemeClr val="hlink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</a:t>
            </a:r>
            <a:r>
              <a:rPr lang="en-US" altLang="zh-CN" sz="1800" b="1" dirty="0">
                <a:latin typeface="宋体" panose="02010600030101010101" pitchFamily="2" charset="-122"/>
                <a:sym typeface="Symbol" panose="05050102010706020507" pitchFamily="18" charset="2"/>
              </a:rPr>
              <a:t>)</a:t>
            </a:r>
            <a:endParaRPr lang="en-US" altLang="zh-CN" sz="1800" b="1" dirty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lvl="3" eaLnBrk="1" hangingPunct="1">
              <a:lnSpc>
                <a:spcPct val="90000"/>
              </a:lnSpc>
              <a:buFontTx/>
              <a:buNone/>
            </a:pPr>
            <a:r>
              <a:rPr lang="en-US" altLang="zh-CN" sz="1800" b="1" dirty="0">
                <a:latin typeface="宋体" panose="02010600030101010101" pitchFamily="2" charset="-122"/>
              </a:rPr>
              <a:t>     then  begin    </a:t>
            </a:r>
            <a:r>
              <a:rPr lang="zh-CN" altLang="en-US" sz="1800" b="1" dirty="0">
                <a:latin typeface="宋体" panose="02010600030101010101" pitchFamily="2" charset="-122"/>
              </a:rPr>
              <a:t>两个栈各  </a:t>
            </a:r>
            <a:r>
              <a:rPr lang="en-US" altLang="zh-CN" sz="1800" b="1" dirty="0">
                <a:latin typeface="宋体" panose="02010600030101010101" pitchFamily="2" charset="-122"/>
              </a:rPr>
              <a:t>pop  |</a:t>
            </a:r>
            <a:r>
              <a:rPr lang="en-US" altLang="zh-CN" sz="1800" b="1" dirty="0">
                <a:latin typeface="宋体" panose="02010600030101010101" pitchFamily="2" charset="-122"/>
                <a:sym typeface="Symbol" panose="05050102010706020507" pitchFamily="18" charset="2"/>
              </a:rPr>
              <a:t>|  </a:t>
            </a:r>
            <a:r>
              <a:rPr lang="zh-CN" altLang="en-US" sz="1800" b="1" dirty="0">
                <a:latin typeface="宋体" panose="02010600030101010101" pitchFamily="2" charset="-122"/>
                <a:sym typeface="Symbol" panose="05050102010706020507" pitchFamily="18" charset="2"/>
              </a:rPr>
              <a:t>项</a:t>
            </a:r>
            <a:endParaRPr lang="zh-CN" altLang="en-US" sz="1800" b="1" dirty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zh-CN" altLang="en-US" sz="1800" b="1" dirty="0">
                <a:latin typeface="宋体" panose="02010600030101010101" pitchFamily="2" charset="-122"/>
                <a:sym typeface="Symbol" panose="05050102010706020507" pitchFamily="18" charset="2"/>
              </a:rPr>
              <a:t>                假设当前状态栈顶状态为</a:t>
            </a:r>
            <a:r>
              <a:rPr lang="en-US" altLang="zh-CN" sz="1800" b="1" dirty="0">
                <a:latin typeface="宋体" panose="02010600030101010101" pitchFamily="2" charset="-122"/>
                <a:sym typeface="Symbol" panose="05050102010706020507" pitchFamily="18" charset="2"/>
              </a:rPr>
              <a:t>St′</a:t>
            </a:r>
            <a:r>
              <a:rPr lang="zh-CN" altLang="en-US" sz="1800" b="1" dirty="0">
                <a:latin typeface="宋体" panose="02010600030101010101" pitchFamily="2" charset="-122"/>
                <a:sym typeface="Symbol" panose="05050102010706020507" pitchFamily="18" charset="2"/>
              </a:rPr>
              <a:t>，则</a:t>
            </a:r>
            <a:endParaRPr lang="zh-CN" altLang="en-US" sz="1800" b="1" dirty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zh-CN" altLang="en-US" sz="1800" b="1" dirty="0">
                <a:latin typeface="宋体" panose="02010600030101010101" pitchFamily="2" charset="-122"/>
                <a:sym typeface="Symbol" panose="05050102010706020507" pitchFamily="18" charset="2"/>
              </a:rPr>
              <a:t>                </a:t>
            </a:r>
            <a:r>
              <a:rPr lang="en-US" altLang="zh-CN" sz="1800" b="1" dirty="0">
                <a:latin typeface="宋体" panose="02010600030101010101" pitchFamily="2" charset="-122"/>
                <a:sym typeface="Symbol" panose="05050102010706020507" pitchFamily="18" charset="2"/>
              </a:rPr>
              <a:t>push GOTO[St′,A]</a:t>
            </a:r>
            <a:r>
              <a:rPr lang="zh-CN" altLang="en-US" sz="1800" b="1" dirty="0">
                <a:latin typeface="宋体" panose="02010600030101010101" pitchFamily="2" charset="-122"/>
                <a:sym typeface="Symbol" panose="05050102010706020507" pitchFamily="18" charset="2"/>
              </a:rPr>
              <a:t>和</a:t>
            </a:r>
            <a:r>
              <a:rPr lang="en-US" altLang="zh-CN" sz="1800" b="1" dirty="0">
                <a:latin typeface="宋体" panose="02010600030101010101" pitchFamily="2" charset="-122"/>
                <a:sym typeface="Symbol" panose="05050102010706020507" pitchFamily="18" charset="2"/>
              </a:rPr>
              <a:t>A</a:t>
            </a:r>
            <a:endParaRPr lang="en-US" altLang="zh-CN" sz="1800" b="1" dirty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lvl="3" eaLnBrk="1" hangingPunct="1">
              <a:lnSpc>
                <a:spcPct val="90000"/>
              </a:lnSpc>
              <a:buFontTx/>
              <a:buNone/>
            </a:pPr>
            <a:r>
              <a:rPr lang="en-US" altLang="zh-CN" sz="1800" b="1" dirty="0">
                <a:latin typeface="宋体" panose="02010600030101010101" pitchFamily="2" charset="-122"/>
              </a:rPr>
              <a:t>           end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lvl="3" eaLnBrk="1" hangingPunct="1">
              <a:lnSpc>
                <a:spcPct val="90000"/>
              </a:lnSpc>
              <a:buFontTx/>
              <a:buNone/>
            </a:pPr>
            <a:r>
              <a:rPr lang="en-US" altLang="zh-CN" sz="1800" b="1" dirty="0">
                <a:latin typeface="宋体" panose="02010600030101010101" pitchFamily="2" charset="-122"/>
              </a:rPr>
              <a:t>else if acc∈ACTION[St]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en-US" altLang="zh-CN" sz="1800" b="1" dirty="0">
                <a:latin typeface="宋体" panose="02010600030101010101" pitchFamily="2" charset="-122"/>
              </a:rPr>
              <a:t> then return (</a:t>
            </a:r>
            <a:r>
              <a:rPr lang="zh-CN" altLang="zh-CN" sz="1800" b="1" dirty="0">
                <a:latin typeface="宋体" panose="02010600030101010101" pitchFamily="2" charset="-122"/>
              </a:rPr>
              <a:t>成功）</a:t>
            </a:r>
            <a:endParaRPr lang="zh-CN" altLang="en-US" sz="1800" b="1" dirty="0">
              <a:latin typeface="宋体" panose="02010600030101010101" pitchFamily="2" charset="-122"/>
            </a:endParaRPr>
          </a:p>
          <a:p>
            <a:pPr lvl="3" eaLnBrk="1" hangingPunct="1">
              <a:lnSpc>
                <a:spcPct val="90000"/>
              </a:lnSpc>
              <a:buFontTx/>
              <a:buNone/>
            </a:pPr>
            <a:r>
              <a:rPr lang="en-US" altLang="zh-CN" sz="1800" b="1" dirty="0">
                <a:latin typeface="宋体" panose="02010600030101010101" pitchFamily="2" charset="-122"/>
              </a:rPr>
              <a:t>else error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end.  LOOP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0999"/>
            <a:ext cx="7772400" cy="609600"/>
          </a:xfrm>
          <a:noFill/>
          <a:ln>
            <a:noFill/>
          </a:ln>
          <a:effectLst/>
          <a:sp3d prstMaterial="plastic"/>
        </p:spPr>
        <p:txBody>
          <a:bodyPr vert="horz" rtlCol="0" anchor="ctr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1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LR(0)</a:t>
            </a:r>
            <a:r>
              <a:rPr kumimoji="0" lang="zh-CN" altLang="en-US" sz="41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分析算法</a:t>
            </a:r>
            <a:endParaRPr kumimoji="0" lang="zh-CN" altLang="en-US" sz="32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0961" name="Picture 2"/>
          <p:cNvPicPr>
            <a:picLocks noChangeAspect="1"/>
          </p:cNvPicPr>
          <p:nvPr/>
        </p:nvPicPr>
        <p:blipFill>
          <a:blip r:embed="rId1"/>
          <a:srcRect l="3764" t="22356" r="7379" b="39423"/>
          <a:stretch>
            <a:fillRect/>
          </a:stretch>
        </p:blipFill>
        <p:spPr>
          <a:xfrm>
            <a:off x="357188" y="642938"/>
            <a:ext cx="8429625" cy="37861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1985" name="Picture 2"/>
          <p:cNvPicPr>
            <a:picLocks noChangeAspect="1"/>
          </p:cNvPicPr>
          <p:nvPr/>
        </p:nvPicPr>
        <p:blipFill>
          <a:blip r:embed="rId1"/>
          <a:srcRect l="3012" t="28125" r="20934" b="30769"/>
          <a:stretch>
            <a:fillRect/>
          </a:stretch>
        </p:blipFill>
        <p:spPr>
          <a:xfrm>
            <a:off x="714375" y="714375"/>
            <a:ext cx="7215188" cy="40719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3009" name="Picture 2"/>
          <p:cNvPicPr>
            <a:picLocks noChangeAspect="1"/>
          </p:cNvPicPr>
          <p:nvPr/>
        </p:nvPicPr>
        <p:blipFill>
          <a:blip r:embed="rId1"/>
          <a:srcRect l="3764" t="31731" r="10391" b="14182"/>
          <a:stretch>
            <a:fillRect/>
          </a:stretch>
        </p:blipFill>
        <p:spPr>
          <a:xfrm>
            <a:off x="428625" y="428625"/>
            <a:ext cx="8143875" cy="53578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4033" name="Picture 2"/>
          <p:cNvPicPr>
            <a:picLocks noChangeAspect="1"/>
          </p:cNvPicPr>
          <p:nvPr/>
        </p:nvPicPr>
        <p:blipFill>
          <a:blip r:embed="rId1"/>
          <a:srcRect l="3012" t="24519" r="5119" b="25000"/>
          <a:stretch>
            <a:fillRect/>
          </a:stretch>
        </p:blipFill>
        <p:spPr>
          <a:xfrm>
            <a:off x="214313" y="500063"/>
            <a:ext cx="8715375" cy="50006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5057" name="Picture 2"/>
          <p:cNvPicPr>
            <a:picLocks noChangeAspect="1"/>
          </p:cNvPicPr>
          <p:nvPr/>
        </p:nvPicPr>
        <p:blipFill>
          <a:blip r:embed="rId1"/>
          <a:srcRect t="46153" r="4285" b="11298"/>
          <a:stretch>
            <a:fillRect/>
          </a:stretch>
        </p:blipFill>
        <p:spPr>
          <a:xfrm>
            <a:off x="149225" y="1000125"/>
            <a:ext cx="8923338" cy="39290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6081" name="Picture 2"/>
          <p:cNvPicPr>
            <a:picLocks noChangeAspect="1"/>
          </p:cNvPicPr>
          <p:nvPr/>
        </p:nvPicPr>
        <p:blipFill>
          <a:blip r:embed="rId1"/>
          <a:srcRect l="1428" t="14423" r="8571" b="21394"/>
          <a:stretch>
            <a:fillRect/>
          </a:stretch>
        </p:blipFill>
        <p:spPr>
          <a:xfrm>
            <a:off x="44450" y="142875"/>
            <a:ext cx="9001125" cy="63579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5" name="Text Box 2"/>
          <p:cNvSpPr txBox="1"/>
          <p:nvPr/>
        </p:nvSpPr>
        <p:spPr>
          <a:xfrm>
            <a:off x="457200" y="533400"/>
            <a:ext cx="8382000" cy="29670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练习：文法</a:t>
            </a:r>
            <a:r>
              <a:rPr lang="en-US" altLang="zh-CN" dirty="0">
                <a:latin typeface="Times New Roman" panose="02020603050405020304" charset="0"/>
                <a:ea typeface="宋体" panose="02010600030101010101" pitchFamily="2" charset="-122"/>
              </a:rPr>
              <a:t>G[S]   </a:t>
            </a:r>
            <a:endParaRPr lang="en-US" altLang="zh-CN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lvl="2" indent="0" algn="l" rtl="0"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S → A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pPr lvl="2" indent="0" algn="l" rtl="0" eaLnBrk="1" fontAlgn="base" hangingPunct="1">
              <a:spcBef>
                <a:spcPct val="1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A → Ab | bBa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pPr lvl="2" indent="0" algn="l" rtl="0" eaLnBrk="1" fontAlgn="base" hangingPunct="1">
              <a:spcBef>
                <a:spcPct val="1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B → aAc | a | aAb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  <a:buSzTx/>
            </a:pPr>
            <a:r>
              <a:rPr lang="zh-CN" altLang="en-US" sz="2000" dirty="0">
                <a:latin typeface="Times New Roman" panose="02020603050405020304" charset="0"/>
                <a:ea typeface="宋体" panose="02010600030101010101" pitchFamily="2" charset="-122"/>
              </a:rPr>
              <a:t>（</a:t>
            </a:r>
            <a:r>
              <a:rPr lang="en-US" altLang="zh-CN" sz="2000" dirty="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Times New Roman" panose="02020603050405020304" charset="0"/>
                <a:ea typeface="宋体" panose="02010600030101010101" pitchFamily="2" charset="-122"/>
              </a:rPr>
              <a:t>）扩展文法，构造</a:t>
            </a:r>
            <a:r>
              <a:rPr lang="en-US" altLang="zh-CN" sz="2000" dirty="0">
                <a:latin typeface="Times New Roman" panose="02020603050405020304" charset="0"/>
                <a:ea typeface="宋体" panose="02010600030101010101" pitchFamily="2" charset="-122"/>
              </a:rPr>
              <a:t>LR(0)</a:t>
            </a:r>
            <a:r>
              <a:rPr lang="zh-CN" altLang="en-US" sz="2000" dirty="0">
                <a:latin typeface="Times New Roman" panose="02020603050405020304" charset="0"/>
                <a:ea typeface="宋体" panose="02010600030101010101" pitchFamily="2" charset="-122"/>
              </a:rPr>
              <a:t>项目集规范族和识别其活前缀的有限自动机</a:t>
            </a:r>
            <a:endParaRPr lang="zh-CN" altLang="en-US" sz="20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  <a:buSzTx/>
            </a:pPr>
            <a:r>
              <a:rPr lang="zh-CN" altLang="en-US" sz="2000" dirty="0">
                <a:latin typeface="Times New Roman" panose="02020603050405020304" charset="0"/>
                <a:ea typeface="宋体" panose="02010600030101010101" pitchFamily="2" charset="-122"/>
              </a:rPr>
              <a:t>（</a:t>
            </a:r>
            <a:r>
              <a:rPr lang="en-US" altLang="zh-CN" sz="2000" dirty="0"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r>
              <a:rPr lang="zh-CN" altLang="en-US" sz="2000" dirty="0">
                <a:latin typeface="Times New Roman" panose="02020603050405020304" charset="0"/>
                <a:ea typeface="宋体" panose="02010600030101010101" pitchFamily="2" charset="-122"/>
              </a:rPr>
              <a:t>）构造</a:t>
            </a:r>
            <a:r>
              <a:rPr lang="en-US" altLang="zh-CN" sz="2000" dirty="0">
                <a:latin typeface="Times New Roman" panose="02020603050405020304" charset="0"/>
                <a:ea typeface="宋体" panose="02010600030101010101" pitchFamily="2" charset="-122"/>
              </a:rPr>
              <a:t>LR(0)</a:t>
            </a:r>
            <a:r>
              <a:rPr lang="zh-CN" altLang="en-US" sz="2000" dirty="0">
                <a:latin typeface="Times New Roman" panose="02020603050405020304" charset="0"/>
                <a:ea typeface="宋体" panose="02010600030101010101" pitchFamily="2" charset="-122"/>
              </a:rPr>
              <a:t>分析表（</a:t>
            </a:r>
            <a:r>
              <a:rPr lang="en-US" altLang="zh-CN" sz="2000" dirty="0">
                <a:latin typeface="Times New Roman" panose="02020603050405020304" charset="0"/>
                <a:ea typeface="宋体" panose="02010600030101010101" pitchFamily="2" charset="-122"/>
              </a:rPr>
              <a:t>ACTION</a:t>
            </a:r>
            <a:r>
              <a:rPr lang="zh-CN" altLang="en-US" sz="2000" dirty="0">
                <a:latin typeface="Times New Roman" panose="02020603050405020304" charset="0"/>
                <a:ea typeface="宋体" panose="02010600030101010101" pitchFamily="2" charset="-122"/>
              </a:rPr>
              <a:t>及</a:t>
            </a:r>
            <a:r>
              <a:rPr lang="en-US" altLang="zh-CN" sz="2000" dirty="0">
                <a:latin typeface="Times New Roman" panose="02020603050405020304" charset="0"/>
                <a:ea typeface="宋体" panose="02010600030101010101" pitchFamily="2" charset="-122"/>
              </a:rPr>
              <a:t>GOTO</a:t>
            </a:r>
            <a:r>
              <a:rPr lang="zh-CN" altLang="en-US" sz="2000" dirty="0">
                <a:latin typeface="Times New Roman" panose="02020603050405020304" charset="0"/>
                <a:ea typeface="宋体" panose="02010600030101010101" pitchFamily="2" charset="-122"/>
              </a:rPr>
              <a:t>表）</a:t>
            </a:r>
            <a:endParaRPr lang="zh-CN" altLang="en-US" sz="20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  <a:buSzTx/>
            </a:pPr>
            <a:r>
              <a:rPr lang="zh-CN" altLang="en-US" sz="2000" dirty="0">
                <a:latin typeface="Times New Roman" panose="02020603050405020304" charset="0"/>
                <a:ea typeface="宋体" panose="02010600030101010101" pitchFamily="2" charset="-122"/>
              </a:rPr>
              <a:t>（</a:t>
            </a:r>
            <a:r>
              <a:rPr lang="en-US" altLang="zh-CN" sz="2000" dirty="0">
                <a:latin typeface="Times New Roman" panose="02020603050405020304" charset="0"/>
                <a:ea typeface="宋体" panose="02010600030101010101" pitchFamily="2" charset="-122"/>
              </a:rPr>
              <a:t>3</a:t>
            </a:r>
            <a:r>
              <a:rPr lang="zh-CN" altLang="en-US" sz="2000" dirty="0">
                <a:latin typeface="Times New Roman" panose="02020603050405020304" charset="0"/>
                <a:ea typeface="宋体" panose="02010600030101010101" pitchFamily="2" charset="-122"/>
              </a:rPr>
              <a:t>）该文法是否</a:t>
            </a:r>
            <a:r>
              <a:rPr lang="en-US" altLang="zh-CN" sz="2000" dirty="0">
                <a:latin typeface="Times New Roman" panose="02020603050405020304" charset="0"/>
                <a:ea typeface="宋体" panose="02010600030101010101" pitchFamily="2" charset="-122"/>
              </a:rPr>
              <a:t>LR(0)</a:t>
            </a:r>
            <a:r>
              <a:rPr lang="zh-CN" altLang="en-US" sz="2000" dirty="0">
                <a:latin typeface="Times New Roman" panose="02020603050405020304" charset="0"/>
                <a:ea typeface="宋体" panose="02010600030101010101" pitchFamily="2" charset="-122"/>
              </a:rPr>
              <a:t>文法？</a:t>
            </a:r>
            <a:endParaRPr lang="zh-CN" altLang="en-US" sz="20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8129" name="Picture 2" descr="C:\Users\Lenovo\Desktop\1.jpg"/>
          <p:cNvPicPr>
            <a:picLocks noChangeAspect="1"/>
          </p:cNvPicPr>
          <p:nvPr/>
        </p:nvPicPr>
        <p:blipFill>
          <a:blip r:embed="rId1">
            <a:grayscl/>
          </a:blip>
          <a:srcRect l="4297" t="4990" r="1382" b="17931"/>
          <a:stretch>
            <a:fillRect/>
          </a:stretch>
        </p:blipFill>
        <p:spPr>
          <a:xfrm>
            <a:off x="250825" y="620713"/>
            <a:ext cx="8694738" cy="53292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9153" name="Picture 2" descr="C:\Users\Lenovo\Desktop\2.jpg"/>
          <p:cNvPicPr>
            <a:picLocks noChangeAspect="1"/>
          </p:cNvPicPr>
          <p:nvPr/>
        </p:nvPicPr>
        <p:blipFill>
          <a:blip r:embed="rId1"/>
          <a:srcRect l="6555" t="9647" r="2480" b="1689"/>
          <a:stretch>
            <a:fillRect/>
          </a:stretch>
        </p:blipFill>
        <p:spPr>
          <a:xfrm>
            <a:off x="468313" y="203200"/>
            <a:ext cx="8351837" cy="6105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WZhMDYyMDkyNmI0MzgzZTQ1NzlkOWQ4NjlhNmM1ZGU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聚合">
  <a:themeElements>
    <a:clrScheme name="聚合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聚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聚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3868</Words>
  <Application>WPS 演示</Application>
  <PresentationFormat>全屏显示(4:3)</PresentationFormat>
  <Paragraphs>734</Paragraphs>
  <Slides>38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  <vt:variant>
        <vt:lpstr>自定义放映</vt:lpstr>
      </vt:variant>
      <vt:variant>
        <vt:i4>3</vt:i4>
      </vt:variant>
    </vt:vector>
  </HeadingPairs>
  <TitlesOfParts>
    <vt:vector size="61" baseType="lpstr">
      <vt:lpstr>Arial</vt:lpstr>
      <vt:lpstr>宋体</vt:lpstr>
      <vt:lpstr>Wingdings</vt:lpstr>
      <vt:lpstr>Times New Roman</vt:lpstr>
      <vt:lpstr>Lucida Sans Unicode</vt:lpstr>
      <vt:lpstr>黑体</vt:lpstr>
      <vt:lpstr>Wingdings 3</vt:lpstr>
      <vt:lpstr>Symbol</vt:lpstr>
      <vt:lpstr>Verdana</vt:lpstr>
      <vt:lpstr>Wingdings 2</vt:lpstr>
      <vt:lpstr>Wingdings</vt:lpstr>
      <vt:lpstr>Symbol</vt:lpstr>
      <vt:lpstr>Tahoma</vt:lpstr>
      <vt:lpstr>Comic Sans MS</vt:lpstr>
      <vt:lpstr>Wingdings 2</vt:lpstr>
      <vt:lpstr>微软雅黑</vt:lpstr>
      <vt:lpstr>Arial Unicode MS</vt:lpstr>
      <vt:lpstr>楷体_GB2312</vt:lpstr>
      <vt:lpstr>新宋体</vt:lpstr>
      <vt:lpstr>聚合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自定义放映1</vt:lpstr>
      <vt:lpstr>自定义放映2</vt:lpstr>
      <vt:lpstr>自定义放映3</vt:lpstr>
    </vt:vector>
  </TitlesOfParts>
  <Company>rgkj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 Viscual Basic6.0程序设       计实验指导与习题详解》</dc:title>
  <dc:creator>ws021</dc:creator>
  <cp:lastModifiedBy>Administrator</cp:lastModifiedBy>
  <cp:revision>589</cp:revision>
  <dcterms:created xsi:type="dcterms:W3CDTF">2001-08-16T12:48:45Z</dcterms:created>
  <dcterms:modified xsi:type="dcterms:W3CDTF">2023-04-26T01:33:04Z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2052-11.1.0.14036</vt:lpwstr>
  </property>
  <property fmtid="{D5CDD505-2E9C-101B-9397-08002B2CF9AE}" pid="3" name="ICV">
    <vt:lpwstr>930BF1240EEE4C6A826A1B097D2E9F4A_12</vt:lpwstr>
  </property>
</Properties>
</file>