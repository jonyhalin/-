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31"/>
  </p:notesMasterIdLst>
  <p:handoutMasterIdLst>
    <p:handoutMasterId r:id="rId32"/>
  </p:handoutMasterIdLst>
  <p:sldIdLst>
    <p:sldId id="592" r:id="rId4"/>
    <p:sldId id="602" r:id="rId5"/>
    <p:sldId id="603" r:id="rId6"/>
    <p:sldId id="604" r:id="rId7"/>
    <p:sldId id="605" r:id="rId8"/>
    <p:sldId id="606" r:id="rId9"/>
    <p:sldId id="607" r:id="rId10"/>
    <p:sldId id="617" r:id="rId11"/>
    <p:sldId id="616" r:id="rId12"/>
    <p:sldId id="619" r:id="rId13"/>
    <p:sldId id="620" r:id="rId14"/>
    <p:sldId id="621" r:id="rId15"/>
    <p:sldId id="622" r:id="rId16"/>
    <p:sldId id="623" r:id="rId17"/>
    <p:sldId id="624" r:id="rId18"/>
    <p:sldId id="625" r:id="rId19"/>
    <p:sldId id="627" r:id="rId20"/>
    <p:sldId id="626" r:id="rId21"/>
    <p:sldId id="628" r:id="rId22"/>
    <p:sldId id="594" r:id="rId23"/>
    <p:sldId id="595" r:id="rId24"/>
    <p:sldId id="596" r:id="rId25"/>
    <p:sldId id="608" r:id="rId26"/>
    <p:sldId id="597" r:id="rId27"/>
    <p:sldId id="598" r:id="rId28"/>
    <p:sldId id="600" r:id="rId29"/>
    <p:sldId id="609" r:id="rId30"/>
  </p:sldIdLst>
  <p:sldSz cx="9144000" cy="6858000" type="screen4x3"/>
  <p:notesSz cx="7099300" cy="10234930"/>
  <p:custDataLst>
    <p:tags r:id="rId36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>
        <p:scale>
          <a:sx n="80" d="100"/>
          <a:sy n="80" d="100"/>
        </p:scale>
        <p:origin x="-2514" y="-6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6" Type="http://schemas.openxmlformats.org/officeDocument/2006/relationships/tags" Target="tags/tag9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notesMaster" Target="notesMasters/notesMaster1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241" tIns="48120" rIns="96241" bIns="48120" numCol="1" anchor="t" anchorCtr="0" compatLnSpc="1"/>
          <a:lstStyle>
            <a:lvl1pPr defTabSz="962025">
              <a:defRPr sz="1300"/>
            </a:lvl1pPr>
          </a:lstStyle>
          <a:p>
            <a:pPr marL="0" marR="0" lvl="0" indent="0" algn="l" defTabSz="9620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27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241" tIns="48120" rIns="96241" bIns="48120" numCol="1" anchor="t" anchorCtr="0" compatLnSpc="1"/>
          <a:lstStyle>
            <a:lvl1pPr algn="r" defTabSz="962025">
              <a:defRPr sz="1300"/>
            </a:lvl1pPr>
          </a:lstStyle>
          <a:p>
            <a:pPr marL="0" marR="0" lvl="0" indent="0" algn="r" defTabSz="9620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27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241" tIns="48120" rIns="96241" bIns="48120" numCol="1" anchor="b" anchorCtr="0" compatLnSpc="1"/>
          <a:lstStyle>
            <a:lvl1pPr defTabSz="962025">
              <a:defRPr sz="1300"/>
            </a:lvl1pPr>
          </a:lstStyle>
          <a:p>
            <a:pPr marL="0" marR="0" lvl="0" indent="0" algn="l" defTabSz="9620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241" tIns="48120" rIns="96241" bIns="48120" numCol="1" anchor="b" anchorCtr="0" compatLnSpc="1"/>
          <a:p>
            <a:pPr lvl="0" algn="r" defTabSz="962025" eaLnBrk="1" hangingPunct="1">
              <a:buNone/>
            </a:pPr>
            <a:fld id="{9A0DB2DC-4C9A-4742-B13C-FB6460FD3503}" type="slidenum">
              <a:rPr lang="en-US" altLang="zh-CN" sz="1300" dirty="0"/>
            </a:fld>
            <a:endParaRPr lang="en-US" altLang="zh-CN" sz="13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241" tIns="48120" rIns="96241" bIns="48120" numCol="1" anchor="t" anchorCtr="0" compatLnSpc="1"/>
          <a:lstStyle>
            <a:lvl1pPr defTabSz="962025">
              <a:defRPr sz="1300"/>
            </a:lvl1pPr>
          </a:lstStyle>
          <a:p>
            <a:pPr marL="0" marR="0" lvl="0" indent="0" algn="l" defTabSz="9620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27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241" tIns="48120" rIns="96241" bIns="48120" numCol="1" anchor="t" anchorCtr="0" compatLnSpc="1"/>
          <a:lstStyle>
            <a:lvl1pPr algn="r" defTabSz="962025">
              <a:defRPr sz="1300"/>
            </a:lvl1pPr>
          </a:lstStyle>
          <a:p>
            <a:pPr marL="0" marR="0" lvl="0" indent="0" algn="r" defTabSz="9620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0" name="Rectangle 4"/>
          <p:cNvSpPr>
            <a:spLocks noTextEdi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2513"/>
            <a:ext cx="5207000" cy="46053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241" tIns="48120" rIns="96241" bIns="481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27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241" tIns="48120" rIns="96241" bIns="48120" numCol="1" anchor="b" anchorCtr="0" compatLnSpc="1"/>
          <a:lstStyle>
            <a:lvl1pPr defTabSz="962025">
              <a:defRPr sz="1300"/>
            </a:lvl1pPr>
          </a:lstStyle>
          <a:p>
            <a:pPr marL="0" marR="0" lvl="0" indent="0" algn="l" defTabSz="9620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241" tIns="48120" rIns="96241" bIns="48120" numCol="1" anchor="b" anchorCtr="0" compatLnSpc="1"/>
          <a:p>
            <a:pPr lvl="0" algn="r" defTabSz="962025" eaLnBrk="1" hangingPunct="1">
              <a:buNone/>
            </a:pPr>
            <a:fld id="{9A0DB2DC-4C9A-4742-B13C-FB6460FD3503}" type="slidenum">
              <a:rPr lang="en-US" altLang="zh-CN" sz="1300" dirty="0"/>
            </a:fld>
            <a:endParaRPr lang="en-US" altLang="zh-CN" sz="13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角三角形 10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051" name="组合 15"/>
          <p:cNvGrpSpPr/>
          <p:nvPr/>
        </p:nvGrpSpPr>
        <p:grpSpPr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2" name="任意多边形 16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8" name="任意多边形 18"/>
            <p:cNvSpPr/>
            <p:nvPr/>
          </p:nvSpPr>
          <p:spPr>
            <a:xfrm>
              <a:off x="35926" y="5135025"/>
              <a:ext cx="9108074" cy="838869"/>
            </a:xfrm>
            <a:custGeom>
              <a:avLst/>
              <a:gdLst>
                <a:gd name="txL" fmla="*/ 0 w 5760"/>
                <a:gd name="txT" fmla="*/ 0 h 528"/>
                <a:gd name="txR" fmla="*/ 5760 w 5760"/>
                <a:gd name="txB" fmla="*/ 528 h 528"/>
              </a:gdLst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txL" t="txT" r="txR" b="txB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21" name="直接连接符 20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23" name="日期占位符 2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页脚占位符 18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accent1">
                  <a:tint val="2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灯片编号占位符 2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>
                <a:solidFill>
                  <a:srgbClr val="FFFFFF"/>
                </a:solidFill>
              </a:rPr>
            </a:fld>
            <a:endParaRPr lang="en-US" altLang="zh-CN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3636963" y="3005138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燕尾形 15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7" name="日期占位符 3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 10"/>
          <p:cNvSpPr/>
          <p:nvPr/>
        </p:nvSpPr>
        <p:spPr bwMode="auto">
          <a:xfrm>
            <a:off x="715963" y="5002213"/>
            <a:ext cx="3802063" cy="144303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" name="任意多边形 15"/>
          <p:cNvSpPr/>
          <p:nvPr/>
        </p:nvSpPr>
        <p:spPr>
          <a:xfrm>
            <a:off x="-53975" y="5784850"/>
            <a:ext cx="3802063" cy="838200"/>
          </a:xfrm>
          <a:custGeom>
            <a:avLst/>
            <a:gdLst>
              <a:gd name="txL" fmla="*/ 0 w 5760"/>
              <a:gd name="txT" fmla="*/ 0 h 528"/>
              <a:gd name="txR" fmla="*/ 5760 w 5760"/>
              <a:gd name="txB" fmla="*/ 528 h 528"/>
            </a:gdLst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txL" t="txT" r="txR" b="txB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7" name="直角三角形 16"/>
          <p:cNvSpPr/>
          <p:nvPr/>
        </p:nvSpPr>
        <p:spPr bwMode="auto">
          <a:xfrm>
            <a:off x="-6042" y="5791253"/>
            <a:ext cx="3402313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燕尾形 19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燕尾形 20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3" name="日期占位符 4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页脚占位符 5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角三角形 10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051" name="组合 15"/>
          <p:cNvGrpSpPr/>
          <p:nvPr/>
        </p:nvGrpSpPr>
        <p:grpSpPr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2" name="任意多边形 16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8" name="任意多边形 18"/>
            <p:cNvSpPr/>
            <p:nvPr/>
          </p:nvSpPr>
          <p:spPr>
            <a:xfrm>
              <a:off x="35926" y="5135025"/>
              <a:ext cx="9108074" cy="838869"/>
            </a:xfrm>
            <a:custGeom>
              <a:avLst/>
              <a:gdLst>
                <a:gd name="txL" fmla="*/ 0 w 5760"/>
                <a:gd name="txT" fmla="*/ 0 h 528"/>
                <a:gd name="txR" fmla="*/ 5760 w 5760"/>
                <a:gd name="txB" fmla="*/ 528 h 528"/>
              </a:gdLst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txL" t="txT" r="txR" b="txB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21" name="直接连接符 20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23" name="日期占位符 2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页脚占位符 18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accent1">
                  <a:tint val="2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灯片编号占位符 2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>
                <a:solidFill>
                  <a:srgbClr val="FFFFFF"/>
                </a:solidFill>
              </a:rPr>
            </a:fld>
            <a:endParaRPr lang="en-US" altLang="zh-CN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3636963" y="3005138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燕尾形 15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7" name="日期占位符 3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 10"/>
          <p:cNvSpPr/>
          <p:nvPr/>
        </p:nvSpPr>
        <p:spPr bwMode="auto">
          <a:xfrm>
            <a:off x="715963" y="5002213"/>
            <a:ext cx="3802063" cy="144303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" name="任意多边形 15"/>
          <p:cNvSpPr/>
          <p:nvPr/>
        </p:nvSpPr>
        <p:spPr>
          <a:xfrm>
            <a:off x="-53975" y="5784850"/>
            <a:ext cx="3802063" cy="838200"/>
          </a:xfrm>
          <a:custGeom>
            <a:avLst/>
            <a:gdLst>
              <a:gd name="txL" fmla="*/ 0 w 5760"/>
              <a:gd name="txT" fmla="*/ 0 h 528"/>
              <a:gd name="txR" fmla="*/ 5760 w 5760"/>
              <a:gd name="txB" fmla="*/ 528 h 528"/>
            </a:gdLst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txL" t="txT" r="txR" b="txB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7" name="直角三角形 16"/>
          <p:cNvSpPr/>
          <p:nvPr/>
        </p:nvSpPr>
        <p:spPr bwMode="auto">
          <a:xfrm>
            <a:off x="-6042" y="5791253"/>
            <a:ext cx="3402313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燕尾形 19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燕尾形 20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3" name="日期占位符 4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页脚占位符 5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tags" Target="../tags/tag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tags" Target="../tags/tag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任意多边形 12"/>
          <p:cNvSpPr/>
          <p:nvPr userDrawn="1"/>
        </p:nvSpPr>
        <p:spPr bwMode="auto">
          <a:xfrm>
            <a:off x="715963" y="5002213"/>
            <a:ext cx="3802063" cy="144303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任意多边形 11"/>
          <p:cNvSpPr/>
          <p:nvPr userDrawn="1"/>
        </p:nvSpPr>
        <p:spPr>
          <a:xfrm>
            <a:off x="-53975" y="5784850"/>
            <a:ext cx="3802063" cy="838200"/>
          </a:xfrm>
          <a:custGeom>
            <a:avLst/>
            <a:gdLst>
              <a:gd name="txL" fmla="*/ 0 w 5760"/>
              <a:gd name="txT" fmla="*/ 0 h 528"/>
              <a:gd name="txR" fmla="*/ 5760 w 5760"/>
              <a:gd name="txB" fmla="*/ 528 h 528"/>
            </a:gdLst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txL" t="txT" r="txR" b="txB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033" name="文本占位符 29"/>
          <p:cNvSpPr>
            <a:spLocks noGrp="1"/>
          </p:cNvSpPr>
          <p:nvPr>
            <p:ph type="body" idx="1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lstStyle>
            <a:lvl1pPr algn="r">
              <a:defRPr sz="10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" name="直角三角形 2"/>
          <p:cNvSpPr/>
          <p:nvPr userDrawn="1">
            <p:custDataLst>
              <p:tags r:id="rId12"/>
            </p:custDataLst>
          </p:nvPr>
        </p:nvSpPr>
        <p:spPr bwMode="auto">
          <a:xfrm>
            <a:off x="-6350" y="5791200"/>
            <a:ext cx="3402013" cy="1081088"/>
          </a:xfrm>
          <a:prstGeom prst="rtTriangle">
            <a:avLst/>
          </a:prstGeom>
          <a:solidFill>
            <a:schemeClr val="accent1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任意多边形 12"/>
          <p:cNvSpPr/>
          <p:nvPr userDrawn="1"/>
        </p:nvSpPr>
        <p:spPr bwMode="auto">
          <a:xfrm>
            <a:off x="715963" y="5002213"/>
            <a:ext cx="3802063" cy="144303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任意多边形 11"/>
          <p:cNvSpPr/>
          <p:nvPr userDrawn="1"/>
        </p:nvSpPr>
        <p:spPr>
          <a:xfrm>
            <a:off x="-53975" y="5784850"/>
            <a:ext cx="3802063" cy="838200"/>
          </a:xfrm>
          <a:custGeom>
            <a:avLst/>
            <a:gdLst>
              <a:gd name="txL" fmla="*/ 0 w 5760"/>
              <a:gd name="txT" fmla="*/ 0 h 528"/>
              <a:gd name="txR" fmla="*/ 5760 w 5760"/>
              <a:gd name="txB" fmla="*/ 528 h 528"/>
            </a:gdLst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txL" t="txT" r="txR" b="txB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033" name="文本占位符 29"/>
          <p:cNvSpPr>
            <a:spLocks noGrp="1"/>
          </p:cNvSpPr>
          <p:nvPr>
            <p:ph type="body" idx="1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lstStyle>
            <a:lvl1pPr algn="r">
              <a:defRPr sz="10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" name="直角三角形 2"/>
          <p:cNvSpPr/>
          <p:nvPr userDrawn="1">
            <p:custDataLst>
              <p:tags r:id="rId12"/>
            </p:custDataLst>
          </p:nvPr>
        </p:nvSpPr>
        <p:spPr bwMode="auto">
          <a:xfrm>
            <a:off x="-6350" y="5791200"/>
            <a:ext cx="3402013" cy="1081088"/>
          </a:xfrm>
          <a:prstGeom prst="rtTriangle">
            <a:avLst/>
          </a:prstGeom>
          <a:solidFill>
            <a:schemeClr val="accent1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4.jpeg"/><Relationship Id="rId1" Type="http://schemas.openxmlformats.org/officeDocument/2006/relationships/tags" Target="../tags/tag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5.jpeg"/><Relationship Id="rId1" Type="http://schemas.openxmlformats.org/officeDocument/2006/relationships/tags" Target="../tags/tag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6.jpeg"/><Relationship Id="rId1" Type="http://schemas.openxmlformats.org/officeDocument/2006/relationships/tags" Target="../tags/tag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525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752600"/>
            <a:ext cx="8077200" cy="4462463"/>
          </a:xfrm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621665" marR="0" lvl="1" indent="-228600" algn="l" defTabSz="914400" rtl="0" eaLnBrk="1" fontAlgn="auto" latinLnBrk="0" hangingPunct="1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Tx/>
              <a:buFont typeface="Verdana" panose="020B0604030504040204"/>
              <a:buChar char="◦"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主要思想：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如果一个多元式的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两个运算分量都为常数值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，则由编译器将其计算出来，并以所求值替换原来的运算</a:t>
            </a:r>
            <a:endParaRPr kumimoji="0" lang="zh-CN" altLang="en-US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21665" marR="0" lvl="1" indent="-228600" algn="l" defTabSz="914400" rtl="0" eaLnBrk="1" fontAlgn="auto" latinLnBrk="0" hangingPunct="1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Tx/>
              <a:buFont typeface="Verdana" panose="020B0604030504040204"/>
              <a:buChar char="◦"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方法：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构造一张常量定值表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，以表示当前可用常量定值都有哪些。该表记为</a:t>
            </a:r>
            <a:r>
              <a:rPr kumimoji="0" lang="en-US" altLang="zh-CN" sz="28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ConsDef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，元素为二元组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8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Var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 Val)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，表示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常量名，常量值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。</a:t>
            </a:r>
            <a:endParaRPr kumimoji="0" lang="zh-CN" altLang="en-US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7772400" cy="53340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1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7.2 </a:t>
            </a:r>
            <a:r>
              <a:rPr kumimoji="0" lang="zh-CN" altLang="en-US" sz="41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常量表达式优化</a:t>
            </a:r>
            <a:endParaRPr kumimoji="0" lang="zh-CN" altLang="en-US" sz="41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565252" name="Rectangle 4"/>
          <p:cNvSpPr>
            <a:spLocks noChangeArrowheads="1"/>
          </p:cNvSpPr>
          <p:nvPr/>
        </p:nvSpPr>
        <p:spPr bwMode="auto">
          <a:xfrm>
            <a:off x="533400" y="1081088"/>
            <a:ext cx="8305800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7.2.1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、常量表达式的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局部优化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/>
          <p:nvPr/>
        </p:nvSpPr>
        <p:spPr>
          <a:xfrm>
            <a:off x="214313" y="71438"/>
            <a:ext cx="8572500" cy="6426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1" indent="0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zh-CN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算法原理：</a:t>
            </a:r>
            <a:endParaRPr lang="zh-CN" altLang="en-US" sz="2800" b="1" dirty="0">
              <a:solidFill>
                <a:schemeClr val="tx2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914400" lvl="2" indent="0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基本块入口处置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ConsDef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表为空；</a:t>
            </a: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914400" lvl="2" indent="0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 读当前多元式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tuple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，并对其中的分量进行值代换得到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newtuple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；</a:t>
            </a: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914400" lvl="2" indent="0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[1] 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若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newtuple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ω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A, B, t )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情形：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828800" lvl="4" indent="0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若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为常数或常量，则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计算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ω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的值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υ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，并在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ConsDef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表中填入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(t,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υ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，同时删除本多元式，添加多元式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(:=, v, t, _ 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914400" lvl="2" indent="0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  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[2] 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若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newtuple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(:=, A, B, _ )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情形：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828800" lvl="4" indent="0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若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为常数或常量，则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把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(B, 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填入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ConsDef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已有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项，则只需改值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；否则从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ConsDef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表删除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的登记项。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914400" lvl="2" indent="0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 重复上面两条直到基本块结束</a:t>
            </a: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51"/>
          <p:cNvSpPr/>
          <p:nvPr/>
        </p:nvSpPr>
        <p:spPr>
          <a:xfrm>
            <a:off x="762000" y="304800"/>
            <a:ext cx="8001000" cy="561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1" indent="0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zh-CN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常量表达式优化例：</a:t>
            </a:r>
            <a:endParaRPr lang="zh-CN" altLang="en-US" sz="2800" b="1" dirty="0">
              <a:solidFill>
                <a:schemeClr val="tx2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78612" name="Rectangle 52"/>
          <p:cNvSpPr>
            <a:spLocks noChangeArrowheads="1"/>
          </p:cNvSpPr>
          <p:nvPr/>
        </p:nvSpPr>
        <p:spPr bwMode="auto">
          <a:xfrm>
            <a:off x="533400" y="3933825"/>
            <a:ext cx="8305800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7.2.2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、常量表达式的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全局优化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8" name="Rectangle 53"/>
          <p:cNvSpPr/>
          <p:nvPr/>
        </p:nvSpPr>
        <p:spPr>
          <a:xfrm>
            <a:off x="609600" y="4508500"/>
            <a:ext cx="8229600" cy="1981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742950" lvl="1" indent="-285750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局部优化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未使用基本块以外的信息，即进入基本块时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ConsDef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表为空；而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全局优化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则在各入口处求出可用的常量定值信息，该信息由前面各基本块得来。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78630" name="Group 70"/>
          <p:cNvGraphicFramePr>
            <a:graphicFrameLocks noGrp="1"/>
          </p:cNvGraphicFramePr>
          <p:nvPr/>
        </p:nvGraphicFramePr>
        <p:xfrm>
          <a:off x="1676400" y="908050"/>
          <a:ext cx="6400800" cy="3048000"/>
        </p:xfrm>
        <a:graphic>
          <a:graphicData uri="http://schemas.openxmlformats.org/drawingml/2006/table">
            <a:tbl>
              <a:tblPr/>
              <a:tblGrid>
                <a:gridCol w="1981200"/>
                <a:gridCol w="2286000"/>
                <a:gridCol w="2133600"/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优化前中间代码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可用常量定值表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优化后中间代码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:= 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 := a+1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:= x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 := b+5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(a,1)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(a,1)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(a,1)(b,2)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(b,2)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(b,2)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(b,2)(c,7)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:= 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 := 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:= x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 := 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3"/>
          <p:cNvSpPr>
            <a:spLocks noGrp="1"/>
          </p:cNvSpPr>
          <p:nvPr>
            <p:ph idx="1"/>
          </p:nvPr>
        </p:nvSpPr>
        <p:spPr>
          <a:xfrm>
            <a:off x="142875" y="1447800"/>
            <a:ext cx="8467725" cy="4800600"/>
          </a:xfrm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20000"/>
              </a:lnSpc>
            </a:pPr>
            <a:r>
              <a:rPr lang="zh-CN" altLang="en-US" b="1" dirty="0"/>
              <a:t>目标：尽可能地消除</a:t>
            </a:r>
            <a:r>
              <a:rPr lang="zh-CN" altLang="en-US" b="1" dirty="0">
                <a:solidFill>
                  <a:srgbClr val="FF0000"/>
                </a:solidFill>
              </a:rPr>
              <a:t>等价表达式</a:t>
            </a:r>
            <a:r>
              <a:rPr lang="zh-CN" altLang="en-US" b="1" dirty="0"/>
              <a:t>的重复运算</a:t>
            </a:r>
            <a:r>
              <a:rPr lang="zh-CN" altLang="en-US" b="1" dirty="0">
                <a:solidFill>
                  <a:schemeClr val="tx2"/>
                </a:solidFill>
              </a:rPr>
              <a:t>。</a:t>
            </a:r>
            <a:endParaRPr lang="zh-CN" altLang="en-US" b="1" dirty="0">
              <a:solidFill>
                <a:schemeClr val="tx2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相似多元式</a:t>
            </a:r>
            <a:r>
              <a:rPr lang="zh-CN" altLang="en-US" b="1" dirty="0"/>
              <a:t>：</a:t>
            </a:r>
            <a:endParaRPr lang="zh-CN" altLang="en-US" b="1" dirty="0"/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zh-CN" altLang="en-US" sz="2000" b="1" dirty="0"/>
              <a:t>设</a:t>
            </a:r>
            <a:r>
              <a:rPr lang="en-US" altLang="zh-CN" sz="2000" b="1" dirty="0">
                <a:latin typeface="Times New Roman" panose="02020603050405020304" pitchFamily="18" charset="0"/>
              </a:rPr>
              <a:t>(ω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b="1" dirty="0">
                <a:latin typeface="Times New Roman" panose="02020603050405020304" pitchFamily="18" charset="0"/>
              </a:rPr>
              <a:t>, A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b="1" dirty="0">
                <a:latin typeface="Times New Roman" panose="02020603050405020304" pitchFamily="18" charset="0"/>
              </a:rPr>
              <a:t>, B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b="1" dirty="0">
                <a:latin typeface="Times New Roman" panose="02020603050405020304" pitchFamily="18" charset="0"/>
              </a:rPr>
              <a:t>, t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b="1" dirty="0">
                <a:latin typeface="Times New Roman" panose="02020603050405020304" pitchFamily="18" charset="0"/>
              </a:rPr>
              <a:t> ) </a:t>
            </a:r>
            <a:r>
              <a:rPr lang="zh-CN" altLang="en-US" sz="2000" b="1" dirty="0">
                <a:latin typeface="Times New Roman" panose="02020603050405020304" pitchFamily="18" charset="0"/>
              </a:rPr>
              <a:t>和</a:t>
            </a:r>
            <a:r>
              <a:rPr lang="en-US" altLang="zh-CN" sz="2000" b="1" dirty="0">
                <a:latin typeface="Times New Roman" panose="02020603050405020304" pitchFamily="18" charset="0"/>
              </a:rPr>
              <a:t>(ω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</a:rPr>
              <a:t>, A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</a:rPr>
              <a:t>, B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</a:rPr>
              <a:t>, t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</a:rPr>
              <a:t> )</a:t>
            </a:r>
            <a:r>
              <a:rPr lang="zh-CN" altLang="en-US" sz="2000" b="1" dirty="0">
                <a:latin typeface="Times New Roman" panose="02020603050405020304" pitchFamily="18" charset="0"/>
              </a:rPr>
              <a:t>是多元式（非赋值型），</a:t>
            </a:r>
            <a:r>
              <a:rPr lang="en-US" altLang="zh-CN" sz="2000" b="1" dirty="0">
                <a:latin typeface="Times New Roman" panose="02020603050405020304" pitchFamily="18" charset="0"/>
              </a:rPr>
              <a:t>ω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b="1" dirty="0">
                <a:latin typeface="Times New Roman" panose="02020603050405020304" pitchFamily="18" charset="0"/>
              </a:rPr>
              <a:t> = ω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，且</a:t>
            </a:r>
            <a:r>
              <a:rPr lang="en-US" altLang="zh-CN" sz="2000" b="1" dirty="0">
                <a:latin typeface="Times New Roman" panose="02020603050405020304" pitchFamily="18" charset="0"/>
              </a:rPr>
              <a:t>A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</a:rPr>
              <a:t>和</a:t>
            </a:r>
            <a:r>
              <a:rPr lang="en-US" altLang="zh-CN" sz="2000" b="1" dirty="0">
                <a:latin typeface="Times New Roman" panose="02020603050405020304" pitchFamily="18" charset="0"/>
              </a:rPr>
              <a:t>A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2 </a:t>
            </a:r>
            <a:r>
              <a:rPr lang="zh-CN" altLang="en-US" sz="2000" b="1" dirty="0">
                <a:latin typeface="Times New Roman" panose="02020603050405020304" pitchFamily="18" charset="0"/>
              </a:rPr>
              <a:t>，</a:t>
            </a:r>
            <a:r>
              <a:rPr lang="en-US" altLang="zh-CN" sz="2000" b="1" dirty="0">
                <a:latin typeface="Times New Roman" panose="02020603050405020304" pitchFamily="18" charset="0"/>
              </a:rPr>
              <a:t>B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</a:rPr>
              <a:t>和</a:t>
            </a:r>
            <a:r>
              <a:rPr lang="en-US" altLang="zh-CN" sz="2000" b="1" dirty="0">
                <a:latin typeface="Times New Roman" panose="02020603050405020304" pitchFamily="18" charset="0"/>
              </a:rPr>
              <a:t>B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</a:rPr>
              <a:t>彼此名字相同，则称它们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相似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等价</a:t>
            </a:r>
            <a:r>
              <a:rPr lang="zh-CN" altLang="en-US" sz="2000" b="1" dirty="0">
                <a:latin typeface="Times New Roman" panose="02020603050405020304" pitchFamily="18" charset="0"/>
              </a:rPr>
              <a:t>。</a:t>
            </a:r>
            <a:endParaRPr lang="zh-CN" altLang="en-US" sz="2000" b="1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公共子表达式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ECC</a:t>
            </a:r>
            <a:r>
              <a:rPr lang="zh-CN" altLang="en-US" b="1" dirty="0"/>
              <a:t>：</a:t>
            </a:r>
            <a:endParaRPr lang="zh-CN" altLang="en-US" b="1" dirty="0"/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/>
              <a:t>设有基本块：</a:t>
            </a:r>
            <a:r>
              <a:rPr lang="en-US" altLang="zh-CN" sz="2000" b="1" dirty="0">
                <a:latin typeface="Times New Roman" panose="02020603050405020304" pitchFamily="18" charset="0"/>
                <a:ea typeface="Tahoma" panose="020B0604030504040204" pitchFamily="34" charset="0"/>
              </a:rPr>
              <a:t>…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		          d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i </a:t>
            </a:r>
            <a:r>
              <a:rPr lang="en-US" altLang="zh-CN" sz="2000" b="1" dirty="0">
                <a:latin typeface="Times New Roman" panose="02020603050405020304" pitchFamily="18" charset="0"/>
              </a:rPr>
              <a:t>:</a:t>
            </a:r>
            <a:r>
              <a:rPr lang="en-US" altLang="zh-CN" sz="2000" b="1" dirty="0"/>
              <a:t>  </a:t>
            </a:r>
            <a:r>
              <a:rPr lang="en-US" altLang="zh-CN" sz="2000" b="1" dirty="0">
                <a:latin typeface="Times New Roman" panose="02020603050405020304" pitchFamily="18" charset="0"/>
              </a:rPr>
              <a:t>(ω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b="1" dirty="0">
                <a:latin typeface="Times New Roman" panose="02020603050405020304" pitchFamily="18" charset="0"/>
              </a:rPr>
              <a:t>, A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b="1" dirty="0">
                <a:latin typeface="Times New Roman" panose="02020603050405020304" pitchFamily="18" charset="0"/>
              </a:rPr>
              <a:t>, B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b="1" dirty="0">
                <a:latin typeface="Times New Roman" panose="02020603050405020304" pitchFamily="18" charset="0"/>
              </a:rPr>
              <a:t>, t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</a:rPr>
              <a:t> ) 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		          </a:t>
            </a:r>
            <a:r>
              <a:rPr lang="en-US" altLang="zh-CN" sz="2000" b="1" dirty="0">
                <a:latin typeface="Times New Roman" panose="02020603050405020304" pitchFamily="18" charset="0"/>
                <a:ea typeface="Tahoma" panose="020B0604030504040204" pitchFamily="34" charset="0"/>
              </a:rPr>
              <a:t>…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		          d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k</a:t>
            </a:r>
            <a:r>
              <a:rPr lang="en-US" altLang="zh-CN" sz="2000" b="1" dirty="0">
                <a:latin typeface="Times New Roman" panose="02020603050405020304" pitchFamily="18" charset="0"/>
              </a:rPr>
              <a:t>: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latin typeface="Times New Roman" panose="02020603050405020304" pitchFamily="18" charset="0"/>
              </a:rPr>
              <a:t>(ω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</a:rPr>
              <a:t>, A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</a:rPr>
              <a:t>, B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</a:rPr>
              <a:t>, t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k</a:t>
            </a:r>
            <a:r>
              <a:rPr lang="en-US" altLang="zh-CN" sz="2000" b="1" dirty="0">
                <a:latin typeface="Times New Roman" panose="02020603050405020304" pitchFamily="18" charset="0"/>
              </a:rPr>
              <a:t> )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		          </a:t>
            </a:r>
            <a:r>
              <a:rPr lang="en-US" altLang="zh-CN" sz="2000" b="1" dirty="0">
                <a:latin typeface="Times New Roman" panose="02020603050405020304" pitchFamily="18" charset="0"/>
                <a:ea typeface="Tahoma" panose="020B0604030504040204" pitchFamily="34" charset="0"/>
              </a:rPr>
              <a:t>…</a:t>
            </a:r>
            <a:endParaRPr lang="en-US" altLang="zh-CN" sz="20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b="1" dirty="0"/>
              <a:t>方法：构造一张</a:t>
            </a:r>
            <a:r>
              <a:rPr lang="zh-CN" altLang="en-US" b="1" dirty="0">
                <a:solidFill>
                  <a:srgbClr val="FF0000"/>
                </a:solidFill>
              </a:rPr>
              <a:t>对偶表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PAIR</a:t>
            </a:r>
            <a:r>
              <a:rPr lang="zh-CN" altLang="en-US" b="1" dirty="0"/>
              <a:t>，元素为二元组</a:t>
            </a:r>
            <a:r>
              <a:rPr lang="en-US" altLang="zh-CN" b="1" dirty="0">
                <a:latin typeface="Times New Roman" panose="02020603050405020304" pitchFamily="18" charset="0"/>
              </a:rPr>
              <a:t>(t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</a:rPr>
              <a:t>, 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j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</a:rPr>
              <a:t>；</a:t>
            </a: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b="1" dirty="0">
                <a:latin typeface="Times New Roman" panose="02020603050405020304" pitchFamily="18" charset="0"/>
              </a:rPr>
              <a:t>、</a:t>
            </a: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j</a:t>
            </a:r>
            <a:r>
              <a:rPr lang="zh-CN" altLang="en-US" b="1" dirty="0"/>
              <a:t>是临时变量名，表示</a:t>
            </a: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b="1" dirty="0">
                <a:latin typeface="Times New Roman" panose="02020603050405020304" pitchFamily="18" charset="0"/>
              </a:rPr>
              <a:t>、</a:t>
            </a:r>
            <a:r>
              <a:rPr lang="en-US" altLang="zh-CN" b="1" dirty="0"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j</a:t>
            </a:r>
            <a:r>
              <a:rPr lang="zh-CN" altLang="en-US" b="1" dirty="0"/>
              <a:t>等价</a:t>
            </a:r>
            <a:endParaRPr lang="zh-CN" altLang="en-US" b="1" dirty="0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7772400" cy="53340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1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7.3 </a:t>
            </a:r>
            <a:r>
              <a:rPr kumimoji="0" lang="zh-CN" altLang="en-US" sz="41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公共表达式优化</a:t>
            </a:r>
            <a:endParaRPr kumimoji="0" lang="zh-CN" altLang="en-US" sz="41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579588" name="Rectangle 4"/>
          <p:cNvSpPr>
            <a:spLocks noChangeArrowheads="1"/>
          </p:cNvSpPr>
          <p:nvPr/>
        </p:nvSpPr>
        <p:spPr bwMode="auto">
          <a:xfrm>
            <a:off x="533400" y="838200"/>
            <a:ext cx="8305800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7.3.1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、基于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相似性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的公共表达式局部优化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3" name="Rectangle 5"/>
          <p:cNvSpPr/>
          <p:nvPr/>
        </p:nvSpPr>
        <p:spPr>
          <a:xfrm>
            <a:off x="4500563" y="3867150"/>
            <a:ext cx="3910012" cy="14462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ahoma" panose="020B0604030504040204" pitchFamily="34" charset="0"/>
                <a:ea typeface="宋体" panose="02010600030101010101" pitchFamily="2" charset="-122"/>
              </a:rPr>
              <a:t>则如果（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0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0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zh-CN" altLang="en-US" sz="2000" b="1" dirty="0">
                <a:latin typeface="Tahoma" panose="020B0604030504040204" pitchFamily="34" charset="0"/>
                <a:ea typeface="宋体" panose="02010600030101010101" pitchFamily="2" charset="-122"/>
              </a:rPr>
              <a:t>）相似，且（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0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0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zh-CN" altLang="en-US" sz="2000" b="1" dirty="0">
                <a:latin typeface="Tahoma" panose="020B0604030504040204" pitchFamily="34" charset="0"/>
                <a:ea typeface="宋体" panose="02010600030101010101" pitchFamily="2" charset="-122"/>
              </a:rPr>
              <a:t>）间的代码都不改变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B</a:t>
            </a:r>
            <a:r>
              <a:rPr lang="en-US" altLang="zh-CN" sz="20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的值，则称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0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d</a:t>
            </a:r>
            <a:r>
              <a:rPr lang="en-US" altLang="zh-CN" sz="20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zh-CN" altLang="en-US" sz="2000" b="1" dirty="0">
                <a:latin typeface="Tahoma" panose="020B0604030504040204" pitchFamily="34" charset="0"/>
                <a:ea typeface="宋体" panose="02010600030101010101" pitchFamily="2" charset="-122"/>
              </a:rPr>
              <a:t>所定义的表达式为</a:t>
            </a:r>
            <a:r>
              <a:rPr lang="zh-CN" altLang="en-US" sz="20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公共子表达式</a:t>
            </a:r>
            <a:r>
              <a:rPr lang="zh-CN" altLang="en-US" sz="2000" b="1" dirty="0">
                <a:latin typeface="Tahoma" panose="020B0604030504040204" pitchFamily="34" charset="0"/>
                <a:ea typeface="宋体" panose="02010600030101010101" pitchFamily="2" charset="-122"/>
              </a:rPr>
              <a:t>，记为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ECC</a:t>
            </a:r>
            <a:r>
              <a:rPr lang="zh-CN" altLang="en-US" sz="2000" b="1" dirty="0">
                <a:latin typeface="Tahoma" panose="020B0604030504040204" pitchFamily="34" charset="0"/>
                <a:ea typeface="宋体" panose="02010600030101010101" pitchFamily="2" charset="-122"/>
              </a:rPr>
              <a:t>。</a:t>
            </a:r>
            <a:endParaRPr lang="zh-CN" altLang="en-US" sz="20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/>
          <p:nvPr/>
        </p:nvSpPr>
        <p:spPr>
          <a:xfrm>
            <a:off x="0" y="457200"/>
            <a:ext cx="8610600" cy="5740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1" indent="0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基于相似性的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ECC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优化算法原理：</a:t>
            </a: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914400" lvl="2" indent="0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基本块入口处置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PAIR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表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及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可用表达式集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UsableExpr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为空；</a:t>
            </a: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914400" lvl="2" indent="0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 读当前多元式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tuple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，并对其中的分量进行</a:t>
            </a:r>
            <a:r>
              <a:rPr lang="zh-CN" altLang="en-US" sz="2800" b="1" u="sng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等价代换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得到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newtuple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；</a:t>
            </a: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914400" lvl="2" indent="0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[1]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若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newtuple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: (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ω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A, B, t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)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情形：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828800" lvl="4" indent="0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UsableExpr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中寻找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newtuple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的相似代码，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若存在相似代码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  (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ω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A, B, t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)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，则删除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，并将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(t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t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填入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PAIR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表中；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否则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不优化，把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加入到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UsableExpr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中。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914400" lvl="2" indent="0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  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[2]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若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newtuple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是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(:=, A, B, _ )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情形：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828800" lvl="4" indent="0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从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UsableExpr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表中删除含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的所有可用表达式代码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914400" lvl="2" indent="0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 重复上面两条直到基本块结束</a:t>
            </a: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19"/>
          <p:cNvSpPr/>
          <p:nvPr/>
        </p:nvSpPr>
        <p:spPr>
          <a:xfrm>
            <a:off x="762000" y="406400"/>
            <a:ext cx="8001000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1" indent="0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zh-CN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公共表达式优化例 </a:t>
            </a:r>
            <a:endParaRPr lang="zh-CN" altLang="en-US" sz="2800" b="1" dirty="0">
              <a:solidFill>
                <a:schemeClr val="tx2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457200" lvl="1" indent="0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(D:=D+C×B;  A:=D+C×B;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sz="2400" b="1" dirty="0">
              <a:solidFill>
                <a:schemeClr val="tx2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581717" name="Group 8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57505" y="1714183"/>
          <a:ext cx="8448675" cy="4022725"/>
        </p:xfrm>
        <a:graphic>
          <a:graphicData uri="http://schemas.openxmlformats.org/drawingml/2006/table">
            <a:tbl>
              <a:tblPr/>
              <a:tblGrid>
                <a:gridCol w="2612992"/>
                <a:gridCol w="2351694"/>
                <a:gridCol w="2177494"/>
                <a:gridCol w="1306195"/>
              </a:tblGrid>
              <a:tr h="5229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优化前中间代码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优化后中间代码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UsableExpr</a:t>
                      </a: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PAIR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表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997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 t</a:t>
                      </a:r>
                      <a:r>
                        <a:rPr kumimoji="1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:= C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×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 t</a:t>
                      </a:r>
                      <a:r>
                        <a:rPr kumimoji="1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:= D + t</a:t>
                      </a:r>
                      <a:r>
                        <a:rPr kumimoji="1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 D := t</a:t>
                      </a:r>
                      <a:r>
                        <a:rPr kumimoji="1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 t</a:t>
                      </a:r>
                      <a:r>
                        <a:rPr kumimoji="1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:= C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×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 t</a:t>
                      </a:r>
                      <a:r>
                        <a:rPr kumimoji="1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:= D + t</a:t>
                      </a:r>
                      <a:r>
                        <a:rPr kumimoji="1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 A := t</a:t>
                      </a:r>
                      <a:r>
                        <a:rPr kumimoji="1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:= C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×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:= D + t</a:t>
                      </a:r>
                      <a:r>
                        <a:rPr kumimoji="1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 := t</a:t>
                      </a:r>
                      <a:r>
                        <a:rPr kumimoji="1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:= D + 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:= t</a:t>
                      </a:r>
                      <a:r>
                        <a:rPr kumimoji="1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{1}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{1,2}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{1}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{1}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{1,5}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{1,5}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{}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{}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{}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{(t</a:t>
                      </a:r>
                      <a:r>
                        <a:rPr kumimoji="1" lang="en-US" altLang="zh-CN" sz="24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,t</a:t>
                      </a:r>
                      <a:r>
                        <a:rPr kumimoji="1" lang="en-US" altLang="zh-CN" sz="24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)}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{(t</a:t>
                      </a:r>
                      <a:r>
                        <a:rPr kumimoji="1" lang="en-US" altLang="zh-CN" sz="24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,t</a:t>
                      </a:r>
                      <a:r>
                        <a:rPr kumimoji="1" lang="en-US" altLang="zh-CN" sz="24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)}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{(t</a:t>
                      </a:r>
                      <a:r>
                        <a:rPr kumimoji="1" lang="en-US" altLang="zh-CN" sz="24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,t</a:t>
                      </a:r>
                      <a:r>
                        <a:rPr kumimoji="1" lang="en-US" altLang="zh-CN" sz="24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)}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2658" name="Rectangle 2"/>
          <p:cNvSpPr>
            <a:spLocks noChangeArrowheads="1"/>
          </p:cNvSpPr>
          <p:nvPr/>
        </p:nvSpPr>
        <p:spPr bwMode="auto">
          <a:xfrm>
            <a:off x="533400" y="609600"/>
            <a:ext cx="8305800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7.3.2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、基于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值编码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的公共表达式局部优化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3" name="Rectangle 3"/>
          <p:cNvSpPr/>
          <p:nvPr/>
        </p:nvSpPr>
        <p:spPr>
          <a:xfrm>
            <a:off x="609600" y="1204913"/>
            <a:ext cx="8229600" cy="252888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742950" lvl="1" indent="-285750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ECC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的关键是如何判定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两个分量（都代表表达式）的值是否等价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，我们给出的相似概念的目的正在于此；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基于值编码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的技术原理类似，不同的是它给分量确定一个编码，等价的标准是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分量具有相同编码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。</a:t>
            </a: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0" y="-26670"/>
            <a:ext cx="9129395" cy="6737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20000"/>
              </a:lnSpc>
            </a:pPr>
            <a:r>
              <a:rPr lang="en-US" altLang="zh-CN" sz="2400"/>
              <a:t>ValuNum(</a:t>
            </a:r>
            <a:r>
              <a:rPr lang="zh-CN" altLang="en-US" sz="2400"/>
              <a:t>变量编码</a:t>
            </a:r>
            <a:r>
              <a:rPr lang="en-US" altLang="zh-CN" sz="2400"/>
              <a:t>)</a:t>
            </a:r>
            <a:r>
              <a:rPr lang="zh-CN" altLang="en-US" sz="2400"/>
              <a:t>，可用表达式代码表</a:t>
            </a:r>
            <a:r>
              <a:rPr lang="en-US" altLang="zh-CN" sz="2400"/>
              <a:t>UsableExpr</a:t>
            </a:r>
            <a:r>
              <a:rPr lang="zh-CN" altLang="en-US" sz="2400"/>
              <a:t>，等价表</a:t>
            </a:r>
            <a:r>
              <a:rPr lang="en-US" altLang="zh-CN" sz="2400"/>
              <a:t>PAIR</a:t>
            </a:r>
            <a:endParaRPr lang="en-US" altLang="zh-CN" sz="2400"/>
          </a:p>
          <a:p>
            <a:pPr fontAlgn="base">
              <a:lnSpc>
                <a:spcPct val="120000"/>
              </a:lnSpc>
            </a:pPr>
            <a:r>
              <a:rPr lang="zh-CN" altLang="en-US" sz="2400"/>
              <a:t>运行时，对于每一条读入的四元式遵循如下原则：</a:t>
            </a:r>
            <a:endParaRPr lang="zh-CN" altLang="en-US" sz="2400"/>
          </a:p>
          <a:p>
            <a:pPr fontAlgn="base">
              <a:lnSpc>
                <a:spcPct val="120000"/>
              </a:lnSpc>
            </a:pPr>
            <a:r>
              <a:rPr lang="zh-CN" altLang="en-US" sz="2400"/>
              <a:t>如果当前运算符</a:t>
            </a:r>
            <a:r>
              <a:rPr lang="zh-CN" altLang="en-US" sz="2400">
                <a:solidFill>
                  <a:srgbClr val="FF0000"/>
                </a:solidFill>
              </a:rPr>
              <a:t>不是赋值运算符</a:t>
            </a:r>
            <a:endParaRPr lang="zh-CN" altLang="en-US" sz="2400">
              <a:solidFill>
                <a:srgbClr val="FF0000"/>
              </a:solidFill>
            </a:endParaRPr>
          </a:p>
          <a:p>
            <a:pPr lvl="1" fontAlgn="base">
              <a:lnSpc>
                <a:spcPct val="120000"/>
              </a:lnSpc>
            </a:pPr>
            <a:r>
              <a:rPr lang="en-US" altLang="zh-CN" sz="2400"/>
              <a:t>1</a:t>
            </a:r>
            <a:r>
              <a:rPr lang="zh-CN" altLang="en-US" sz="2400"/>
              <a:t>、使用</a:t>
            </a:r>
            <a:r>
              <a:rPr lang="en-US" altLang="zh-CN" sz="2400"/>
              <a:t>PAIR</a:t>
            </a:r>
            <a:r>
              <a:rPr lang="zh-CN" altLang="en-US" sz="2400"/>
              <a:t>表中对四元式（</a:t>
            </a:r>
            <a:r>
              <a:rPr lang="en-US" altLang="zh-CN" sz="2400"/>
              <a:t>w</a:t>
            </a:r>
            <a:r>
              <a:rPr lang="zh-CN" altLang="en-US" sz="2400"/>
              <a:t>，</a:t>
            </a:r>
            <a:r>
              <a:rPr lang="en-US" altLang="zh-CN" sz="2400"/>
              <a:t>A</a:t>
            </a:r>
            <a:r>
              <a:rPr lang="zh-CN" altLang="en-US" sz="2400"/>
              <a:t>，</a:t>
            </a:r>
            <a:r>
              <a:rPr lang="en-US" altLang="zh-CN" sz="2400"/>
              <a:t>B</a:t>
            </a:r>
            <a:r>
              <a:rPr lang="zh-CN" altLang="en-US" sz="2400"/>
              <a:t>，</a:t>
            </a:r>
            <a:r>
              <a:rPr lang="en-US" altLang="zh-CN" sz="2400"/>
              <a:t>t</a:t>
            </a:r>
            <a:r>
              <a:rPr lang="zh-CN" altLang="en-US" sz="2400"/>
              <a:t>）中的可能临时变量</a:t>
            </a:r>
            <a:r>
              <a:rPr lang="en-US" altLang="zh-CN" sz="2400"/>
              <a:t>A</a:t>
            </a:r>
            <a:r>
              <a:rPr lang="zh-CN" altLang="en-US" sz="2400"/>
              <a:t>，</a:t>
            </a:r>
            <a:r>
              <a:rPr lang="en-US" altLang="zh-CN" sz="2400"/>
              <a:t>B</a:t>
            </a:r>
            <a:r>
              <a:rPr lang="zh-CN" altLang="en-US" sz="2400"/>
              <a:t>（</a:t>
            </a:r>
            <a:r>
              <a:rPr lang="en-US" altLang="zh-CN" sz="2400"/>
              <a:t>A</a:t>
            </a:r>
            <a:r>
              <a:rPr lang="zh-CN" altLang="en-US" sz="2400"/>
              <a:t>，</a:t>
            </a:r>
            <a:r>
              <a:rPr lang="en-US" altLang="zh-CN" sz="2400"/>
              <a:t>B</a:t>
            </a:r>
            <a:r>
              <a:rPr lang="zh-CN" altLang="en-US" sz="2400"/>
              <a:t>未必是临时变量）进行替换（因为此时有一些临时变量可能已经通过</a:t>
            </a:r>
            <a:r>
              <a:rPr lang="en-US" altLang="zh-CN" sz="2400"/>
              <a:t>UsableExpr</a:t>
            </a:r>
            <a:r>
              <a:rPr lang="zh-CN" altLang="en-US" sz="2400"/>
              <a:t>删去了，如果该四元式需要被保留不能使用一个不存在的临时变量）</a:t>
            </a:r>
            <a:endParaRPr lang="zh-CN" altLang="en-US" sz="2400"/>
          </a:p>
          <a:p>
            <a:pPr lvl="1" fontAlgn="base">
              <a:lnSpc>
                <a:spcPct val="120000"/>
              </a:lnSpc>
            </a:pPr>
            <a:r>
              <a:rPr lang="en-US" altLang="zh-CN" sz="2400"/>
              <a:t>2</a:t>
            </a:r>
            <a:r>
              <a:rPr lang="zh-CN" altLang="en-US" sz="2400"/>
              <a:t>、在</a:t>
            </a:r>
            <a:r>
              <a:rPr lang="en-US" altLang="zh-CN" sz="2400"/>
              <a:t>ValuNum</a:t>
            </a:r>
            <a:r>
              <a:rPr lang="zh-CN" altLang="en-US" sz="2400"/>
              <a:t>表中寻找变量编码，在四元式中替换，不能被替换的变量新建编码。</a:t>
            </a:r>
            <a:endParaRPr lang="zh-CN" altLang="en-US" sz="2400"/>
          </a:p>
          <a:p>
            <a:pPr lvl="1" fontAlgn="base">
              <a:lnSpc>
                <a:spcPct val="120000"/>
              </a:lnSpc>
            </a:pPr>
            <a:r>
              <a:rPr lang="en-US" altLang="zh-CN" sz="2400"/>
              <a:t>3</a:t>
            </a:r>
            <a:r>
              <a:rPr lang="zh-CN" altLang="en-US" sz="2400"/>
              <a:t>、将替换编码之后的四元式变换成映射编码四元式</a:t>
            </a:r>
            <a:r>
              <a:rPr lang="en-US" altLang="zh-CN" sz="2400"/>
              <a:t>(</a:t>
            </a:r>
            <a:r>
              <a:rPr lang="en-US" altLang="zh-CN" sz="2400">
                <a:solidFill>
                  <a:srgbClr val="FF0000"/>
                </a:solidFill>
              </a:rPr>
              <a:t>w</a:t>
            </a:r>
            <a:r>
              <a:rPr lang="zh-CN" altLang="en-US" sz="2400">
                <a:solidFill>
                  <a:srgbClr val="FF0000"/>
                </a:solidFill>
              </a:rPr>
              <a:t>，</a:t>
            </a:r>
            <a:r>
              <a:rPr lang="en-US" altLang="zh-CN" sz="2400">
                <a:solidFill>
                  <a:srgbClr val="FF0000"/>
                </a:solidFill>
              </a:rPr>
              <a:t>i</a:t>
            </a:r>
            <a:r>
              <a:rPr lang="zh-CN" altLang="en-US" sz="2400">
                <a:solidFill>
                  <a:srgbClr val="FF0000"/>
                </a:solidFill>
              </a:rPr>
              <a:t>，</a:t>
            </a:r>
            <a:r>
              <a:rPr lang="en-US" altLang="zh-CN" sz="2400">
                <a:solidFill>
                  <a:srgbClr val="FF0000"/>
                </a:solidFill>
              </a:rPr>
              <a:t>j</a:t>
            </a:r>
            <a:r>
              <a:rPr lang="zh-CN" altLang="en-US" sz="2400">
                <a:solidFill>
                  <a:srgbClr val="FF0000"/>
                </a:solidFill>
              </a:rPr>
              <a:t>，</a:t>
            </a:r>
            <a:r>
              <a:rPr lang="en-US" altLang="zh-CN" sz="2400">
                <a:solidFill>
                  <a:srgbClr val="FF0000"/>
                </a:solidFill>
              </a:rPr>
              <a:t>k</a:t>
            </a:r>
            <a:r>
              <a:rPr lang="en-US" altLang="zh-CN" sz="2400"/>
              <a:t>)</a:t>
            </a:r>
            <a:r>
              <a:rPr lang="zh-CN" altLang="en-US" sz="2400"/>
              <a:t>，如果发现在</a:t>
            </a:r>
            <a:r>
              <a:rPr lang="en-US" altLang="zh-CN" sz="2400"/>
              <a:t>UsableExpr</a:t>
            </a:r>
            <a:r>
              <a:rPr lang="zh-CN" altLang="en-US" sz="2400"/>
              <a:t>中存在相同的映射编码四元式</a:t>
            </a:r>
            <a:r>
              <a:rPr lang="en-US" altLang="zh-CN" sz="2400">
                <a:sym typeface="+mn-ea"/>
              </a:rPr>
              <a:t>(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w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，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i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，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j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，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l</a:t>
            </a:r>
            <a:r>
              <a:rPr lang="en-US" altLang="zh-CN" sz="2400">
                <a:sym typeface="+mn-ea"/>
              </a:rPr>
              <a:t>)</a:t>
            </a:r>
            <a:r>
              <a:rPr lang="zh-CN" altLang="en-US" sz="2400">
                <a:sym typeface="+mn-ea"/>
              </a:rPr>
              <a:t>，则将</a:t>
            </a:r>
            <a:r>
              <a:rPr lang="en-US" altLang="zh-CN" sz="2400">
                <a:sym typeface="+mn-ea"/>
              </a:rPr>
              <a:t>k</a:t>
            </a:r>
            <a:r>
              <a:rPr lang="zh-CN" altLang="en-US" sz="2400">
                <a:sym typeface="+mn-ea"/>
              </a:rPr>
              <a:t>和</a:t>
            </a:r>
            <a:r>
              <a:rPr lang="en-US" altLang="zh-CN" sz="2400">
                <a:sym typeface="+mn-ea"/>
              </a:rPr>
              <a:t>l</a:t>
            </a:r>
            <a:r>
              <a:rPr lang="zh-CN" altLang="en-US" sz="2400">
                <a:sym typeface="+mn-ea"/>
              </a:rPr>
              <a:t>所对应变量填入</a:t>
            </a:r>
            <a:r>
              <a:rPr lang="en-US" altLang="zh-CN" sz="2400">
                <a:sym typeface="+mn-ea"/>
              </a:rPr>
              <a:t>PAIR</a:t>
            </a:r>
            <a:r>
              <a:rPr lang="zh-CN" altLang="en-US" sz="2400">
                <a:sym typeface="+mn-ea"/>
              </a:rPr>
              <a:t>表中，将</a:t>
            </a:r>
            <a:r>
              <a:rPr lang="en-US" altLang="zh-CN" sz="2400">
                <a:sym typeface="+mn-ea"/>
              </a:rPr>
              <a:t>k</a:t>
            </a:r>
            <a:r>
              <a:rPr lang="zh-CN" altLang="en-US" sz="2400">
                <a:sym typeface="+mn-ea"/>
              </a:rPr>
              <a:t>编码为</a:t>
            </a:r>
            <a:r>
              <a:rPr lang="en-US" altLang="zh-CN" sz="2400">
                <a:sym typeface="+mn-ea"/>
              </a:rPr>
              <a:t>l</a:t>
            </a:r>
            <a:r>
              <a:rPr lang="zh-CN" altLang="en-US" sz="2400">
                <a:sym typeface="+mn-ea"/>
              </a:rPr>
              <a:t>的编码，删去四元式</a:t>
            </a:r>
            <a:r>
              <a:rPr lang="en-US" altLang="zh-CN" sz="2400">
                <a:sym typeface="+mn-ea"/>
              </a:rPr>
              <a:t>(w</a:t>
            </a:r>
            <a:r>
              <a:rPr lang="zh-CN" altLang="en-US" sz="2400">
                <a:sym typeface="+mn-ea"/>
              </a:rPr>
              <a:t>，</a:t>
            </a:r>
            <a:r>
              <a:rPr lang="en-US" altLang="zh-CN" sz="2400">
                <a:sym typeface="+mn-ea"/>
              </a:rPr>
              <a:t>i</a:t>
            </a:r>
            <a:r>
              <a:rPr lang="zh-CN" altLang="en-US" sz="2400">
                <a:sym typeface="+mn-ea"/>
              </a:rPr>
              <a:t>，</a:t>
            </a:r>
            <a:r>
              <a:rPr lang="en-US" altLang="zh-CN" sz="2400">
                <a:sym typeface="+mn-ea"/>
              </a:rPr>
              <a:t>j</a:t>
            </a:r>
            <a:r>
              <a:rPr lang="zh-CN" altLang="en-US" sz="2400">
                <a:sym typeface="+mn-ea"/>
              </a:rPr>
              <a:t>，</a:t>
            </a:r>
            <a:r>
              <a:rPr lang="en-US" altLang="zh-CN" sz="2400">
                <a:sym typeface="+mn-ea"/>
              </a:rPr>
              <a:t>l)</a:t>
            </a:r>
            <a:endParaRPr lang="zh-CN" altLang="en-US" sz="2400">
              <a:sym typeface="+mn-ea"/>
            </a:endParaRPr>
          </a:p>
          <a:p>
            <a:pPr lvl="0" fontAlgn="base">
              <a:lnSpc>
                <a:spcPct val="120000"/>
              </a:lnSpc>
            </a:pPr>
            <a:r>
              <a:rPr lang="zh-CN" altLang="en-US" sz="2400">
                <a:sym typeface="+mn-ea"/>
              </a:rPr>
              <a:t>对于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赋值表达式</a:t>
            </a:r>
            <a:r>
              <a:rPr lang="zh-CN" altLang="en-US" sz="2400">
                <a:sym typeface="+mn-ea"/>
              </a:rPr>
              <a:t>（</a:t>
            </a:r>
            <a:r>
              <a:rPr lang="en-US" altLang="zh-CN" sz="2400">
                <a:sym typeface="+mn-ea"/>
              </a:rPr>
              <a:t>=</a:t>
            </a:r>
            <a:r>
              <a:rPr lang="zh-CN" altLang="en-US" sz="2400">
                <a:sym typeface="+mn-ea"/>
              </a:rPr>
              <a:t>，</a:t>
            </a:r>
            <a:r>
              <a:rPr lang="en-US" altLang="zh-CN" sz="2400">
                <a:sym typeface="+mn-ea"/>
              </a:rPr>
              <a:t>A</a:t>
            </a:r>
            <a:r>
              <a:rPr lang="zh-CN" altLang="en-US" sz="2400">
                <a:sym typeface="+mn-ea"/>
              </a:rPr>
              <a:t>，</a:t>
            </a:r>
            <a:r>
              <a:rPr lang="en-US" altLang="zh-CN" sz="2400">
                <a:sym typeface="+mn-ea"/>
              </a:rPr>
              <a:t>-</a:t>
            </a:r>
            <a:r>
              <a:rPr lang="zh-CN" altLang="en-US" sz="2400">
                <a:sym typeface="+mn-ea"/>
              </a:rPr>
              <a:t>，</a:t>
            </a:r>
            <a:r>
              <a:rPr lang="en-US" altLang="zh-CN" sz="2400">
                <a:sym typeface="+mn-ea"/>
              </a:rPr>
              <a:t>B</a:t>
            </a:r>
            <a:r>
              <a:rPr lang="zh-CN" altLang="en-US" sz="2400">
                <a:sym typeface="+mn-ea"/>
              </a:rPr>
              <a:t>），将</a:t>
            </a:r>
            <a:r>
              <a:rPr lang="en-US" altLang="zh-CN" sz="2400">
                <a:sym typeface="+mn-ea"/>
              </a:rPr>
              <a:t>B</a:t>
            </a:r>
            <a:r>
              <a:rPr lang="zh-CN" altLang="en-US" sz="2400">
                <a:sym typeface="+mn-ea"/>
              </a:rPr>
              <a:t>的编码赋值为</a:t>
            </a:r>
            <a:r>
              <a:rPr lang="en-US" altLang="zh-CN" sz="2400">
                <a:sym typeface="+mn-ea"/>
              </a:rPr>
              <a:t>A</a:t>
            </a:r>
            <a:r>
              <a:rPr lang="zh-CN" altLang="en-US" sz="2400">
                <a:sym typeface="+mn-ea"/>
              </a:rPr>
              <a:t>，不做其他操作。</a:t>
            </a:r>
            <a:endParaRPr lang="zh-CN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2660" name="Rectangle 4"/>
          <p:cNvSpPr>
            <a:spLocks noChangeArrowheads="1"/>
          </p:cNvSpPr>
          <p:nvPr/>
        </p:nvSpPr>
        <p:spPr bwMode="auto">
          <a:xfrm>
            <a:off x="389890" y="452120"/>
            <a:ext cx="8459470" cy="58356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7.3.3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、基于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DAG</a:t>
            </a:r>
            <a:r>
              <a:rPr kumimoji="1" lang="zh-CN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基本块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的公共表达式局部优化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5" name="Rectangle 5"/>
          <p:cNvSpPr/>
          <p:nvPr/>
        </p:nvSpPr>
        <p:spPr>
          <a:xfrm>
            <a:off x="266065" y="5085080"/>
            <a:ext cx="8617585" cy="114046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742950" lvl="1" indent="-285750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与多元式序列的区别是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表达式使用树结点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表示。则很容易地想到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用同一个结点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来表示同一表达式。</a:t>
            </a: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9110" y="1308100"/>
            <a:ext cx="8229600" cy="21583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zh-CN" sz="2800" b="1">
                <a:sym typeface="+mn-ea"/>
              </a:rPr>
              <a:t>基本块：</a:t>
            </a:r>
            <a:endParaRPr lang="zh-CN" sz="2800" b="1"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sz="2800" b="1">
                <a:sym typeface="+mn-ea"/>
              </a:rPr>
              <a:t>程序中一顺序执行语句序列，只有一个入口和一个出口</a:t>
            </a:r>
            <a:endParaRPr lang="zh-CN" sz="2800" b="1"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sz="2800" b="1">
                <a:sym typeface="+mn-ea"/>
              </a:rPr>
              <a:t>入口就是第一个语句，出口就是最后一个语句。</a:t>
            </a:r>
            <a:endParaRPr lang="zh-CN" sz="2800" b="1">
              <a:sym typeface="+mn-ea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96520" y="-31115"/>
            <a:ext cx="9048115" cy="6808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>
                <a:solidFill>
                  <a:srgbClr val="FF0000"/>
                </a:solidFill>
              </a:rPr>
              <a:t>划分基本块</a:t>
            </a:r>
            <a:r>
              <a:rPr lang="zh-CN" altLang="en-US" sz="2800"/>
              <a:t>：</a:t>
            </a:r>
            <a:endParaRPr lang="zh-CN" altLang="en-US" sz="2800"/>
          </a:p>
          <a:p>
            <a:pPr>
              <a:lnSpc>
                <a:spcPct val="130000"/>
              </a:lnSpc>
            </a:pPr>
            <a:r>
              <a:rPr lang="zh-CN" altLang="en-US" sz="2800"/>
              <a:t>一、找出中间语句程序中各个基本块的</a:t>
            </a:r>
            <a:r>
              <a:rPr lang="zh-CN" altLang="en-US" sz="2800">
                <a:solidFill>
                  <a:srgbClr val="FF0000"/>
                </a:solidFill>
              </a:rPr>
              <a:t>入口语句</a:t>
            </a:r>
            <a:r>
              <a:rPr lang="zh-CN" altLang="en-US" sz="2800"/>
              <a:t>（三地址语句）</a:t>
            </a:r>
            <a:endParaRPr lang="zh-CN" altLang="en-US" sz="2800"/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800"/>
              <a:t>程序第一个语句</a:t>
            </a:r>
            <a:endParaRPr lang="zh-CN" altLang="en-US" sz="2800"/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800"/>
              <a:t>能由</a:t>
            </a:r>
            <a:r>
              <a:rPr lang="zh-CN" altLang="en-US" sz="2800">
                <a:solidFill>
                  <a:srgbClr val="FF0000"/>
                </a:solidFill>
              </a:rPr>
              <a:t>条件转移语句</a:t>
            </a:r>
            <a:r>
              <a:rPr lang="zh-CN" altLang="en-US" sz="2800"/>
              <a:t>或</a:t>
            </a:r>
            <a:r>
              <a:rPr lang="zh-CN" altLang="en-US" sz="2800">
                <a:solidFill>
                  <a:srgbClr val="FF0000"/>
                </a:solidFill>
              </a:rPr>
              <a:t>无条件转移语句</a:t>
            </a:r>
            <a:r>
              <a:rPr lang="zh-CN" altLang="en-US" sz="2800"/>
              <a:t>转移到的语句</a:t>
            </a:r>
            <a:endParaRPr lang="zh-CN" altLang="en-US" sz="2800"/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800"/>
              <a:t>紧跟在</a:t>
            </a:r>
            <a:r>
              <a:rPr lang="zh-CN" altLang="en-US" sz="2800">
                <a:solidFill>
                  <a:srgbClr val="FF0000"/>
                </a:solidFill>
              </a:rPr>
              <a:t>条件转移语句</a:t>
            </a:r>
            <a:r>
              <a:rPr lang="zh-CN" altLang="en-US" sz="2800"/>
              <a:t>后面的语句</a:t>
            </a:r>
            <a:endParaRPr lang="zh-CN" altLang="en-US" sz="2800"/>
          </a:p>
          <a:p>
            <a:pPr>
              <a:lnSpc>
                <a:spcPct val="130000"/>
              </a:lnSpc>
            </a:pPr>
            <a:r>
              <a:rPr lang="zh-CN" altLang="en-US" sz="2800"/>
              <a:t>二、对以上求出的每个入口语句，</a:t>
            </a:r>
            <a:r>
              <a:rPr lang="zh-CN" altLang="en-US" sz="2800">
                <a:solidFill>
                  <a:srgbClr val="FF0000"/>
                </a:solidFill>
              </a:rPr>
              <a:t>确定其所属的基本块</a:t>
            </a:r>
            <a:endParaRPr lang="zh-CN" altLang="en-US" sz="2800"/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800"/>
              <a:t>入口语句</a:t>
            </a:r>
            <a:r>
              <a:rPr lang="en-US" altLang="zh-CN" sz="2800"/>
              <a:t>=&gt;</a:t>
            </a:r>
            <a:r>
              <a:rPr lang="zh-CN" altLang="en-US" sz="2800"/>
              <a:t>下一入口语句的前一条语句</a:t>
            </a:r>
            <a:endParaRPr lang="zh-CN" altLang="en-US" sz="2800"/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800">
                <a:solidFill>
                  <a:srgbClr val="FF0000"/>
                </a:solidFill>
              </a:rPr>
              <a:t>入口语句</a:t>
            </a:r>
            <a:r>
              <a:rPr lang="en-US" altLang="zh-CN" sz="2800">
                <a:solidFill>
                  <a:srgbClr val="FF0000"/>
                </a:solidFill>
              </a:rPr>
              <a:t>=&gt;</a:t>
            </a:r>
            <a:r>
              <a:rPr lang="zh-CN" altLang="en-US" sz="2800">
                <a:solidFill>
                  <a:srgbClr val="FF0000"/>
                </a:solidFill>
              </a:rPr>
              <a:t>转移语句</a:t>
            </a:r>
            <a:endParaRPr lang="zh-CN" altLang="en-US" sz="2800">
              <a:solidFill>
                <a:srgbClr val="FF0000"/>
              </a:solidFill>
            </a:endParaRP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800"/>
              <a:t>入口语句</a:t>
            </a:r>
            <a:r>
              <a:rPr lang="en-US" altLang="zh-CN" sz="2800"/>
              <a:t>=&gt;</a:t>
            </a:r>
            <a:r>
              <a:rPr lang="zh-CN" altLang="en-US" sz="2800"/>
              <a:t>停语句</a:t>
            </a:r>
            <a:endParaRPr lang="zh-CN" altLang="en-US" sz="2800"/>
          </a:p>
          <a:p>
            <a:pPr>
              <a:lnSpc>
                <a:spcPct val="130000"/>
              </a:lnSpc>
            </a:pPr>
            <a:r>
              <a:rPr lang="zh-CN" altLang="zh-CN" sz="2800"/>
              <a:t>三、凡未被纳入某一基本块中的语句，可以从程序中删除</a:t>
            </a:r>
            <a:endParaRPr lang="zh-CN" altLang="zh-CN"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" name="图片 99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66725" y="1700530"/>
            <a:ext cx="8593455" cy="22917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07465" y="542290"/>
            <a:ext cx="576770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zh-CN" altLang="en-US" sz="3200"/>
              <a:t>（</a:t>
            </a:r>
            <a:r>
              <a:rPr lang="en-US" altLang="zh-CN" sz="3200"/>
              <a:t>1</a:t>
            </a:r>
            <a:r>
              <a:rPr lang="zh-CN" altLang="en-US" sz="3200"/>
              <a:t>）</a:t>
            </a:r>
            <a:r>
              <a:rPr lang="en-US" altLang="zh-CN" sz="3200"/>
              <a:t>read X</a:t>
            </a:r>
            <a:endParaRPr lang="en-US" altLang="zh-CN" sz="3200"/>
          </a:p>
          <a:p>
            <a:pPr>
              <a:lnSpc>
                <a:spcPct val="130000"/>
              </a:lnSpc>
            </a:pPr>
            <a:r>
              <a:rPr lang="zh-CN" altLang="en-US" sz="3200"/>
              <a:t>（</a:t>
            </a:r>
            <a:r>
              <a:rPr lang="en-US" altLang="zh-CN" sz="3200"/>
              <a:t>2</a:t>
            </a:r>
            <a:r>
              <a:rPr lang="zh-CN" altLang="en-US" sz="3200"/>
              <a:t>）</a:t>
            </a:r>
            <a:r>
              <a:rPr lang="en-US" altLang="zh-CN" sz="3200"/>
              <a:t>read Y</a:t>
            </a:r>
            <a:endParaRPr lang="en-US" altLang="zh-CN" sz="3200"/>
          </a:p>
          <a:p>
            <a:pPr>
              <a:lnSpc>
                <a:spcPct val="130000"/>
              </a:lnSpc>
            </a:pPr>
            <a:r>
              <a:rPr lang="zh-CN" altLang="en-US" sz="3200"/>
              <a:t>（</a:t>
            </a:r>
            <a:r>
              <a:rPr lang="en-US" altLang="zh-CN" sz="3200"/>
              <a:t>3</a:t>
            </a:r>
            <a:r>
              <a:rPr lang="zh-CN" altLang="en-US" sz="3200"/>
              <a:t>）</a:t>
            </a:r>
            <a:r>
              <a:rPr lang="en-US" altLang="zh-CN" sz="3200"/>
              <a:t>R:= X mod Y</a:t>
            </a:r>
            <a:endParaRPr lang="en-US" altLang="zh-CN" sz="3200"/>
          </a:p>
          <a:p>
            <a:pPr>
              <a:lnSpc>
                <a:spcPct val="130000"/>
              </a:lnSpc>
            </a:pPr>
            <a:r>
              <a:rPr lang="zh-CN" altLang="en-US" sz="3200"/>
              <a:t>（</a:t>
            </a:r>
            <a:r>
              <a:rPr lang="en-US" altLang="zh-CN" sz="3200"/>
              <a:t>4</a:t>
            </a:r>
            <a:r>
              <a:rPr lang="zh-CN" altLang="en-US" sz="3200"/>
              <a:t>）</a:t>
            </a:r>
            <a:r>
              <a:rPr lang="en-US" altLang="zh-CN" sz="3200"/>
              <a:t>if R=0 goto </a:t>
            </a:r>
            <a:r>
              <a:rPr lang="zh-CN" altLang="en-US" sz="3200"/>
              <a:t>（</a:t>
            </a:r>
            <a:r>
              <a:rPr lang="en-US" altLang="zh-CN" sz="3200"/>
              <a:t>8</a:t>
            </a:r>
            <a:r>
              <a:rPr lang="zh-CN" altLang="en-US" sz="3200"/>
              <a:t>）</a:t>
            </a:r>
            <a:endParaRPr lang="en-US" altLang="zh-CN" sz="3200"/>
          </a:p>
          <a:p>
            <a:pPr>
              <a:lnSpc>
                <a:spcPct val="130000"/>
              </a:lnSpc>
            </a:pPr>
            <a:r>
              <a:rPr lang="zh-CN" altLang="en-US" sz="3200"/>
              <a:t>（</a:t>
            </a:r>
            <a:r>
              <a:rPr lang="en-US" altLang="zh-CN" sz="3200"/>
              <a:t>5</a:t>
            </a:r>
            <a:r>
              <a:rPr lang="zh-CN" altLang="en-US" sz="3200"/>
              <a:t>）</a:t>
            </a:r>
            <a:r>
              <a:rPr lang="en-US" altLang="zh-CN" sz="3200"/>
              <a:t>x:=Y</a:t>
            </a:r>
            <a:endParaRPr lang="en-US" altLang="zh-CN" sz="3200"/>
          </a:p>
          <a:p>
            <a:pPr>
              <a:lnSpc>
                <a:spcPct val="130000"/>
              </a:lnSpc>
            </a:pPr>
            <a:r>
              <a:rPr lang="zh-CN" altLang="en-US" sz="3200"/>
              <a:t>（</a:t>
            </a:r>
            <a:r>
              <a:rPr lang="en-US" altLang="zh-CN" sz="3200"/>
              <a:t>6</a:t>
            </a:r>
            <a:r>
              <a:rPr lang="zh-CN" altLang="en-US" sz="3200"/>
              <a:t>）</a:t>
            </a:r>
            <a:r>
              <a:rPr lang="en-US" altLang="zh-CN" sz="3200"/>
              <a:t>Y:=R</a:t>
            </a:r>
            <a:endParaRPr lang="en-US" altLang="zh-CN" sz="3200"/>
          </a:p>
          <a:p>
            <a:pPr>
              <a:lnSpc>
                <a:spcPct val="130000"/>
              </a:lnSpc>
            </a:pPr>
            <a:r>
              <a:rPr lang="zh-CN" altLang="en-US" sz="3200"/>
              <a:t>（</a:t>
            </a:r>
            <a:r>
              <a:rPr lang="en-US" altLang="zh-CN" sz="3200"/>
              <a:t>7</a:t>
            </a:r>
            <a:r>
              <a:rPr lang="zh-CN" altLang="en-US" sz="3200"/>
              <a:t>）</a:t>
            </a:r>
            <a:r>
              <a:rPr lang="en-US" altLang="zh-CN" sz="3200"/>
              <a:t>goto </a:t>
            </a:r>
            <a:r>
              <a:rPr lang="zh-CN" altLang="en-US" sz="3200"/>
              <a:t>（</a:t>
            </a:r>
            <a:r>
              <a:rPr lang="en-US" altLang="zh-CN" sz="3200"/>
              <a:t>3</a:t>
            </a:r>
            <a:r>
              <a:rPr lang="zh-CN" altLang="en-US" sz="3200"/>
              <a:t>）</a:t>
            </a:r>
            <a:endParaRPr lang="en-US" altLang="zh-CN" sz="3200"/>
          </a:p>
          <a:p>
            <a:pPr>
              <a:lnSpc>
                <a:spcPct val="130000"/>
              </a:lnSpc>
            </a:pPr>
            <a:r>
              <a:rPr lang="zh-CN" altLang="en-US" sz="3200"/>
              <a:t>（</a:t>
            </a:r>
            <a:r>
              <a:rPr lang="en-US" altLang="zh-CN" sz="3200"/>
              <a:t>8</a:t>
            </a:r>
            <a:r>
              <a:rPr lang="zh-CN" altLang="en-US" sz="3200"/>
              <a:t>）</a:t>
            </a:r>
            <a:r>
              <a:rPr lang="en-US" altLang="zh-CN" sz="3200"/>
              <a:t>write Y</a:t>
            </a:r>
            <a:endParaRPr lang="en-US" altLang="zh-CN" sz="3200"/>
          </a:p>
          <a:p>
            <a:pPr>
              <a:lnSpc>
                <a:spcPct val="130000"/>
              </a:lnSpc>
            </a:pPr>
            <a:r>
              <a:rPr lang="zh-CN" altLang="en-US" sz="3200"/>
              <a:t>（</a:t>
            </a:r>
            <a:r>
              <a:rPr lang="en-US" altLang="zh-CN" sz="3200"/>
              <a:t>9</a:t>
            </a:r>
            <a:r>
              <a:rPr lang="zh-CN" altLang="en-US" sz="3200"/>
              <a:t>）</a:t>
            </a:r>
            <a:r>
              <a:rPr lang="en-US" altLang="zh-CN" sz="3200"/>
              <a:t>halt</a:t>
            </a:r>
            <a:endParaRPr lang="en-US" altLang="zh-CN" sz="3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07465" y="542290"/>
            <a:ext cx="576770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zh-CN" altLang="en-US" sz="3200">
                <a:solidFill>
                  <a:srgbClr val="FF0000"/>
                </a:solidFill>
              </a:rPr>
              <a:t>（</a:t>
            </a:r>
            <a:r>
              <a:rPr lang="en-US" altLang="zh-CN" sz="3200">
                <a:solidFill>
                  <a:srgbClr val="FF0000"/>
                </a:solidFill>
              </a:rPr>
              <a:t>1</a:t>
            </a:r>
            <a:r>
              <a:rPr lang="zh-CN" altLang="en-US" sz="3200">
                <a:solidFill>
                  <a:srgbClr val="FF0000"/>
                </a:solidFill>
              </a:rPr>
              <a:t>）</a:t>
            </a:r>
            <a:r>
              <a:rPr lang="en-US" altLang="zh-CN" sz="3200">
                <a:solidFill>
                  <a:srgbClr val="FF0000"/>
                </a:solidFill>
              </a:rPr>
              <a:t>read X</a:t>
            </a:r>
            <a:endParaRPr lang="en-US" altLang="zh-CN" sz="320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3200"/>
              <a:t>（</a:t>
            </a:r>
            <a:r>
              <a:rPr lang="en-US" altLang="zh-CN" sz="3200"/>
              <a:t>2</a:t>
            </a:r>
            <a:r>
              <a:rPr lang="zh-CN" altLang="en-US" sz="3200"/>
              <a:t>）</a:t>
            </a:r>
            <a:r>
              <a:rPr lang="en-US" altLang="zh-CN" sz="3200"/>
              <a:t>read Y</a:t>
            </a:r>
            <a:endParaRPr lang="en-US" altLang="zh-CN" sz="3200"/>
          </a:p>
          <a:p>
            <a:pPr>
              <a:lnSpc>
                <a:spcPct val="130000"/>
              </a:lnSpc>
            </a:pPr>
            <a:r>
              <a:rPr lang="zh-CN" altLang="en-US" sz="3200">
                <a:solidFill>
                  <a:srgbClr val="FF0000"/>
                </a:solidFill>
              </a:rPr>
              <a:t>（</a:t>
            </a:r>
            <a:r>
              <a:rPr lang="en-US" altLang="zh-CN" sz="3200">
                <a:solidFill>
                  <a:srgbClr val="FF0000"/>
                </a:solidFill>
              </a:rPr>
              <a:t>3</a:t>
            </a:r>
            <a:r>
              <a:rPr lang="zh-CN" altLang="en-US" sz="3200">
                <a:solidFill>
                  <a:srgbClr val="FF0000"/>
                </a:solidFill>
              </a:rPr>
              <a:t>）</a:t>
            </a:r>
            <a:r>
              <a:rPr lang="en-US" altLang="zh-CN" sz="3200">
                <a:solidFill>
                  <a:srgbClr val="FF0000"/>
                </a:solidFill>
              </a:rPr>
              <a:t>R:= X mod Y</a:t>
            </a:r>
            <a:endParaRPr lang="en-US" altLang="zh-CN" sz="320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3200"/>
              <a:t>（</a:t>
            </a:r>
            <a:r>
              <a:rPr lang="en-US" altLang="zh-CN" sz="3200"/>
              <a:t>4</a:t>
            </a:r>
            <a:r>
              <a:rPr lang="zh-CN" altLang="en-US" sz="3200"/>
              <a:t>）</a:t>
            </a:r>
            <a:r>
              <a:rPr lang="en-US" altLang="zh-CN" sz="3200"/>
              <a:t>if R=0 goto </a:t>
            </a:r>
            <a:r>
              <a:rPr lang="zh-CN" altLang="en-US" sz="3200"/>
              <a:t>（</a:t>
            </a:r>
            <a:r>
              <a:rPr lang="en-US" altLang="zh-CN" sz="3200"/>
              <a:t>8</a:t>
            </a:r>
            <a:r>
              <a:rPr lang="zh-CN" altLang="en-US" sz="3200"/>
              <a:t>）</a:t>
            </a:r>
            <a:endParaRPr lang="en-US" altLang="zh-CN" sz="3200"/>
          </a:p>
          <a:p>
            <a:pPr>
              <a:lnSpc>
                <a:spcPct val="130000"/>
              </a:lnSpc>
            </a:pPr>
            <a:r>
              <a:rPr lang="zh-CN" altLang="en-US" sz="3200">
                <a:solidFill>
                  <a:srgbClr val="FF0000"/>
                </a:solidFill>
              </a:rPr>
              <a:t>（</a:t>
            </a:r>
            <a:r>
              <a:rPr lang="en-US" altLang="zh-CN" sz="3200">
                <a:solidFill>
                  <a:srgbClr val="FF0000"/>
                </a:solidFill>
              </a:rPr>
              <a:t>5</a:t>
            </a:r>
            <a:r>
              <a:rPr lang="zh-CN" altLang="en-US" sz="3200">
                <a:solidFill>
                  <a:srgbClr val="FF0000"/>
                </a:solidFill>
              </a:rPr>
              <a:t>）</a:t>
            </a:r>
            <a:r>
              <a:rPr lang="en-US" altLang="zh-CN" sz="3200">
                <a:solidFill>
                  <a:srgbClr val="FF0000"/>
                </a:solidFill>
              </a:rPr>
              <a:t>x:=Y</a:t>
            </a:r>
            <a:endParaRPr lang="en-US" altLang="zh-CN" sz="320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3200"/>
              <a:t>（</a:t>
            </a:r>
            <a:r>
              <a:rPr lang="en-US" altLang="zh-CN" sz="3200"/>
              <a:t>6</a:t>
            </a:r>
            <a:r>
              <a:rPr lang="zh-CN" altLang="en-US" sz="3200"/>
              <a:t>）</a:t>
            </a:r>
            <a:r>
              <a:rPr lang="en-US" altLang="zh-CN" sz="3200"/>
              <a:t>Y:=R</a:t>
            </a:r>
            <a:endParaRPr lang="en-US" altLang="zh-CN" sz="3200"/>
          </a:p>
          <a:p>
            <a:pPr>
              <a:lnSpc>
                <a:spcPct val="130000"/>
              </a:lnSpc>
            </a:pPr>
            <a:r>
              <a:rPr lang="zh-CN" altLang="en-US" sz="3200"/>
              <a:t>（</a:t>
            </a:r>
            <a:r>
              <a:rPr lang="en-US" altLang="zh-CN" sz="3200"/>
              <a:t>7</a:t>
            </a:r>
            <a:r>
              <a:rPr lang="zh-CN" altLang="en-US" sz="3200"/>
              <a:t>）</a:t>
            </a:r>
            <a:r>
              <a:rPr lang="en-US" altLang="zh-CN" sz="3200"/>
              <a:t>goto </a:t>
            </a:r>
            <a:r>
              <a:rPr lang="zh-CN" altLang="en-US" sz="3200"/>
              <a:t>（</a:t>
            </a:r>
            <a:r>
              <a:rPr lang="en-US" altLang="zh-CN" sz="3200"/>
              <a:t>3</a:t>
            </a:r>
            <a:r>
              <a:rPr lang="zh-CN" altLang="en-US" sz="3200"/>
              <a:t>）</a:t>
            </a:r>
            <a:endParaRPr lang="en-US" altLang="zh-CN" sz="3200"/>
          </a:p>
          <a:p>
            <a:pPr>
              <a:lnSpc>
                <a:spcPct val="130000"/>
              </a:lnSpc>
            </a:pPr>
            <a:r>
              <a:rPr lang="zh-CN" altLang="en-US" sz="3200">
                <a:solidFill>
                  <a:srgbClr val="FF0000"/>
                </a:solidFill>
              </a:rPr>
              <a:t>（</a:t>
            </a:r>
            <a:r>
              <a:rPr lang="en-US" altLang="zh-CN" sz="3200">
                <a:solidFill>
                  <a:srgbClr val="FF0000"/>
                </a:solidFill>
              </a:rPr>
              <a:t>8</a:t>
            </a:r>
            <a:r>
              <a:rPr lang="zh-CN" altLang="en-US" sz="3200">
                <a:solidFill>
                  <a:srgbClr val="FF0000"/>
                </a:solidFill>
              </a:rPr>
              <a:t>）</a:t>
            </a:r>
            <a:r>
              <a:rPr lang="en-US" altLang="zh-CN" sz="3200">
                <a:solidFill>
                  <a:srgbClr val="FF0000"/>
                </a:solidFill>
              </a:rPr>
              <a:t>write Y</a:t>
            </a:r>
            <a:endParaRPr lang="en-US" altLang="zh-CN" sz="320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3200"/>
              <a:t>（</a:t>
            </a:r>
            <a:r>
              <a:rPr lang="en-US" altLang="zh-CN" sz="3200"/>
              <a:t>9</a:t>
            </a:r>
            <a:r>
              <a:rPr lang="zh-CN" altLang="en-US" sz="3200"/>
              <a:t>）</a:t>
            </a:r>
            <a:r>
              <a:rPr lang="en-US" altLang="zh-CN" sz="3200"/>
              <a:t>halt</a:t>
            </a:r>
            <a:endParaRPr lang="en-US" altLang="zh-CN" sz="3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1" name="图片 100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90345" y="260350"/>
            <a:ext cx="5227955" cy="62014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" name="图片 101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23850" y="44450"/>
            <a:ext cx="8448040" cy="5210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21665" y="5166360"/>
            <a:ext cx="8471535" cy="11245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 sz="2800" b="1"/>
              <a:t>基本块为结点，程序第一条语句所在基本块是首结点</a:t>
            </a:r>
            <a:endParaRPr lang="zh-CN" altLang="en-US" sz="2800" b="1"/>
          </a:p>
          <a:p>
            <a:pPr>
              <a:lnSpc>
                <a:spcPct val="120000"/>
              </a:lnSpc>
            </a:pPr>
            <a:r>
              <a:rPr lang="zh-CN" altLang="en-US" sz="2800" b="1"/>
              <a:t>连边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" name="文本框 102"/>
          <p:cNvSpPr txBox="1"/>
          <p:nvPr/>
        </p:nvSpPr>
        <p:spPr>
          <a:xfrm>
            <a:off x="1907540" y="1052513"/>
            <a:ext cx="5080000" cy="3538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228600" indent="-228600"/>
            <a:r>
              <a:rPr 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  (1) read X(2) read Y (3) R := X % Y(4) if R = 0 goto (1)(5) X := Y(6) Y := R(7) goto  (3)(8) write Y</a:t>
            </a:r>
            <a:endParaRPr lang="en-US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" name="文本框 102"/>
          <p:cNvSpPr txBox="1"/>
          <p:nvPr/>
        </p:nvSpPr>
        <p:spPr>
          <a:xfrm>
            <a:off x="1907540" y="1052513"/>
            <a:ext cx="5080000" cy="3538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228600" indent="-228600"/>
            <a:r>
              <a:rPr 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(1) read X</a:t>
            </a:r>
            <a:endParaRPr lang="en-US" sz="280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28600" indent="-228600"/>
            <a:r>
              <a:rPr 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(2) read Y </a:t>
            </a:r>
            <a:endParaRPr 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28600" indent="-228600"/>
            <a:r>
              <a:rPr 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(3) R := X % Y</a:t>
            </a:r>
            <a:endParaRPr lang="en-US" sz="280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28600" indent="-228600"/>
            <a:r>
              <a:rPr 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(4) if R = 0 goto (1)</a:t>
            </a:r>
            <a:endParaRPr 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28600" indent="-228600"/>
            <a:r>
              <a:rPr 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(5) X := Y</a:t>
            </a:r>
            <a:endParaRPr lang="en-US" sz="280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28600" indent="-228600"/>
            <a:r>
              <a:rPr 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(6) Y := R(7) goto  (3)</a:t>
            </a:r>
            <a:endParaRPr 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28600" indent="-228600"/>
            <a:r>
              <a:rPr 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(8) write Y</a:t>
            </a:r>
            <a:endParaRPr lang="en-US" altLang="en-US" sz="280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" name="文本框 102"/>
          <p:cNvSpPr txBox="1"/>
          <p:nvPr>
            <p:custDataLst>
              <p:tags r:id="rId1"/>
            </p:custDataLst>
          </p:nvPr>
        </p:nvSpPr>
        <p:spPr>
          <a:xfrm>
            <a:off x="1907540" y="1052513"/>
            <a:ext cx="5080000" cy="39693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228600" indent="-228600"/>
            <a:r>
              <a:rPr 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  (1) read C(2) A:= 0 (3) B:= 1(4) L1:  A: = A+B(5) if  B&gt;=C  goto L2(6) B:=B+1(7) goto  L1(8) L2: write A</a:t>
            </a:r>
            <a:endParaRPr 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28600" indent="-228600"/>
            <a:r>
              <a:rPr lang="en-US" sz="2800">
                <a:sym typeface="+mn-ea"/>
              </a:rPr>
              <a:t>   (9) halt </a:t>
            </a:r>
            <a:endParaRPr lang="en-US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" name="文本框 102"/>
          <p:cNvSpPr txBox="1"/>
          <p:nvPr>
            <p:custDataLst>
              <p:tags r:id="rId1"/>
            </p:custDataLst>
          </p:nvPr>
        </p:nvSpPr>
        <p:spPr>
          <a:xfrm>
            <a:off x="1907540" y="1052513"/>
            <a:ext cx="5080000" cy="39693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228600" indent="-228600"/>
            <a:r>
              <a:rPr 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(1) read C</a:t>
            </a:r>
            <a:endParaRPr lang="en-US" sz="280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28600" indent="-228600"/>
            <a:r>
              <a:rPr 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(2) A:= 0 (3) B:= 1</a:t>
            </a:r>
            <a:endParaRPr 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28600" indent="-228600"/>
            <a:r>
              <a:rPr 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(4) L1:  A: = A+B</a:t>
            </a:r>
            <a:endParaRPr lang="en-US" sz="280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28600" indent="-228600"/>
            <a:r>
              <a:rPr 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(5) if  B&gt;=C  goto L2</a:t>
            </a:r>
            <a:endParaRPr 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28600" indent="-228600"/>
            <a:r>
              <a:rPr 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(6) B:=B+1</a:t>
            </a:r>
            <a:endParaRPr lang="en-US" sz="280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28600" indent="-228600"/>
            <a:r>
              <a:rPr 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(7) goto  L1</a:t>
            </a:r>
            <a:endParaRPr 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28600" indent="-228600"/>
            <a:r>
              <a:rPr 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(8) L2: write A</a:t>
            </a:r>
            <a:endParaRPr lang="en-US" sz="280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28600" indent="-228600"/>
            <a:r>
              <a:rPr lang="en-US" sz="2800">
                <a:sym typeface="+mn-ea"/>
              </a:rPr>
              <a:t>   (9) halt </a:t>
            </a:r>
            <a:endParaRPr lang="en-US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3"/>
          <p:cNvSpPr>
            <a:spLocks noGrp="1"/>
          </p:cNvSpPr>
          <p:nvPr>
            <p:ph idx="1"/>
          </p:nvPr>
        </p:nvSpPr>
        <p:spPr>
          <a:xfrm>
            <a:off x="685800" y="1219200"/>
            <a:ext cx="7772400" cy="41910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b="1" dirty="0">
                <a:solidFill>
                  <a:schemeClr val="tx2"/>
                </a:solidFill>
              </a:rPr>
              <a:t>循环体是优化的重点</a:t>
            </a:r>
            <a:endParaRPr lang="zh-CN" altLang="en-US" b="1" dirty="0">
              <a:solidFill>
                <a:schemeClr val="tx2"/>
              </a:solidFill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tx2"/>
                </a:solidFill>
              </a:rPr>
              <a:t>反复执行</a:t>
            </a:r>
            <a:endParaRPr lang="zh-CN" altLang="en-US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b="1" dirty="0">
                <a:solidFill>
                  <a:schemeClr val="tx2"/>
                </a:solidFill>
              </a:rPr>
              <a:t>循环优化的三种基本方法</a:t>
            </a:r>
            <a:endParaRPr lang="zh-CN" altLang="en-US" b="1" dirty="0">
              <a:solidFill>
                <a:schemeClr val="tx2"/>
              </a:solidFill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不变表达式外提</a:t>
            </a:r>
            <a:endParaRPr lang="zh-CN" altLang="en-US" b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运算强度削弱</a:t>
            </a:r>
            <a:endParaRPr lang="zh-CN" altLang="en-US" b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归纳变量的消除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95313"/>
            <a:ext cx="7772400" cy="45720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1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7.4</a:t>
            </a:r>
            <a:r>
              <a:rPr kumimoji="0" lang="zh-CN" altLang="en-US" sz="41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、循环优化</a:t>
            </a:r>
            <a:endParaRPr kumimoji="0" lang="zh-CN" altLang="en-US" sz="41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3"/>
          <p:cNvSpPr>
            <a:spLocks noGrp="1"/>
          </p:cNvSpPr>
          <p:nvPr>
            <p:ph idx="1"/>
          </p:nvPr>
        </p:nvSpPr>
        <p:spPr>
          <a:xfrm>
            <a:off x="2071688" y="1447800"/>
            <a:ext cx="4343400" cy="4495800"/>
          </a:xfrm>
        </p:spPr>
        <p:txBody>
          <a:bodyPr vert="horz" wrap="square" lIns="91440" tIns="45720" rIns="91440" bIns="45720" anchor="t" anchorCtr="0"/>
          <a:p>
            <a:pPr eaLnBrk="1" hangingPunct="1">
              <a:buFontTx/>
              <a:buNone/>
            </a:pPr>
            <a:r>
              <a:rPr lang="zh-CN" altLang="en-US" sz="3600" b="1" dirty="0"/>
              <a:t>例 ：</a:t>
            </a:r>
            <a:endParaRPr lang="zh-CN" altLang="en-US" sz="3600" b="1" dirty="0"/>
          </a:p>
          <a:p>
            <a:pPr lvl="2" eaLnBrk="1" hangingPunct="1"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</a:rPr>
              <a:t>i = 0;</a:t>
            </a:r>
            <a:endParaRPr lang="en-US" altLang="zh-CN" sz="3200" b="1" dirty="0">
              <a:latin typeface="Times New Roman" panose="02020603050405020304" pitchFamily="18" charset="0"/>
            </a:endParaRPr>
          </a:p>
          <a:p>
            <a:pPr lvl="2" eaLnBrk="1" hangingPunct="1"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</a:rPr>
              <a:t>while( i &lt; 20 ) {</a:t>
            </a:r>
            <a:endParaRPr lang="en-US" altLang="zh-CN" sz="3200" b="1" dirty="0">
              <a:latin typeface="Times New Roman" panose="02020603050405020304" pitchFamily="18" charset="0"/>
            </a:endParaRPr>
          </a:p>
          <a:p>
            <a:pPr lvl="2" eaLnBrk="1" hangingPunct="1"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</a:rPr>
              <a:t>    x = 4 * i;</a:t>
            </a:r>
            <a:endParaRPr lang="en-US" altLang="zh-CN" sz="3200" b="1" dirty="0">
              <a:latin typeface="Times New Roman" panose="02020603050405020304" pitchFamily="18" charset="0"/>
            </a:endParaRPr>
          </a:p>
          <a:p>
            <a:pPr lvl="2" eaLnBrk="1" hangingPunct="1"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</a:rPr>
              <a:t>    i++;</a:t>
            </a:r>
            <a:endParaRPr lang="en-US" altLang="zh-CN" sz="3200" b="1" dirty="0">
              <a:latin typeface="Times New Roman" panose="02020603050405020304" pitchFamily="18" charset="0"/>
            </a:endParaRPr>
          </a:p>
          <a:p>
            <a:pPr lvl="2" eaLnBrk="1" hangingPunct="1"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</a:rPr>
              <a:t>    y = z * 6 + x;</a:t>
            </a:r>
            <a:endParaRPr lang="en-US" altLang="zh-CN" sz="3200" b="1" dirty="0">
              <a:latin typeface="Times New Roman" panose="02020603050405020304" pitchFamily="18" charset="0"/>
            </a:endParaRPr>
          </a:p>
          <a:p>
            <a:pPr lvl="2" eaLnBrk="1" hangingPunct="1"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</a:rPr>
              <a:t>}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56832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7772400" cy="53340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7.4.1</a:t>
            </a:r>
            <a:r>
              <a:rPr kumimoji="0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、循环不变表达式外提</a:t>
            </a:r>
            <a:endParaRPr kumimoji="0" lang="zh-CN" altLang="en-US" sz="3200" b="1" i="0" u="none" strike="noStrike" kern="1200" cap="none" spc="0" normalizeH="0" baseline="0" noProof="0" smtClean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17412" name="Line 5"/>
          <p:cNvSpPr/>
          <p:nvPr/>
        </p:nvSpPr>
        <p:spPr>
          <a:xfrm>
            <a:off x="3743325" y="4714875"/>
            <a:ext cx="928688" cy="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sz="half" idx="1"/>
          </p:nvPr>
        </p:nvSpPr>
        <p:spPr>
          <a:xfrm>
            <a:off x="749300" y="3249613"/>
            <a:ext cx="3429000" cy="2693987"/>
          </a:xfrm>
          <a:ln w="38100">
            <a:solidFill>
              <a:schemeClr val="hlink">
                <a:alpha val="100000"/>
              </a:schemeClr>
            </a:solidFill>
            <a:miter lim="800000"/>
          </a:ln>
        </p:spPr>
        <p:txBody>
          <a:bodyPr vert="horz" wrap="square" lIns="91440" tIns="45720" rIns="91440" bIns="45720" anchor="t" anchorCtr="0">
            <a:spAutoFit/>
          </a:bodyPr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ClrTx/>
              <a:buSzPct val="68000"/>
              <a:buFontTx/>
              <a:buNone/>
            </a:pPr>
            <a:r>
              <a:rPr lang="en-US" altLang="zh-CN" b="1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rPr>
              <a:t>(4) x := 4 * i</a:t>
            </a:r>
            <a:endParaRPr lang="en-US" altLang="zh-CN" b="1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ClrTx/>
              <a:buSzPct val="68000"/>
              <a:buFontTx/>
              <a:buNone/>
            </a:pPr>
            <a:r>
              <a:rPr lang="en-US" altLang="zh-CN" b="1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rPr>
              <a:t>(5) i := i + 1</a:t>
            </a:r>
            <a:endParaRPr lang="en-US" altLang="zh-CN" b="1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ClrTx/>
              <a:buSzPct val="68000"/>
              <a:buFontTx/>
              <a:buNone/>
            </a:pPr>
            <a:r>
              <a:rPr lang="en-US" altLang="zh-CN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(6) t1 := z *6</a:t>
            </a:r>
            <a:endParaRPr lang="en-US" altLang="zh-CN" b="1" kern="12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ClrTx/>
              <a:buSzPct val="68000"/>
              <a:buFontTx/>
              <a:buNone/>
            </a:pPr>
            <a:r>
              <a:rPr lang="en-US" altLang="zh-CN" b="1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rPr>
              <a:t>(7) y := t1 + x</a:t>
            </a:r>
            <a:endParaRPr lang="en-US" altLang="zh-CN" b="1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ClrTx/>
              <a:buSzPct val="68000"/>
              <a:buFontTx/>
              <a:buNone/>
            </a:pPr>
            <a:r>
              <a:rPr lang="en-US" altLang="zh-CN" b="1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rPr>
              <a:t>(8) goto (2)</a:t>
            </a:r>
            <a:endParaRPr lang="en-US" altLang="zh-CN" b="1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435" name="Rectangle 3"/>
          <p:cNvSpPr>
            <a:spLocks noGrp="1"/>
          </p:cNvSpPr>
          <p:nvPr>
            <p:ph sz="half" idx="2"/>
          </p:nvPr>
        </p:nvSpPr>
        <p:spPr>
          <a:xfrm>
            <a:off x="5105400" y="3914775"/>
            <a:ext cx="3352800" cy="2181225"/>
          </a:xfrm>
          <a:ln w="38100">
            <a:solidFill>
              <a:schemeClr val="hlink">
                <a:alpha val="100000"/>
              </a:schemeClr>
            </a:solidFill>
            <a:miter lim="800000"/>
          </a:ln>
        </p:spPr>
        <p:txBody>
          <a:bodyPr vert="horz" wrap="square" lIns="91440" tIns="45720" rIns="91440" bIns="45720" anchor="t" anchorCtr="0">
            <a:spAutoFit/>
          </a:bodyPr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ClrTx/>
              <a:buSzPct val="68000"/>
              <a:buFontTx/>
              <a:buNone/>
            </a:pPr>
            <a:r>
              <a:rPr lang="en-US" altLang="zh-CN" b="1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rPr>
              <a:t>(5) x := 4 * i</a:t>
            </a:r>
            <a:endParaRPr lang="en-US" altLang="zh-CN" b="1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ClrTx/>
              <a:buSzPct val="68000"/>
              <a:buFontTx/>
              <a:buNone/>
            </a:pPr>
            <a:r>
              <a:rPr lang="en-US" altLang="zh-CN" b="1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rPr>
              <a:t>(6) i := i + 1</a:t>
            </a:r>
            <a:endParaRPr lang="en-US" altLang="zh-CN" b="1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ClrTx/>
              <a:buSzPct val="68000"/>
              <a:buFontTx/>
              <a:buNone/>
            </a:pPr>
            <a:r>
              <a:rPr lang="en-US" altLang="zh-CN" b="1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rPr>
              <a:t>(7) y := t1 + x</a:t>
            </a:r>
            <a:endParaRPr lang="en-US" altLang="zh-CN" b="1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ClrTx/>
              <a:buSzPct val="68000"/>
              <a:buFontTx/>
              <a:buNone/>
            </a:pPr>
            <a:r>
              <a:rPr lang="en-US" altLang="zh-CN" b="1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rPr>
              <a:t>(8) goto (3)</a:t>
            </a:r>
            <a:endParaRPr lang="en-US" altLang="zh-CN" b="1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436" name="Text Box 4"/>
          <p:cNvSpPr txBox="1"/>
          <p:nvPr/>
        </p:nvSpPr>
        <p:spPr>
          <a:xfrm>
            <a:off x="736600" y="520700"/>
            <a:ext cx="3454400" cy="609600"/>
          </a:xfrm>
          <a:prstGeom prst="rect">
            <a:avLst/>
          </a:prstGeom>
          <a:noFill/>
          <a:ln w="38100" cap="flat" cmpd="sng">
            <a:solidFill>
              <a:schemeClr val="hlink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 i := 0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8437" name="AutoShape 5"/>
          <p:cNvCxnSpPr>
            <a:stCxn id="18436" idx="2"/>
            <a:endCxn id="18443" idx="0"/>
          </p:cNvCxnSpPr>
          <p:nvPr/>
        </p:nvCxnSpPr>
        <p:spPr>
          <a:xfrm rot="5400000">
            <a:off x="2224088" y="1366838"/>
            <a:ext cx="477837" cy="3175"/>
          </a:xfrm>
          <a:prstGeom prst="straightConnector1">
            <a:avLst/>
          </a:prstGeom>
          <a:ln w="38100" cap="flat" cmpd="sng">
            <a:solidFill>
              <a:schemeClr val="bg1"/>
            </a:solidFill>
            <a:prstDash val="solid"/>
            <a:headEnd type="none" w="sm" len="sm"/>
            <a:tailEnd type="arrow" w="lg" len="lg"/>
          </a:ln>
        </p:spPr>
      </p:cxnSp>
      <p:cxnSp>
        <p:nvCxnSpPr>
          <p:cNvPr id="18438" name="AutoShape 6"/>
          <p:cNvCxnSpPr>
            <a:stCxn id="18434" idx="2"/>
          </p:cNvCxnSpPr>
          <p:nvPr/>
        </p:nvCxnSpPr>
        <p:spPr>
          <a:xfrm rot="5400000" flipH="1">
            <a:off x="52388" y="3532188"/>
            <a:ext cx="4337050" cy="484187"/>
          </a:xfrm>
          <a:prstGeom prst="bentConnector5">
            <a:avLst>
              <a:gd name="adj1" fmla="val -5273"/>
              <a:gd name="adj2" fmla="val 401394"/>
              <a:gd name="adj3" fmla="val 105829"/>
            </a:avLst>
          </a:prstGeom>
          <a:ln w="38100" cap="flat" cmpd="sng">
            <a:solidFill>
              <a:schemeClr val="bg1"/>
            </a:solidFill>
            <a:prstDash val="solid"/>
            <a:miter/>
            <a:headEnd type="none" w="sm" len="sm"/>
            <a:tailEnd type="arrow" w="lg" len="lg"/>
          </a:ln>
        </p:spPr>
      </p:cxnSp>
      <p:sp>
        <p:nvSpPr>
          <p:cNvPr id="18439" name="Text Box 7"/>
          <p:cNvSpPr txBox="1"/>
          <p:nvPr/>
        </p:nvSpPr>
        <p:spPr>
          <a:xfrm>
            <a:off x="5092700" y="520700"/>
            <a:ext cx="3365500" cy="1155700"/>
          </a:xfrm>
          <a:prstGeom prst="rect">
            <a:avLst/>
          </a:prstGeom>
          <a:noFill/>
          <a:ln w="38100" cap="flat" cmpd="sng">
            <a:solidFill>
              <a:schemeClr val="hlink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 i := 0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t1 := z * 6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8440" name="AutoShape 8"/>
          <p:cNvCxnSpPr>
            <a:stCxn id="18439" idx="2"/>
            <a:endCxn id="18444" idx="0"/>
          </p:cNvCxnSpPr>
          <p:nvPr/>
        </p:nvCxnSpPr>
        <p:spPr>
          <a:xfrm>
            <a:off x="6775450" y="1695450"/>
            <a:ext cx="0" cy="746125"/>
          </a:xfrm>
          <a:prstGeom prst="straightConnector1">
            <a:avLst/>
          </a:prstGeom>
          <a:ln w="38100" cap="flat" cmpd="sng">
            <a:solidFill>
              <a:schemeClr val="bg1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18441" name="AutoShape 9"/>
          <p:cNvCxnSpPr/>
          <p:nvPr/>
        </p:nvCxnSpPr>
        <p:spPr>
          <a:xfrm rot="5400000" flipH="1" flipV="1">
            <a:off x="5262563" y="3967163"/>
            <a:ext cx="3648075" cy="609600"/>
          </a:xfrm>
          <a:prstGeom prst="bentConnector5">
            <a:avLst>
              <a:gd name="adj1" fmla="val -5745"/>
              <a:gd name="adj2" fmla="val 306245"/>
              <a:gd name="adj3" fmla="val 105958"/>
            </a:avLst>
          </a:prstGeom>
          <a:ln w="38100" cap="flat" cmpd="sng">
            <a:solidFill>
              <a:schemeClr val="bg1"/>
            </a:solidFill>
            <a:prstDash val="solid"/>
            <a:miter/>
            <a:headEnd type="none" w="sm" len="sm"/>
            <a:tailEnd type="triangle" w="sm" len="sm"/>
          </a:ln>
        </p:spPr>
      </p:cxnSp>
      <p:sp>
        <p:nvSpPr>
          <p:cNvPr id="18442" name="AutoShape 10"/>
          <p:cNvSpPr>
            <a:spLocks noChangeArrowheads="1"/>
          </p:cNvSpPr>
          <p:nvPr/>
        </p:nvSpPr>
        <p:spPr bwMode="auto">
          <a:xfrm>
            <a:off x="4324350" y="4592638"/>
            <a:ext cx="685800" cy="1066800"/>
          </a:xfrm>
          <a:prstGeom prst="rightArrow">
            <a:avLst>
              <a:gd name="adj1" fmla="val 50000"/>
              <a:gd name="adj2" fmla="val 5463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0" i="0" u="none" strike="noStrike" kern="1200" cap="none" spc="0" normalizeH="0" baseline="0" noProof="0" dirty="0">
              <a:ln>
                <a:solidFill>
                  <a:schemeClr val="bg1"/>
                </a:solidFill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443" name="Text Box 11"/>
          <p:cNvSpPr txBox="1"/>
          <p:nvPr/>
        </p:nvSpPr>
        <p:spPr>
          <a:xfrm>
            <a:off x="736600" y="1606550"/>
            <a:ext cx="3454400" cy="609600"/>
          </a:xfrm>
          <a:prstGeom prst="rect">
            <a:avLst/>
          </a:prstGeom>
          <a:noFill/>
          <a:ln w="38100" cap="flat" cmpd="sng">
            <a:solidFill>
              <a:schemeClr val="hlink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 if i &lt; 20 goto (4)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44" name="Text Box 13"/>
          <p:cNvSpPr txBox="1"/>
          <p:nvPr/>
        </p:nvSpPr>
        <p:spPr>
          <a:xfrm>
            <a:off x="5092700" y="2460625"/>
            <a:ext cx="3365500" cy="1155700"/>
          </a:xfrm>
          <a:prstGeom prst="rect">
            <a:avLst/>
          </a:prstGeom>
          <a:noFill/>
          <a:ln w="38100" cap="flat" cmpd="sng">
            <a:solidFill>
              <a:schemeClr val="hlink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(3) if i &lt; 20 goto (5)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(4) goto (9)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8445" name="AutoShape 14"/>
          <p:cNvCxnSpPr>
            <a:stCxn id="18444" idx="2"/>
            <a:endCxn id="18435" idx="0"/>
          </p:cNvCxnSpPr>
          <p:nvPr/>
        </p:nvCxnSpPr>
        <p:spPr>
          <a:xfrm>
            <a:off x="6775450" y="3635375"/>
            <a:ext cx="6350" cy="260350"/>
          </a:xfrm>
          <a:prstGeom prst="straightConnector1">
            <a:avLst/>
          </a:prstGeom>
          <a:ln w="38100" cap="flat" cmpd="sng">
            <a:solidFill>
              <a:schemeClr val="bg1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18446" name="矩形 17"/>
          <p:cNvSpPr/>
          <p:nvPr/>
        </p:nvSpPr>
        <p:spPr>
          <a:xfrm>
            <a:off x="736600" y="2441575"/>
            <a:ext cx="3454400" cy="461963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(3) goto (9)</a:t>
            </a:r>
            <a:endParaRPr lang="en-US" altLang="zh-CN" sz="20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8447" name="AutoShape 6"/>
          <p:cNvCxnSpPr>
            <a:stCxn id="18443" idx="3"/>
            <a:endCxn id="18434" idx="3"/>
          </p:cNvCxnSpPr>
          <p:nvPr/>
        </p:nvCxnSpPr>
        <p:spPr>
          <a:xfrm flipH="1">
            <a:off x="4178300" y="1911350"/>
            <a:ext cx="12700" cy="2686050"/>
          </a:xfrm>
          <a:prstGeom prst="bentConnector3">
            <a:avLst>
              <a:gd name="adj1" fmla="val -1800000"/>
            </a:avLst>
          </a:prstGeom>
          <a:ln w="38100" cap="flat" cmpd="sng">
            <a:solidFill>
              <a:schemeClr val="bg1"/>
            </a:solidFill>
            <a:prstDash val="solid"/>
            <a:miter/>
            <a:headEnd type="none" w="sm" len="sm"/>
            <a:tailEnd type="arrow" w="lg" len="lg"/>
          </a:ln>
        </p:spPr>
      </p:cxnSp>
      <p:cxnSp>
        <p:nvCxnSpPr>
          <p:cNvPr id="18448" name="AutoShape 5"/>
          <p:cNvCxnSpPr>
            <a:endCxn id="18446" idx="0"/>
          </p:cNvCxnSpPr>
          <p:nvPr/>
        </p:nvCxnSpPr>
        <p:spPr>
          <a:xfrm>
            <a:off x="2438400" y="2171700"/>
            <a:ext cx="25400" cy="269875"/>
          </a:xfrm>
          <a:prstGeom prst="straightConnector1">
            <a:avLst/>
          </a:prstGeom>
          <a:ln w="38100" cap="flat" cmpd="sng">
            <a:solidFill>
              <a:schemeClr val="bg1"/>
            </a:solidFill>
            <a:prstDash val="solid"/>
            <a:headEnd type="none" w="sm" len="sm"/>
            <a:tailEnd type="arrow" w="lg" len="lg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/>
          <p:nvPr/>
        </p:nvSpPr>
        <p:spPr>
          <a:xfrm>
            <a:off x="381000" y="457200"/>
            <a:ext cx="8686800" cy="4648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spcBef>
                <a:spcPct val="20000"/>
              </a:spcBef>
              <a:buSzTx/>
              <a:buFontTx/>
              <a:buNone/>
            </a:pPr>
            <a:r>
              <a:rPr lang="zh-CN" altLang="en-US" sz="3200" b="1" dirty="0">
                <a:latin typeface="Tahoma" panose="020B0604030504040204" pitchFamily="34" charset="0"/>
                <a:ea typeface="宋体" panose="02010600030101010101" pitchFamily="2" charset="-122"/>
              </a:rPr>
              <a:t>需要注意的事项：</a:t>
            </a:r>
            <a:endParaRPr lang="zh-CN" altLang="en-US" sz="32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如何判定一个表达式是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循环不变式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？</a:t>
            </a:r>
            <a:endParaRPr lang="zh-CN" altLang="en-US" sz="32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外提的安全性</a:t>
            </a: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1143000" lvl="2" indent="-228600" eaLnBrk="1" hangingPunct="1">
              <a:spcBef>
                <a:spcPct val="50000"/>
              </a:spcBef>
              <a:buClr>
                <a:schemeClr val="hlink"/>
              </a:buClr>
              <a:buSzTx/>
              <a:buFontTx/>
              <a:buChar char="•"/>
            </a:pP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除法表达式不外提</a:t>
            </a:r>
            <a:endParaRPr lang="zh-CN" altLang="en-US" sz="2800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1600200" lvl="3" indent="-228600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FOR i := 1 TO 100 DO IF x&gt;0 THEN  A[i]:=1/x  ELSE  A[i]:=0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600200" lvl="3" indent="-228600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Tx/>
              <a:buNone/>
            </a:pP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600200" lvl="3" indent="-228600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 := 1/x; 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(x =0 </a:t>
            </a: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时出错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400" b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600200" lvl="3" indent="-228600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FOR i := 1 TO 100 DO IF x&gt;0 THEN  A[i]:=t  ELSE  A[i]:=0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143000" lvl="2" indent="-228600" eaLnBrk="1" hangingPunct="1">
              <a:spcBef>
                <a:spcPct val="50000"/>
              </a:spcBef>
              <a:buClr>
                <a:schemeClr val="hlink"/>
              </a:buClr>
              <a:buSzTx/>
              <a:buFontTx/>
              <a:buChar char="•"/>
            </a:pP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降低计算速度的不外提</a:t>
            </a:r>
            <a:endParaRPr lang="zh-CN" altLang="en-US" sz="2800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59" name="AutoShape 3"/>
          <p:cNvSpPr/>
          <p:nvPr/>
        </p:nvSpPr>
        <p:spPr>
          <a:xfrm>
            <a:off x="1928813" y="3714750"/>
            <a:ext cx="457200" cy="4572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482" name="Rectangle 3"/>
          <p:cNvSpPr>
            <a:spLocks noGrp="1"/>
          </p:cNvSpPr>
          <p:nvPr>
            <p:ph sz="half" idx="1"/>
          </p:nvPr>
        </p:nvSpPr>
        <p:spPr>
          <a:xfrm>
            <a:off x="0" y="1295400"/>
            <a:ext cx="8839200" cy="4953000"/>
          </a:xfrm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10000"/>
              </a:lnSpc>
              <a:buSzTx/>
            </a:pPr>
            <a:r>
              <a:rPr lang="zh-CN" altLang="en-US" sz="2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每循环一次增加或减少固定值的变量称为</a:t>
            </a:r>
            <a:r>
              <a:rPr lang="zh-CN" altLang="en-US" sz="2800" b="1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循环归纳变量</a:t>
            </a:r>
            <a:endParaRPr lang="zh-CN" altLang="en-US" sz="2800" b="1" kern="12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lvl="1" eaLnBrk="1" hangingPunct="1">
              <a:spcBef>
                <a:spcPct val="50000"/>
              </a:spcBef>
              <a:buSzTx/>
            </a:pPr>
            <a:r>
              <a:rPr lang="zh-CN" altLang="en-US" sz="2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例： </a:t>
            </a:r>
            <a:endParaRPr lang="zh-CN" altLang="en-US" sz="28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pPr lvl="2" eaLnBrk="1" hangingPunct="1">
              <a:lnSpc>
                <a:spcPct val="110000"/>
              </a:lnSpc>
              <a:buSzPct val="100000"/>
              <a:buFontTx/>
              <a:buNone/>
            </a:pPr>
            <a:r>
              <a:rPr lang="en-US" altLang="zh-CN" sz="2400" b="1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X</a:t>
            </a:r>
            <a:r>
              <a:rPr lang="en-US" altLang="zh-CN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:=K</a:t>
            </a:r>
            <a:r>
              <a:rPr lang="en-US" altLang="zh-CN" sz="2400" b="1" kern="1200" dirty="0">
                <a:solidFill>
                  <a:schemeClr val="bg1"/>
                </a:solidFill>
                <a:latin typeface="宋体" panose="02010600030101010101" pitchFamily="2" charset="-122"/>
                <a:ea typeface="+mn-ea"/>
                <a:cs typeface="+mn-cs"/>
              </a:rPr>
              <a:t>×</a:t>
            </a:r>
            <a:r>
              <a:rPr lang="en-US" altLang="zh-CN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i+Y	  --X</a:t>
            </a:r>
            <a:r>
              <a:rPr lang="zh-CN" alt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每循环一次增加 </a:t>
            </a:r>
            <a:r>
              <a:rPr lang="en-US" altLang="zh-CN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K×C</a:t>
            </a:r>
            <a:endParaRPr lang="en-US" altLang="zh-CN" sz="24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pPr lvl="2" eaLnBrk="1" hangingPunct="1">
              <a:lnSpc>
                <a:spcPct val="110000"/>
              </a:lnSpc>
              <a:buSzPct val="100000"/>
              <a:buFontTx/>
              <a:buNone/>
            </a:pPr>
            <a:r>
              <a:rPr lang="en-US" altLang="zh-CN" sz="2400" b="1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altLang="zh-CN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:=i+C	           --i</a:t>
            </a:r>
            <a:r>
              <a:rPr lang="zh-CN" alt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每循环一次增加</a:t>
            </a:r>
            <a:r>
              <a:rPr lang="en-US" altLang="zh-CN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</a:t>
            </a:r>
            <a:endParaRPr lang="en-US" altLang="zh-CN" sz="24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pPr lvl="2" eaLnBrk="1" hangingPunct="1">
              <a:lnSpc>
                <a:spcPct val="110000"/>
              </a:lnSpc>
              <a:buSzPct val="100000"/>
              <a:buFontTx/>
              <a:buNone/>
            </a:pPr>
            <a:r>
              <a:rPr lang="zh-CN" alt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其中</a:t>
            </a:r>
            <a:r>
              <a:rPr lang="en-US" altLang="zh-CN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</a:t>
            </a:r>
            <a:r>
              <a:rPr lang="zh-CN" alt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为循环变量，初值为</a:t>
            </a:r>
            <a:r>
              <a:rPr lang="en-US" altLang="zh-CN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0 </a:t>
            </a:r>
            <a:r>
              <a:rPr lang="zh-CN" alt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（按定义，它同样也</a:t>
            </a:r>
            <a:endParaRPr lang="zh-CN" altLang="en-US" sz="24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pPr lvl="2" eaLnBrk="1" hangingPunct="1">
              <a:spcBef>
                <a:spcPct val="0"/>
              </a:spcBef>
              <a:buSzPct val="100000"/>
              <a:buFontTx/>
              <a:buNone/>
            </a:pPr>
            <a:r>
              <a:rPr lang="zh-CN" alt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是循环归纳变量），</a:t>
            </a:r>
            <a:r>
              <a:rPr lang="en-US" altLang="zh-CN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K</a:t>
            </a:r>
            <a:r>
              <a:rPr lang="zh-CN" alt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、</a:t>
            </a:r>
            <a:r>
              <a:rPr lang="en-US" altLang="zh-CN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</a:t>
            </a:r>
            <a:r>
              <a:rPr lang="zh-CN" alt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、</a:t>
            </a:r>
            <a:r>
              <a:rPr lang="en-US" altLang="zh-CN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 </a:t>
            </a:r>
            <a:r>
              <a:rPr lang="zh-CN" alt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为</a:t>
            </a:r>
            <a:r>
              <a:rPr lang="zh-CN" altLang="en-US" sz="2400" b="1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循环不变量</a:t>
            </a:r>
            <a:endParaRPr lang="zh-CN" altLang="en-US" sz="2400" b="1" kern="12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lvl="1" eaLnBrk="1" hangingPunct="1">
              <a:spcBef>
                <a:spcPct val="50000"/>
              </a:spcBef>
              <a:buSzTx/>
            </a:pPr>
            <a:r>
              <a:rPr lang="zh-CN" altLang="en-US" sz="2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改为</a:t>
            </a:r>
            <a:r>
              <a:rPr lang="en-US" altLang="zh-CN" sz="2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X:=X+</a:t>
            </a:r>
            <a:r>
              <a:rPr lang="en-US" altLang="zh-CN" sz="2800" b="1" u="sng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K×C</a:t>
            </a:r>
            <a:r>
              <a:rPr lang="en-US" altLang="zh-CN" sz="2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2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（ </a:t>
            </a:r>
            <a:r>
              <a:rPr lang="en-US" altLang="zh-CN" sz="2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X </a:t>
            </a:r>
            <a:r>
              <a:rPr lang="zh-CN" altLang="en-US" sz="2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的初值 </a:t>
            </a:r>
            <a:r>
              <a:rPr lang="en-US" altLang="zh-CN" sz="2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= Y - K×C </a:t>
            </a:r>
            <a:r>
              <a:rPr lang="zh-CN" altLang="en-US" sz="2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），则乘法运算变为加法运算，运算强度削弱了</a:t>
            </a:r>
            <a:endParaRPr lang="zh-CN" altLang="en-US" sz="28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703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7772400" cy="60960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7.4.2</a:t>
            </a:r>
            <a:r>
              <a:rPr kumimoji="0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、循环归纳变量相关计算的强度削弱</a:t>
            </a:r>
            <a:endParaRPr kumimoji="0" lang="zh-CN" altLang="en-US" sz="3200" b="1" i="0" u="none" strike="noStrike" kern="1200" cap="none" spc="0" normalizeH="0" baseline="0" noProof="0" smtClean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sz="half" idx="1"/>
          </p:nvPr>
        </p:nvSpPr>
        <p:spPr>
          <a:xfrm>
            <a:off x="762000" y="3990975"/>
            <a:ext cx="3276600" cy="2009775"/>
          </a:xfrm>
          <a:ln w="38100">
            <a:solidFill>
              <a:schemeClr val="hlink">
                <a:alpha val="100000"/>
              </a:schemeClr>
            </a:solidFill>
            <a:miter lim="800000"/>
          </a:ln>
        </p:spPr>
        <p:txBody>
          <a:bodyPr vert="horz" wrap="square" lIns="91440" tIns="45720" rIns="91440" bIns="45720" anchor="t" anchorCtr="0">
            <a:spAutoFit/>
          </a:bodyPr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ClrTx/>
              <a:buSzPct val="68000"/>
              <a:buFontTx/>
              <a:buNone/>
            </a:pPr>
            <a:r>
              <a:rPr lang="en-US" altLang="zh-CN" b="1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rPr>
              <a:t>(5) x := 4 * i</a:t>
            </a:r>
            <a:endParaRPr lang="en-US" altLang="zh-CN" b="1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ClrTx/>
              <a:buSzPct val="68000"/>
              <a:buFontTx/>
              <a:buNone/>
            </a:pPr>
            <a:r>
              <a:rPr lang="en-US" altLang="zh-CN" b="1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rPr>
              <a:t>(6) i := i + 1</a:t>
            </a:r>
            <a:endParaRPr lang="en-US" altLang="zh-CN" b="1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ClrTx/>
              <a:buSzPct val="68000"/>
              <a:buFontTx/>
              <a:buNone/>
            </a:pPr>
            <a:r>
              <a:rPr lang="en-US" altLang="zh-CN" b="1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rPr>
              <a:t>(7) y := t1 + x</a:t>
            </a:r>
            <a:endParaRPr lang="en-US" altLang="zh-CN" b="1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ClrTx/>
              <a:buSzPct val="68000"/>
              <a:buFontTx/>
              <a:buNone/>
            </a:pPr>
            <a:r>
              <a:rPr lang="en-US" altLang="zh-CN" b="1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rPr>
              <a:t>(8) goto (3)</a:t>
            </a:r>
            <a:endParaRPr lang="en-US" altLang="zh-CN" b="1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507" name="Rectangle 3"/>
          <p:cNvSpPr>
            <a:spLocks noGrp="1"/>
          </p:cNvSpPr>
          <p:nvPr>
            <p:ph sz="half" idx="2"/>
          </p:nvPr>
        </p:nvSpPr>
        <p:spPr>
          <a:xfrm>
            <a:off x="4889500" y="4067175"/>
            <a:ext cx="3340100" cy="2009775"/>
          </a:xfrm>
          <a:ln w="38100">
            <a:solidFill>
              <a:schemeClr val="hlink">
                <a:alpha val="100000"/>
              </a:schemeClr>
            </a:solidFill>
            <a:miter lim="800000"/>
          </a:ln>
        </p:spPr>
        <p:txBody>
          <a:bodyPr vert="horz" wrap="square" lIns="91440" tIns="45720" rIns="91440" bIns="45720" anchor="t" anchorCtr="0">
            <a:spAutoFit/>
          </a:bodyPr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ClrTx/>
              <a:buSzPct val="68000"/>
              <a:buFontTx/>
              <a:buNone/>
            </a:pPr>
            <a:r>
              <a:rPr lang="en-US" altLang="zh-CN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(6) x := x + 4</a:t>
            </a:r>
            <a:endParaRPr lang="en-US" altLang="zh-CN" b="1" kern="12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ClrTx/>
              <a:buSzPct val="68000"/>
              <a:buFontTx/>
              <a:buNone/>
            </a:pPr>
            <a:r>
              <a:rPr lang="en-US" altLang="zh-CN" b="1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rPr>
              <a:t>(7) i := i + 1</a:t>
            </a:r>
            <a:endParaRPr lang="en-US" altLang="zh-CN" b="1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ClrTx/>
              <a:buSzPct val="68000"/>
              <a:buFontTx/>
              <a:buNone/>
            </a:pPr>
            <a:r>
              <a:rPr lang="en-US" altLang="zh-CN" b="1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rPr>
              <a:t>(8) y := t1 + x</a:t>
            </a:r>
            <a:endParaRPr lang="en-US" altLang="zh-CN" b="1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ClrTx/>
              <a:buSzPct val="68000"/>
              <a:buFontTx/>
              <a:buNone/>
            </a:pPr>
            <a:r>
              <a:rPr lang="en-US" altLang="zh-CN" b="1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rPr>
              <a:t>(9) goto (4)</a:t>
            </a:r>
            <a:endParaRPr lang="en-US" altLang="zh-CN" b="1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508" name="Text Box 4"/>
          <p:cNvSpPr txBox="1"/>
          <p:nvPr/>
        </p:nvSpPr>
        <p:spPr>
          <a:xfrm>
            <a:off x="762000" y="701675"/>
            <a:ext cx="3289300" cy="1081088"/>
          </a:xfrm>
          <a:prstGeom prst="rect">
            <a:avLst/>
          </a:prstGeom>
          <a:noFill/>
          <a:ln w="38100" cap="flat" cmpd="sng">
            <a:solidFill>
              <a:schemeClr val="hlink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 i := 0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 t1 := z * 6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1509" name="AutoShape 5"/>
          <p:cNvCxnSpPr>
            <a:stCxn id="21508" idx="2"/>
            <a:endCxn id="21515" idx="0"/>
          </p:cNvCxnSpPr>
          <p:nvPr/>
        </p:nvCxnSpPr>
        <p:spPr>
          <a:xfrm rot="5400000">
            <a:off x="2117725" y="2071688"/>
            <a:ext cx="577850" cy="1587"/>
          </a:xfrm>
          <a:prstGeom prst="straightConnector1">
            <a:avLst/>
          </a:prstGeom>
          <a:ln w="38100" cap="flat" cmpd="sng">
            <a:solidFill>
              <a:schemeClr val="bg1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21510" name="AutoShape 6"/>
          <p:cNvCxnSpPr>
            <a:stCxn id="21506" idx="2"/>
            <a:endCxn id="21515" idx="1"/>
          </p:cNvCxnSpPr>
          <p:nvPr/>
        </p:nvCxnSpPr>
        <p:spPr>
          <a:xfrm rot="5400000" flipH="1">
            <a:off x="31750" y="3632200"/>
            <a:ext cx="3097213" cy="1638300"/>
          </a:xfrm>
          <a:prstGeom prst="bentConnector4">
            <a:avLst>
              <a:gd name="adj1" fmla="val -7380"/>
              <a:gd name="adj2" fmla="val 113954"/>
            </a:avLst>
          </a:prstGeom>
          <a:ln w="38100" cap="flat" cmpd="sng">
            <a:solidFill>
              <a:schemeClr val="bg1"/>
            </a:solidFill>
            <a:prstDash val="solid"/>
            <a:miter/>
            <a:headEnd type="none" w="sm" len="sm"/>
            <a:tailEnd type="triangle" w="sm" len="sm"/>
          </a:ln>
        </p:spPr>
      </p:cxnSp>
      <p:sp>
        <p:nvSpPr>
          <p:cNvPr id="21511" name="Text Box 7"/>
          <p:cNvSpPr txBox="1"/>
          <p:nvPr/>
        </p:nvSpPr>
        <p:spPr>
          <a:xfrm>
            <a:off x="4876800" y="701675"/>
            <a:ext cx="3352800" cy="1479550"/>
          </a:xfrm>
          <a:prstGeom prst="rect">
            <a:avLst/>
          </a:prstGeom>
          <a:noFill/>
          <a:ln w="38100" cap="flat" cmpd="sng">
            <a:solidFill>
              <a:schemeClr val="hlink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 i := 0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 t1 := z * 6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(3) x := -4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1512" name="AutoShape 8"/>
          <p:cNvCxnSpPr>
            <a:stCxn id="21511" idx="2"/>
            <a:endCxn id="21517" idx="0"/>
          </p:cNvCxnSpPr>
          <p:nvPr/>
        </p:nvCxnSpPr>
        <p:spPr>
          <a:xfrm rot="5400000">
            <a:off x="6350000" y="2386013"/>
            <a:ext cx="407988" cy="1587"/>
          </a:xfrm>
          <a:prstGeom prst="straightConnector1">
            <a:avLst/>
          </a:prstGeom>
          <a:ln w="38100" cap="flat" cmpd="sng">
            <a:solidFill>
              <a:schemeClr val="bg1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21513" name="AutoShape 9"/>
          <p:cNvCxnSpPr>
            <a:stCxn id="21507" idx="2"/>
            <a:endCxn id="21517" idx="3"/>
          </p:cNvCxnSpPr>
          <p:nvPr/>
        </p:nvCxnSpPr>
        <p:spPr>
          <a:xfrm rot="5400000" flipH="1" flipV="1">
            <a:off x="5921375" y="3768725"/>
            <a:ext cx="2944813" cy="1670050"/>
          </a:xfrm>
          <a:prstGeom prst="bentConnector4">
            <a:avLst>
              <a:gd name="adj1" fmla="val -7759"/>
              <a:gd name="adj2" fmla="val 113690"/>
            </a:avLst>
          </a:prstGeom>
          <a:ln w="38100" cap="flat" cmpd="sng">
            <a:solidFill>
              <a:schemeClr val="bg1"/>
            </a:solidFill>
            <a:prstDash val="solid"/>
            <a:miter/>
            <a:headEnd type="none" w="sm" len="sm"/>
            <a:tailEnd type="triangle" w="sm" len="sm"/>
          </a:ln>
        </p:spPr>
      </p:cxnSp>
      <p:sp>
        <p:nvSpPr>
          <p:cNvPr id="21514" name="AutoShape 10"/>
          <p:cNvSpPr/>
          <p:nvPr/>
        </p:nvSpPr>
        <p:spPr>
          <a:xfrm>
            <a:off x="4038600" y="3076575"/>
            <a:ext cx="762000" cy="1066800"/>
          </a:xfrm>
          <a:prstGeom prst="rightArrow">
            <a:avLst>
              <a:gd name="adj1" fmla="val 42861"/>
              <a:gd name="adj2" fmla="val 46666"/>
            </a:avLst>
          </a:prstGeom>
          <a:noFill/>
          <a:ln w="38100" cap="flat" cmpd="sng">
            <a:solidFill>
              <a:schemeClr val="bg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15" name="Text Box 11"/>
          <p:cNvSpPr txBox="1"/>
          <p:nvPr/>
        </p:nvSpPr>
        <p:spPr>
          <a:xfrm>
            <a:off x="762000" y="2362200"/>
            <a:ext cx="3289300" cy="1081088"/>
          </a:xfrm>
          <a:prstGeom prst="rect">
            <a:avLst/>
          </a:prstGeom>
          <a:noFill/>
          <a:ln w="38100" cap="flat" cmpd="sng">
            <a:solidFill>
              <a:schemeClr val="hlink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(3) if i &lt; 20 goto (5)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(4) goto (9)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1516" name="AutoShape 12"/>
          <p:cNvCxnSpPr>
            <a:stCxn id="21515" idx="2"/>
            <a:endCxn id="21506" idx="0"/>
          </p:cNvCxnSpPr>
          <p:nvPr/>
        </p:nvCxnSpPr>
        <p:spPr>
          <a:xfrm rot="5400000">
            <a:off x="2128838" y="3713163"/>
            <a:ext cx="547687" cy="6350"/>
          </a:xfrm>
          <a:prstGeom prst="straightConnector1">
            <a:avLst/>
          </a:prstGeom>
          <a:ln w="38100" cap="flat" cmpd="sng">
            <a:solidFill>
              <a:schemeClr val="bg1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21517" name="Text Box 13"/>
          <p:cNvSpPr txBox="1"/>
          <p:nvPr/>
        </p:nvSpPr>
        <p:spPr>
          <a:xfrm>
            <a:off x="4876800" y="2590800"/>
            <a:ext cx="3352800" cy="1081088"/>
          </a:xfrm>
          <a:prstGeom prst="rect">
            <a:avLst/>
          </a:prstGeom>
          <a:noFill/>
          <a:ln w="38100" cap="flat" cmpd="sng">
            <a:solidFill>
              <a:schemeClr val="hlink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(4) if i &lt; 20 goto (6)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(5) goto (10)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1518" name="AutoShape 14"/>
          <p:cNvCxnSpPr>
            <a:stCxn id="21517" idx="2"/>
            <a:endCxn id="21507" idx="0"/>
          </p:cNvCxnSpPr>
          <p:nvPr/>
        </p:nvCxnSpPr>
        <p:spPr>
          <a:xfrm rot="-5400000" flipH="1">
            <a:off x="6357938" y="3865563"/>
            <a:ext cx="395287" cy="6350"/>
          </a:xfrm>
          <a:prstGeom prst="straightConnector1">
            <a:avLst/>
          </a:prstGeom>
          <a:ln w="38100" cap="flat" cmpd="sng">
            <a:solidFill>
              <a:schemeClr val="bg1"/>
            </a:solidFill>
            <a:prstDash val="solid"/>
            <a:headEnd type="none" w="sm" len="sm"/>
            <a:tailEnd type="triangle" w="sm" len="sm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530" name="Rectangle 2"/>
          <p:cNvSpPr/>
          <p:nvPr/>
        </p:nvSpPr>
        <p:spPr>
          <a:xfrm>
            <a:off x="673100" y="4133850"/>
            <a:ext cx="3429000" cy="2038350"/>
          </a:xfrm>
          <a:prstGeom prst="rect">
            <a:avLst/>
          </a:prstGeom>
          <a:noFill/>
          <a:ln w="38100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2075" tIns="46038" rIns="92075" bIns="46038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(6) x := x + 4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(7) i := i + 1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(8) y := t1 + x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(9) goto (4)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1" name="Rectangle 3"/>
          <p:cNvSpPr/>
          <p:nvPr/>
        </p:nvSpPr>
        <p:spPr>
          <a:xfrm>
            <a:off x="4889500" y="4419600"/>
            <a:ext cx="3416300" cy="1524000"/>
          </a:xfrm>
          <a:prstGeom prst="rect">
            <a:avLst/>
          </a:prstGeom>
          <a:noFill/>
          <a:ln w="38100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2075" tIns="46038" rIns="92075" bIns="46038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(5) x := x + 4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(6) y := t1 + x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(7) goto (3)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2" name="Text Box 4"/>
          <p:cNvSpPr txBox="1"/>
          <p:nvPr/>
        </p:nvSpPr>
        <p:spPr>
          <a:xfrm>
            <a:off x="660400" y="838200"/>
            <a:ext cx="3454400" cy="1539875"/>
          </a:xfrm>
          <a:prstGeom prst="rect">
            <a:avLst/>
          </a:prstGeom>
          <a:noFill/>
          <a:ln w="38100" cap="flat" cmpd="sng">
            <a:solidFill>
              <a:srgbClr val="CC0000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 i := 0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 t1 := z * 6 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(3) x := -4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2533" name="AutoShape 5"/>
          <p:cNvCxnSpPr/>
          <p:nvPr/>
        </p:nvCxnSpPr>
        <p:spPr>
          <a:xfrm>
            <a:off x="2743200" y="2362200"/>
            <a:ext cx="0" cy="369888"/>
          </a:xfrm>
          <a:prstGeom prst="straightConnector1">
            <a:avLst/>
          </a:prstGeom>
          <a:ln w="38100" cap="flat" cmpd="sng">
            <a:solidFill>
              <a:schemeClr val="bg1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22534" name="AutoShape 6"/>
          <p:cNvCxnSpPr>
            <a:stCxn id="22530" idx="2"/>
            <a:endCxn id="22538" idx="0"/>
          </p:cNvCxnSpPr>
          <p:nvPr/>
        </p:nvCxnSpPr>
        <p:spPr>
          <a:xfrm rot="5400000" flipH="1" flipV="1">
            <a:off x="654050" y="4456113"/>
            <a:ext cx="3467100" cy="1587"/>
          </a:xfrm>
          <a:prstGeom prst="bentConnector5">
            <a:avLst>
              <a:gd name="adj1" fmla="val -6042"/>
              <a:gd name="adj2" fmla="val -120000032"/>
              <a:gd name="adj3" fmla="val 106042"/>
            </a:avLst>
          </a:prstGeom>
          <a:ln w="38100" cap="flat" cmpd="sng">
            <a:solidFill>
              <a:schemeClr val="bg1"/>
            </a:solidFill>
            <a:prstDash val="solid"/>
            <a:miter/>
            <a:headEnd type="none" w="sm" len="sm"/>
            <a:tailEnd type="triangle" w="sm" len="sm"/>
          </a:ln>
        </p:spPr>
      </p:cxnSp>
      <p:sp>
        <p:nvSpPr>
          <p:cNvPr id="22535" name="Text Box 7"/>
          <p:cNvSpPr txBox="1"/>
          <p:nvPr/>
        </p:nvSpPr>
        <p:spPr>
          <a:xfrm>
            <a:off x="4876800" y="977900"/>
            <a:ext cx="3429000" cy="1155700"/>
          </a:xfrm>
          <a:prstGeom prst="rect">
            <a:avLst/>
          </a:prstGeom>
          <a:noFill/>
          <a:ln w="38100" cap="flat" cmpd="sng">
            <a:solidFill>
              <a:srgbClr val="CC0000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 t1 := z * 6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 x := -4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2536" name="AutoShape 9"/>
          <p:cNvCxnSpPr>
            <a:stCxn id="22531" idx="2"/>
            <a:endCxn id="22539" idx="0"/>
          </p:cNvCxnSpPr>
          <p:nvPr/>
        </p:nvCxnSpPr>
        <p:spPr>
          <a:xfrm rot="-5400000" flipV="1">
            <a:off x="5089525" y="4454525"/>
            <a:ext cx="3009900" cy="6350"/>
          </a:xfrm>
          <a:prstGeom prst="bentConnector5">
            <a:avLst>
              <a:gd name="adj1" fmla="val -6963"/>
              <a:gd name="adj2" fmla="val -30750009"/>
              <a:gd name="adj3" fmla="val 106963"/>
            </a:avLst>
          </a:prstGeom>
          <a:ln w="38100" cap="flat" cmpd="sng">
            <a:solidFill>
              <a:schemeClr val="bg1"/>
            </a:solidFill>
            <a:prstDash val="solid"/>
            <a:miter/>
            <a:headEnd type="none" w="sm" len="sm"/>
            <a:tailEnd type="triangle" w="sm" len="sm"/>
          </a:ln>
        </p:spPr>
      </p:cxnSp>
      <p:sp>
        <p:nvSpPr>
          <p:cNvPr id="22537" name="AutoShape 10"/>
          <p:cNvSpPr/>
          <p:nvPr/>
        </p:nvSpPr>
        <p:spPr>
          <a:xfrm>
            <a:off x="4191000" y="3257550"/>
            <a:ext cx="609600" cy="914400"/>
          </a:xfrm>
          <a:prstGeom prst="rightArrow">
            <a:avLst>
              <a:gd name="adj1" fmla="val 58333"/>
              <a:gd name="adj2" fmla="val 49740"/>
            </a:avLst>
          </a:prstGeom>
          <a:noFill/>
          <a:ln w="38100" cap="flat" cmpd="sng">
            <a:solidFill>
              <a:schemeClr val="bg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8" name="Text Box 11"/>
          <p:cNvSpPr txBox="1"/>
          <p:nvPr/>
        </p:nvSpPr>
        <p:spPr>
          <a:xfrm>
            <a:off x="660400" y="2743200"/>
            <a:ext cx="3454400" cy="1155700"/>
          </a:xfrm>
          <a:prstGeom prst="rect">
            <a:avLst/>
          </a:prstGeom>
          <a:noFill/>
          <a:ln w="38100" cap="flat" cmpd="sng">
            <a:solidFill>
              <a:srgbClr val="CC0000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(4) if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 &lt; 20 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goto (6)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(5) goto (10)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9" name="Text Box 13"/>
          <p:cNvSpPr txBox="1"/>
          <p:nvPr/>
        </p:nvSpPr>
        <p:spPr>
          <a:xfrm>
            <a:off x="4876800" y="2971800"/>
            <a:ext cx="3429000" cy="1027113"/>
          </a:xfrm>
          <a:prstGeom prst="rect">
            <a:avLst/>
          </a:prstGeom>
          <a:noFill/>
          <a:ln w="38100" cap="flat" cmpd="sng">
            <a:solidFill>
              <a:srgbClr val="CC0000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(3) if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 &lt; 76 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goto (5)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(4) goto (8)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3455" name="Rectangle 15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7772400" cy="53340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7.4.3</a:t>
            </a:r>
            <a:r>
              <a:rPr kumimoji="0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、消除循环归纳变量</a:t>
            </a:r>
            <a:endParaRPr kumimoji="0" lang="zh-CN" altLang="en-US" sz="3200" b="1" i="0" u="none" strike="noStrike" kern="1200" cap="none" spc="0" normalizeH="0" baseline="0" noProof="0" smtClean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22541" name="Line 16"/>
          <p:cNvSpPr/>
          <p:nvPr/>
        </p:nvSpPr>
        <p:spPr>
          <a:xfrm>
            <a:off x="2757488" y="3933825"/>
            <a:ext cx="0" cy="228600"/>
          </a:xfrm>
          <a:prstGeom prst="line">
            <a:avLst/>
          </a:prstGeom>
          <a:ln w="38100" cap="flat" cmpd="sng">
            <a:solidFill>
              <a:schemeClr val="bg1"/>
            </a:solidFill>
            <a:prstDash val="solid"/>
            <a:headEnd type="none" w="med" len="med"/>
            <a:tailEnd type="triangle" w="sm" len="sm"/>
          </a:ln>
        </p:spPr>
      </p:sp>
      <p:sp>
        <p:nvSpPr>
          <p:cNvPr id="22542" name="Line 17"/>
          <p:cNvSpPr/>
          <p:nvPr/>
        </p:nvSpPr>
        <p:spPr>
          <a:xfrm>
            <a:off x="6172200" y="2133600"/>
            <a:ext cx="0" cy="838200"/>
          </a:xfrm>
          <a:prstGeom prst="line">
            <a:avLst/>
          </a:prstGeom>
          <a:ln w="38100" cap="flat" cmpd="sng">
            <a:solidFill>
              <a:schemeClr val="bg1"/>
            </a:solidFill>
            <a:prstDash val="solid"/>
            <a:headEnd type="none" w="med" len="med"/>
            <a:tailEnd type="triangle" w="sm" len="med"/>
          </a:ln>
        </p:spPr>
      </p:sp>
      <p:cxnSp>
        <p:nvCxnSpPr>
          <p:cNvPr id="22543" name="AutoShape 18"/>
          <p:cNvCxnSpPr/>
          <p:nvPr/>
        </p:nvCxnSpPr>
        <p:spPr>
          <a:xfrm>
            <a:off x="6172200" y="4038600"/>
            <a:ext cx="0" cy="369888"/>
          </a:xfrm>
          <a:prstGeom prst="straightConnector1">
            <a:avLst/>
          </a:prstGeom>
          <a:ln w="38100" cap="flat" cmpd="sng">
            <a:solidFill>
              <a:schemeClr val="bg1"/>
            </a:solidFill>
            <a:prstDash val="solid"/>
            <a:headEnd type="none" w="sm" len="sm"/>
            <a:tailEnd type="triangle" w="sm" len="sm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554" name="Text Box 3"/>
          <p:cNvSpPr txBox="1"/>
          <p:nvPr/>
        </p:nvSpPr>
        <p:spPr>
          <a:xfrm>
            <a:off x="457200" y="369888"/>
            <a:ext cx="8153400" cy="42910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作业：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以下程序段是某程序的最内循环，试为其划分基本块，画出其程序流图，并对它进行循环优化。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30000"/>
              </a:spcBef>
              <a:buClrTx/>
              <a:buFont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 := 1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4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 B := J + 1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A := B× I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if  I = 100  goto  L</a:t>
            </a:r>
            <a:r>
              <a:rPr lang="en-US" altLang="zh-CN" sz="24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I := I +1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goto  L</a:t>
            </a:r>
            <a:r>
              <a:rPr lang="en-US" altLang="zh-CN" sz="24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endParaRPr lang="en-US" altLang="zh-CN" sz="2400" b="1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4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UNIT_TABLE_BEAUTIFY" val="smartTable{09427dec-d73c-4454-9cb8-574d2f1bff79}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PP_MARK_KEY" val="b304c17f-bac3-4ba8-a95f-11afda2cf3e7"/>
  <p:tag name="COMMONDATA" val="eyJoZGlkIjoiYWZhMDYyMDkyNmI0MzgzZTQ1NzlkOWQ4NjlhNmM1ZGUifQ=="/>
  <p:tag name="commondata" val="eyJoZGlkIjoiMTFmMjNjNDI4OTgyMDU5N2Q3MzM5MmVjOWIyZjc2NTY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聚合">
  <a:themeElements>
    <a:clrScheme name="聚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聚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聚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聚合">
  <a:themeElements>
    <a:clrScheme name="聚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聚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聚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0</TotalTime>
  <Words>4345</Words>
  <Application>WPS 演示</Application>
  <PresentationFormat>全屏显示(4:3)</PresentationFormat>
  <Paragraphs>324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45" baseType="lpstr">
      <vt:lpstr>Arial</vt:lpstr>
      <vt:lpstr>宋体</vt:lpstr>
      <vt:lpstr>Wingdings</vt:lpstr>
      <vt:lpstr>Times New Roman</vt:lpstr>
      <vt:lpstr>Lucida Sans Unicode</vt:lpstr>
      <vt:lpstr>黑体</vt:lpstr>
      <vt:lpstr>Wingdings 3</vt:lpstr>
      <vt:lpstr>Symbol</vt:lpstr>
      <vt:lpstr>Verdana</vt:lpstr>
      <vt:lpstr>Wingdings 2</vt:lpstr>
      <vt:lpstr>Wingdings</vt:lpstr>
      <vt:lpstr>Wingdings 2</vt:lpstr>
      <vt:lpstr>Verdana</vt:lpstr>
      <vt:lpstr>Tahoma</vt:lpstr>
      <vt:lpstr>微软雅黑</vt:lpstr>
      <vt:lpstr>Arial Unicode MS</vt:lpstr>
      <vt:lpstr>聚合</vt:lpstr>
      <vt:lpstr>1_聚合</vt:lpstr>
      <vt:lpstr>7.2 常量表达式优化</vt:lpstr>
      <vt:lpstr>PowerPoint 演示文稿</vt:lpstr>
      <vt:lpstr>PowerPoint 演示文稿</vt:lpstr>
      <vt:lpstr>7.3 公共表达式优化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7.4、循环优化</vt:lpstr>
      <vt:lpstr>7.4.1、循环不变表达式外提</vt:lpstr>
      <vt:lpstr>PowerPoint 演示文稿</vt:lpstr>
      <vt:lpstr>PowerPoint 演示文稿</vt:lpstr>
      <vt:lpstr>7.4.2、循环归纳变量相关计算的强度削弱</vt:lpstr>
      <vt:lpstr>PowerPoint 演示文稿</vt:lpstr>
      <vt:lpstr>7.4.3、消除循环归纳变量</vt:lpstr>
      <vt:lpstr>PowerPoint 演示文稿</vt:lpstr>
    </vt:vector>
  </TitlesOfParts>
  <Company>rgkj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 Viscual Basic6.0程序设       计实验指导与习题详解》</dc:title>
  <dc:creator>ws021</dc:creator>
  <cp:lastModifiedBy>Administrator</cp:lastModifiedBy>
  <cp:revision>301</cp:revision>
  <dcterms:created xsi:type="dcterms:W3CDTF">2001-08-16T12:48:00Z</dcterms:created>
  <dcterms:modified xsi:type="dcterms:W3CDTF">2024-05-11T08:51:02Z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7E84923411EC49BD805CA95FECBDCDF3_12</vt:lpwstr>
  </property>
  <property fmtid="{D5CDD505-2E9C-101B-9397-08002B2CF9AE}" pid="3" name="KSOProductBuildVer">
    <vt:lpwstr>2052-12.1.0.15374</vt:lpwstr>
  </property>
</Properties>
</file>