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0.webp" ContentType="image/webp"/>
  <Override PartName="/ppt/media/image21.webp" ContentType="image/webp"/>
  <Override PartName="/ppt/media/image22.webp" ContentType="image/webp"/>
  <Override PartName="/ppt/media/image23.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handoutMasterIdLst>
    <p:handoutMasterId r:id="rId49"/>
  </p:handoutMasterIdLst>
  <p:sldIdLst>
    <p:sldId id="616" r:id="rId3"/>
    <p:sldId id="513" r:id="rId4"/>
    <p:sldId id="617" r:id="rId5"/>
    <p:sldId id="530" r:id="rId6"/>
    <p:sldId id="594" r:id="rId7"/>
    <p:sldId id="618" r:id="rId8"/>
    <p:sldId id="619" r:id="rId9"/>
    <p:sldId id="620" r:id="rId10"/>
    <p:sldId id="629" r:id="rId11"/>
    <p:sldId id="604" r:id="rId12"/>
    <p:sldId id="605" r:id="rId13"/>
    <p:sldId id="606" r:id="rId14"/>
    <p:sldId id="621" r:id="rId15"/>
    <p:sldId id="622" r:id="rId16"/>
    <p:sldId id="596" r:id="rId17"/>
    <p:sldId id="623" r:id="rId18"/>
    <p:sldId id="597" r:id="rId19"/>
    <p:sldId id="595" r:id="rId20"/>
    <p:sldId id="602" r:id="rId21"/>
    <p:sldId id="603" r:id="rId22"/>
    <p:sldId id="535" r:id="rId23"/>
    <p:sldId id="607" r:id="rId24"/>
    <p:sldId id="608" r:id="rId25"/>
    <p:sldId id="609" r:id="rId26"/>
    <p:sldId id="630" r:id="rId27"/>
    <p:sldId id="631" r:id="rId28"/>
    <p:sldId id="610" r:id="rId29"/>
    <p:sldId id="613" r:id="rId30"/>
    <p:sldId id="625" r:id="rId31"/>
    <p:sldId id="626" r:id="rId32"/>
    <p:sldId id="627" r:id="rId33"/>
    <p:sldId id="628" r:id="rId34"/>
    <p:sldId id="611" r:id="rId35"/>
    <p:sldId id="615" r:id="rId36"/>
    <p:sldId id="624" r:id="rId37"/>
    <p:sldId id="665" r:id="rId38"/>
    <p:sldId id="666" r:id="rId39"/>
    <p:sldId id="656" r:id="rId40"/>
    <p:sldId id="657" r:id="rId41"/>
    <p:sldId id="658" r:id="rId42"/>
    <p:sldId id="670" r:id="rId43"/>
    <p:sldId id="671" r:id="rId44"/>
    <p:sldId id="672" r:id="rId45"/>
    <p:sldId id="673" r:id="rId46"/>
    <p:sldId id="674" r:id="rId47"/>
  </p:sldIdLst>
  <p:sldSz cx="9144000" cy="6858000" type="screen4x3"/>
  <p:notesSz cx="6858000" cy="9144000"/>
  <p:custDataLst>
    <p:tags r:id="rId53"/>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58" d="100"/>
          <a:sy n="58" d="100"/>
        </p:scale>
        <p:origin x="-1155"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9.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notesMaster" Target="notesMasters/notesMaster1.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060"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71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直角三角形 10"/>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grpSp>
        <p:nvGrpSpPr>
          <p:cNvPr id="2051" name="组合 15"/>
          <p:cNvGrpSpPr/>
          <p:nvPr/>
        </p:nvGrpSpPr>
        <p:grpSpPr>
          <a:xfrm>
            <a:off x="-3175" y="4953000"/>
            <a:ext cx="9147175" cy="1911350"/>
            <a:chOff x="-3765" y="4832896"/>
            <a:chExt cx="9147765" cy="2032192"/>
          </a:xfrm>
        </p:grpSpPr>
        <p:sp>
          <p:nvSpPr>
            <p:cNvPr id="16" name="任意多边形 1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 name="任意多边形 18"/>
            <p:cNvSpPr/>
            <p:nvPr/>
          </p:nvSpPr>
          <p:spPr bwMode="auto">
            <a:xfrm>
              <a:off x="35926" y="5135025"/>
              <a:ext cx="9108074" cy="838869"/>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w="9525" cap="flat" cmpd="sng" algn="ctr">
              <a:no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任意多边形 18"/>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20" name="直接连接符 1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21" name="日期占位符 29"/>
          <p:cNvSpPr>
            <a:spLocks noGrp="1"/>
          </p:cNvSpPr>
          <p:nvPr>
            <p:ph type="dt" sz="half" idx="2"/>
          </p:nvPr>
        </p:nvSpPr>
        <p:spPr>
          <a:xfrm>
            <a:off x="6727825" y="6408738"/>
            <a:ext cx="1919288" cy="365125"/>
          </a:xfrm>
          <a:prstGeom prst="rect">
            <a:avLst/>
          </a:prstGeom>
        </p:spPr>
        <p:txBody>
          <a:bodyPr vert="horz" anchor="b"/>
          <a:lstStyle>
            <a:lvl1pPr>
              <a:defRPr>
                <a:solidFill>
                  <a:srgbClr val="FFFFFF"/>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页脚占位符 18"/>
          <p:cNvSpPr>
            <a:spLocks noGrp="1"/>
          </p:cNvSpPr>
          <p:nvPr>
            <p:ph type="ftr" sz="quarter" idx="3"/>
          </p:nvPr>
        </p:nvSpPr>
        <p:spPr>
          <a:xfrm>
            <a:off x="4379913" y="6408738"/>
            <a:ext cx="2351088" cy="365125"/>
          </a:xfrm>
          <a:prstGeom prst="rect">
            <a:avLst/>
          </a:prstGeom>
        </p:spPr>
        <p:txBody>
          <a:bodyPr vert="horz" anchor="b"/>
          <a:lstStyle>
            <a:lvl1pPr>
              <a:defRPr>
                <a:solidFill>
                  <a:schemeClr val="accent1">
                    <a:tint val="2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accent1">
                  <a:tint val="20000"/>
                </a:schemeClr>
              </a:solidFill>
              <a:effectLst/>
              <a:uLnTx/>
              <a:uFillTx/>
              <a:latin typeface="Times New Roman" panose="02020603050405020304" pitchFamily="18" charset="0"/>
              <a:ea typeface="宋体" panose="02010600030101010101" pitchFamily="2" charset="-122"/>
              <a:cs typeface="+mn-cs"/>
            </a:endParaRPr>
          </a:p>
        </p:txBody>
      </p:sp>
      <p:sp>
        <p:nvSpPr>
          <p:cNvPr id="24" name="灯片编号占位符 2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solidFill>
                  <a:srgbClr val="FFFFFF"/>
                </a:solidFill>
              </a:rPr>
            </a:fld>
            <a:endParaRPr lang="en-US" altLang="zh-CN" dirty="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标题 6"/>
          <p:cNvSpPr>
            <a:spLocks noGrp="1"/>
          </p:cNvSpPr>
          <p:nvPr>
            <p:ph type="title"/>
          </p:nvPr>
        </p:nvSpPr>
        <p:spPr/>
        <p:txBody>
          <a:bodyPr rtlCol="0"/>
          <a:lstStyle/>
          <a:p>
            <a:r>
              <a:rPr lang="zh-CN" altLang="en-US" smtClean="0"/>
              <a:t>单击此处编辑母版标题样式</a:t>
            </a:r>
            <a:endParaRPr lang="en-US"/>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燕尾形 10"/>
          <p:cNvSpPr/>
          <p:nvPr/>
        </p:nvSpPr>
        <p:spPr>
          <a:xfrm>
            <a:off x="3636963" y="3005138"/>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2" name="燕尾形 11"/>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6" name="日期占位符 3"/>
          <p:cNvSpPr>
            <a:spLocks noGrp="1"/>
          </p:cNvSpPr>
          <p:nvPr>
            <p:ph type="dt" sz="half" idx="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页脚占位符 4"/>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5"/>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8" name="标题 7"/>
          <p:cNvSpPr>
            <a:spLocks noGrp="1"/>
          </p:cNvSpPr>
          <p:nvPr>
            <p:ph type="title"/>
          </p:nvPr>
        </p:nvSpPr>
        <p:spPr/>
        <p:txBody>
          <a:bodyPr rtlCol="0"/>
          <a:lstStyle/>
          <a:p>
            <a:r>
              <a:rPr lang="zh-CN" altLang="en-US" smtClean="0"/>
              <a:t>单击此处编辑母版标题样式</a:t>
            </a:r>
            <a:endParaRPr lang="en-US"/>
          </a:p>
        </p:txBody>
      </p:sp>
      <p:sp>
        <p:nvSpPr>
          <p:cNvPr id="11" name="日期占位符 4"/>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页脚占位符 5"/>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日期占位符 6"/>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页脚占位符 7"/>
          <p:cNvSpPr>
            <a:spLocks noGrp="1"/>
          </p:cNvSpPr>
          <p:nvPr>
            <p:ph type="ftr" sz="quarter" idx="1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8"/>
          <p:cNvSpPr>
            <a:spLocks noGrp="1"/>
          </p:cNvSpPr>
          <p:nvPr>
            <p:ph type="sldNum" sz="quarter" idx="1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rtlCol="0"/>
          <a:lstStyle/>
          <a:p>
            <a:r>
              <a:rPr lang="zh-CN" altLang="en-US" smtClean="0"/>
              <a:t>单击此处编辑母版标题样式</a:t>
            </a:r>
            <a:endParaRPr lang="en-US"/>
          </a:p>
        </p:txBody>
      </p:sp>
      <p:sp>
        <p:nvSpPr>
          <p:cNvPr id="11" name="日期占位符 2"/>
          <p:cNvSpPr>
            <a:spLocks noGrp="1"/>
          </p:cNvSpPr>
          <p:nvPr>
            <p:ph type="dt" sz="half" idx="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页脚占位符 3"/>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4"/>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日期占位符 4"/>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页脚占位符 5"/>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任意多边形 10"/>
          <p:cNvSpPr/>
          <p:nvPr/>
        </p:nvSpPr>
        <p:spPr bwMode="auto">
          <a:xfrm>
            <a:off x="715963" y="5002213"/>
            <a:ext cx="3802063" cy="144303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任意多边形 15"/>
          <p:cNvSpPr/>
          <p:nvPr/>
        </p:nvSpPr>
        <p:spPr bwMode="auto">
          <a:xfrm>
            <a:off x="-53975" y="5784850"/>
            <a:ext cx="3802063"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817" y="97"/>
                </a:moveTo>
                <a:lnTo>
                  <a:pt x="6408" y="682"/>
                </a:lnTo>
                <a:lnTo>
                  <a:pt x="5232" y="685"/>
                </a:lnTo>
                <a:lnTo>
                  <a:pt x="829" y="101"/>
                </a:lnTo>
              </a:path>
            </a:pathLst>
          </a:custGeom>
          <a:solidFill>
            <a:srgbClr val="000000"/>
          </a:solidFill>
          <a:ln w="9525" cap="flat" cmpd="sng" algn="ctr">
            <a:no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直角三角形 15"/>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17" name="直接连接符 16"/>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9" name="燕尾形 1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0" name="燕尾形 1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400"/>
              </a:spcBef>
              <a:spcAft>
                <a:spcPct val="0"/>
              </a:spcAft>
              <a:buClr>
                <a:schemeClr val="accent1"/>
              </a:buClr>
              <a:buSzPct val="68000"/>
              <a:buFont typeface="Wingdings 3"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zh-CN" altLang="en-US" smtClean="0"/>
              <a:t>单击此处编辑母版标题样式</a:t>
            </a:r>
            <a:endParaRPr lang="en-US"/>
          </a:p>
        </p:txBody>
      </p:sp>
      <p:sp>
        <p:nvSpPr>
          <p:cNvPr id="21" name="日期占位符 4"/>
          <p:cNvSpPr>
            <a:spLocks noGrp="1"/>
          </p:cNvSpPr>
          <p:nvPr>
            <p:ph type="dt" sz="half" idx="12"/>
          </p:nvPr>
        </p:nvSpPr>
        <p:spPr>
          <a:xfrm>
            <a:off x="6727825" y="6408738"/>
            <a:ext cx="1919288" cy="365125"/>
          </a:xfrm>
          <a:prstGeom prst="rect">
            <a:avLst/>
          </a:prstGeom>
        </p:spPr>
        <p:txBody>
          <a:bodyPr vert="horz" anchor="b"/>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页脚占位符 5"/>
          <p:cNvSpPr>
            <a:spLocks noGrp="1"/>
          </p:cNvSpPr>
          <p:nvPr>
            <p:ph type="ftr" sz="quarter" idx="3"/>
          </p:nvPr>
        </p:nvSpPr>
        <p:spPr>
          <a:xfrm>
            <a:off x="4379913" y="6408738"/>
            <a:ext cx="2351088" cy="365125"/>
          </a:xfrm>
          <a:prstGeom prst="rect">
            <a:avLst/>
          </a:prstGeom>
        </p:spPr>
        <p:txBody>
          <a:bodyPr vert="horz" anchor="b"/>
          <a:lstStyle>
            <a:lvl1pPr>
              <a:defRPr>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41"/>
            <a:ext cx="6324600" cy="559276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任意多边形 12"/>
          <p:cNvSpPr/>
          <p:nvPr userDrawn="1"/>
        </p:nvSpPr>
        <p:spPr bwMode="auto">
          <a:xfrm>
            <a:off x="715963" y="5002213"/>
            <a:ext cx="3802063" cy="144303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任意多边形 11"/>
          <p:cNvSpPr/>
          <p:nvPr userDrawn="1"/>
        </p:nvSpPr>
        <p:spPr bwMode="auto">
          <a:xfrm>
            <a:off x="-53975" y="5784850"/>
            <a:ext cx="3802063"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817" y="97"/>
                </a:moveTo>
                <a:lnTo>
                  <a:pt x="6408" y="682"/>
                </a:lnTo>
                <a:lnTo>
                  <a:pt x="5232" y="685"/>
                </a:lnTo>
                <a:lnTo>
                  <a:pt x="829" y="101"/>
                </a:lnTo>
              </a:path>
            </a:pathLst>
          </a:custGeom>
          <a:solidFill>
            <a:srgbClr val="000000"/>
          </a:solidFill>
          <a:ln w="9525" cap="flat" cmpd="sng" algn="ctr">
            <a:no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zh-CN" altLang="en-US" smtClean="0"/>
              <a:t>单击此处编辑母版标题样式</a:t>
            </a:r>
            <a:endParaRPr lang="en-US"/>
          </a:p>
        </p:txBody>
      </p:sp>
      <p:sp>
        <p:nvSpPr>
          <p:cNvPr id="1033" name="文本占位符 29"/>
          <p:cNvSpPr>
            <a:spLocks noGrp="1"/>
          </p:cNvSpPr>
          <p:nvPr>
            <p:ph type="body" idx="1"/>
          </p:nvPr>
        </p:nvSpPr>
        <p:spPr>
          <a:xfrm>
            <a:off x="457200" y="1481138"/>
            <a:ext cx="8229600" cy="452596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页脚占位符 21"/>
          <p:cNvSpPr>
            <a:spLocks noGrp="1"/>
          </p:cNvSpPr>
          <p:nvPr>
            <p:ph type="ftr" sz="quarter" idx="3"/>
          </p:nvPr>
        </p:nvSpPr>
        <p:spPr>
          <a:xfrm>
            <a:off x="4379913" y="6408738"/>
            <a:ext cx="2351088" cy="365125"/>
          </a:xfrm>
          <a:prstGeom prst="rect">
            <a:avLst/>
          </a:prstGeom>
        </p:spPr>
        <p:txBody>
          <a:bodyPr vert="horz" anchor="b"/>
          <a:lstStyle>
            <a:lvl1pPr algn="r" eaLnBrk="1" latinLnBrk="0" hangingPunct="1">
              <a:defRPr kumimoji="0" sz="1000">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17"/>
          <p:cNvSpPr>
            <a:spLocks noGrp="1"/>
          </p:cNvSpPr>
          <p:nvPr>
            <p:ph type="sldNum" sz="quarter" idx="4"/>
          </p:nvPr>
        </p:nvSpPr>
        <p:spPr>
          <a:xfrm>
            <a:off x="8647113" y="6408738"/>
            <a:ext cx="366713" cy="365125"/>
          </a:xfrm>
          <a:prstGeom prst="rect">
            <a:avLst/>
          </a:prstGeom>
        </p:spPr>
        <p:txBody>
          <a:bodyPr vert="horz" anchor="b"/>
          <a:lstStyle>
            <a:lvl1pPr algn="r">
              <a:defRPr sz="1000" b="0"/>
            </a:lvl1pPr>
          </a:lstStyle>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3" name="直角三角形 2"/>
          <p:cNvSpPr/>
          <p:nvPr userDrawn="1">
            <p:custDataLst>
              <p:tags r:id="rId12"/>
            </p:custDataLst>
          </p:nvPr>
        </p:nvSpPr>
        <p:spPr bwMode="auto">
          <a:xfrm>
            <a:off x="-6350" y="5791200"/>
            <a:ext cx="3402013" cy="1081088"/>
          </a:xfrm>
          <a:prstGeom prst="rtTriangle">
            <a:avLst/>
          </a:prstGeom>
          <a:solidFill>
            <a:schemeClr val="accent1"/>
          </a:solidFill>
          <a:ln>
            <a:solidFill>
              <a:schemeClr val="bg2">
                <a:lumMod val="25000"/>
              </a:schemeClr>
            </a:solidFill>
          </a:ln>
        </p:spPr>
        <p:style>
          <a:lnRef idx="2">
            <a:schemeClr val="dk1"/>
          </a:lnRef>
          <a:fillRef idx="1">
            <a:schemeClr val="lt1"/>
          </a:fillRef>
          <a:effectRef idx="0">
            <a:schemeClr val="dk1"/>
          </a:effectRef>
          <a:fontRef idx="minor">
            <a:schemeClr val="dk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p:titleStyle>
    <p:bodyStyle>
      <a:lvl1pPr marL="365125" indent="-255905"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14.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webp"/><Relationship Id="rId1" Type="http://schemas.openxmlformats.org/officeDocument/2006/relationships/tags" Target="../tags/tag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webp"/><Relationship Id="rId1" Type="http://schemas.openxmlformats.org/officeDocument/2006/relationships/tags" Target="../tags/tag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webp"/><Relationship Id="rId1" Type="http://schemas.openxmlformats.org/officeDocument/2006/relationships/tags" Target="../tags/tag5.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webp"/><Relationship Id="rId1" Type="http://schemas.openxmlformats.org/officeDocument/2006/relationships/tags" Target="../tags/tag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tags" Target="../tags/tag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tags" Target="../tags/tag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Rot="1" noChangeArrowheads="1"/>
          </p:cNvSpPr>
          <p:nvPr/>
        </p:nvSpPr>
        <p:spPr bwMode="auto">
          <a:xfrm>
            <a:off x="-180975" y="620713"/>
            <a:ext cx="8569325" cy="1150938"/>
          </a:xfrm>
          <a:prstGeom prst="rect">
            <a:avLst/>
          </a:prstGeom>
          <a:noFill/>
          <a:ln w="9525">
            <a:noFill/>
            <a:miter lim="800000"/>
          </a:ln>
          <a:effectLst>
            <a:outerShdw dist="35921" dir="2700000" algn="ctr" rotWithShape="0">
              <a:schemeClr val="bg2"/>
            </a:outerShdw>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900" b="1" i="0" u="none" strike="noStrike" kern="120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rPr>
              <a:t>  </a:t>
            </a:r>
            <a:r>
              <a:rPr kumimoji="1" lang="zh-CN" altLang="en-US" sz="4900" b="1" i="0" u="none" strike="noStrike" kern="120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rPr>
              <a:t>第八章  运行时的存储空间</a:t>
            </a:r>
            <a:br>
              <a:rPr kumimoji="1" lang="zh-CN" altLang="en-US" sz="4900" b="1" i="0" u="none" strike="noStrike" kern="120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rPr>
            </a:br>
            <a:endParaRPr kumimoji="1" lang="zh-CN" altLang="en-US" sz="4900" b="1" i="0" u="none" strike="noStrike" kern="120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9219" name="Text Box 5"/>
          <p:cNvSpPr txBox="1"/>
          <p:nvPr/>
        </p:nvSpPr>
        <p:spPr>
          <a:xfrm>
            <a:off x="684213" y="1773238"/>
            <a:ext cx="7777162" cy="3040062"/>
          </a:xfrm>
          <a:prstGeom prst="rect">
            <a:avLst/>
          </a:prstGeom>
          <a:noFill/>
          <a:ln w="9525">
            <a:noFill/>
          </a:ln>
        </p:spPr>
        <p:txBody>
          <a:bodyPr>
            <a:spAutoFit/>
          </a:bodyPr>
          <a:p>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教学目标</a:t>
            </a:r>
            <a:r>
              <a:rPr lang="en-US" altLang="zh-CN" sz="2800" dirty="0">
                <a:latin typeface="黑体" panose="02010609060101010101" pitchFamily="2" charset="-122"/>
                <a:ea typeface="黑体" panose="02010609060101010101" pitchFamily="2" charset="-122"/>
              </a:rPr>
              <a:t>】</a:t>
            </a:r>
            <a:r>
              <a:rPr lang="zh-CN" altLang="en-US" sz="2800" b="0" dirty="0">
                <a:latin typeface="黑体" panose="02010609060101010101" pitchFamily="2" charset="-122"/>
                <a:ea typeface="黑体" panose="02010609060101010101" pitchFamily="2" charset="-122"/>
              </a:rPr>
              <a:t>掌握目标程序运行时，编译程序对其地址进行组织的原理及技术</a:t>
            </a:r>
            <a:br>
              <a:rPr lang="zh-CN" altLang="en-US" sz="2800" b="0" dirty="0">
                <a:latin typeface="黑体" panose="02010609060101010101" pitchFamily="2" charset="-122"/>
                <a:ea typeface="黑体" panose="02010609060101010101" pitchFamily="2" charset="-122"/>
              </a:rPr>
            </a:br>
            <a:endParaRPr lang="zh-CN" altLang="en-US" sz="2800" b="0" dirty="0">
              <a:latin typeface="黑体" panose="02010609060101010101" pitchFamily="2" charset="-122"/>
              <a:ea typeface="黑体" panose="02010609060101010101" pitchFamily="2" charset="-122"/>
            </a:endParaRPr>
          </a:p>
          <a:p>
            <a:pPr>
              <a:lnSpc>
                <a:spcPct val="130000"/>
              </a:lnSpc>
            </a:pP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教学重点</a:t>
            </a:r>
            <a:r>
              <a:rPr lang="en-US" altLang="zh-CN" sz="2800" dirty="0">
                <a:latin typeface="黑体" panose="02010609060101010101" pitchFamily="2" charset="-122"/>
                <a:ea typeface="黑体" panose="02010609060101010101" pitchFamily="2" charset="-122"/>
              </a:rPr>
              <a:t>】</a:t>
            </a:r>
            <a:r>
              <a:rPr lang="zh-CN" altLang="en-US" sz="2800" b="0" dirty="0">
                <a:latin typeface="黑体" panose="02010609060101010101" pitchFamily="2" charset="-122"/>
                <a:ea typeface="黑体" panose="02010609060101010101" pitchFamily="2" charset="-122"/>
              </a:rPr>
              <a:t>栈式存储分配原理及技术</a:t>
            </a:r>
            <a:br>
              <a:rPr lang="zh-CN" altLang="en-US" sz="2800" b="0" dirty="0">
                <a:latin typeface="黑体" panose="02010609060101010101" pitchFamily="2" charset="-122"/>
                <a:ea typeface="黑体" panose="02010609060101010101" pitchFamily="2" charset="-122"/>
              </a:rPr>
            </a:br>
            <a:endParaRPr lang="zh-CN" altLang="en-US" sz="2800" b="0" dirty="0">
              <a:latin typeface="黑体" panose="02010609060101010101" pitchFamily="2" charset="-122"/>
              <a:ea typeface="黑体" panose="02010609060101010101" pitchFamily="2" charset="-122"/>
            </a:endParaRPr>
          </a:p>
          <a:p>
            <a:pPr>
              <a:lnSpc>
                <a:spcPct val="130000"/>
              </a:lnSpc>
            </a:pP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教学难点</a:t>
            </a:r>
            <a:r>
              <a:rPr lang="en-US" altLang="zh-CN" sz="2800" dirty="0">
                <a:latin typeface="黑体" panose="02010609060101010101" pitchFamily="2" charset="-122"/>
                <a:ea typeface="黑体" panose="02010609060101010101" pitchFamily="2" charset="-122"/>
              </a:rPr>
              <a:t>】</a:t>
            </a:r>
            <a:r>
              <a:rPr lang="zh-CN" altLang="en-US" sz="2800" b="0" dirty="0">
                <a:latin typeface="黑体" panose="02010609060101010101" pitchFamily="2" charset="-122"/>
                <a:ea typeface="黑体" panose="02010609060101010101" pitchFamily="2" charset="-122"/>
              </a:rPr>
              <a:t>运行时的变量访问</a:t>
            </a:r>
            <a:endParaRPr lang="zh-CN" altLang="en-US" sz="2800" b="0" dirty="0">
              <a:latin typeface="黑体" panose="02010609060101010101" pitchFamily="2" charset="-122"/>
              <a:ea typeface="黑体" panose="0201060906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5"/>
          <p:cNvSpPr>
            <a:spLocks noGrp="1"/>
          </p:cNvSpPr>
          <p:nvPr>
            <p:ph idx="1"/>
          </p:nvPr>
        </p:nvSpPr>
        <p:spPr>
          <a:xfrm>
            <a:off x="304800" y="765175"/>
            <a:ext cx="8534400" cy="1524000"/>
          </a:xfrm>
        </p:spPr>
        <p:txBody>
          <a:bodyPr vert="horz" wrap="square" lIns="91440" tIns="45720" rIns="91440" bIns="45720" anchor="t" anchorCtr="0"/>
          <a:p>
            <a:pPr eaLnBrk="1" hangingPunct="1">
              <a:lnSpc>
                <a:spcPct val="150000"/>
              </a:lnSpc>
              <a:spcBef>
                <a:spcPts val="200"/>
              </a:spcBef>
              <a:spcAft>
                <a:spcPts val="200"/>
              </a:spcAft>
              <a:buFont typeface="Wingdings" panose="05000000000000000000" pitchFamily="2" charset="2"/>
              <a:buNone/>
            </a:pPr>
            <a:r>
              <a:rPr lang="zh-CN" altLang="en-US" sz="2400" dirty="0">
                <a:latin typeface="宋体" panose="02010600030101010101" pitchFamily="2" charset="-122"/>
              </a:rPr>
              <a:t>源程序中由</a:t>
            </a:r>
            <a:r>
              <a:rPr lang="zh-CN" altLang="en-US" sz="2400" dirty="0">
                <a:solidFill>
                  <a:srgbClr val="FF0000"/>
                </a:solidFill>
                <a:latin typeface="宋体" panose="02010600030101010101" pitchFamily="2" charset="-122"/>
              </a:rPr>
              <a:t>标识符</a:t>
            </a:r>
            <a:r>
              <a:rPr lang="zh-CN" altLang="en-US" sz="2400" dirty="0">
                <a:latin typeface="宋体" panose="02010600030101010101" pitchFamily="2" charset="-122"/>
              </a:rPr>
              <a:t>代表存储单元，它们对应的</a:t>
            </a:r>
            <a:r>
              <a:rPr lang="zh-CN" altLang="en-US" sz="2400" dirty="0">
                <a:solidFill>
                  <a:srgbClr val="FF0000"/>
                </a:solidFill>
                <a:latin typeface="宋体" panose="02010600030101010101" pitchFamily="2" charset="-122"/>
              </a:rPr>
              <a:t>内存地址</a:t>
            </a:r>
            <a:r>
              <a:rPr lang="zh-CN" altLang="en-US" sz="2400" dirty="0">
                <a:latin typeface="宋体" panose="02010600030101010101" pitchFamily="2" charset="-122"/>
              </a:rPr>
              <a:t>由编译</a:t>
            </a:r>
            <a:endParaRPr lang="zh-CN" altLang="en-US" sz="2400" dirty="0">
              <a:latin typeface="宋体" panose="02010600030101010101" pitchFamily="2" charset="-122"/>
            </a:endParaRPr>
          </a:p>
          <a:p>
            <a:pPr eaLnBrk="1" hangingPunct="1">
              <a:lnSpc>
                <a:spcPct val="150000"/>
              </a:lnSpc>
              <a:spcBef>
                <a:spcPts val="200"/>
              </a:spcBef>
              <a:spcAft>
                <a:spcPts val="200"/>
              </a:spcAft>
              <a:buFont typeface="Wingdings" panose="05000000000000000000" pitchFamily="2" charset="2"/>
              <a:buNone/>
            </a:pPr>
            <a:r>
              <a:rPr lang="zh-CN" altLang="en-US" sz="2400" dirty="0">
                <a:latin typeface="宋体" panose="02010600030101010101" pitchFamily="2" charset="-122"/>
              </a:rPr>
              <a:t>程序</a:t>
            </a:r>
            <a:r>
              <a:rPr lang="zh-CN" altLang="en-US" sz="2400" dirty="0">
                <a:solidFill>
                  <a:srgbClr val="FF0000"/>
                </a:solidFill>
                <a:latin typeface="宋体" panose="02010600030101010101" pitchFamily="2" charset="-122"/>
              </a:rPr>
              <a:t>在编译时分配</a:t>
            </a:r>
            <a:r>
              <a:rPr lang="zh-CN" altLang="en-US" sz="2400" dirty="0">
                <a:latin typeface="宋体" panose="02010600030101010101" pitchFamily="2" charset="-122"/>
              </a:rPr>
              <a:t>或由其生成的目标程序</a:t>
            </a:r>
            <a:r>
              <a:rPr lang="zh-CN" altLang="en-US" sz="2400" dirty="0">
                <a:solidFill>
                  <a:srgbClr val="FF0000"/>
                </a:solidFill>
                <a:latin typeface="宋体" panose="02010600030101010101" pitchFamily="2" charset="-122"/>
              </a:rPr>
              <a:t>在运行时分配</a:t>
            </a:r>
            <a:r>
              <a:rPr lang="zh-CN" altLang="en-US" sz="2400" dirty="0">
                <a:latin typeface="宋体" panose="02010600030101010101" pitchFamily="2" charset="-122"/>
              </a:rPr>
              <a:t>。</a:t>
            </a:r>
            <a:endParaRPr lang="zh-CN" altLang="en-US" sz="2400" dirty="0">
              <a:latin typeface="宋体" panose="02010600030101010101" pitchFamily="2" charset="-122"/>
            </a:endParaRPr>
          </a:p>
        </p:txBody>
      </p:sp>
      <p:sp>
        <p:nvSpPr>
          <p:cNvPr id="10243" name="Line 7"/>
          <p:cNvSpPr/>
          <p:nvPr/>
        </p:nvSpPr>
        <p:spPr>
          <a:xfrm>
            <a:off x="4267200" y="3382963"/>
            <a:ext cx="0" cy="198437"/>
          </a:xfrm>
          <a:prstGeom prst="line">
            <a:avLst/>
          </a:prstGeom>
          <a:ln w="9525" cap="flat" cmpd="sng">
            <a:solidFill>
              <a:srgbClr val="000000"/>
            </a:solidFill>
            <a:prstDash val="solid"/>
            <a:headEnd type="none" w="med" len="med"/>
            <a:tailEnd type="triangle" w="med" len="med"/>
          </a:ln>
        </p:spPr>
      </p:sp>
      <p:sp>
        <p:nvSpPr>
          <p:cNvPr id="10244" name="Line 8"/>
          <p:cNvSpPr/>
          <p:nvPr/>
        </p:nvSpPr>
        <p:spPr>
          <a:xfrm flipV="1">
            <a:off x="4267200" y="4078288"/>
            <a:ext cx="0" cy="265112"/>
          </a:xfrm>
          <a:prstGeom prst="line">
            <a:avLst/>
          </a:prstGeom>
          <a:ln w="9525" cap="flat" cmpd="sng">
            <a:solidFill>
              <a:srgbClr val="000000"/>
            </a:solidFill>
            <a:prstDash val="solid"/>
            <a:headEnd type="none" w="med" len="med"/>
            <a:tailEnd type="triangle" w="med" len="med"/>
          </a:ln>
        </p:spPr>
      </p:sp>
      <p:graphicFrame>
        <p:nvGraphicFramePr>
          <p:cNvPr id="484413" name="Group 61"/>
          <p:cNvGraphicFramePr>
            <a:graphicFrameLocks noGrp="1"/>
          </p:cNvGraphicFramePr>
          <p:nvPr/>
        </p:nvGraphicFramePr>
        <p:xfrm>
          <a:off x="3048000" y="2921000"/>
          <a:ext cx="2514600" cy="2916238"/>
        </p:xfrm>
        <a:graphic>
          <a:graphicData uri="http://schemas.openxmlformats.org/drawingml/2006/table">
            <a:tbl>
              <a:tblPr/>
              <a:tblGrid>
                <a:gridCol w="2514600"/>
              </a:tblGrid>
              <a:tr h="184932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heap</a:t>
                      </a:r>
                      <a:endPar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200"/>
                        </a:spcBef>
                        <a:spcAft>
                          <a:spcPts val="200"/>
                        </a:spcAft>
                        <a:buClrTx/>
                        <a:buSzTx/>
                        <a:buFontTx/>
                        <a:buNone/>
                      </a:pPr>
                      <a:endPar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stack</a:t>
                      </a:r>
                      <a:endParaRPr kumimoji="1" lang="en-US"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58">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静态区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5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目标代码区</a:t>
                      </a: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55" name="Rectangle 58"/>
          <p:cNvSpPr/>
          <p:nvPr/>
        </p:nvSpPr>
        <p:spPr>
          <a:xfrm>
            <a:off x="457200" y="2133600"/>
            <a:ext cx="5334000" cy="533400"/>
          </a:xfrm>
          <a:prstGeom prst="rect">
            <a:avLst/>
          </a:prstGeom>
          <a:noFill/>
          <a:ln w="9525">
            <a:noFill/>
          </a:ln>
        </p:spPr>
        <p:txBody>
          <a:bodyPr anchor="b" anchorCtr="0"/>
          <a:p>
            <a:r>
              <a:rPr lang="en-US" altLang="zh-CN" sz="3200" dirty="0">
                <a:latin typeface="宋体" panose="02010600030101010101" pitchFamily="2" charset="-122"/>
              </a:rPr>
              <a:t>8.1</a:t>
            </a:r>
            <a:r>
              <a:rPr lang="zh-CN" altLang="en-US" sz="3200" dirty="0">
                <a:latin typeface="宋体" panose="02010600030101010101" pitchFamily="2" charset="-122"/>
              </a:rPr>
              <a:t>、运行时的存储空间结构</a:t>
            </a:r>
            <a:endParaRPr lang="zh-CN" altLang="en-US" sz="3200" dirty="0">
              <a:latin typeface="宋体" panose="02010600030101010101" pitchFamily="2" charset="-122"/>
            </a:endParaRPr>
          </a:p>
        </p:txBody>
      </p:sp>
      <p:sp>
        <p:nvSpPr>
          <p:cNvPr id="10256" name="AutoShape 59"/>
          <p:cNvSpPr/>
          <p:nvPr/>
        </p:nvSpPr>
        <p:spPr>
          <a:xfrm>
            <a:off x="6400800" y="2667000"/>
            <a:ext cx="1219200" cy="1047750"/>
          </a:xfrm>
          <a:prstGeom prst="wedgeRoundRectCallout">
            <a:avLst>
              <a:gd name="adj1" fmla="val -114454"/>
              <a:gd name="adj2" fmla="val 64583"/>
              <a:gd name="adj3" fmla="val 16667"/>
            </a:avLst>
          </a:prstGeom>
          <a:noFill/>
          <a:ln w="9525" cap="flat" cmpd="sng">
            <a:solidFill>
              <a:schemeClr val="tx1"/>
            </a:solidFill>
            <a:prstDash val="solid"/>
            <a:miter/>
            <a:headEnd type="none" w="med" len="med"/>
            <a:tailEnd type="none" w="med" len="med"/>
          </a:ln>
        </p:spPr>
        <p:txBody>
          <a:bodyPr/>
          <a:p>
            <a:pPr algn="ctr"/>
            <a:r>
              <a:rPr lang="zh-CN" altLang="en-US" dirty="0">
                <a:latin typeface="Times New Roman" panose="02020603050405020304" pitchFamily="18" charset="0"/>
              </a:rPr>
              <a:t>需要检查冲突和溢出</a:t>
            </a:r>
            <a:endParaRPr lang="zh-CN" altLang="en-US" dirty="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内容占位符 1"/>
          <p:cNvSpPr>
            <a:spLocks noGrp="1"/>
          </p:cNvSpPr>
          <p:nvPr>
            <p:ph idx="1"/>
          </p:nvPr>
        </p:nvSpPr>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1268" name="Picture 2"/>
          <p:cNvPicPr>
            <a:picLocks noChangeAspect="1"/>
          </p:cNvPicPr>
          <p:nvPr/>
        </p:nvPicPr>
        <p:blipFill>
          <a:blip r:embed="rId1"/>
          <a:srcRect l="9818" t="33894" r="10121" b="36539"/>
          <a:stretch>
            <a:fillRect/>
          </a:stretch>
        </p:blipFill>
        <p:spPr>
          <a:xfrm>
            <a:off x="571500" y="1643063"/>
            <a:ext cx="7942263" cy="3071812"/>
          </a:xfrm>
          <a:prstGeom prst="rect">
            <a:avLst/>
          </a:prstGeom>
          <a:noFill/>
          <a:ln w="9525">
            <a:noFill/>
          </a:ln>
        </p:spPr>
      </p:pic>
      <p:sp>
        <p:nvSpPr>
          <p:cNvPr id="5" name="Rectangle 10"/>
          <p:cNvSpPr>
            <a:spLocks noChangeArrowheads="1"/>
          </p:cNvSpPr>
          <p:nvPr/>
        </p:nvSpPr>
        <p:spPr bwMode="auto">
          <a:xfrm>
            <a:off x="457200" y="85725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8.2.1</a:t>
            </a:r>
            <a:r>
              <a:rPr kumimoji="1" lang="zh-CN" altLang="en-US"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、静态存储分配</a:t>
            </a:r>
            <a:endParaRPr kumimoji="1" lang="zh-CN" altLang="en-US"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1"/>
          <p:cNvSpPr>
            <a:spLocks noGrp="1"/>
          </p:cNvSpPr>
          <p:nvPr>
            <p:ph idx="1"/>
          </p:nvPr>
        </p:nvSpPr>
        <p:spPr>
          <a:xfrm>
            <a:off x="539750" y="1557338"/>
            <a:ext cx="8208963" cy="4800600"/>
          </a:xfrm>
        </p:spPr>
        <p:txBody>
          <a:bodyPr vert="horz" wrap="square" lIns="91440" tIns="45720" rIns="91440" bIns="45720" anchor="t" anchorCtr="0"/>
          <a:p>
            <a:pPr algn="just" eaLnBrk="1" hangingPunct="1">
              <a:lnSpc>
                <a:spcPct val="110000"/>
              </a:lnSpc>
              <a:buFont typeface="Wingdings" panose="05000000000000000000" pitchFamily="2" charset="2"/>
              <a:buChar char="Ø"/>
            </a:pPr>
            <a:r>
              <a:rPr lang="zh-CN" altLang="en-US" sz="2600" b="1" dirty="0">
                <a:latin typeface="宋体" panose="02010600030101010101" pitchFamily="2" charset="-122"/>
              </a:rPr>
              <a:t>主要分配对象</a:t>
            </a:r>
            <a:endParaRPr lang="zh-CN" altLang="en-US" sz="2600" b="1" dirty="0">
              <a:latin typeface="宋体" panose="02010600030101010101" pitchFamily="2" charset="-122"/>
            </a:endParaRPr>
          </a:p>
          <a:p>
            <a:pPr lvl="1" algn="just" eaLnBrk="1" hangingPunct="1">
              <a:lnSpc>
                <a:spcPct val="110000"/>
              </a:lnSpc>
              <a:buFont typeface="Verdana" panose="020B0604030504040204" pitchFamily="34" charset="0"/>
              <a:buChar char="◦"/>
            </a:pPr>
            <a:r>
              <a:rPr lang="zh-CN" altLang="en-US" sz="2600" b="1" dirty="0">
                <a:latin typeface="宋体" panose="02010600030101010101" pitchFamily="2" charset="-122"/>
              </a:rPr>
              <a:t>全局变量和不改变值的对象如常量</a:t>
            </a:r>
            <a:endParaRPr lang="zh-CN" altLang="en-US" sz="2600" b="1" dirty="0">
              <a:latin typeface="宋体" panose="02010600030101010101" pitchFamily="2" charset="-122"/>
            </a:endParaRPr>
          </a:p>
          <a:p>
            <a:pPr algn="just" eaLnBrk="1" hangingPunct="1">
              <a:lnSpc>
                <a:spcPct val="110000"/>
              </a:lnSpc>
              <a:buFont typeface="Wingdings" panose="05000000000000000000" pitchFamily="2" charset="2"/>
              <a:buChar char="Ø"/>
            </a:pPr>
            <a:r>
              <a:rPr lang="zh-CN" altLang="en-US" sz="2600" b="1" dirty="0">
                <a:latin typeface="宋体" panose="02010600030101010101" pitchFamily="2" charset="-122"/>
              </a:rPr>
              <a:t>特点</a:t>
            </a:r>
            <a:endParaRPr lang="zh-CN" altLang="en-US" sz="2600" b="1" dirty="0">
              <a:latin typeface="宋体" panose="02010600030101010101" pitchFamily="2" charset="-122"/>
            </a:endParaRPr>
          </a:p>
          <a:p>
            <a:pPr lvl="1" algn="just" eaLnBrk="1" hangingPunct="1">
              <a:lnSpc>
                <a:spcPct val="110000"/>
              </a:lnSpc>
              <a:buFont typeface="Verdana" panose="020B0604030504040204" pitchFamily="34" charset="0"/>
              <a:buChar char="◦"/>
            </a:pPr>
            <a:r>
              <a:rPr lang="zh-CN" altLang="en-US" sz="2600" b="1" dirty="0">
                <a:latin typeface="宋体" panose="02010600030101010101" pitchFamily="2" charset="-122"/>
              </a:rPr>
              <a:t>编译时确定存储位置，因此访问时可采用</a:t>
            </a:r>
            <a:r>
              <a:rPr lang="zh-CN" altLang="en-US" sz="2600" b="1" dirty="0">
                <a:solidFill>
                  <a:srgbClr val="FF0000"/>
                </a:solidFill>
                <a:latin typeface="宋体" panose="02010600030101010101" pitchFamily="2" charset="-122"/>
              </a:rPr>
              <a:t>绝对地址</a:t>
            </a:r>
            <a:endParaRPr lang="zh-CN" altLang="en-US" sz="2600" b="1" dirty="0">
              <a:solidFill>
                <a:srgbClr val="FF0000"/>
              </a:solidFill>
              <a:latin typeface="宋体" panose="02010600030101010101" pitchFamily="2" charset="-122"/>
            </a:endParaRPr>
          </a:p>
          <a:p>
            <a:pPr lvl="1" algn="just" eaLnBrk="1" hangingPunct="1">
              <a:lnSpc>
                <a:spcPct val="110000"/>
              </a:lnSpc>
              <a:buFont typeface="Verdana" panose="020B0604030504040204" pitchFamily="34" charset="0"/>
              <a:buChar char="◦"/>
            </a:pPr>
            <a:r>
              <a:rPr lang="zh-CN" altLang="en-US" sz="2600" b="1" dirty="0">
                <a:latin typeface="宋体" panose="02010600030101010101" pitchFamily="2" charset="-122"/>
              </a:rPr>
              <a:t>访问效率高，但造成空间浪费</a:t>
            </a:r>
            <a:endParaRPr lang="zh-CN" altLang="en-US" sz="2600" b="1" dirty="0">
              <a:latin typeface="宋体" panose="02010600030101010101" pitchFamily="2" charset="-122"/>
            </a:endParaRPr>
          </a:p>
          <a:p>
            <a:pPr algn="just" eaLnBrk="1" hangingPunct="1">
              <a:lnSpc>
                <a:spcPct val="110000"/>
              </a:lnSpc>
              <a:buFont typeface="Wingdings" panose="05000000000000000000" pitchFamily="2" charset="2"/>
              <a:buChar char="Ø"/>
            </a:pPr>
            <a:r>
              <a:rPr lang="zh-CN" altLang="en-US" sz="2600" b="1" dirty="0">
                <a:latin typeface="宋体" panose="02010600030101010101" pitchFamily="2" charset="-122"/>
              </a:rPr>
              <a:t>实现</a:t>
            </a:r>
            <a:endParaRPr lang="zh-CN" altLang="en-US" sz="2600" b="1" dirty="0">
              <a:latin typeface="宋体" panose="02010600030101010101" pitchFamily="2" charset="-122"/>
            </a:endParaRPr>
          </a:p>
          <a:p>
            <a:pPr lvl="1" algn="just" eaLnBrk="1" hangingPunct="1">
              <a:lnSpc>
                <a:spcPct val="110000"/>
              </a:lnSpc>
            </a:pPr>
            <a:r>
              <a:rPr lang="zh-CN" altLang="en-US" sz="2600" b="1" dirty="0">
                <a:solidFill>
                  <a:srgbClr val="FF0000"/>
                </a:solidFill>
                <a:latin typeface="宋体" panose="02010600030101010101" pitchFamily="2" charset="-122"/>
              </a:rPr>
              <a:t>并不是一开始就使用绝对地址</a:t>
            </a:r>
            <a:r>
              <a:rPr lang="zh-CN" altLang="en-US" sz="2600" b="1" dirty="0">
                <a:latin typeface="宋体" panose="02010600030101010101" pitchFamily="2" charset="-122"/>
              </a:rPr>
              <a:t>，而是使用</a:t>
            </a:r>
            <a:r>
              <a:rPr lang="zh-CN" altLang="en-US" sz="2600" b="1" dirty="0">
                <a:solidFill>
                  <a:srgbClr val="FF0000"/>
                </a:solidFill>
                <a:latin typeface="宋体" panose="02010600030101010101" pitchFamily="2" charset="-122"/>
              </a:rPr>
              <a:t>块地址</a:t>
            </a:r>
            <a:r>
              <a:rPr lang="zh-CN" altLang="en-US" sz="2600" b="1" dirty="0">
                <a:latin typeface="宋体" panose="02010600030101010101" pitchFamily="2" charset="-122"/>
              </a:rPr>
              <a:t>形式</a:t>
            </a:r>
            <a:r>
              <a:rPr lang="en-US" altLang="zh-CN" sz="2600" b="1" dirty="0">
                <a:latin typeface="宋体" panose="02010600030101010101" pitchFamily="2" charset="-122"/>
              </a:rPr>
              <a:t>(DataArea, Offset)</a:t>
            </a:r>
            <a:r>
              <a:rPr lang="zh-CN" altLang="en-US" sz="2600" b="1" dirty="0">
                <a:latin typeface="宋体" panose="02010600030101010101" pitchFamily="2" charset="-122"/>
              </a:rPr>
              <a:t>，运行时由</a:t>
            </a:r>
            <a:r>
              <a:rPr lang="zh-CN" altLang="en-US" sz="2600" b="1" dirty="0">
                <a:solidFill>
                  <a:srgbClr val="FF0000"/>
                </a:solidFill>
                <a:latin typeface="宋体" panose="02010600030101010101" pitchFamily="2" charset="-122"/>
              </a:rPr>
              <a:t>连接装配系统</a:t>
            </a:r>
            <a:r>
              <a:rPr lang="zh-CN" altLang="en-US" sz="2600" b="1" dirty="0">
                <a:latin typeface="宋体" panose="02010600030101010101" pitchFamily="2" charset="-122"/>
              </a:rPr>
              <a:t>把</a:t>
            </a:r>
            <a:r>
              <a:rPr lang="en-US" altLang="zh-CN" sz="2600" b="1" dirty="0">
                <a:latin typeface="宋体" panose="02010600030101010101" pitchFamily="2" charset="-122"/>
              </a:rPr>
              <a:t>DataArea </a:t>
            </a:r>
            <a:r>
              <a:rPr lang="zh-CN" altLang="en-US" sz="2600" b="1" dirty="0">
                <a:latin typeface="宋体" panose="02010600030101010101" pitchFamily="2" charset="-122"/>
              </a:rPr>
              <a:t>映射到实际空间中。</a:t>
            </a:r>
            <a:endParaRPr lang="zh-CN" altLang="en-US" sz="2600" b="1" dirty="0">
              <a:latin typeface="宋体" panose="02010600030101010101" pitchFamily="2" charset="-122"/>
            </a:endParaRPr>
          </a:p>
        </p:txBody>
      </p:sp>
      <p:sp>
        <p:nvSpPr>
          <p:cNvPr id="5122" name="Rectangle 8"/>
          <p:cNvSpPr>
            <a:spLocks noGrp="1" noChangeArrowheads="1"/>
          </p:cNvSpPr>
          <p:nvPr>
            <p:ph type="title"/>
          </p:nvPr>
        </p:nvSpPr>
        <p:spPr>
          <a:xfrm>
            <a:off x="304800" y="228600"/>
            <a:ext cx="7772400" cy="6858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rPr>
              <a:t>8.2</a:t>
            </a:r>
            <a:r>
              <a:rPr kumimoji="0" lang="zh-CN" altLang="en-US"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rPr>
              <a:t>、各个区的存储空间分配</a:t>
            </a:r>
            <a:endParaRPr kumimoji="0" lang="zh-CN" altLang="en-US"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endParaRPr>
          </a:p>
        </p:txBody>
      </p:sp>
      <p:sp>
        <p:nvSpPr>
          <p:cNvPr id="501770" name="Rectangle 10"/>
          <p:cNvSpPr>
            <a:spLocks noChangeArrowheads="1"/>
          </p:cNvSpPr>
          <p:nvPr/>
        </p:nvSpPr>
        <p:spPr bwMode="auto">
          <a:xfrm>
            <a:off x="457200" y="9906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8.2.1</a:t>
            </a:r>
            <a:r>
              <a:rPr kumimoji="1" lang="zh-CN" altLang="en-US"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、静态存储分配</a:t>
            </a:r>
            <a:endParaRPr kumimoji="1" lang="zh-CN" altLang="en-US" sz="3200" b="0" i="0" u="none" strike="noStrike" kern="1200" cap="none" spc="0" normalizeH="0" baseline="0" noProof="0" dirty="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p:cNvSpPr>
          <p:nvPr>
            <p:ph idx="1"/>
          </p:nvPr>
        </p:nvSpPr>
        <p:spPr>
          <a:xfrm>
            <a:off x="609600" y="1143000"/>
            <a:ext cx="5691188" cy="4191000"/>
          </a:xfrm>
        </p:spPr>
        <p:txBody>
          <a:bodyPr vert="horz" wrap="square" lIns="91440" tIns="45720" rIns="91440" bIns="45720" anchor="t" anchorCtr="0"/>
          <a:p>
            <a:pPr eaLnBrk="1" hangingPunct="1">
              <a:buFont typeface="Wingdings" panose="05000000000000000000" charset="0"/>
              <a:buChar char="ü"/>
            </a:pPr>
            <a:r>
              <a:rPr lang="zh-CN" altLang="en-US" sz="2800" b="1" dirty="0">
                <a:latin typeface="宋体" panose="02010600030101010101" pitchFamily="2" charset="-122"/>
              </a:rPr>
              <a:t>用途</a:t>
            </a:r>
            <a:endParaRPr lang="zh-CN" altLang="en-US" sz="2800" b="1" dirty="0">
              <a:latin typeface="宋体" panose="02010600030101010101" pitchFamily="2" charset="-122"/>
            </a:endParaRPr>
          </a:p>
          <a:p>
            <a:pPr lvl="1" eaLnBrk="1" hangingPunct="1"/>
            <a:r>
              <a:rPr lang="zh-CN" altLang="en-US" b="1" dirty="0">
                <a:latin typeface="宋体" panose="02010600030101010101" pitchFamily="2" charset="-122"/>
              </a:rPr>
              <a:t>能适应嵌套及递归调用的情形</a:t>
            </a:r>
            <a:endParaRPr lang="zh-CN" altLang="en-US" b="1" dirty="0">
              <a:latin typeface="宋体" panose="02010600030101010101" pitchFamily="2" charset="-122"/>
            </a:endParaRPr>
          </a:p>
          <a:p>
            <a:pPr eaLnBrk="1" hangingPunct="1">
              <a:buFont typeface="Wingdings" panose="05000000000000000000" charset="0"/>
              <a:buChar char="ü"/>
            </a:pPr>
            <a:r>
              <a:rPr lang="zh-CN" altLang="en-US" sz="2800" b="1" dirty="0">
                <a:latin typeface="宋体" panose="02010600030101010101" pitchFamily="2" charset="-122"/>
              </a:rPr>
              <a:t>特点</a:t>
            </a:r>
            <a:endParaRPr lang="zh-CN" altLang="en-US" sz="2800" b="1" dirty="0">
              <a:latin typeface="宋体" panose="02010600030101010101" pitchFamily="2" charset="-122"/>
            </a:endParaRPr>
          </a:p>
          <a:p>
            <a:pPr lvl="1" eaLnBrk="1" hangingPunct="1"/>
            <a:r>
              <a:rPr lang="zh-CN" altLang="en-US" b="1" dirty="0">
                <a:latin typeface="宋体" panose="02010600030101010101" pitchFamily="2" charset="-122"/>
              </a:rPr>
              <a:t>先进后出</a:t>
            </a:r>
            <a:endParaRPr lang="zh-CN" altLang="en-US" b="1" dirty="0">
              <a:latin typeface="宋体" panose="02010600030101010101" pitchFamily="2" charset="-122"/>
            </a:endParaRPr>
          </a:p>
          <a:p>
            <a:pPr lvl="1" eaLnBrk="1" hangingPunct="1"/>
            <a:r>
              <a:rPr lang="zh-CN" altLang="en-US" b="1" dirty="0">
                <a:latin typeface="宋体" panose="02010600030101010101" pitchFamily="2" charset="-122"/>
              </a:rPr>
              <a:t>变量生存期限仅为本次调用</a:t>
            </a:r>
            <a:endParaRPr lang="zh-CN" altLang="en-US" b="1" dirty="0">
              <a:latin typeface="宋体" panose="02010600030101010101" pitchFamily="2" charset="-122"/>
            </a:endParaRPr>
          </a:p>
          <a:p>
            <a:pPr lvl="1" eaLnBrk="1" hangingPunct="1"/>
            <a:r>
              <a:rPr lang="zh-CN" altLang="en-US" b="1" dirty="0">
                <a:latin typeface="宋体" panose="02010600030101010101" pitchFamily="2" charset="-122"/>
              </a:rPr>
              <a:t>自动释放</a:t>
            </a:r>
            <a:endParaRPr lang="zh-CN" altLang="en-US" b="1" dirty="0">
              <a:latin typeface="宋体" panose="02010600030101010101" pitchFamily="2" charset="-122"/>
            </a:endParaRPr>
          </a:p>
        </p:txBody>
      </p:sp>
      <p:sp>
        <p:nvSpPr>
          <p:cNvPr id="609282" name="Rectangle 2"/>
          <p:cNvSpPr>
            <a:spLocks noGrp="1" noChangeArrowheads="1"/>
          </p:cNvSpPr>
          <p:nvPr>
            <p:ph type="title"/>
          </p:nvPr>
        </p:nvSpPr>
        <p:spPr>
          <a:xfrm>
            <a:off x="457200" y="381000"/>
            <a:ext cx="7772400" cy="6096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8.2.2</a:t>
            </a:r>
            <a:r>
              <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、栈式存储分配</a:t>
            </a:r>
            <a:endPar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endParaRPr>
          </a:p>
        </p:txBody>
      </p:sp>
      <p:sp>
        <p:nvSpPr>
          <p:cNvPr id="13316" name="Rectangle 4"/>
          <p:cNvSpPr/>
          <p:nvPr/>
        </p:nvSpPr>
        <p:spPr>
          <a:xfrm>
            <a:off x="6572250" y="4202113"/>
            <a:ext cx="1600200" cy="1295400"/>
          </a:xfrm>
          <a:prstGeom prst="rect">
            <a:avLst/>
          </a:prstGeom>
          <a:solidFill>
            <a:schemeClr val="tx2"/>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tx2"/>
            </a:extrusionClr>
          </a:sp3d>
        </p:spPr>
        <p:txBody>
          <a:bodyPr wrap="none" anchor="ctr" anchorCtr="0">
            <a:flatTx/>
          </a:bodyPr>
          <a:p>
            <a:pPr algn="ctr" eaLnBrk="0" hangingPunct="0"/>
            <a:r>
              <a:rPr lang="en-US" altLang="zh-CN" sz="4800" b="0" dirty="0">
                <a:solidFill>
                  <a:srgbClr val="FFFF00"/>
                </a:solidFill>
                <a:latin typeface="Times New Roman" panose="02020603050405020304" pitchFamily="18" charset="0"/>
                <a:sym typeface="Symbol" panose="05050102010706020507" pitchFamily="18" charset="2"/>
              </a:rPr>
              <a:t></a:t>
            </a:r>
            <a:endParaRPr lang="en-US" altLang="zh-CN" sz="2400" b="0" dirty="0">
              <a:latin typeface="Times New Roman" panose="02020603050405020304" pitchFamily="18" charset="0"/>
            </a:endParaRPr>
          </a:p>
        </p:txBody>
      </p:sp>
      <p:sp>
        <p:nvSpPr>
          <p:cNvPr id="13317" name="Rectangle 5"/>
          <p:cNvSpPr/>
          <p:nvPr/>
        </p:nvSpPr>
        <p:spPr>
          <a:xfrm>
            <a:off x="6572250" y="3440113"/>
            <a:ext cx="1600200" cy="762000"/>
          </a:xfrm>
          <a:prstGeom prst="rect">
            <a:avLst/>
          </a:prstGeom>
          <a:solidFill>
            <a:srgbClr val="00CC00"/>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CC00"/>
            </a:extrusionClr>
          </a:sp3d>
        </p:spPr>
        <p:txBody>
          <a:bodyPr wrap="none" anchor="ctr" anchorCtr="0">
            <a:flatTx/>
          </a:bodyPr>
          <a:p>
            <a:pPr algn="ctr" eaLnBrk="0" hangingPunct="0"/>
            <a:r>
              <a:rPr lang="zh-CN" altLang="en-US" sz="2800" i="1" dirty="0">
                <a:solidFill>
                  <a:srgbClr val="FFFF00"/>
                </a:solidFill>
                <a:latin typeface="Times New Roman" panose="02020603050405020304" pitchFamily="18" charset="0"/>
              </a:rPr>
              <a:t>活动记录</a:t>
            </a:r>
            <a:endParaRPr lang="zh-CN" altLang="en-US" sz="2800" i="1" dirty="0">
              <a:latin typeface="Times New Roman" panose="02020603050405020304" pitchFamily="18" charset="0"/>
            </a:endParaRPr>
          </a:p>
        </p:txBody>
      </p:sp>
      <p:sp>
        <p:nvSpPr>
          <p:cNvPr id="13318" name="Rectangle 6"/>
          <p:cNvSpPr/>
          <p:nvPr/>
        </p:nvSpPr>
        <p:spPr>
          <a:xfrm>
            <a:off x="6572250" y="2678113"/>
            <a:ext cx="1600200" cy="762000"/>
          </a:xfrm>
          <a:prstGeom prst="rect">
            <a:avLst/>
          </a:prstGeom>
          <a:solidFill>
            <a:srgbClr val="669900"/>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669900"/>
            </a:extrusionClr>
          </a:sp3d>
        </p:spPr>
        <p:txBody>
          <a:bodyPr wrap="none" anchor="ctr" anchorCtr="0">
            <a:flatTx/>
          </a:bodyPr>
          <a:p>
            <a:pPr algn="ctr" eaLnBrk="0" hangingPunct="0"/>
            <a:r>
              <a:rPr lang="zh-CN" altLang="en-US" sz="2800" i="1" dirty="0">
                <a:solidFill>
                  <a:srgbClr val="FFFF00"/>
                </a:solidFill>
                <a:latin typeface="Times New Roman" panose="02020603050405020304" pitchFamily="18" charset="0"/>
              </a:rPr>
              <a:t>活动记录</a:t>
            </a:r>
            <a:endParaRPr lang="zh-CN" altLang="en-US" sz="2800" i="1" dirty="0">
              <a:latin typeface="Times New Roman" panose="02020603050405020304" pitchFamily="18" charset="0"/>
            </a:endParaRPr>
          </a:p>
        </p:txBody>
      </p:sp>
      <p:sp>
        <p:nvSpPr>
          <p:cNvPr id="13319" name="Rectangle 7"/>
          <p:cNvSpPr/>
          <p:nvPr/>
        </p:nvSpPr>
        <p:spPr>
          <a:xfrm>
            <a:off x="6572250" y="1916113"/>
            <a:ext cx="1600200" cy="762000"/>
          </a:xfrm>
          <a:prstGeom prst="rect">
            <a:avLst/>
          </a:prstGeom>
          <a:solidFill>
            <a:schemeClr val="accent1"/>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pPr algn="ctr" eaLnBrk="0" hangingPunct="0"/>
            <a:r>
              <a:rPr lang="zh-CN" altLang="en-US" sz="2800" i="1" dirty="0">
                <a:solidFill>
                  <a:srgbClr val="FFFF00"/>
                </a:solidFill>
                <a:latin typeface="Times New Roman" panose="02020603050405020304" pitchFamily="18" charset="0"/>
              </a:rPr>
              <a:t>活动记录</a:t>
            </a:r>
            <a:endParaRPr lang="zh-CN" altLang="en-US" sz="2800" i="1" dirty="0">
              <a:latin typeface="Times New Roman" panose="02020603050405020304" pitchFamily="18" charset="0"/>
            </a:endParaRPr>
          </a:p>
        </p:txBody>
      </p:sp>
      <p:sp>
        <p:nvSpPr>
          <p:cNvPr id="13320" name="Text Box 8"/>
          <p:cNvSpPr txBox="1"/>
          <p:nvPr/>
        </p:nvSpPr>
        <p:spPr>
          <a:xfrm>
            <a:off x="6629400" y="1066800"/>
            <a:ext cx="1255713" cy="519113"/>
          </a:xfrm>
          <a:prstGeom prst="rect">
            <a:avLst/>
          </a:prstGeom>
          <a:noFill/>
          <a:ln w="12700">
            <a:noFill/>
          </a:ln>
        </p:spPr>
        <p:txBody>
          <a:bodyPr wrap="none">
            <a:spAutoFit/>
          </a:bodyPr>
          <a:p>
            <a:pPr eaLnBrk="0" hangingPunct="0"/>
            <a:r>
              <a:rPr lang="zh-CN" altLang="en-US" sz="2800" dirty="0">
                <a:latin typeface="Times New Roman" panose="02020603050405020304" pitchFamily="18" charset="0"/>
              </a:rPr>
              <a:t>运行栈</a:t>
            </a:r>
            <a:endParaRPr lang="zh-CN" altLang="en-US" sz="2800" dirty="0">
              <a:latin typeface="Times New Roman" panose="02020603050405020304" pitchFamily="18" charset="0"/>
            </a:endParaRPr>
          </a:p>
        </p:txBody>
      </p:sp>
      <p:pic>
        <p:nvPicPr>
          <p:cNvPr id="13321" name="Picture 9"/>
          <p:cNvPicPr>
            <a:picLocks noChangeAspect="1"/>
          </p:cNvPicPr>
          <p:nvPr/>
        </p:nvPicPr>
        <p:blipFill>
          <a:blip r:embed="rId1"/>
          <a:srcRect l="9233" t="20914" r="15483" b="48077"/>
          <a:stretch>
            <a:fillRect/>
          </a:stretch>
        </p:blipFill>
        <p:spPr>
          <a:xfrm>
            <a:off x="428625" y="3929063"/>
            <a:ext cx="6143625" cy="24923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1"/>
          <p:cNvSpPr>
            <a:spLocks noGrp="1"/>
          </p:cNvSpPr>
          <p:nvPr>
            <p:ph idx="1"/>
          </p:nvPr>
        </p:nvSpPr>
        <p:spPr/>
        <p:txBody>
          <a:bodyPr vert="horz" wrap="square" lIns="91440" tIns="45720" rIns="91440" bIns="45720" anchor="t" anchorCtr="0"/>
          <a:p>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4340" name="Picture 2"/>
          <p:cNvPicPr>
            <a:picLocks noChangeAspect="1"/>
          </p:cNvPicPr>
          <p:nvPr/>
        </p:nvPicPr>
        <p:blipFill>
          <a:blip r:embed="rId1"/>
          <a:srcRect l="9943" t="20192" r="16193" b="41586"/>
          <a:stretch>
            <a:fillRect/>
          </a:stretch>
        </p:blipFill>
        <p:spPr>
          <a:xfrm>
            <a:off x="500063" y="214313"/>
            <a:ext cx="8131175" cy="4143375"/>
          </a:xfrm>
          <a:prstGeom prst="rect">
            <a:avLst/>
          </a:prstGeom>
          <a:noFill/>
          <a:ln w="9525">
            <a:noFill/>
          </a:ln>
        </p:spPr>
      </p:pic>
      <p:pic>
        <p:nvPicPr>
          <p:cNvPr id="14341" name="Picture 3"/>
          <p:cNvPicPr>
            <a:picLocks noChangeAspect="1"/>
          </p:cNvPicPr>
          <p:nvPr/>
        </p:nvPicPr>
        <p:blipFill>
          <a:blip r:embed="rId2"/>
          <a:srcRect l="20882" t="32692" r="29404" b="25917"/>
          <a:stretch>
            <a:fillRect/>
          </a:stretch>
        </p:blipFill>
        <p:spPr>
          <a:xfrm>
            <a:off x="3071813" y="3929063"/>
            <a:ext cx="3571875" cy="2928937"/>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内容占位符 1"/>
          <p:cNvSpPr>
            <a:spLocks noGrp="1"/>
          </p:cNvSpPr>
          <p:nvPr>
            <p:ph idx="1"/>
          </p:nvPr>
        </p:nvSpPr>
        <p:spPr/>
        <p:txBody>
          <a:bodyPr vert="horz" wrap="square" lIns="91440" tIns="45720" rIns="91440" bIns="45720" anchor="t" anchorCtr="0"/>
          <a:p>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5364" name="Picture 3"/>
          <p:cNvPicPr>
            <a:picLocks noChangeAspect="1"/>
          </p:cNvPicPr>
          <p:nvPr/>
        </p:nvPicPr>
        <p:blipFill>
          <a:blip r:embed="rId1"/>
          <a:srcRect l="20882" t="32692" r="29404" b="15385"/>
          <a:stretch>
            <a:fillRect/>
          </a:stretch>
        </p:blipFill>
        <p:spPr>
          <a:xfrm>
            <a:off x="2571750" y="0"/>
            <a:ext cx="3930650" cy="4043363"/>
          </a:xfrm>
          <a:prstGeom prst="rect">
            <a:avLst/>
          </a:prstGeom>
          <a:noFill/>
          <a:ln w="9525">
            <a:noFill/>
          </a:ln>
        </p:spPr>
      </p:pic>
      <p:pic>
        <p:nvPicPr>
          <p:cNvPr id="15365" name="Picture 2"/>
          <p:cNvPicPr>
            <a:picLocks noChangeAspect="1"/>
          </p:cNvPicPr>
          <p:nvPr/>
        </p:nvPicPr>
        <p:blipFill>
          <a:blip r:embed="rId2"/>
          <a:srcRect l="4971" t="49760" r="16193" b="24278"/>
          <a:stretch>
            <a:fillRect/>
          </a:stretch>
        </p:blipFill>
        <p:spPr>
          <a:xfrm>
            <a:off x="642938" y="4071938"/>
            <a:ext cx="7929562" cy="257175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内容占位符 1"/>
          <p:cNvSpPr>
            <a:spLocks noGrp="1"/>
          </p:cNvSpPr>
          <p:nvPr>
            <p:ph idx="1"/>
          </p:nvPr>
        </p:nvSpPr>
        <p:spPr/>
        <p:txBody>
          <a:bodyPr vert="horz" wrap="square" lIns="91440" tIns="45720" rIns="91440" bIns="45720" anchor="t" anchorCtr="0"/>
          <a:p>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6388" name="Picture 3"/>
          <p:cNvPicPr>
            <a:picLocks noChangeAspect="1"/>
          </p:cNvPicPr>
          <p:nvPr/>
        </p:nvPicPr>
        <p:blipFill>
          <a:blip r:embed="rId1"/>
          <a:srcRect l="8522" t="29567" r="15483" b="35817"/>
          <a:stretch>
            <a:fillRect/>
          </a:stretch>
        </p:blipFill>
        <p:spPr>
          <a:xfrm>
            <a:off x="428625" y="1214438"/>
            <a:ext cx="8280400" cy="37147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内容占位符 1"/>
          <p:cNvSpPr>
            <a:spLocks noGrp="1"/>
          </p:cNvSpPr>
          <p:nvPr>
            <p:ph idx="1"/>
          </p:nvPr>
        </p:nvSpPr>
        <p:spPr/>
        <p:txBody>
          <a:bodyPr vert="horz" wrap="square" lIns="91440" tIns="45720" rIns="91440" bIns="45720" anchor="t" anchorCtr="0"/>
          <a:p>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7412" name="Picture 2" descr="在这里插入图片描述"/>
          <p:cNvPicPr>
            <a:picLocks noChangeAspect="1"/>
          </p:cNvPicPr>
          <p:nvPr/>
        </p:nvPicPr>
        <p:blipFill>
          <a:blip r:embed="rId1"/>
          <a:stretch>
            <a:fillRect/>
          </a:stretch>
        </p:blipFill>
        <p:spPr>
          <a:xfrm>
            <a:off x="1258888" y="71438"/>
            <a:ext cx="6810375" cy="6742112"/>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p:nvPr/>
        </p:nvSpPr>
        <p:spPr>
          <a:xfrm>
            <a:off x="457200" y="71438"/>
            <a:ext cx="8229600" cy="6073775"/>
          </a:xfrm>
          <a:prstGeom prst="rect">
            <a:avLst/>
          </a:prstGeom>
          <a:noFill/>
          <a:ln w="9525">
            <a:noFill/>
          </a:ln>
        </p:spPr>
        <p:txBody>
          <a:bodyPr>
            <a:spAutoFit/>
          </a:bodyPr>
          <a:p>
            <a:pPr>
              <a:spcBef>
                <a:spcPct val="50000"/>
              </a:spcBef>
            </a:pPr>
            <a:r>
              <a:rPr lang="zh-CN" altLang="en-US" sz="2400" dirty="0">
                <a:latin typeface="Times New Roman" panose="02020603050405020304" pitchFamily="18" charset="0"/>
              </a:rPr>
              <a:t>例如，考察下面函数，该函数计算</a:t>
            </a:r>
            <a:r>
              <a:rPr lang="en-US" altLang="zh-CN" sz="2400" dirty="0">
                <a:latin typeface="Times New Roman" panose="02020603050405020304" pitchFamily="18" charset="0"/>
              </a:rPr>
              <a:t>X</a:t>
            </a:r>
            <a:r>
              <a:rPr lang="zh-CN" altLang="en-US" sz="2400" dirty="0">
                <a:latin typeface="Times New Roman" panose="02020603050405020304" pitchFamily="18" charset="0"/>
              </a:rPr>
              <a:t>的阶乘：</a:t>
            </a:r>
            <a:endParaRPr lang="zh-CN" altLang="en-US" sz="2400" dirty="0">
              <a:latin typeface="Times New Roman" panose="02020603050405020304" pitchFamily="18" charset="0"/>
            </a:endParaRPr>
          </a:p>
          <a:p>
            <a:pPr lvl="1" eaLnBrk="1" hangingPunct="1">
              <a:spcBef>
                <a:spcPct val="50000"/>
              </a:spcBef>
            </a:pPr>
            <a:r>
              <a:rPr lang="en-US" altLang="zh-CN" sz="2400" dirty="0">
                <a:latin typeface="Times New Roman" panose="02020603050405020304" pitchFamily="18" charset="0"/>
              </a:rPr>
              <a:t>int  f(int x)</a:t>
            </a:r>
            <a:endParaRPr lang="en-US" altLang="zh-CN" sz="2400" dirty="0">
              <a:latin typeface="Times New Roman" panose="02020603050405020304" pitchFamily="18" charset="0"/>
            </a:endParaRPr>
          </a:p>
          <a:p>
            <a:pPr lvl="1" eaLnBrk="1" hangingPunct="1"/>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r>
              <a:rPr lang="en-US" altLang="zh-CN" sz="2400" dirty="0">
                <a:latin typeface="Times New Roman" panose="02020603050405020304" pitchFamily="18" charset="0"/>
              </a:rPr>
              <a:t>     if (x == 0) f = 1; </a:t>
            </a:r>
            <a:endParaRPr lang="en-US" altLang="zh-CN" sz="2400" dirty="0">
              <a:latin typeface="Times New Roman" panose="02020603050405020304" pitchFamily="18" charset="0"/>
            </a:endParaRPr>
          </a:p>
          <a:p>
            <a:pPr lvl="1" eaLnBrk="1" hangingPunct="1"/>
            <a:r>
              <a:rPr lang="en-US" altLang="zh-CN" sz="2400" dirty="0">
                <a:latin typeface="Times New Roman" panose="02020603050405020304" pitchFamily="18" charset="0"/>
              </a:rPr>
              <a:t>	else  f = f(x-1) * x; </a:t>
            </a:r>
            <a:endParaRPr lang="en-US" altLang="zh-CN" sz="2400" dirty="0">
              <a:latin typeface="Times New Roman" panose="02020603050405020304" pitchFamily="18" charset="0"/>
            </a:endParaRPr>
          </a:p>
          <a:p>
            <a:pPr lvl="1" eaLnBrk="1" hangingPunct="1"/>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r>
              <a:rPr lang="zh-CN" altLang="en-US" sz="2400" dirty="0">
                <a:latin typeface="Times New Roman" panose="02020603050405020304" pitchFamily="18" charset="0"/>
              </a:rPr>
              <a:t>假设要计算</a:t>
            </a:r>
            <a:r>
              <a:rPr lang="en-US" altLang="zh-CN" sz="2400" dirty="0">
                <a:latin typeface="Times New Roman" panose="02020603050405020304" pitchFamily="18" charset="0"/>
              </a:rPr>
              <a:t>f(2)</a:t>
            </a:r>
            <a:r>
              <a:rPr lang="zh-CN" altLang="en-US" sz="2400" dirty="0">
                <a:latin typeface="Times New Roman" panose="02020603050405020304" pitchFamily="18" charset="0"/>
              </a:rPr>
              <a:t>，计算过程表示如下：</a:t>
            </a:r>
            <a:endParaRPr lang="zh-CN" altLang="en-US" sz="2400" dirty="0">
              <a:latin typeface="Times New Roman" panose="02020603050405020304" pitchFamily="18" charset="0"/>
            </a:endParaRPr>
          </a:p>
          <a:p>
            <a:pPr lvl="2" eaLnBrk="1" hangingPunct="1"/>
            <a:r>
              <a:rPr lang="en-US" altLang="zh-CN" sz="2400" dirty="0">
                <a:latin typeface="Times New Roman" panose="02020603050405020304" pitchFamily="18" charset="0"/>
              </a:rPr>
              <a:t>f(2) </a:t>
            </a:r>
            <a:r>
              <a:rPr lang="en-US" altLang="zh-CN" sz="2400" dirty="0">
                <a:latin typeface="Times New Roman" panose="02020603050405020304" pitchFamily="18" charset="0"/>
                <a:sym typeface="Symbol" panose="05050102010706020507" pitchFamily="18" charset="2"/>
              </a:rPr>
              <a:t> f(x</a:t>
            </a:r>
            <a:r>
              <a:rPr lang="en-US" altLang="zh-CN" sz="2400" baseline="30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sym typeface="Symbol" panose="05050102010706020507" pitchFamily="18" charset="2"/>
              </a:rPr>
              <a:t> - 1) * x</a:t>
            </a:r>
            <a:r>
              <a:rPr lang="en-US" altLang="zh-CN" sz="2400" baseline="30000" dirty="0">
                <a:latin typeface="Times New Roman" panose="02020603050405020304" pitchFamily="18" charset="0"/>
                <a:sym typeface="Symbol" panose="05050102010706020507" pitchFamily="18" charset="2"/>
              </a:rPr>
              <a:t>(1)</a:t>
            </a:r>
            <a:endParaRPr lang="en-US" altLang="zh-CN" sz="2400" baseline="30000" dirty="0">
              <a:latin typeface="Times New Roman" panose="02020603050405020304" pitchFamily="18" charset="0"/>
              <a:sym typeface="Symbol" panose="05050102010706020507" pitchFamily="18" charset="2"/>
            </a:endParaRPr>
          </a:p>
          <a:p>
            <a:pPr lvl="2" eaLnBrk="1" hangingPunct="1"/>
            <a:r>
              <a:rPr lang="en-US" altLang="zh-CN" sz="2400" dirty="0">
                <a:latin typeface="Times New Roman" panose="02020603050405020304" pitchFamily="18" charset="0"/>
                <a:sym typeface="Symbol" panose="05050102010706020507" pitchFamily="18" charset="2"/>
              </a:rPr>
              <a:t>        f(x</a:t>
            </a:r>
            <a:r>
              <a:rPr lang="en-US" altLang="zh-CN" sz="2400" baseline="30000" dirty="0">
                <a:latin typeface="Times New Roman" panose="02020603050405020304" pitchFamily="18" charset="0"/>
                <a:sym typeface="Symbol" panose="05050102010706020507" pitchFamily="18" charset="2"/>
              </a:rPr>
              <a:t>(2)</a:t>
            </a:r>
            <a:r>
              <a:rPr lang="en-US" altLang="zh-CN" sz="2400" dirty="0">
                <a:latin typeface="Times New Roman" panose="02020603050405020304" pitchFamily="18" charset="0"/>
                <a:sym typeface="Symbol" panose="05050102010706020507" pitchFamily="18" charset="2"/>
              </a:rPr>
              <a:t> - 1) * x</a:t>
            </a:r>
            <a:r>
              <a:rPr lang="en-US" altLang="zh-CN" sz="2400" baseline="30000" dirty="0">
                <a:latin typeface="Times New Roman" panose="02020603050405020304" pitchFamily="18" charset="0"/>
                <a:sym typeface="Symbol" panose="05050102010706020507" pitchFamily="18" charset="2"/>
              </a:rPr>
              <a:t>(2) </a:t>
            </a:r>
            <a:r>
              <a:rPr lang="en-US" altLang="zh-CN" sz="2400" dirty="0">
                <a:latin typeface="Times New Roman" panose="02020603050405020304" pitchFamily="18" charset="0"/>
                <a:sym typeface="Symbol" panose="05050102010706020507" pitchFamily="18" charset="2"/>
              </a:rPr>
              <a:t> * x</a:t>
            </a:r>
            <a:r>
              <a:rPr lang="en-US" altLang="zh-CN" sz="2400" baseline="30000" dirty="0">
                <a:latin typeface="Times New Roman" panose="02020603050405020304" pitchFamily="18" charset="0"/>
                <a:sym typeface="Symbol" panose="05050102010706020507" pitchFamily="18" charset="2"/>
              </a:rPr>
              <a:t>(1)</a:t>
            </a:r>
            <a:endParaRPr lang="en-US" altLang="zh-CN" sz="2400" baseline="30000" dirty="0">
              <a:latin typeface="Times New Roman" panose="02020603050405020304" pitchFamily="18" charset="0"/>
              <a:sym typeface="Symbol" panose="05050102010706020507" pitchFamily="18" charset="2"/>
            </a:endParaRPr>
          </a:p>
          <a:p>
            <a:pPr lvl="2" eaLnBrk="1" hangingPunct="1"/>
            <a:r>
              <a:rPr lang="en-US" altLang="zh-CN" sz="2400" dirty="0">
                <a:latin typeface="Times New Roman" panose="02020603050405020304" pitchFamily="18" charset="0"/>
                <a:sym typeface="Symbol" panose="05050102010706020507" pitchFamily="18" charset="2"/>
              </a:rPr>
              <a:t>        f(0) * x</a:t>
            </a:r>
            <a:r>
              <a:rPr lang="en-US" altLang="zh-CN" sz="2400" baseline="30000" dirty="0">
                <a:latin typeface="Times New Roman" panose="02020603050405020304" pitchFamily="18" charset="0"/>
                <a:sym typeface="Symbol" panose="05050102010706020507" pitchFamily="18" charset="2"/>
              </a:rPr>
              <a:t>(2)</a:t>
            </a:r>
            <a:r>
              <a:rPr lang="en-US" altLang="zh-CN" sz="2400" dirty="0">
                <a:latin typeface="Times New Roman" panose="02020603050405020304" pitchFamily="18" charset="0"/>
                <a:sym typeface="Symbol" panose="05050102010706020507" pitchFamily="18" charset="2"/>
              </a:rPr>
              <a:t> * x</a:t>
            </a:r>
            <a:r>
              <a:rPr lang="en-US" altLang="zh-CN" sz="2400" baseline="30000" dirty="0">
                <a:latin typeface="Times New Roman" panose="02020603050405020304" pitchFamily="18" charset="0"/>
                <a:sym typeface="Symbol" panose="05050102010706020507" pitchFamily="18" charset="2"/>
              </a:rPr>
              <a:t>(1)</a:t>
            </a:r>
            <a:endParaRPr lang="en-US" altLang="zh-CN" sz="2400" baseline="30000" dirty="0">
              <a:latin typeface="Times New Roman" panose="02020603050405020304" pitchFamily="18" charset="0"/>
              <a:sym typeface="Symbol" panose="05050102010706020507" pitchFamily="18" charset="2"/>
            </a:endParaRPr>
          </a:p>
          <a:p>
            <a:pPr lvl="2" eaLnBrk="1" hangingPunct="1"/>
            <a:r>
              <a:rPr lang="en-US" altLang="zh-CN" sz="2400" dirty="0">
                <a:latin typeface="Times New Roman" panose="02020603050405020304" pitchFamily="18" charset="0"/>
                <a:sym typeface="Symbol" panose="05050102010706020507" pitchFamily="18" charset="2"/>
              </a:rPr>
              <a:t>        2                      </a:t>
            </a:r>
            <a:r>
              <a:rPr lang="zh-CN" altLang="en-US" sz="2400" dirty="0">
                <a:latin typeface="Times New Roman" panose="02020603050405020304" pitchFamily="18" charset="0"/>
                <a:sym typeface="Symbol" panose="05050102010706020507" pitchFamily="18" charset="2"/>
              </a:rPr>
              <a:t>其中</a:t>
            </a:r>
            <a:r>
              <a:rPr lang="en-US" altLang="zh-CN" sz="2400" dirty="0">
                <a:latin typeface="Times New Roman" panose="02020603050405020304" pitchFamily="18" charset="0"/>
                <a:sym typeface="Symbol" panose="05050102010706020507" pitchFamily="18" charset="2"/>
              </a:rPr>
              <a:t>x</a:t>
            </a:r>
            <a:r>
              <a:rPr lang="en-US" altLang="zh-CN" sz="2400" baseline="30000" dirty="0">
                <a:latin typeface="Times New Roman" panose="02020603050405020304" pitchFamily="18" charset="0"/>
                <a:sym typeface="Symbol" panose="05050102010706020507" pitchFamily="18" charset="2"/>
              </a:rPr>
              <a:t>(i)</a:t>
            </a:r>
            <a:r>
              <a:rPr lang="zh-CN" altLang="en-US" sz="2400" dirty="0">
                <a:latin typeface="Times New Roman" panose="02020603050405020304" pitchFamily="18" charset="0"/>
                <a:sym typeface="Symbol" panose="05050102010706020507" pitchFamily="18" charset="2"/>
              </a:rPr>
              <a:t>表示第 </a:t>
            </a:r>
            <a:r>
              <a:rPr lang="en-US" altLang="zh-CN" sz="2400" dirty="0">
                <a:latin typeface="Times New Roman" panose="02020603050405020304" pitchFamily="18" charset="0"/>
                <a:sym typeface="Symbol" panose="05050102010706020507" pitchFamily="18" charset="2"/>
              </a:rPr>
              <a:t>i </a:t>
            </a:r>
            <a:r>
              <a:rPr lang="zh-CN" altLang="en-US" sz="2400" dirty="0">
                <a:latin typeface="Times New Roman" panose="02020603050405020304" pitchFamily="18" charset="0"/>
                <a:sym typeface="Symbol" panose="05050102010706020507" pitchFamily="18" charset="2"/>
              </a:rPr>
              <a:t>次调用</a:t>
            </a:r>
            <a:r>
              <a:rPr lang="en-US" altLang="zh-CN" sz="2400" dirty="0">
                <a:latin typeface="Times New Roman" panose="02020603050405020304" pitchFamily="18" charset="0"/>
                <a:sym typeface="Symbol" panose="05050102010706020507" pitchFamily="18" charset="2"/>
              </a:rPr>
              <a:t>f</a:t>
            </a:r>
            <a:r>
              <a:rPr lang="zh-CN" altLang="en-US" sz="2400" dirty="0">
                <a:latin typeface="Times New Roman" panose="02020603050405020304" pitchFamily="18" charset="0"/>
                <a:sym typeface="Symbol" panose="05050102010706020507" pitchFamily="18" charset="2"/>
              </a:rPr>
              <a:t>时的</a:t>
            </a:r>
            <a:r>
              <a:rPr lang="en-US" altLang="zh-CN" sz="2400" dirty="0">
                <a:latin typeface="Times New Roman" panose="02020603050405020304" pitchFamily="18" charset="0"/>
                <a:sym typeface="Symbol" panose="05050102010706020507" pitchFamily="18" charset="2"/>
              </a:rPr>
              <a:t>x</a:t>
            </a:r>
            <a:r>
              <a:rPr lang="zh-CN" altLang="en-US" sz="2400" dirty="0">
                <a:latin typeface="Times New Roman" panose="02020603050405020304" pitchFamily="18" charset="0"/>
                <a:sym typeface="Symbol" panose="05050102010706020507" pitchFamily="18" charset="2"/>
              </a:rPr>
              <a:t>值。</a:t>
            </a:r>
            <a:endParaRPr lang="en-US" altLang="zh-CN" sz="2400" dirty="0">
              <a:latin typeface="Times New Roman" panose="02020603050405020304" pitchFamily="18" charset="0"/>
              <a:sym typeface="Symbol" panose="05050102010706020507" pitchFamily="18" charset="2"/>
            </a:endParaRPr>
          </a:p>
          <a:p>
            <a:pPr>
              <a:spcBef>
                <a:spcPts val="600"/>
              </a:spcBef>
            </a:pPr>
            <a:endParaRPr lang="en-US" altLang="zh-CN" sz="2400" dirty="0">
              <a:latin typeface="Times New Roman" panose="02020603050405020304" pitchFamily="18" charset="0"/>
              <a:sym typeface="Symbol" panose="05050102010706020507" pitchFamily="18" charset="2"/>
            </a:endParaRPr>
          </a:p>
          <a:p>
            <a:pPr>
              <a:lnSpc>
                <a:spcPct val="120000"/>
              </a:lnSpc>
            </a:pPr>
            <a:r>
              <a:rPr lang="zh-CN" altLang="en-US" sz="2400" dirty="0">
                <a:solidFill>
                  <a:srgbClr val="FF0000"/>
                </a:solidFill>
                <a:latin typeface="Times New Roman" panose="02020603050405020304" pitchFamily="18" charset="0"/>
                <a:sym typeface="Symbol" panose="05050102010706020507" pitchFamily="18" charset="2"/>
              </a:rPr>
              <a:t>栈式分配法</a:t>
            </a:r>
            <a:r>
              <a:rPr lang="zh-CN" altLang="en-US" sz="2400" dirty="0">
                <a:latin typeface="Times New Roman" panose="02020603050405020304" pitchFamily="18" charset="0"/>
                <a:sym typeface="Symbol" panose="05050102010706020507" pitchFamily="18" charset="2"/>
              </a:rPr>
              <a:t>：每调用一次过程就给过程中被声明的所有变量（包括编译器自身产生的临时变量）分配一次新单元，并在返回时释放最后一次为过程分配的单元。</a:t>
            </a:r>
            <a:endParaRPr lang="zh-CN" altLang="en-US" sz="2400" dirty="0">
              <a:latin typeface="Times New Roman" panose="02020603050405020304" pitchFamily="18" charset="0"/>
              <a:sym typeface="Symbol" panose="05050102010706020507" pitchFamily="18" charset="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2"/>
          <p:cNvSpPr txBox="1"/>
          <p:nvPr/>
        </p:nvSpPr>
        <p:spPr>
          <a:xfrm>
            <a:off x="214313" y="500063"/>
            <a:ext cx="8643937" cy="5395912"/>
          </a:xfrm>
          <a:prstGeom prst="rect">
            <a:avLst/>
          </a:prstGeom>
          <a:noFill/>
          <a:ln w="9525">
            <a:noFill/>
          </a:ln>
        </p:spPr>
        <p:txBody>
          <a:bodyPr>
            <a:spAutoFit/>
          </a:bodyPr>
          <a:p>
            <a:pPr>
              <a:lnSpc>
                <a:spcPct val="130000"/>
              </a:lnSpc>
              <a:spcBef>
                <a:spcPct val="50000"/>
              </a:spcBef>
            </a:pPr>
            <a:r>
              <a:rPr lang="zh-CN" altLang="en-US" sz="2400" dirty="0">
                <a:latin typeface="Times New Roman" panose="02020603050405020304" pitchFamily="18" charset="0"/>
              </a:rPr>
              <a:t>如何确定每次要分配的过程</a:t>
            </a:r>
            <a:r>
              <a:rPr lang="zh-CN" altLang="en-US" sz="2400" dirty="0">
                <a:solidFill>
                  <a:srgbClr val="FF0000"/>
                </a:solidFill>
                <a:latin typeface="Times New Roman" panose="02020603050405020304" pitchFamily="18" charset="0"/>
              </a:rPr>
              <a:t>存储块的开始地址</a:t>
            </a:r>
            <a:r>
              <a:rPr lang="zh-CN" altLang="en-US" sz="2400" dirty="0">
                <a:latin typeface="Times New Roman" panose="02020603050405020304" pitchFamily="18" charset="0"/>
              </a:rPr>
              <a:t>？要求每个过程的空间块长度可静态计算。</a:t>
            </a:r>
            <a:endParaRPr lang="en-US" altLang="zh-CN" sz="2400" dirty="0">
              <a:latin typeface="Times New Roman" panose="02020603050405020304" pitchFamily="18" charset="0"/>
            </a:endParaRPr>
          </a:p>
          <a:p>
            <a:pPr>
              <a:lnSpc>
                <a:spcPct val="130000"/>
              </a:lnSpc>
              <a:spcBef>
                <a:spcPct val="50000"/>
              </a:spcBef>
            </a:pPr>
            <a:r>
              <a:rPr lang="zh-CN" altLang="en-US" sz="2400" dirty="0">
                <a:latin typeface="Times New Roman" panose="02020603050405020304" pitchFamily="18" charset="0"/>
              </a:rPr>
              <a:t>这涉及到两个复杂问题：</a:t>
            </a:r>
            <a:endParaRPr lang="zh-CN" altLang="en-US" sz="2400" dirty="0">
              <a:latin typeface="Times New Roman" panose="02020603050405020304" pitchFamily="18" charset="0"/>
            </a:endParaRPr>
          </a:p>
          <a:p>
            <a:pPr>
              <a:lnSpc>
                <a:spcPct val="130000"/>
              </a:lnSpc>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）过程内可能有可变长类型 （</a:t>
            </a:r>
            <a:r>
              <a:rPr lang="en-US" altLang="zh-CN" sz="2400" dirty="0">
                <a:latin typeface="Times New Roman" panose="02020603050405020304" pitchFamily="18" charset="0"/>
              </a:rPr>
              <a:t>C++, Java 5</a:t>
            </a:r>
            <a:r>
              <a:rPr lang="zh-CN" altLang="en-US" sz="2400" dirty="0">
                <a:latin typeface="Times New Roman" panose="02020603050405020304" pitchFamily="18" charset="0"/>
              </a:rPr>
              <a:t>）</a:t>
            </a:r>
            <a:r>
              <a:rPr lang="en-US" altLang="zh-CN" sz="2400" dirty="0">
                <a:latin typeface="Times New Roman" panose="02020603050405020304" pitchFamily="18" charset="0"/>
              </a:rPr>
              <a:t>, VB </a:t>
            </a:r>
            <a:r>
              <a:rPr lang="zh-CN" altLang="en-US" sz="2400" dirty="0">
                <a:latin typeface="Times New Roman" panose="02020603050405020304" pitchFamily="18" charset="0"/>
              </a:rPr>
              <a:t>变体</a:t>
            </a:r>
            <a:endParaRPr lang="zh-CN" altLang="en-US" sz="2400" dirty="0">
              <a:latin typeface="Times New Roman" panose="02020603050405020304" pitchFamily="18" charset="0"/>
            </a:endParaRPr>
          </a:p>
          <a:p>
            <a:pPr>
              <a:lnSpc>
                <a:spcPct val="130000"/>
              </a:lnSpc>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）临时变量多且需确定类型，空间不太好计算；</a:t>
            </a:r>
            <a:endParaRPr lang="zh-CN" altLang="en-US" sz="2400" dirty="0">
              <a:latin typeface="Times New Roman" panose="02020603050405020304" pitchFamily="18" charset="0"/>
            </a:endParaRPr>
          </a:p>
          <a:p>
            <a:pPr>
              <a:lnSpc>
                <a:spcPct val="130000"/>
              </a:lnSpc>
              <a:spcBef>
                <a:spcPct val="50000"/>
              </a:spcBef>
            </a:pPr>
            <a:r>
              <a:rPr lang="zh-CN" altLang="en-US" sz="2400" dirty="0">
                <a:latin typeface="Times New Roman" panose="02020603050405020304" pitchFamily="18" charset="0"/>
              </a:rPr>
              <a:t>那么栈区的主要分配对象是：</a:t>
            </a:r>
            <a:r>
              <a:rPr lang="zh-CN" altLang="en-US" sz="2400" dirty="0">
                <a:solidFill>
                  <a:srgbClr val="FF0000"/>
                </a:solidFill>
                <a:latin typeface="Times New Roman" panose="02020603050405020304" pitchFamily="18" charset="0"/>
              </a:rPr>
              <a:t>过程中被声明的形参和局部变量，以及编译器自己产生的临时变量</a:t>
            </a:r>
            <a:r>
              <a:rPr lang="zh-CN" altLang="en-US" sz="2400" dirty="0">
                <a:latin typeface="Times New Roman" panose="02020603050405020304" pitchFamily="18" charset="0"/>
              </a:rPr>
              <a:t>。这样上例中为计算</a:t>
            </a:r>
            <a:r>
              <a:rPr lang="en-US" altLang="zh-CN" sz="2400" dirty="0">
                <a:latin typeface="Times New Roman" panose="02020603050405020304" pitchFamily="18" charset="0"/>
              </a:rPr>
              <a:t>f(2)</a:t>
            </a:r>
            <a:r>
              <a:rPr lang="zh-CN" altLang="en-US" sz="2400" dirty="0">
                <a:latin typeface="Times New Roman" panose="02020603050405020304" pitchFamily="18" charset="0"/>
              </a:rPr>
              <a:t>将为</a:t>
            </a:r>
            <a:r>
              <a:rPr lang="en-US" altLang="zh-CN" sz="2400" dirty="0">
                <a:latin typeface="Times New Roman" panose="02020603050405020304" pitchFamily="18" charset="0"/>
              </a:rPr>
              <a:t>f( )</a:t>
            </a:r>
            <a:r>
              <a:rPr lang="zh-CN" altLang="en-US" sz="2400" dirty="0">
                <a:latin typeface="Times New Roman" panose="02020603050405020304" pitchFamily="18" charset="0"/>
              </a:rPr>
              <a:t>分配三次空间。</a:t>
            </a:r>
            <a:endParaRPr lang="en-US" altLang="zh-CN" sz="2400" dirty="0">
              <a:latin typeface="Times New Roman" panose="02020603050405020304" pitchFamily="18" charset="0"/>
            </a:endParaRPr>
          </a:p>
          <a:p>
            <a:pPr>
              <a:lnSpc>
                <a:spcPct val="130000"/>
              </a:lnSpc>
              <a:spcBef>
                <a:spcPct val="50000"/>
              </a:spcBef>
            </a:pPr>
            <a:r>
              <a:rPr lang="zh-CN" altLang="en-US" sz="2400" dirty="0">
                <a:latin typeface="Times New Roman" panose="02020603050405020304" pitchFamily="18" charset="0"/>
              </a:rPr>
              <a:t>栈式分配法不仅解决了</a:t>
            </a:r>
            <a:r>
              <a:rPr lang="zh-CN" altLang="en-US" sz="2400" dirty="0">
                <a:solidFill>
                  <a:srgbClr val="FF0000"/>
                </a:solidFill>
                <a:latin typeface="Times New Roman" panose="02020603050405020304" pitchFamily="18" charset="0"/>
              </a:rPr>
              <a:t>递归调用</a:t>
            </a:r>
            <a:r>
              <a:rPr lang="zh-CN" altLang="en-US" sz="2400" dirty="0">
                <a:latin typeface="Times New Roman" panose="02020603050405020304" pitchFamily="18" charset="0"/>
              </a:rPr>
              <a:t>问题，实际上又很好地解决了</a:t>
            </a:r>
            <a:r>
              <a:rPr lang="zh-CN" altLang="en-US" sz="2400" dirty="0">
                <a:solidFill>
                  <a:srgbClr val="FF0000"/>
                </a:solidFill>
                <a:latin typeface="Times New Roman" panose="02020603050405020304" pitchFamily="18" charset="0"/>
              </a:rPr>
              <a:t>空间的共享</a:t>
            </a:r>
            <a:r>
              <a:rPr lang="zh-CN" altLang="en-US" sz="2400" dirty="0">
                <a:latin typeface="Times New Roman" panose="02020603050405020304" pitchFamily="18" charset="0"/>
              </a:rPr>
              <a:t>问题。</a:t>
            </a:r>
            <a:endParaRPr lang="zh-CN" altLang="en-US" sz="2400" dirty="0">
              <a:latin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2"/>
          <p:cNvSpPr txBox="1"/>
          <p:nvPr/>
        </p:nvSpPr>
        <p:spPr>
          <a:xfrm>
            <a:off x="457200" y="4143375"/>
            <a:ext cx="8382000" cy="2008188"/>
          </a:xfrm>
          <a:prstGeom prst="rect">
            <a:avLst/>
          </a:prstGeom>
          <a:noFill/>
          <a:ln w="9525">
            <a:noFill/>
          </a:ln>
        </p:spPr>
        <p:txBody>
          <a:bodyPr>
            <a:spAutoFit/>
          </a:bodyPr>
          <a:p>
            <a:pPr>
              <a:lnSpc>
                <a:spcPct val="120000"/>
              </a:lnSpc>
              <a:spcBef>
                <a:spcPct val="50000"/>
              </a:spcBef>
            </a:pPr>
            <a:r>
              <a:rPr lang="zh-CN" altLang="en-US" sz="2400" dirty="0">
                <a:solidFill>
                  <a:srgbClr val="FF0000"/>
                </a:solidFill>
                <a:latin typeface="Times New Roman" panose="02020603050405020304" pitchFamily="18" charset="0"/>
              </a:rPr>
              <a:t>下列情形不能进行栈式分配：</a:t>
            </a:r>
            <a:endParaRPr lang="zh-CN" altLang="en-US" sz="2400" dirty="0">
              <a:solidFill>
                <a:srgbClr val="FF0000"/>
              </a:solidFill>
              <a:latin typeface="Times New Roman" panose="02020603050405020304" pitchFamily="18" charset="0"/>
            </a:endParaRPr>
          </a:p>
          <a:p>
            <a:pPr lvl="1" eaLnBrk="1" hangingPunct="1">
              <a:lnSpc>
                <a:spcPct val="120000"/>
              </a:lnSpc>
              <a:spcBef>
                <a:spcPct val="50000"/>
              </a:spcBef>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）在过程寿命结束时变量的寿命还未结束</a:t>
            </a:r>
            <a:r>
              <a:rPr lang="en-US" altLang="zh-CN" sz="2400" dirty="0">
                <a:latin typeface="Times New Roman" panose="02020603050405020304" pitchFamily="18" charset="0"/>
              </a:rPr>
              <a:t>(</a:t>
            </a:r>
            <a:r>
              <a:rPr lang="zh-CN" altLang="en-US" sz="2400" dirty="0">
                <a:solidFill>
                  <a:srgbClr val="FF0000"/>
                </a:solidFill>
                <a:latin typeface="Times New Roman" panose="02020603050405020304" pitchFamily="18" charset="0"/>
              </a:rPr>
              <a:t>全局变量</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zh-CN" altLang="en-US" sz="2400" dirty="0">
                <a:solidFill>
                  <a:srgbClr val="FF0000"/>
                </a:solidFill>
                <a:latin typeface="Times New Roman" panose="02020603050405020304" pitchFamily="18" charset="0"/>
              </a:rPr>
              <a:t>动态申请空间的变量</a:t>
            </a:r>
            <a:r>
              <a:rPr lang="zh-CN" altLang="en-US" sz="2400" dirty="0">
                <a:latin typeface="Times New Roman" panose="02020603050405020304" pitchFamily="18" charset="0"/>
              </a:rPr>
              <a:t>（</a:t>
            </a:r>
            <a:r>
              <a:rPr lang="en-US" altLang="zh-CN" sz="2400" dirty="0">
                <a:latin typeface="Times New Roman" panose="02020603050405020304" pitchFamily="18" charset="0"/>
              </a:rPr>
              <a:t>new(P)</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）某些语言</a:t>
            </a:r>
            <a:r>
              <a:rPr lang="en-US" altLang="zh-CN" sz="2400" dirty="0">
                <a:latin typeface="Times New Roman" panose="02020603050405020304" pitchFamily="18" charset="0"/>
              </a:rPr>
              <a:t>(</a:t>
            </a:r>
            <a:r>
              <a:rPr lang="en-US" altLang="zh-CN" dirty="0">
                <a:latin typeface="Times New Roman" panose="02020603050405020304" pitchFamily="18" charset="0"/>
              </a:rPr>
              <a:t>Fortran)</a:t>
            </a:r>
            <a:r>
              <a:rPr lang="zh-CN" altLang="en-US" sz="2400" dirty="0">
                <a:latin typeface="Times New Roman" panose="02020603050405020304" pitchFamily="18" charset="0"/>
              </a:rPr>
              <a:t>中可由两个子程序</a:t>
            </a:r>
            <a:r>
              <a:rPr lang="zh-CN" altLang="en-US" sz="2400" dirty="0">
                <a:solidFill>
                  <a:srgbClr val="FF0000"/>
                </a:solidFill>
                <a:latin typeface="Times New Roman" panose="02020603050405020304" pitchFamily="18" charset="0"/>
              </a:rPr>
              <a:t>共享空间</a:t>
            </a:r>
            <a:r>
              <a:rPr lang="zh-CN" altLang="en-US" sz="2400" dirty="0">
                <a:latin typeface="Times New Roman" panose="02020603050405020304" pitchFamily="18" charset="0"/>
              </a:rPr>
              <a:t>的情形</a:t>
            </a:r>
            <a:endParaRPr lang="zh-CN" altLang="en-US" sz="2400" dirty="0">
              <a:latin typeface="Times New Roman" panose="02020603050405020304" pitchFamily="18" charset="0"/>
            </a:endParaRPr>
          </a:p>
        </p:txBody>
      </p:sp>
      <p:sp>
        <p:nvSpPr>
          <p:cNvPr id="20483" name="Rectangle 3"/>
          <p:cNvSpPr/>
          <p:nvPr/>
        </p:nvSpPr>
        <p:spPr>
          <a:xfrm>
            <a:off x="533400" y="533400"/>
            <a:ext cx="7467600" cy="1981200"/>
          </a:xfrm>
          <a:prstGeom prst="rect">
            <a:avLst/>
          </a:prstGeom>
          <a:noFill/>
          <a:ln w="9525">
            <a:noFill/>
          </a:ln>
        </p:spPr>
        <p:txBody>
          <a:bodyPr>
            <a:spAutoFit/>
          </a:bodyPr>
          <a:p>
            <a:r>
              <a:rPr lang="zh-CN" altLang="en-US" sz="2400" dirty="0">
                <a:latin typeface="Times New Roman" panose="02020603050405020304" pitchFamily="18" charset="0"/>
              </a:rPr>
              <a:t>例如</a:t>
            </a:r>
            <a:r>
              <a:rPr lang="en-US" altLang="zh-CN" sz="2400" dirty="0">
                <a:latin typeface="Times New Roman" panose="02020603050405020304" pitchFamily="18" charset="0"/>
              </a:rPr>
              <a:t>Pascal</a:t>
            </a:r>
            <a:r>
              <a:rPr lang="zh-CN" altLang="en-US" sz="2400" dirty="0">
                <a:latin typeface="Times New Roman" panose="02020603050405020304" pitchFamily="18" charset="0"/>
              </a:rPr>
              <a:t>程序</a:t>
            </a:r>
            <a:r>
              <a:rPr lang="en-US" altLang="zh-CN" sz="2400" dirty="0">
                <a:latin typeface="Times New Roman" panose="02020603050405020304" pitchFamily="18" charset="0"/>
              </a:rPr>
              <a:t>bin(</a:t>
            </a:r>
            <a:r>
              <a:rPr lang="en-US" altLang="zh-CN" sz="2400" dirty="0">
                <a:latin typeface="Times New Roman" panose="02020603050405020304" pitchFamily="18" charset="0"/>
                <a:ea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r>
              <a:rPr lang="en-US" altLang="zh-CN" b="0" dirty="0">
                <a:latin typeface="Times New Roman" panose="02020603050405020304" pitchFamily="18" charset="0"/>
              </a:rPr>
              <a:t>program  bin(…)</a:t>
            </a:r>
            <a:endParaRPr lang="en-US" altLang="zh-CN" b="0" dirty="0">
              <a:latin typeface="Times New Roman" panose="02020603050405020304" pitchFamily="18" charset="0"/>
            </a:endParaRPr>
          </a:p>
          <a:p>
            <a:pPr lvl="1" eaLnBrk="1" hangingPunct="1"/>
            <a:r>
              <a:rPr lang="en-US" altLang="zh-CN" b="0" dirty="0">
                <a:latin typeface="Times New Roman" panose="02020603050405020304" pitchFamily="18" charset="0"/>
              </a:rPr>
              <a:t>function  f( X,Y,Z: real ): real;  var  u: char;    begin …end;</a:t>
            </a:r>
            <a:endParaRPr lang="en-US" altLang="zh-CN" b="0" dirty="0">
              <a:latin typeface="Times New Roman" panose="02020603050405020304" pitchFamily="18" charset="0"/>
            </a:endParaRPr>
          </a:p>
          <a:p>
            <a:pPr lvl="1" eaLnBrk="1" hangingPunct="1"/>
            <a:r>
              <a:rPr lang="en-US" altLang="zh-CN" b="0" dirty="0">
                <a:latin typeface="Times New Roman" panose="02020603050405020304" pitchFamily="18" charset="0"/>
              </a:rPr>
              <a:t>function  g( A,B: integer ): real;                     begin …end;</a:t>
            </a:r>
            <a:endParaRPr lang="en-US" altLang="zh-CN" b="0" dirty="0">
              <a:latin typeface="Times New Roman" panose="02020603050405020304" pitchFamily="18" charset="0"/>
            </a:endParaRPr>
          </a:p>
          <a:p>
            <a:pPr lvl="1" eaLnBrk="1" hangingPunct="1"/>
            <a:r>
              <a:rPr lang="en-US" altLang="zh-CN" b="0" dirty="0">
                <a:latin typeface="Times New Roman" panose="02020603050405020304" pitchFamily="18" charset="0"/>
              </a:rPr>
              <a:t>function  h( C: boolean ): real;  var v: real;   begin …end;</a:t>
            </a:r>
            <a:endParaRPr lang="en-US" altLang="zh-CN" b="0" dirty="0">
              <a:latin typeface="Times New Roman" panose="02020603050405020304" pitchFamily="18" charset="0"/>
            </a:endParaRPr>
          </a:p>
          <a:p>
            <a:r>
              <a:rPr lang="en-US" altLang="zh-CN" b="0" dirty="0">
                <a:latin typeface="Times New Roman" panose="02020603050405020304" pitchFamily="18" charset="0"/>
              </a:rPr>
              <a:t>begin … end</a:t>
            </a:r>
            <a:endParaRPr lang="en-US" altLang="zh-CN" b="0" dirty="0">
              <a:latin typeface="Times New Roman" panose="02020603050405020304" pitchFamily="18" charset="0"/>
            </a:endParaRPr>
          </a:p>
        </p:txBody>
      </p:sp>
      <p:sp>
        <p:nvSpPr>
          <p:cNvPr id="20484" name="Line 4"/>
          <p:cNvSpPr/>
          <p:nvPr/>
        </p:nvSpPr>
        <p:spPr>
          <a:xfrm>
            <a:off x="838200" y="3962400"/>
            <a:ext cx="7162800" cy="0"/>
          </a:xfrm>
          <a:prstGeom prst="line">
            <a:avLst/>
          </a:prstGeom>
          <a:ln w="9525" cap="flat" cmpd="sng">
            <a:solidFill>
              <a:schemeClr val="tx1"/>
            </a:solidFill>
            <a:prstDash val="solid"/>
            <a:headEnd type="none" w="med" len="med"/>
            <a:tailEnd type="triangle" w="med" len="med"/>
          </a:ln>
        </p:spPr>
      </p:sp>
      <p:sp>
        <p:nvSpPr>
          <p:cNvPr id="20485" name="Line 5"/>
          <p:cNvSpPr/>
          <p:nvPr/>
        </p:nvSpPr>
        <p:spPr>
          <a:xfrm flipV="1">
            <a:off x="1219200" y="2590800"/>
            <a:ext cx="0" cy="1371600"/>
          </a:xfrm>
          <a:prstGeom prst="line">
            <a:avLst/>
          </a:prstGeom>
          <a:ln w="9525" cap="flat" cmpd="sng">
            <a:solidFill>
              <a:schemeClr val="tx1"/>
            </a:solidFill>
            <a:prstDash val="solid"/>
            <a:headEnd type="none" w="med" len="med"/>
            <a:tailEnd type="triangle" w="med" len="med"/>
          </a:ln>
        </p:spPr>
      </p:sp>
      <p:sp>
        <p:nvSpPr>
          <p:cNvPr id="20486" name="Rectangle 6"/>
          <p:cNvSpPr/>
          <p:nvPr/>
        </p:nvSpPr>
        <p:spPr>
          <a:xfrm>
            <a:off x="2209800" y="2514600"/>
            <a:ext cx="1066800" cy="1447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87" name="Line 7"/>
          <p:cNvSpPr/>
          <p:nvPr/>
        </p:nvSpPr>
        <p:spPr>
          <a:xfrm>
            <a:off x="2209800" y="3276600"/>
            <a:ext cx="1066800" cy="0"/>
          </a:xfrm>
          <a:prstGeom prst="line">
            <a:avLst/>
          </a:prstGeom>
          <a:ln w="9525" cap="flat" cmpd="sng">
            <a:solidFill>
              <a:schemeClr val="tx1"/>
            </a:solidFill>
            <a:prstDash val="solid"/>
            <a:headEnd type="none" w="med" len="med"/>
            <a:tailEnd type="none" w="med" len="med"/>
          </a:ln>
        </p:spPr>
      </p:sp>
      <p:sp>
        <p:nvSpPr>
          <p:cNvPr id="20488" name="Line 8"/>
          <p:cNvSpPr/>
          <p:nvPr/>
        </p:nvSpPr>
        <p:spPr>
          <a:xfrm>
            <a:off x="2209800" y="3657600"/>
            <a:ext cx="1066800" cy="0"/>
          </a:xfrm>
          <a:prstGeom prst="line">
            <a:avLst/>
          </a:prstGeom>
          <a:ln w="9525" cap="flat" cmpd="sng">
            <a:solidFill>
              <a:schemeClr val="tx1"/>
            </a:solidFill>
            <a:prstDash val="solid"/>
            <a:headEnd type="none" w="med" len="med"/>
            <a:tailEnd type="none" w="med" len="med"/>
          </a:ln>
        </p:spPr>
      </p:sp>
      <p:sp>
        <p:nvSpPr>
          <p:cNvPr id="20489" name="Line 9"/>
          <p:cNvSpPr/>
          <p:nvPr/>
        </p:nvSpPr>
        <p:spPr>
          <a:xfrm>
            <a:off x="2209800" y="2895600"/>
            <a:ext cx="1066800" cy="0"/>
          </a:xfrm>
          <a:prstGeom prst="line">
            <a:avLst/>
          </a:prstGeom>
          <a:ln w="9525" cap="flat" cmpd="sng">
            <a:solidFill>
              <a:schemeClr val="tx1"/>
            </a:solidFill>
            <a:prstDash val="solid"/>
            <a:headEnd type="none" w="med" len="med"/>
            <a:tailEnd type="none" w="med" len="med"/>
          </a:ln>
        </p:spPr>
      </p:sp>
      <p:sp>
        <p:nvSpPr>
          <p:cNvPr id="20490" name="Rectangle 10"/>
          <p:cNvSpPr/>
          <p:nvPr/>
        </p:nvSpPr>
        <p:spPr>
          <a:xfrm>
            <a:off x="3962400" y="3276600"/>
            <a:ext cx="10668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91" name="Line 11"/>
          <p:cNvSpPr/>
          <p:nvPr/>
        </p:nvSpPr>
        <p:spPr>
          <a:xfrm>
            <a:off x="3962400" y="3644900"/>
            <a:ext cx="1066800" cy="0"/>
          </a:xfrm>
          <a:prstGeom prst="line">
            <a:avLst/>
          </a:prstGeom>
          <a:ln w="9525" cap="flat" cmpd="sng">
            <a:solidFill>
              <a:schemeClr val="tx1"/>
            </a:solidFill>
            <a:prstDash val="solid"/>
            <a:headEnd type="none" w="med" len="med"/>
            <a:tailEnd type="none" w="med" len="med"/>
          </a:ln>
        </p:spPr>
      </p:sp>
      <p:sp>
        <p:nvSpPr>
          <p:cNvPr id="20492" name="Rectangle 12"/>
          <p:cNvSpPr/>
          <p:nvPr/>
        </p:nvSpPr>
        <p:spPr>
          <a:xfrm>
            <a:off x="5715000" y="3276600"/>
            <a:ext cx="10668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93" name="Line 13"/>
          <p:cNvSpPr/>
          <p:nvPr/>
        </p:nvSpPr>
        <p:spPr>
          <a:xfrm>
            <a:off x="5715000" y="3644900"/>
            <a:ext cx="1066800" cy="0"/>
          </a:xfrm>
          <a:prstGeom prst="line">
            <a:avLst/>
          </a:prstGeom>
          <a:ln w="9525" cap="flat" cmpd="sng">
            <a:solidFill>
              <a:schemeClr val="tx1"/>
            </a:solidFill>
            <a:prstDash val="solid"/>
            <a:headEnd type="none" w="med" len="med"/>
            <a:tailEnd type="none" w="med" len="med"/>
          </a:ln>
        </p:spPr>
      </p:sp>
      <p:sp>
        <p:nvSpPr>
          <p:cNvPr id="20494" name="Text Box 14"/>
          <p:cNvSpPr txBox="1"/>
          <p:nvPr/>
        </p:nvSpPr>
        <p:spPr>
          <a:xfrm>
            <a:off x="5956300" y="32639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v</a:t>
            </a:r>
            <a:endParaRPr lang="en-US" altLang="zh-CN" dirty="0">
              <a:latin typeface="Times New Roman" panose="02020603050405020304" pitchFamily="18" charset="0"/>
            </a:endParaRPr>
          </a:p>
        </p:txBody>
      </p:sp>
      <p:sp>
        <p:nvSpPr>
          <p:cNvPr id="20495" name="Text Box 15"/>
          <p:cNvSpPr txBox="1"/>
          <p:nvPr/>
        </p:nvSpPr>
        <p:spPr>
          <a:xfrm>
            <a:off x="5956300" y="36195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C</a:t>
            </a:r>
            <a:endParaRPr lang="en-US" altLang="zh-CN" dirty="0">
              <a:latin typeface="Times New Roman" panose="02020603050405020304" pitchFamily="18" charset="0"/>
            </a:endParaRPr>
          </a:p>
        </p:txBody>
      </p:sp>
      <p:sp>
        <p:nvSpPr>
          <p:cNvPr id="20496" name="Text Box 16"/>
          <p:cNvSpPr txBox="1"/>
          <p:nvPr/>
        </p:nvSpPr>
        <p:spPr>
          <a:xfrm>
            <a:off x="4216400" y="3273425"/>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20497" name="Text Box 17"/>
          <p:cNvSpPr txBox="1"/>
          <p:nvPr/>
        </p:nvSpPr>
        <p:spPr>
          <a:xfrm>
            <a:off x="4229100" y="3616325"/>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20498" name="Text Box 18"/>
          <p:cNvSpPr txBox="1"/>
          <p:nvPr/>
        </p:nvSpPr>
        <p:spPr>
          <a:xfrm>
            <a:off x="2463800" y="32766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Y</a:t>
            </a:r>
            <a:endParaRPr lang="en-US" altLang="zh-CN" dirty="0">
              <a:latin typeface="Times New Roman" panose="02020603050405020304" pitchFamily="18" charset="0"/>
            </a:endParaRPr>
          </a:p>
        </p:txBody>
      </p:sp>
      <p:sp>
        <p:nvSpPr>
          <p:cNvPr id="20499" name="Text Box 19"/>
          <p:cNvSpPr txBox="1"/>
          <p:nvPr/>
        </p:nvSpPr>
        <p:spPr>
          <a:xfrm>
            <a:off x="2476500" y="36195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X</a:t>
            </a:r>
            <a:endParaRPr lang="en-US" altLang="zh-CN" dirty="0">
              <a:latin typeface="Times New Roman" panose="02020603050405020304" pitchFamily="18" charset="0"/>
            </a:endParaRPr>
          </a:p>
        </p:txBody>
      </p:sp>
      <p:sp>
        <p:nvSpPr>
          <p:cNvPr id="20500" name="Text Box 20"/>
          <p:cNvSpPr txBox="1"/>
          <p:nvPr/>
        </p:nvSpPr>
        <p:spPr>
          <a:xfrm>
            <a:off x="2463800" y="25146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u</a:t>
            </a:r>
            <a:endParaRPr lang="en-US" altLang="zh-CN" dirty="0">
              <a:latin typeface="Times New Roman" panose="02020603050405020304" pitchFamily="18" charset="0"/>
            </a:endParaRPr>
          </a:p>
        </p:txBody>
      </p:sp>
      <p:sp>
        <p:nvSpPr>
          <p:cNvPr id="20501" name="Text Box 21"/>
          <p:cNvSpPr txBox="1"/>
          <p:nvPr/>
        </p:nvSpPr>
        <p:spPr>
          <a:xfrm>
            <a:off x="2476500" y="2921000"/>
            <a:ext cx="5334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Z</a:t>
            </a:r>
            <a:endParaRPr lang="en-US" altLang="zh-CN" dirty="0">
              <a:latin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2"/>
          <p:cNvPicPr>
            <a:picLocks noChangeAspect="1"/>
          </p:cNvPicPr>
          <p:nvPr/>
        </p:nvPicPr>
        <p:blipFill>
          <a:blip r:embed="rId1"/>
          <a:srcRect l="5682" t="16586" r="16193" b="49519"/>
          <a:stretch>
            <a:fillRect/>
          </a:stretch>
        </p:blipFill>
        <p:spPr>
          <a:xfrm>
            <a:off x="500063" y="847725"/>
            <a:ext cx="8193087" cy="3500438"/>
          </a:xfrm>
          <a:prstGeom prst="rect">
            <a:avLst/>
          </a:prstGeom>
          <a:noFill/>
          <a:ln w="9525">
            <a:noFill/>
          </a:ln>
        </p:spPr>
      </p:pic>
      <p:pic>
        <p:nvPicPr>
          <p:cNvPr id="21507" name="Picture 2"/>
          <p:cNvPicPr>
            <a:picLocks noChangeAspect="1"/>
          </p:cNvPicPr>
          <p:nvPr/>
        </p:nvPicPr>
        <p:blipFill>
          <a:blip r:embed="rId1"/>
          <a:srcRect l="5682" t="76346" r="16193" b="4086"/>
          <a:stretch>
            <a:fillRect/>
          </a:stretch>
        </p:blipFill>
        <p:spPr>
          <a:xfrm>
            <a:off x="785813" y="4491038"/>
            <a:ext cx="7858125" cy="1938337"/>
          </a:xfrm>
          <a:prstGeom prst="rect">
            <a:avLst/>
          </a:prstGeom>
          <a:noFill/>
          <a:ln w="9525">
            <a:noFill/>
          </a:ln>
        </p:spPr>
      </p:pic>
      <p:sp>
        <p:nvSpPr>
          <p:cNvPr id="4" name="Rectangle 2"/>
          <p:cNvSpPr txBox="1">
            <a:spLocks noChangeArrowheads="1"/>
          </p:cNvSpPr>
          <p:nvPr/>
        </p:nvSpPr>
        <p:spPr>
          <a:xfrm>
            <a:off x="871538" y="214313"/>
            <a:ext cx="7772400" cy="533400"/>
          </a:xfrm>
          <a:prstGeom prst="rect">
            <a:avLst/>
          </a:prstGeom>
        </p:spPr>
        <p:txBody>
          <a:bodyPr>
            <a:normAutofit fontScale="97500" lnSpcReduction="10000"/>
          </a:bodyPr>
          <a:lstStyle/>
          <a:p>
            <a:pPr marR="0" algn="just" defTabSz="914400" fontAlgn="auto">
              <a:spcAft>
                <a:spcPts val="0"/>
              </a:spcAft>
              <a:buClrTx/>
              <a:buSzTx/>
              <a:buFontTx/>
              <a:buNone/>
              <a:defRPr/>
            </a:pPr>
            <a:r>
              <a:rPr kumimoji="0" lang="en-US" altLang="zh-CN" sz="3200" kern="1200" cap="none" spc="0" normalizeH="0" baseline="0" noProof="0" dirty="0">
                <a:solidFill>
                  <a:schemeClr val="hlink"/>
                </a:solidFill>
                <a:effectLst>
                  <a:outerShdw blurRad="38100" dist="38100" dir="2700000" algn="tl">
                    <a:srgbClr val="000000"/>
                  </a:outerShdw>
                </a:effectLst>
                <a:latin typeface="宋体" panose="02010600030101010101" pitchFamily="2" charset="-122"/>
                <a:ea typeface="+mj-ea"/>
                <a:cs typeface="+mj-cs"/>
              </a:rPr>
              <a:t>8.2.3</a:t>
            </a:r>
            <a:r>
              <a:rPr kumimoji="0" lang="zh-CN" altLang="en-US" sz="3200" kern="1200" cap="none" spc="0" normalizeH="0" baseline="0" noProof="0" dirty="0">
                <a:solidFill>
                  <a:schemeClr val="hlink"/>
                </a:solidFill>
                <a:effectLst>
                  <a:outerShdw blurRad="38100" dist="38100" dir="2700000" algn="tl">
                    <a:srgbClr val="000000"/>
                  </a:outerShdw>
                </a:effectLst>
                <a:latin typeface="宋体" panose="02010600030101010101" pitchFamily="2" charset="-122"/>
                <a:ea typeface="+mj-ea"/>
                <a:cs typeface="+mj-cs"/>
              </a:rPr>
              <a:t>、堆式存储分配</a:t>
            </a:r>
            <a:endParaRPr kumimoji="0" lang="zh-CN" altLang="en-US" sz="3200" kern="1200" cap="none" spc="0" normalizeH="0" baseline="0" noProof="0" dirty="0">
              <a:solidFill>
                <a:schemeClr val="hlink"/>
              </a:solidFill>
              <a:effectLst>
                <a:outerShdw blurRad="38100" dist="38100" dir="2700000" algn="tl">
                  <a:srgbClr val="000000"/>
                </a:outerShdw>
              </a:effectLst>
              <a:latin typeface="宋体" panose="02010600030101010101" pitchFamily="2" charset="-122"/>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p:cNvPicPr>
            <a:picLocks noChangeAspect="1"/>
          </p:cNvPicPr>
          <p:nvPr/>
        </p:nvPicPr>
        <p:blipFill>
          <a:blip r:embed="rId1"/>
          <a:srcRect l="10654" t="28125" r="16193" b="18509"/>
          <a:stretch>
            <a:fillRect/>
          </a:stretch>
        </p:blipFill>
        <p:spPr>
          <a:xfrm>
            <a:off x="571500" y="357188"/>
            <a:ext cx="8053388" cy="5786437"/>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a:spLocks noGrp="1"/>
          </p:cNvSpPr>
          <p:nvPr>
            <p:ph idx="1"/>
          </p:nvPr>
        </p:nvSpPr>
        <p:spPr>
          <a:xfrm>
            <a:off x="457200" y="1143000"/>
            <a:ext cx="8001000" cy="4876800"/>
          </a:xfrm>
        </p:spPr>
        <p:txBody>
          <a:bodyPr vert="horz" wrap="square" lIns="91440" tIns="45720" rIns="91440" bIns="45720" anchor="t" anchorCtr="0"/>
          <a:p>
            <a:pPr eaLnBrk="1" hangingPunct="1">
              <a:lnSpc>
                <a:spcPct val="120000"/>
              </a:lnSpc>
              <a:buFontTx/>
              <a:buNone/>
            </a:pPr>
            <a:r>
              <a:rPr lang="zh-CN" altLang="en-US" sz="2800" b="1" dirty="0">
                <a:latin typeface="宋体" panose="02010600030101010101" pitchFamily="2" charset="-122"/>
              </a:rPr>
              <a:t>用途</a:t>
            </a:r>
            <a:endParaRPr lang="zh-CN" altLang="en-US" sz="2800" b="1" dirty="0">
              <a:latin typeface="宋体" panose="02010600030101010101" pitchFamily="2" charset="-122"/>
            </a:endParaRPr>
          </a:p>
          <a:p>
            <a:pPr lvl="1" eaLnBrk="1" hangingPunct="1">
              <a:lnSpc>
                <a:spcPct val="120000"/>
              </a:lnSpc>
              <a:buFont typeface="Verdana" panose="020B0604030504040204" pitchFamily="34" charset="0"/>
              <a:buChar char="◦"/>
            </a:pPr>
            <a:r>
              <a:rPr lang="zh-CN" altLang="en-US" sz="2800" b="1" dirty="0">
                <a:latin typeface="宋体" panose="02010600030101010101" pitchFamily="2" charset="-122"/>
              </a:rPr>
              <a:t>存储空间的动态分配和释放</a:t>
            </a:r>
            <a:endParaRPr lang="zh-CN" altLang="en-US" sz="2800" b="1" dirty="0">
              <a:latin typeface="宋体" panose="02010600030101010101" pitchFamily="2" charset="-122"/>
            </a:endParaRPr>
          </a:p>
          <a:p>
            <a:pPr eaLnBrk="1" hangingPunct="1">
              <a:lnSpc>
                <a:spcPct val="120000"/>
              </a:lnSpc>
              <a:buFontTx/>
              <a:buNone/>
            </a:pPr>
            <a:r>
              <a:rPr lang="zh-CN" altLang="en-US" sz="2800" b="1" dirty="0">
                <a:latin typeface="宋体" panose="02010600030101010101" pitchFamily="2" charset="-122"/>
              </a:rPr>
              <a:t>特点</a:t>
            </a:r>
            <a:endParaRPr lang="zh-CN" altLang="en-US" sz="2800" b="1" dirty="0">
              <a:latin typeface="宋体" panose="02010600030101010101" pitchFamily="2" charset="-122"/>
            </a:endParaRPr>
          </a:p>
          <a:p>
            <a:pPr lvl="1" eaLnBrk="1" hangingPunct="1">
              <a:lnSpc>
                <a:spcPct val="120000"/>
              </a:lnSpc>
              <a:buFont typeface="Verdana" panose="020B0604030504040204" pitchFamily="34" charset="0"/>
              <a:buChar char="◦"/>
            </a:pPr>
            <a:r>
              <a:rPr lang="zh-CN" altLang="en-US" sz="2800" b="1" dirty="0">
                <a:latin typeface="宋体" panose="02010600030101010101" pitchFamily="2" charset="-122"/>
              </a:rPr>
              <a:t>可随时分配和释放空间</a:t>
            </a:r>
            <a:endParaRPr lang="zh-CN" altLang="en-US" sz="2800" b="1" dirty="0">
              <a:latin typeface="宋体" panose="02010600030101010101" pitchFamily="2" charset="-122"/>
            </a:endParaRPr>
          </a:p>
          <a:p>
            <a:pPr eaLnBrk="1" hangingPunct="1">
              <a:lnSpc>
                <a:spcPct val="120000"/>
              </a:lnSpc>
              <a:buFontTx/>
              <a:buNone/>
            </a:pPr>
            <a:r>
              <a:rPr lang="zh-CN" altLang="en-US" sz="2800" b="1" dirty="0">
                <a:latin typeface="宋体" panose="02010600030101010101" pitchFamily="2" charset="-122"/>
              </a:rPr>
              <a:t>实现方法：     </a:t>
            </a:r>
            <a:endParaRPr lang="zh-CN" altLang="en-US" sz="2800" b="1" dirty="0">
              <a:latin typeface="宋体" panose="02010600030101010101" pitchFamily="2" charset="-122"/>
            </a:endParaRPr>
          </a:p>
          <a:p>
            <a:pPr lvl="1" eaLnBrk="1" hangingPunct="1">
              <a:lnSpc>
                <a:spcPct val="120000"/>
              </a:lnSpc>
            </a:pPr>
            <a:r>
              <a:rPr lang="zh-CN" altLang="en-US" sz="2800" b="1" dirty="0">
                <a:latin typeface="宋体" panose="02010600030101010101" pitchFamily="2" charset="-122"/>
              </a:rPr>
              <a:t>将内存空间分为若干块，根据用户要求分配</a:t>
            </a:r>
            <a:endParaRPr lang="zh-CN" altLang="en-US" sz="2800" b="1" dirty="0">
              <a:latin typeface="宋体" panose="02010600030101010101" pitchFamily="2" charset="-122"/>
            </a:endParaRPr>
          </a:p>
          <a:p>
            <a:pPr lvl="1" eaLnBrk="1" hangingPunct="1">
              <a:lnSpc>
                <a:spcPct val="120000"/>
              </a:lnSpc>
            </a:pPr>
            <a:r>
              <a:rPr lang="zh-CN" altLang="en-US" sz="2800" b="1" dirty="0">
                <a:latin typeface="宋体" panose="02010600030101010101" pitchFamily="2" charset="-122"/>
              </a:rPr>
              <a:t>无法满足时，调用</a:t>
            </a:r>
            <a:r>
              <a:rPr lang="zh-CN" altLang="en-US" sz="2800" b="1" dirty="0">
                <a:solidFill>
                  <a:srgbClr val="FF0000"/>
                </a:solidFill>
                <a:latin typeface="宋体" panose="02010600030101010101" pitchFamily="2" charset="-122"/>
              </a:rPr>
              <a:t>无用单元收集程序</a:t>
            </a:r>
            <a:r>
              <a:rPr lang="zh-CN" altLang="en-US" sz="2800" b="1" dirty="0">
                <a:latin typeface="宋体" panose="02010600030101010101" pitchFamily="2" charset="-122"/>
              </a:rPr>
              <a:t>将被释放的块收集起来重新分配</a:t>
            </a:r>
            <a:endParaRPr lang="zh-CN" altLang="en-US" sz="2800" b="1" dirty="0">
              <a:latin typeface="宋体" panose="02010600030101010101" pitchFamily="2" charset="-122"/>
            </a:endParaRPr>
          </a:p>
        </p:txBody>
      </p:sp>
      <p:sp>
        <p:nvSpPr>
          <p:cNvPr id="611330" name="Rectangle 2"/>
          <p:cNvSpPr>
            <a:spLocks noGrp="1" noChangeArrowheads="1"/>
          </p:cNvSpPr>
          <p:nvPr>
            <p:ph type="title"/>
          </p:nvPr>
        </p:nvSpPr>
        <p:spPr>
          <a:xfrm>
            <a:off x="381000" y="381000"/>
            <a:ext cx="7772400" cy="533400"/>
          </a:xfrm>
          <a:noFill/>
          <a:ln>
            <a:noFill/>
          </a:ln>
          <a:effectLst/>
          <a:sp3d prstMaterial="plastic"/>
        </p:spPr>
        <p:txBody>
          <a:bodyPr vert="horz" rtlCol="0" anchor="ctr">
            <a:normAutofit fontScale="90000"/>
            <a:scene3d>
              <a:camera prst="orthographicFront"/>
              <a:lightRig rig="soft" dir="t"/>
            </a:scene3d>
            <a:sp3d prstMaterial="softEdge">
              <a:bevelT w="25400" h="25400"/>
            </a:sp3d>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dirty="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8.2.3</a:t>
            </a:r>
            <a:r>
              <a:rPr kumimoji="0" lang="zh-CN" altLang="en-US" sz="3200" b="1" i="0" u="none" strike="noStrike" kern="1200" cap="none" spc="0" normalizeH="0" baseline="0" noProof="0" dirty="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、堆式存储分配</a:t>
            </a:r>
            <a:endParaRPr kumimoji="0" lang="zh-CN" altLang="en-US" sz="3200" b="1" i="0" u="none" strike="noStrike" kern="1200" cap="none" spc="0" normalizeH="0" baseline="0" noProof="0" dirty="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1"/>
          <p:cNvSpPr>
            <a:spLocks noGrp="1"/>
          </p:cNvSpPr>
          <p:nvPr>
            <p:ph idx="1"/>
          </p:nvPr>
        </p:nvSpPr>
        <p:spPr/>
        <p:txBody>
          <a:bodyPr vert="horz" wrap="square" lIns="91440" tIns="45720" rIns="91440" bIns="45720" anchor="t" anchorCtr="0"/>
          <a:p>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4580" name="Picture 2"/>
          <p:cNvPicPr>
            <a:picLocks noChangeAspect="1"/>
          </p:cNvPicPr>
          <p:nvPr/>
        </p:nvPicPr>
        <p:blipFill>
          <a:blip r:embed="rId1"/>
          <a:srcRect l="9233" t="49039" r="15483" b="11298"/>
          <a:stretch>
            <a:fillRect/>
          </a:stretch>
        </p:blipFill>
        <p:spPr>
          <a:xfrm>
            <a:off x="428625" y="1071563"/>
            <a:ext cx="8261350" cy="42862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noChangeArrowheads="1"/>
          </p:cNvSpPr>
          <p:nvPr>
            <p:ph type="title"/>
          </p:nvPr>
        </p:nvSpPr>
        <p:spPr>
          <a:xfrm>
            <a:off x="381000" y="304800"/>
            <a:ext cx="8583613" cy="533400"/>
          </a:xfrm>
          <a:noFill/>
          <a:ln>
            <a:noFill/>
          </a:ln>
          <a:effectLst/>
          <a:sp3d prstMaterial="plastic"/>
        </p:spPr>
        <p:txBody>
          <a:bodyPr vert="horz" rtlCol="0" anchor="ctr">
            <a:normAutofit fontScale="90000"/>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rPr>
              <a:t>8.3</a:t>
            </a:r>
            <a:r>
              <a:rPr kumimoji="0" lang="zh-CN" altLang="en-US"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rPr>
              <a:t>、运行时的过程活动记录与栈区的组织结构</a:t>
            </a:r>
            <a:endParaRPr kumimoji="0" lang="zh-CN" altLang="en-US" sz="32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endParaRPr>
          </a:p>
        </p:txBody>
      </p:sp>
      <p:sp>
        <p:nvSpPr>
          <p:cNvPr id="612356" name="Rectangle 4"/>
          <p:cNvSpPr>
            <a:spLocks noChangeArrowheads="1"/>
          </p:cNvSpPr>
          <p:nvPr/>
        </p:nvSpPr>
        <p:spPr bwMode="auto">
          <a:xfrm>
            <a:off x="533400" y="9144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8.3.1</a:t>
            </a:r>
            <a:r>
              <a:rPr kumimoji="1" lang="zh-CN" altLang="en-US" sz="3200" b="0" i="0" u="none" strike="noStrike" kern="1200" cap="none" spc="0" normalizeH="0" baseline="0" noProof="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、过程调用需存放的信息</a:t>
            </a:r>
            <a:endParaRPr kumimoji="1" lang="zh-CN" altLang="en-US" sz="3200" b="0" i="0" u="none" strike="noStrike" kern="1200" cap="none" spc="0" normalizeH="0" baseline="0" noProof="0">
              <a:ln>
                <a:noFill/>
              </a:ln>
              <a:solidFill>
                <a:schemeClr val="hlink"/>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25604" name="Rectangle 7"/>
          <p:cNvSpPr/>
          <p:nvPr/>
        </p:nvSpPr>
        <p:spPr>
          <a:xfrm>
            <a:off x="571500" y="1560513"/>
            <a:ext cx="8358188" cy="4397375"/>
          </a:xfrm>
          <a:prstGeom prst="rect">
            <a:avLst/>
          </a:prstGeom>
          <a:noFill/>
          <a:ln w="9525">
            <a:noFill/>
          </a:ln>
        </p:spPr>
        <p:txBody>
          <a:bodyPr>
            <a:spAutoFit/>
          </a:bodyPr>
          <a:p>
            <a:pPr>
              <a:lnSpc>
                <a:spcPct val="130000"/>
              </a:lnSpc>
              <a:spcBef>
                <a:spcPts val="1000"/>
              </a:spcBef>
              <a:buClr>
                <a:schemeClr val="hlink"/>
              </a:buClr>
              <a:buFont typeface="Wingdings" panose="05000000000000000000" pitchFamily="2" charset="2"/>
              <a:buChar char="Ø"/>
            </a:pPr>
            <a:r>
              <a:rPr lang="en-US" altLang="zh-CN" sz="2800" dirty="0">
                <a:solidFill>
                  <a:schemeClr val="tx2"/>
                </a:solidFill>
                <a:latin typeface="宋体" panose="02010600030101010101" pitchFamily="2" charset="-122"/>
              </a:rPr>
              <a:t> </a:t>
            </a:r>
            <a:r>
              <a:rPr lang="zh-CN" altLang="en-US" sz="2800" dirty="0">
                <a:solidFill>
                  <a:srgbClr val="FF0000"/>
                </a:solidFill>
                <a:latin typeface="宋体" panose="02010600030101010101" pitchFamily="2" charset="-122"/>
              </a:rPr>
              <a:t>过程控制信息</a:t>
            </a:r>
            <a:r>
              <a:rPr lang="zh-CN" altLang="en-US" sz="2800" dirty="0">
                <a:solidFill>
                  <a:schemeClr val="tx2"/>
                </a:solidFill>
                <a:latin typeface="宋体" panose="02010600030101010101" pitchFamily="2" charset="-122"/>
              </a:rPr>
              <a:t>：包括返回地址、先行活动记录的动态链指针、层数和长度等。</a:t>
            </a:r>
            <a:endParaRPr lang="zh-CN" altLang="en-US" sz="2800" dirty="0">
              <a:solidFill>
                <a:schemeClr val="tx2"/>
              </a:solidFill>
              <a:latin typeface="宋体" panose="02010600030101010101" pitchFamily="2" charset="-122"/>
            </a:endParaRPr>
          </a:p>
          <a:p>
            <a:pPr>
              <a:lnSpc>
                <a:spcPct val="130000"/>
              </a:lnSpc>
              <a:spcBef>
                <a:spcPts val="1000"/>
              </a:spcBef>
              <a:buClr>
                <a:schemeClr val="hlink"/>
              </a:buClr>
              <a:buFont typeface="Wingdings" panose="05000000000000000000" pitchFamily="2" charset="2"/>
              <a:buChar char="Ø"/>
            </a:pPr>
            <a:r>
              <a:rPr lang="zh-CN" altLang="en-US" sz="2800" dirty="0">
                <a:solidFill>
                  <a:schemeClr val="tx2"/>
                </a:solidFill>
                <a:latin typeface="宋体" panose="02010600030101010101" pitchFamily="2" charset="-122"/>
              </a:rPr>
              <a:t> </a:t>
            </a:r>
            <a:r>
              <a:rPr lang="zh-CN" altLang="en-US" sz="2800" dirty="0">
                <a:solidFill>
                  <a:srgbClr val="FF0000"/>
                </a:solidFill>
                <a:latin typeface="宋体" panose="02010600030101010101" pitchFamily="2" charset="-122"/>
              </a:rPr>
              <a:t>机器状态信息</a:t>
            </a:r>
            <a:r>
              <a:rPr lang="zh-CN" altLang="en-US" sz="2800" dirty="0">
                <a:solidFill>
                  <a:schemeClr val="tx2"/>
                </a:solidFill>
                <a:latin typeface="宋体" panose="02010600030101010101" pitchFamily="2" charset="-122"/>
              </a:rPr>
              <a:t>：包括寄存器状态等过程中断时的机器状态。</a:t>
            </a:r>
            <a:endParaRPr lang="zh-CN" altLang="en-US" sz="2800" dirty="0">
              <a:solidFill>
                <a:schemeClr val="tx2"/>
              </a:solidFill>
              <a:latin typeface="宋体" panose="02010600030101010101" pitchFamily="2" charset="-122"/>
            </a:endParaRPr>
          </a:p>
          <a:p>
            <a:pPr>
              <a:lnSpc>
                <a:spcPct val="130000"/>
              </a:lnSpc>
              <a:spcBef>
                <a:spcPts val="1000"/>
              </a:spcBef>
              <a:buClr>
                <a:schemeClr val="hlink"/>
              </a:buClr>
              <a:buFont typeface="Wingdings" panose="05000000000000000000" pitchFamily="2" charset="2"/>
              <a:buChar char="Ø"/>
            </a:pPr>
            <a:r>
              <a:rPr lang="zh-CN" altLang="en-US" sz="2800" dirty="0">
                <a:solidFill>
                  <a:schemeClr val="tx2"/>
                </a:solidFill>
                <a:latin typeface="宋体" panose="02010600030101010101" pitchFamily="2" charset="-122"/>
              </a:rPr>
              <a:t> </a:t>
            </a:r>
            <a:r>
              <a:rPr lang="zh-CN" altLang="en-US" sz="2800" dirty="0">
                <a:solidFill>
                  <a:srgbClr val="FF0000"/>
                </a:solidFill>
                <a:latin typeface="宋体" panose="02010600030101010101" pitchFamily="2" charset="-122"/>
              </a:rPr>
              <a:t>全局变量信息</a:t>
            </a:r>
            <a:r>
              <a:rPr lang="zh-CN" altLang="en-US" sz="2800" dirty="0">
                <a:solidFill>
                  <a:schemeClr val="tx2"/>
                </a:solidFill>
                <a:latin typeface="宋体" panose="02010600030101010101" pitchFamily="2" charset="-122"/>
              </a:rPr>
              <a:t>：包括有关访问非局部变量的信息。</a:t>
            </a:r>
            <a:endParaRPr lang="zh-CN" altLang="en-US" sz="2800" dirty="0">
              <a:solidFill>
                <a:schemeClr val="tx2"/>
              </a:solidFill>
              <a:latin typeface="宋体" panose="02010600030101010101" pitchFamily="2" charset="-122"/>
            </a:endParaRPr>
          </a:p>
          <a:p>
            <a:pPr>
              <a:lnSpc>
                <a:spcPct val="130000"/>
              </a:lnSpc>
              <a:spcBef>
                <a:spcPts val="1000"/>
              </a:spcBef>
              <a:buClr>
                <a:schemeClr val="hlink"/>
              </a:buClr>
              <a:buFont typeface="Wingdings" panose="05000000000000000000" pitchFamily="2" charset="2"/>
              <a:buChar char="Ø"/>
            </a:pPr>
            <a:r>
              <a:rPr lang="zh-CN" altLang="en-US" sz="2800" dirty="0">
                <a:solidFill>
                  <a:schemeClr val="tx2"/>
                </a:solidFill>
                <a:latin typeface="宋体" panose="02010600030101010101" pitchFamily="2" charset="-122"/>
              </a:rPr>
              <a:t> </a:t>
            </a:r>
            <a:r>
              <a:rPr lang="zh-CN" altLang="en-US" sz="2800" dirty="0">
                <a:solidFill>
                  <a:srgbClr val="FF0000"/>
                </a:solidFill>
                <a:latin typeface="宋体" panose="02010600030101010101" pitchFamily="2" charset="-122"/>
              </a:rPr>
              <a:t>局部变量信息</a:t>
            </a:r>
            <a:r>
              <a:rPr lang="zh-CN" altLang="en-US" sz="2800" dirty="0">
                <a:solidFill>
                  <a:schemeClr val="tx2"/>
                </a:solidFill>
                <a:latin typeface="宋体" panose="02010600030101010101" pitchFamily="2" charset="-122"/>
              </a:rPr>
              <a:t>：包括形参变量、局部变量和临时变量的值。</a:t>
            </a:r>
            <a:endParaRPr lang="zh-CN" altLang="en-US" sz="2800" dirty="0">
              <a:solidFill>
                <a:schemeClr val="tx2"/>
              </a:solidFill>
              <a:latin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0306" name="Rectangle 2"/>
          <p:cNvSpPr>
            <a:spLocks noGrp="1" noChangeArrowheads="1"/>
          </p:cNvSpPr>
          <p:nvPr>
            <p:ph type="title"/>
          </p:nvPr>
        </p:nvSpPr>
        <p:spPr>
          <a:xfrm>
            <a:off x="457200" y="228600"/>
            <a:ext cx="8153400" cy="6858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8.3.2</a:t>
            </a:r>
            <a:r>
              <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、过程调用的活动记录</a:t>
            </a:r>
            <a:endPar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endParaRPr>
          </a:p>
        </p:txBody>
      </p:sp>
      <p:sp>
        <p:nvSpPr>
          <p:cNvPr id="26627" name="Rectangle 46"/>
          <p:cNvSpPr/>
          <p:nvPr/>
        </p:nvSpPr>
        <p:spPr>
          <a:xfrm>
            <a:off x="762000" y="898525"/>
            <a:ext cx="7924800" cy="1281113"/>
          </a:xfrm>
          <a:prstGeom prst="rect">
            <a:avLst/>
          </a:prstGeom>
          <a:noFill/>
          <a:ln w="9525">
            <a:noFill/>
          </a:ln>
        </p:spPr>
        <p:txBody>
          <a:bodyPr lIns="0" tIns="0" rIns="0" bIns="0">
            <a:spAutoFit/>
          </a:bodyPr>
          <a:p>
            <a:pPr>
              <a:spcBef>
                <a:spcPct val="20000"/>
              </a:spcBef>
            </a:pPr>
            <a:r>
              <a:rPr lang="zh-CN" altLang="en-US" sz="2800" dirty="0">
                <a:latin typeface="宋体" panose="02010600030101010101" pitchFamily="2" charset="-122"/>
              </a:rPr>
              <a:t>栈来保存递归过程执行所需保存的信息。即栈区是由所谓的</a:t>
            </a:r>
            <a:r>
              <a:rPr lang="zh-CN" altLang="en-US" sz="2800" dirty="0">
                <a:solidFill>
                  <a:srgbClr val="FF0000"/>
                </a:solidFill>
                <a:latin typeface="宋体" panose="02010600030101010101" pitchFamily="2" charset="-122"/>
              </a:rPr>
              <a:t>过程活动记录（</a:t>
            </a:r>
            <a:r>
              <a:rPr lang="en-US" altLang="zh-CN" sz="2800" dirty="0">
                <a:solidFill>
                  <a:srgbClr val="FF0000"/>
                </a:solidFill>
                <a:latin typeface="宋体" panose="02010600030101010101" pitchFamily="2" charset="-122"/>
              </a:rPr>
              <a:t>AR</a:t>
            </a:r>
            <a:r>
              <a:rPr lang="zh-CN" altLang="en-US" sz="2800" dirty="0">
                <a:solidFill>
                  <a:srgbClr val="FF0000"/>
                </a:solidFill>
                <a:latin typeface="宋体" panose="02010600030101010101" pitchFamily="2" charset="-122"/>
              </a:rPr>
              <a:t>）</a:t>
            </a:r>
            <a:r>
              <a:rPr lang="zh-CN" altLang="en-US" sz="2800" dirty="0">
                <a:latin typeface="宋体" panose="02010600030101010101" pitchFamily="2" charset="-122"/>
              </a:rPr>
              <a:t>组成的一个连续的存储区。</a:t>
            </a:r>
            <a:endParaRPr lang="zh-CN" altLang="en-US" sz="2800" dirty="0">
              <a:latin typeface="宋体" panose="02010600030101010101" pitchFamily="2" charset="-122"/>
            </a:endParaRPr>
          </a:p>
        </p:txBody>
      </p:sp>
      <p:grpSp>
        <p:nvGrpSpPr>
          <p:cNvPr id="26628" name="Group 50"/>
          <p:cNvGrpSpPr/>
          <p:nvPr/>
        </p:nvGrpSpPr>
        <p:grpSpPr>
          <a:xfrm>
            <a:off x="5740400" y="2133600"/>
            <a:ext cx="2209800" cy="4244975"/>
            <a:chOff x="432" y="1598"/>
            <a:chExt cx="1488" cy="2996"/>
          </a:xfrm>
        </p:grpSpPr>
        <p:sp>
          <p:nvSpPr>
            <p:cNvPr id="26648" name="Rectangle 6"/>
            <p:cNvSpPr/>
            <p:nvPr/>
          </p:nvSpPr>
          <p:spPr>
            <a:xfrm>
              <a:off x="432" y="4265"/>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动态链指针</a:t>
              </a:r>
              <a:endParaRPr lang="zh-CN" altLang="en-US" sz="2400" i="1" dirty="0">
                <a:solidFill>
                  <a:srgbClr val="660033"/>
                </a:solidFill>
                <a:latin typeface="Times New Roman" panose="02020603050405020304" pitchFamily="18" charset="0"/>
              </a:endParaRPr>
            </a:p>
          </p:txBody>
        </p:sp>
        <p:sp>
          <p:nvSpPr>
            <p:cNvPr id="26649" name="Rectangle 8"/>
            <p:cNvSpPr/>
            <p:nvPr/>
          </p:nvSpPr>
          <p:spPr>
            <a:xfrm>
              <a:off x="432" y="3929"/>
              <a:ext cx="1488" cy="330"/>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返回地址</a:t>
              </a:r>
              <a:endParaRPr lang="zh-CN" altLang="en-US" sz="2400" i="1" dirty="0">
                <a:solidFill>
                  <a:srgbClr val="660033"/>
                </a:solidFill>
                <a:latin typeface="Times New Roman" panose="02020603050405020304" pitchFamily="18" charset="0"/>
              </a:endParaRPr>
            </a:p>
          </p:txBody>
        </p:sp>
        <p:sp>
          <p:nvSpPr>
            <p:cNvPr id="26650" name="Rectangle 5"/>
            <p:cNvSpPr/>
            <p:nvPr/>
          </p:nvSpPr>
          <p:spPr>
            <a:xfrm>
              <a:off x="432" y="3600"/>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过程层数</a:t>
              </a:r>
              <a:endParaRPr lang="zh-CN" altLang="en-US" sz="2400" i="1" dirty="0">
                <a:solidFill>
                  <a:srgbClr val="660033"/>
                </a:solidFill>
                <a:latin typeface="Times New Roman" panose="02020603050405020304" pitchFamily="18" charset="0"/>
              </a:endParaRPr>
            </a:p>
          </p:txBody>
        </p:sp>
        <p:sp>
          <p:nvSpPr>
            <p:cNvPr id="26651" name="Rectangle 9"/>
            <p:cNvSpPr/>
            <p:nvPr/>
          </p:nvSpPr>
          <p:spPr>
            <a:xfrm>
              <a:off x="432" y="3264"/>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机器状态</a:t>
              </a:r>
              <a:endParaRPr lang="zh-CN" altLang="en-US" sz="2400" i="1" dirty="0">
                <a:solidFill>
                  <a:srgbClr val="660033"/>
                </a:solidFill>
                <a:latin typeface="Times New Roman" panose="02020603050405020304" pitchFamily="18" charset="0"/>
              </a:endParaRPr>
            </a:p>
          </p:txBody>
        </p:sp>
        <p:sp>
          <p:nvSpPr>
            <p:cNvPr id="26652" name="Rectangle 49"/>
            <p:cNvSpPr/>
            <p:nvPr/>
          </p:nvSpPr>
          <p:spPr>
            <a:xfrm>
              <a:off x="432" y="2928"/>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en-US" altLang="zh-CN" sz="2400" i="1" dirty="0">
                  <a:solidFill>
                    <a:srgbClr val="660033"/>
                  </a:solidFill>
                  <a:latin typeface="Times New Roman" panose="02020603050405020304" pitchFamily="18" charset="0"/>
                </a:rPr>
                <a:t>      </a:t>
              </a:r>
              <a:r>
                <a:rPr lang="zh-CN" altLang="en-US" sz="2400" i="1" dirty="0">
                  <a:solidFill>
                    <a:srgbClr val="660033"/>
                  </a:solidFill>
                  <a:latin typeface="Times New Roman" panose="02020603050405020304" pitchFamily="18" charset="0"/>
                </a:rPr>
                <a:t>全局变量环境	</a:t>
              </a:r>
              <a:endParaRPr lang="zh-CN" altLang="en-US" sz="2400" i="1" dirty="0">
                <a:solidFill>
                  <a:srgbClr val="660033"/>
                </a:solidFill>
                <a:latin typeface="Times New Roman" panose="02020603050405020304" pitchFamily="18" charset="0"/>
              </a:endParaRPr>
            </a:p>
          </p:txBody>
        </p:sp>
        <p:sp>
          <p:nvSpPr>
            <p:cNvPr id="26653" name="Rectangle 7"/>
            <p:cNvSpPr/>
            <p:nvPr/>
          </p:nvSpPr>
          <p:spPr>
            <a:xfrm>
              <a:off x="432" y="2592"/>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返回值</a:t>
              </a:r>
              <a:endParaRPr lang="zh-CN" altLang="en-US" sz="2400" i="1" dirty="0">
                <a:solidFill>
                  <a:srgbClr val="660033"/>
                </a:solidFill>
                <a:latin typeface="Times New Roman" panose="02020603050405020304" pitchFamily="18" charset="0"/>
              </a:endParaRPr>
            </a:p>
          </p:txBody>
        </p:sp>
        <p:sp>
          <p:nvSpPr>
            <p:cNvPr id="26654" name="Rectangle 48"/>
            <p:cNvSpPr/>
            <p:nvPr/>
          </p:nvSpPr>
          <p:spPr>
            <a:xfrm>
              <a:off x="432" y="2256"/>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en-US" altLang="zh-CN" sz="2400" i="1" dirty="0">
                  <a:solidFill>
                    <a:srgbClr val="660033"/>
                  </a:solidFill>
                  <a:latin typeface="Times New Roman" panose="02020603050405020304" pitchFamily="18" charset="0"/>
                </a:rPr>
                <a:t> </a:t>
              </a:r>
              <a:r>
                <a:rPr lang="zh-CN" altLang="en-US" sz="2400" i="1" dirty="0">
                  <a:solidFill>
                    <a:srgbClr val="660033"/>
                  </a:solidFill>
                  <a:latin typeface="Times New Roman" panose="02020603050405020304" pitchFamily="18" charset="0"/>
                </a:rPr>
                <a:t>形参变量区	</a:t>
              </a:r>
              <a:endParaRPr lang="zh-CN" altLang="en-US" sz="2400" i="1" dirty="0">
                <a:solidFill>
                  <a:srgbClr val="660033"/>
                </a:solidFill>
                <a:latin typeface="Times New Roman" panose="02020603050405020304" pitchFamily="18" charset="0"/>
              </a:endParaRPr>
            </a:p>
          </p:txBody>
        </p:sp>
        <p:sp>
          <p:nvSpPr>
            <p:cNvPr id="26655" name="Rectangle 10"/>
            <p:cNvSpPr/>
            <p:nvPr/>
          </p:nvSpPr>
          <p:spPr>
            <a:xfrm>
              <a:off x="432" y="1927"/>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zh-CN" altLang="en-US" sz="2400" i="1" dirty="0">
                  <a:solidFill>
                    <a:srgbClr val="660033"/>
                  </a:solidFill>
                  <a:latin typeface="Times New Roman" panose="02020603050405020304" pitchFamily="18" charset="0"/>
                </a:rPr>
                <a:t>局部变量区</a:t>
              </a:r>
              <a:endParaRPr lang="zh-CN" altLang="en-US" sz="2400" i="1" dirty="0">
                <a:solidFill>
                  <a:srgbClr val="660033"/>
                </a:solidFill>
                <a:latin typeface="Times New Roman" panose="02020603050405020304" pitchFamily="18" charset="0"/>
              </a:endParaRPr>
            </a:p>
          </p:txBody>
        </p:sp>
        <p:sp>
          <p:nvSpPr>
            <p:cNvPr id="26656" name="Rectangle 11"/>
            <p:cNvSpPr/>
            <p:nvPr/>
          </p:nvSpPr>
          <p:spPr>
            <a:xfrm>
              <a:off x="432" y="1598"/>
              <a:ext cx="1488" cy="329"/>
            </a:xfrm>
            <a:prstGeom prst="rect">
              <a:avLst/>
            </a:prstGeom>
            <a:solidFill>
              <a:srgbClr val="99FFCC"/>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FFCC"/>
              </a:extrusionClr>
            </a:sp3d>
          </p:spPr>
          <p:txBody>
            <a:bodyPr wrap="none" anchor="ctr" anchorCtr="0">
              <a:flatTx/>
            </a:bodyPr>
            <a:p>
              <a:pPr algn="ctr" eaLnBrk="0" hangingPunct="0"/>
              <a:r>
                <a:rPr lang="en-US" altLang="zh-CN" sz="2400" i="1" dirty="0">
                  <a:solidFill>
                    <a:srgbClr val="660033"/>
                  </a:solidFill>
                  <a:latin typeface="Times New Roman" panose="02020603050405020304" pitchFamily="18" charset="0"/>
                </a:rPr>
                <a:t>  </a:t>
              </a:r>
              <a:r>
                <a:rPr lang="zh-CN" altLang="en-US" sz="2400" i="1" dirty="0">
                  <a:solidFill>
                    <a:srgbClr val="660033"/>
                  </a:solidFill>
                  <a:latin typeface="Times New Roman" panose="02020603050405020304" pitchFamily="18" charset="0"/>
                </a:rPr>
                <a:t>临时变量区	</a:t>
              </a:r>
              <a:endParaRPr lang="zh-CN" altLang="en-US" sz="2400" i="1" dirty="0">
                <a:solidFill>
                  <a:srgbClr val="660033"/>
                </a:solidFill>
                <a:latin typeface="Times New Roman" panose="02020603050405020304" pitchFamily="18" charset="0"/>
              </a:endParaRPr>
            </a:p>
          </p:txBody>
        </p:sp>
      </p:grpSp>
      <p:sp>
        <p:nvSpPr>
          <p:cNvPr id="26629" name="Line 51"/>
          <p:cNvSpPr/>
          <p:nvPr/>
        </p:nvSpPr>
        <p:spPr>
          <a:xfrm flipH="1">
            <a:off x="3835400" y="2133600"/>
            <a:ext cx="1905000" cy="0"/>
          </a:xfrm>
          <a:prstGeom prst="line">
            <a:avLst/>
          </a:prstGeom>
          <a:ln w="9525" cap="flat" cmpd="sng">
            <a:solidFill>
              <a:schemeClr val="tx1"/>
            </a:solidFill>
            <a:prstDash val="solid"/>
            <a:headEnd type="none" w="med" len="med"/>
            <a:tailEnd type="none" w="med" len="med"/>
          </a:ln>
        </p:spPr>
      </p:sp>
      <p:sp>
        <p:nvSpPr>
          <p:cNvPr id="26630" name="Line 52"/>
          <p:cNvSpPr/>
          <p:nvPr/>
        </p:nvSpPr>
        <p:spPr>
          <a:xfrm flipH="1">
            <a:off x="3822700" y="4013200"/>
            <a:ext cx="1905000" cy="0"/>
          </a:xfrm>
          <a:prstGeom prst="line">
            <a:avLst/>
          </a:prstGeom>
          <a:ln w="9525" cap="flat" cmpd="sng">
            <a:solidFill>
              <a:schemeClr val="tx1"/>
            </a:solidFill>
            <a:prstDash val="solid"/>
            <a:headEnd type="none" w="med" len="med"/>
            <a:tailEnd type="none" w="med" len="med"/>
          </a:ln>
        </p:spPr>
      </p:sp>
      <p:sp>
        <p:nvSpPr>
          <p:cNvPr id="26631" name="Line 53"/>
          <p:cNvSpPr/>
          <p:nvPr/>
        </p:nvSpPr>
        <p:spPr>
          <a:xfrm flipH="1">
            <a:off x="3822700" y="4495800"/>
            <a:ext cx="1905000" cy="0"/>
          </a:xfrm>
          <a:prstGeom prst="line">
            <a:avLst/>
          </a:prstGeom>
          <a:ln w="9525" cap="flat" cmpd="sng">
            <a:solidFill>
              <a:schemeClr val="tx1"/>
            </a:solidFill>
            <a:prstDash val="solid"/>
            <a:headEnd type="none" w="med" len="med"/>
            <a:tailEnd type="none" w="med" len="med"/>
          </a:ln>
        </p:spPr>
      </p:sp>
      <p:sp>
        <p:nvSpPr>
          <p:cNvPr id="26632" name="Line 54"/>
          <p:cNvSpPr/>
          <p:nvPr/>
        </p:nvSpPr>
        <p:spPr>
          <a:xfrm flipH="1">
            <a:off x="3810000" y="4965700"/>
            <a:ext cx="1905000" cy="0"/>
          </a:xfrm>
          <a:prstGeom prst="line">
            <a:avLst/>
          </a:prstGeom>
          <a:ln w="9525" cap="flat" cmpd="sng">
            <a:solidFill>
              <a:schemeClr val="tx1"/>
            </a:solidFill>
            <a:prstDash val="solid"/>
            <a:headEnd type="none" w="med" len="med"/>
            <a:tailEnd type="none" w="med" len="med"/>
          </a:ln>
        </p:spPr>
      </p:sp>
      <p:sp>
        <p:nvSpPr>
          <p:cNvPr id="26633" name="Line 55"/>
          <p:cNvSpPr/>
          <p:nvPr/>
        </p:nvSpPr>
        <p:spPr>
          <a:xfrm flipH="1">
            <a:off x="3835400" y="6375400"/>
            <a:ext cx="1905000" cy="0"/>
          </a:xfrm>
          <a:prstGeom prst="line">
            <a:avLst/>
          </a:prstGeom>
          <a:ln w="9525" cap="flat" cmpd="sng">
            <a:solidFill>
              <a:schemeClr val="tx1"/>
            </a:solidFill>
            <a:prstDash val="solid"/>
            <a:headEnd type="none" w="med" len="med"/>
            <a:tailEnd type="none" w="med" len="med"/>
          </a:ln>
        </p:spPr>
      </p:sp>
      <p:sp>
        <p:nvSpPr>
          <p:cNvPr id="26634" name="Line 56"/>
          <p:cNvSpPr/>
          <p:nvPr/>
        </p:nvSpPr>
        <p:spPr>
          <a:xfrm>
            <a:off x="4597400" y="2133600"/>
            <a:ext cx="0" cy="533400"/>
          </a:xfrm>
          <a:prstGeom prst="line">
            <a:avLst/>
          </a:prstGeom>
          <a:ln w="9525" cap="flat" cmpd="sng">
            <a:solidFill>
              <a:schemeClr val="tx1"/>
            </a:solidFill>
            <a:prstDash val="solid"/>
            <a:headEnd type="none" w="med" len="med"/>
            <a:tailEnd type="triangle" w="med" len="med"/>
          </a:ln>
        </p:spPr>
      </p:sp>
      <p:sp>
        <p:nvSpPr>
          <p:cNvPr id="26635" name="Line 57"/>
          <p:cNvSpPr/>
          <p:nvPr/>
        </p:nvSpPr>
        <p:spPr>
          <a:xfrm flipV="1">
            <a:off x="4597400" y="3581400"/>
            <a:ext cx="0" cy="431800"/>
          </a:xfrm>
          <a:prstGeom prst="line">
            <a:avLst/>
          </a:prstGeom>
          <a:ln w="9525" cap="flat" cmpd="sng">
            <a:solidFill>
              <a:schemeClr val="tx1"/>
            </a:solidFill>
            <a:prstDash val="solid"/>
            <a:headEnd type="none" w="med" len="med"/>
            <a:tailEnd type="triangle" w="med" len="med"/>
          </a:ln>
        </p:spPr>
      </p:sp>
      <p:sp>
        <p:nvSpPr>
          <p:cNvPr id="26636" name="Text Box 58"/>
          <p:cNvSpPr txBox="1"/>
          <p:nvPr/>
        </p:nvSpPr>
        <p:spPr>
          <a:xfrm>
            <a:off x="4064000" y="2651125"/>
            <a:ext cx="1295400" cy="701675"/>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本层变量和返回值</a:t>
            </a:r>
            <a:endParaRPr lang="zh-CN" altLang="en-US" dirty="0">
              <a:latin typeface="Times New Roman" panose="02020603050405020304" pitchFamily="18" charset="0"/>
            </a:endParaRPr>
          </a:p>
        </p:txBody>
      </p:sp>
      <p:sp>
        <p:nvSpPr>
          <p:cNvPr id="26637" name="Rectangle 59"/>
          <p:cNvSpPr/>
          <p:nvPr/>
        </p:nvSpPr>
        <p:spPr>
          <a:xfrm>
            <a:off x="3835400" y="4073525"/>
            <a:ext cx="1717675" cy="396875"/>
          </a:xfrm>
          <a:prstGeom prst="rect">
            <a:avLst/>
          </a:prstGeom>
          <a:noFill/>
          <a:ln w="9525">
            <a:noFill/>
          </a:ln>
        </p:spPr>
        <p:txBody>
          <a:bodyPr wrap="none">
            <a:spAutoFit/>
          </a:bodyPr>
          <a:p>
            <a:r>
              <a:rPr lang="zh-CN" altLang="en-US" dirty="0">
                <a:latin typeface="Times New Roman" panose="02020603050405020304" pitchFamily="18" charset="0"/>
              </a:rPr>
              <a:t>全局变量信息</a:t>
            </a:r>
            <a:endParaRPr lang="zh-CN" altLang="en-US" dirty="0">
              <a:latin typeface="Times New Roman" panose="02020603050405020304" pitchFamily="18" charset="0"/>
            </a:endParaRPr>
          </a:p>
        </p:txBody>
      </p:sp>
      <p:sp>
        <p:nvSpPr>
          <p:cNvPr id="26638" name="Rectangle 60"/>
          <p:cNvSpPr/>
          <p:nvPr/>
        </p:nvSpPr>
        <p:spPr>
          <a:xfrm>
            <a:off x="3835400" y="4556125"/>
            <a:ext cx="1717675" cy="396875"/>
          </a:xfrm>
          <a:prstGeom prst="rect">
            <a:avLst/>
          </a:prstGeom>
          <a:noFill/>
          <a:ln w="9525">
            <a:noFill/>
          </a:ln>
        </p:spPr>
        <p:txBody>
          <a:bodyPr wrap="none">
            <a:spAutoFit/>
          </a:bodyPr>
          <a:p>
            <a:r>
              <a:rPr lang="zh-CN" altLang="en-US" dirty="0">
                <a:latin typeface="Times New Roman" panose="02020603050405020304" pitchFamily="18" charset="0"/>
              </a:rPr>
              <a:t>机器状态信息</a:t>
            </a:r>
            <a:endParaRPr lang="zh-CN" altLang="en-US" dirty="0">
              <a:latin typeface="Times New Roman" panose="02020603050405020304" pitchFamily="18" charset="0"/>
            </a:endParaRPr>
          </a:p>
        </p:txBody>
      </p:sp>
      <p:sp>
        <p:nvSpPr>
          <p:cNvPr id="26639" name="Rectangle 61"/>
          <p:cNvSpPr/>
          <p:nvPr/>
        </p:nvSpPr>
        <p:spPr>
          <a:xfrm>
            <a:off x="3835400" y="5470525"/>
            <a:ext cx="1717675" cy="396875"/>
          </a:xfrm>
          <a:prstGeom prst="rect">
            <a:avLst/>
          </a:prstGeom>
          <a:noFill/>
          <a:ln w="9525">
            <a:noFill/>
          </a:ln>
        </p:spPr>
        <p:txBody>
          <a:bodyPr wrap="none">
            <a:spAutoFit/>
          </a:bodyPr>
          <a:p>
            <a:r>
              <a:rPr lang="zh-CN" altLang="en-US" dirty="0">
                <a:latin typeface="Times New Roman" panose="02020603050405020304" pitchFamily="18" charset="0"/>
              </a:rPr>
              <a:t>控制状态信息</a:t>
            </a:r>
            <a:endParaRPr lang="zh-CN" altLang="en-US" dirty="0">
              <a:latin typeface="Times New Roman" panose="02020603050405020304" pitchFamily="18" charset="0"/>
            </a:endParaRPr>
          </a:p>
        </p:txBody>
      </p:sp>
      <p:sp>
        <p:nvSpPr>
          <p:cNvPr id="26640" name="Line 62"/>
          <p:cNvSpPr/>
          <p:nvPr/>
        </p:nvSpPr>
        <p:spPr>
          <a:xfrm>
            <a:off x="4597400" y="4965700"/>
            <a:ext cx="0" cy="444500"/>
          </a:xfrm>
          <a:prstGeom prst="line">
            <a:avLst/>
          </a:prstGeom>
          <a:ln w="9525" cap="flat" cmpd="sng">
            <a:solidFill>
              <a:schemeClr val="tx1"/>
            </a:solidFill>
            <a:prstDash val="solid"/>
            <a:headEnd type="none" w="med" len="med"/>
            <a:tailEnd type="triangle" w="med" len="med"/>
          </a:ln>
        </p:spPr>
      </p:sp>
      <p:sp>
        <p:nvSpPr>
          <p:cNvPr id="26641" name="Line 63"/>
          <p:cNvSpPr/>
          <p:nvPr/>
        </p:nvSpPr>
        <p:spPr>
          <a:xfrm flipV="1">
            <a:off x="4597400" y="5943600"/>
            <a:ext cx="0" cy="431800"/>
          </a:xfrm>
          <a:prstGeom prst="line">
            <a:avLst/>
          </a:prstGeom>
          <a:ln w="9525" cap="flat" cmpd="sng">
            <a:solidFill>
              <a:schemeClr val="tx1"/>
            </a:solidFill>
            <a:prstDash val="solid"/>
            <a:headEnd type="none" w="med" len="med"/>
            <a:tailEnd type="triangle" w="med" len="med"/>
          </a:ln>
        </p:spPr>
      </p:sp>
      <p:sp>
        <p:nvSpPr>
          <p:cNvPr id="26642" name="Text Box 64"/>
          <p:cNvSpPr txBox="1"/>
          <p:nvPr/>
        </p:nvSpPr>
        <p:spPr>
          <a:xfrm>
            <a:off x="642938" y="2928938"/>
            <a:ext cx="2971800" cy="1816100"/>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其中</a:t>
            </a:r>
            <a:r>
              <a:rPr lang="en-US" altLang="zh-CN" sz="2800" dirty="0">
                <a:latin typeface="Times New Roman" panose="02020603050405020304" pitchFamily="18" charset="0"/>
              </a:rPr>
              <a:t>sp(Stack  Pointer)</a:t>
            </a:r>
            <a:r>
              <a:rPr lang="zh-CN" altLang="en-US" sz="2800" dirty="0">
                <a:latin typeface="Times New Roman" panose="02020603050405020304" pitchFamily="18" charset="0"/>
              </a:rPr>
              <a:t>表示栈指针，它始终指向当前</a:t>
            </a:r>
            <a:r>
              <a:rPr lang="en-US" altLang="zh-CN" sz="2800" dirty="0">
                <a:latin typeface="Times New Roman" panose="02020603050405020304" pitchFamily="18" charset="0"/>
              </a:rPr>
              <a:t>AR</a:t>
            </a:r>
            <a:r>
              <a:rPr lang="zh-CN" altLang="en-US" sz="2800" dirty="0">
                <a:latin typeface="Times New Roman" panose="02020603050405020304" pitchFamily="18" charset="0"/>
              </a:rPr>
              <a:t>的</a:t>
            </a:r>
            <a:r>
              <a:rPr lang="zh-CN" altLang="en-US" sz="2800" dirty="0">
                <a:solidFill>
                  <a:srgbClr val="FF0000"/>
                </a:solidFill>
                <a:latin typeface="Times New Roman" panose="02020603050405020304" pitchFamily="18" charset="0"/>
              </a:rPr>
              <a:t>始地址</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26643" name="Rectangle 68"/>
          <p:cNvSpPr/>
          <p:nvPr/>
        </p:nvSpPr>
        <p:spPr>
          <a:xfrm>
            <a:off x="8610600" y="5715000"/>
            <a:ext cx="455613" cy="457200"/>
          </a:xfrm>
          <a:prstGeom prst="rect">
            <a:avLst/>
          </a:prstGeom>
          <a:noFill/>
          <a:ln w="9525">
            <a:noFill/>
          </a:ln>
        </p:spPr>
        <p:txBody>
          <a:bodyPr wrap="none">
            <a:spAutoFit/>
          </a:bodyPr>
          <a:p>
            <a:r>
              <a:rPr lang="en-US" altLang="zh-CN" sz="2400" i="1" dirty="0">
                <a:solidFill>
                  <a:srgbClr val="660033"/>
                </a:solidFill>
                <a:latin typeface="Times New Roman" panose="02020603050405020304" pitchFamily="18" charset="0"/>
              </a:rPr>
              <a:t>sp</a:t>
            </a:r>
            <a:endParaRPr lang="en-US" altLang="zh-CN" sz="2400" i="1" dirty="0">
              <a:solidFill>
                <a:srgbClr val="660033"/>
              </a:solidFill>
              <a:latin typeface="Times New Roman" panose="02020603050405020304" pitchFamily="18" charset="0"/>
            </a:endParaRPr>
          </a:p>
        </p:txBody>
      </p:sp>
      <p:sp>
        <p:nvSpPr>
          <p:cNvPr id="26644" name="Line 69"/>
          <p:cNvSpPr/>
          <p:nvPr/>
        </p:nvSpPr>
        <p:spPr>
          <a:xfrm flipH="1">
            <a:off x="8153400" y="6096000"/>
            <a:ext cx="457200" cy="0"/>
          </a:xfrm>
          <a:prstGeom prst="line">
            <a:avLst/>
          </a:prstGeom>
          <a:ln w="9525" cap="flat" cmpd="sng">
            <a:solidFill>
              <a:schemeClr val="tx1"/>
            </a:solidFill>
            <a:prstDash val="solid"/>
            <a:headEnd type="none" w="med" len="med"/>
            <a:tailEnd type="triangle" w="med" len="med"/>
          </a:ln>
        </p:spPr>
      </p:sp>
      <p:sp>
        <p:nvSpPr>
          <p:cNvPr id="26645" name="Line 70"/>
          <p:cNvSpPr/>
          <p:nvPr/>
        </p:nvSpPr>
        <p:spPr>
          <a:xfrm>
            <a:off x="7620000" y="6172200"/>
            <a:ext cx="381000" cy="0"/>
          </a:xfrm>
          <a:prstGeom prst="line">
            <a:avLst/>
          </a:prstGeom>
          <a:ln w="9525" cap="flat" cmpd="sng">
            <a:solidFill>
              <a:schemeClr val="tx1"/>
            </a:solidFill>
            <a:prstDash val="solid"/>
            <a:headEnd type="none" w="med" len="med"/>
            <a:tailEnd type="none" w="med" len="med"/>
          </a:ln>
        </p:spPr>
      </p:sp>
      <p:sp>
        <p:nvSpPr>
          <p:cNvPr id="26646" name="Line 71"/>
          <p:cNvSpPr/>
          <p:nvPr/>
        </p:nvSpPr>
        <p:spPr>
          <a:xfrm>
            <a:off x="8001000" y="6172200"/>
            <a:ext cx="0" cy="304800"/>
          </a:xfrm>
          <a:prstGeom prst="line">
            <a:avLst/>
          </a:prstGeom>
          <a:ln w="9525" cap="flat" cmpd="sng">
            <a:solidFill>
              <a:schemeClr val="tx1"/>
            </a:solidFill>
            <a:prstDash val="solid"/>
            <a:headEnd type="none" w="med" len="med"/>
            <a:tailEnd type="triangle" w="med" len="med"/>
          </a:ln>
        </p:spPr>
      </p:sp>
      <p:sp>
        <p:nvSpPr>
          <p:cNvPr id="26647" name="Line 72"/>
          <p:cNvSpPr/>
          <p:nvPr/>
        </p:nvSpPr>
        <p:spPr>
          <a:xfrm flipV="1">
            <a:off x="8458200" y="2362200"/>
            <a:ext cx="0" cy="3581400"/>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p:cNvSpPr>
          <p:nvPr>
            <p:ph idx="1"/>
          </p:nvPr>
        </p:nvSpPr>
        <p:spPr>
          <a:xfrm>
            <a:off x="214313" y="1000125"/>
            <a:ext cx="4929187" cy="5286375"/>
          </a:xfrm>
        </p:spPr>
        <p:txBody>
          <a:bodyPr vert="horz" wrap="square" lIns="91440" tIns="45720" rIns="91440" bIns="45720" anchor="t" anchorCtr="0"/>
          <a:p>
            <a:pPr algn="just" eaLnBrk="1" hangingPunct="1">
              <a:spcBef>
                <a:spcPct val="0"/>
              </a:spcBef>
              <a:buFontTx/>
              <a:buNone/>
            </a:pPr>
            <a:r>
              <a:rPr lang="en-US" altLang="zh-CN" sz="2800" b="1" dirty="0">
                <a:latin typeface="Times New Roman" panose="02020603050405020304" pitchFamily="18" charset="0"/>
              </a:rPr>
              <a:t>void  p(int i)</a:t>
            </a:r>
            <a:endParaRPr lang="en-US" altLang="zh-CN" sz="2800" b="1" dirty="0">
              <a:latin typeface="Times New Roman" panose="02020603050405020304" pitchFamily="18" charset="0"/>
            </a:endParaRPr>
          </a:p>
          <a:p>
            <a:pPr algn="just" eaLnBrk="1" hangingPunct="1">
              <a:spcBef>
                <a:spcPct val="0"/>
              </a:spcBef>
              <a:buFontTx/>
              <a:buNone/>
            </a:pP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a:p>
            <a:pPr algn="just" eaLnBrk="1" hangingPunct="1">
              <a:spcBef>
                <a:spcPct val="0"/>
              </a:spcBef>
              <a:buFontTx/>
              <a:buNone/>
            </a:pPr>
            <a:r>
              <a:rPr lang="en-US" altLang="zh-CN" sz="2800" b="1" dirty="0">
                <a:latin typeface="Times New Roman" panose="02020603050405020304" pitchFamily="18" charset="0"/>
              </a:rPr>
              <a:t>float  y; </a:t>
            </a:r>
            <a:endParaRPr lang="en-US" altLang="zh-CN" sz="2800" b="1" dirty="0">
              <a:latin typeface="Times New Roman" panose="02020603050405020304" pitchFamily="18" charset="0"/>
            </a:endParaRPr>
          </a:p>
          <a:p>
            <a:pPr algn="just" eaLnBrk="1" hangingPunct="1">
              <a:spcBef>
                <a:spcPct val="0"/>
              </a:spcBef>
              <a:buFontTx/>
              <a:buNone/>
            </a:pPr>
            <a:r>
              <a:rPr lang="en-US" altLang="zh-CN" sz="2800" b="1" dirty="0">
                <a:latin typeface="Times New Roman" panose="02020603050405020304" pitchFamily="18" charset="0"/>
              </a:rPr>
              <a:t> int   a[10];</a:t>
            </a:r>
            <a:endParaRPr lang="en-US" altLang="zh-CN" sz="2800" b="1" dirty="0">
              <a:latin typeface="Times New Roman" panose="02020603050405020304" pitchFamily="18" charset="0"/>
            </a:endParaRPr>
          </a:p>
          <a:p>
            <a:pPr algn="just" eaLnBrk="1" hangingPunct="1">
              <a:spcBef>
                <a:spcPct val="0"/>
              </a:spcBef>
              <a:buFontTx/>
              <a:buNone/>
            </a:pPr>
            <a:r>
              <a:rPr lang="en-US" altLang="zh-CN" sz="2800" b="1" dirty="0">
                <a:latin typeface="Times New Roman" panose="02020603050405020304" pitchFamily="18" charset="0"/>
              </a:rPr>
              <a:t> y = a[i] * 25;</a:t>
            </a:r>
            <a:endParaRPr lang="en-US" altLang="zh-CN" sz="2800" b="1" dirty="0">
              <a:latin typeface="Times New Roman" panose="02020603050405020304" pitchFamily="18" charset="0"/>
            </a:endParaRPr>
          </a:p>
          <a:p>
            <a:pPr algn="just" eaLnBrk="1" hangingPunct="1">
              <a:spcBef>
                <a:spcPct val="0"/>
              </a:spcBef>
              <a:buFontTx/>
              <a:buNone/>
            </a:pP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a:p>
            <a:pPr algn="just" eaLnBrk="1" hangingPunct="1">
              <a:spcBef>
                <a:spcPct val="0"/>
              </a:spcBef>
              <a:buFontTx/>
              <a:buNone/>
            </a:pPr>
            <a:endParaRPr lang="en-US" altLang="zh-CN" sz="2800" b="1" dirty="0">
              <a:latin typeface="Times New Roman" panose="02020603050405020304" pitchFamily="18" charset="0"/>
            </a:endParaRPr>
          </a:p>
          <a:p>
            <a:pPr algn="just" eaLnBrk="1" hangingPunct="1">
              <a:spcBef>
                <a:spcPct val="0"/>
              </a:spcBef>
              <a:buFontTx/>
              <a:buNone/>
            </a:pPr>
            <a:r>
              <a:rPr lang="zh-CN" altLang="en-US" sz="2800" b="1" dirty="0">
                <a:latin typeface="Times New Roman" panose="02020603050405020304" pitchFamily="18" charset="0"/>
              </a:rPr>
              <a:t>调用</a:t>
            </a:r>
            <a:r>
              <a:rPr lang="en-US" altLang="zh-CN" sz="2800" b="1" dirty="0">
                <a:latin typeface="Times New Roman" panose="02020603050405020304" pitchFamily="18" charset="0"/>
              </a:rPr>
              <a:t>p</a:t>
            </a:r>
            <a:r>
              <a:rPr lang="zh-CN" altLang="en-US" sz="2800" b="1" dirty="0">
                <a:latin typeface="Times New Roman" panose="02020603050405020304" pitchFamily="18" charset="0"/>
              </a:rPr>
              <a:t>时的</a:t>
            </a:r>
            <a:r>
              <a:rPr lang="zh-CN" altLang="en-US" sz="2800" b="1" dirty="0">
                <a:solidFill>
                  <a:srgbClr val="FF0000"/>
                </a:solidFill>
                <a:latin typeface="Times New Roman" panose="02020603050405020304" pitchFamily="18" charset="0"/>
              </a:rPr>
              <a:t>活动记录</a:t>
            </a:r>
            <a:r>
              <a:rPr lang="en-US" altLang="zh-CN" sz="2800" b="1" dirty="0">
                <a:solidFill>
                  <a:srgbClr val="FF0000"/>
                </a:solidFill>
                <a:latin typeface="Times New Roman" panose="02020603050405020304" pitchFamily="18" charset="0"/>
              </a:rPr>
              <a:t>AR</a:t>
            </a:r>
            <a:r>
              <a:rPr lang="zh-CN" altLang="en-US" sz="2800" b="1" dirty="0">
                <a:latin typeface="Times New Roman" panose="02020603050405020304" pitchFamily="18" charset="0"/>
              </a:rPr>
              <a:t>结构如右图所示。其中假设整数占四个单元，实数占八个单元，同时假定形参开始的偏移量</a:t>
            </a:r>
            <a:r>
              <a:rPr lang="en-US" altLang="zh-CN" sz="2800" b="1" dirty="0">
                <a:latin typeface="Times New Roman" panose="02020603050405020304" pitchFamily="18" charset="0"/>
              </a:rPr>
              <a:t>Offset</a:t>
            </a:r>
            <a:r>
              <a:rPr lang="zh-CN" altLang="en-US" sz="2800" b="1" dirty="0">
                <a:latin typeface="Times New Roman" panose="02020603050405020304" pitchFamily="18" charset="0"/>
              </a:rPr>
              <a:t>为</a:t>
            </a:r>
            <a:r>
              <a:rPr lang="en-US" altLang="zh-CN" sz="2800" b="1" dirty="0">
                <a:latin typeface="Times New Roman" panose="02020603050405020304" pitchFamily="18" charset="0"/>
              </a:rPr>
              <a:t>20</a:t>
            </a:r>
            <a:r>
              <a:rPr lang="zh-CN" altLang="en-US" sz="2800" b="1" dirty="0">
                <a:solidFill>
                  <a:schemeClr val="tx2"/>
                </a:solidFill>
                <a:latin typeface="Times New Roman" panose="02020603050405020304" pitchFamily="18" charset="0"/>
              </a:rPr>
              <a:t>。</a:t>
            </a:r>
            <a:endParaRPr lang="zh-CN" altLang="en-US" sz="2800" b="1" dirty="0">
              <a:solidFill>
                <a:schemeClr val="tx2"/>
              </a:solidFill>
              <a:latin typeface="Times New Roman" panose="02020603050405020304" pitchFamily="18" charset="0"/>
            </a:endParaRPr>
          </a:p>
        </p:txBody>
      </p:sp>
      <p:sp>
        <p:nvSpPr>
          <p:cNvPr id="13314" name="Rectangle 2"/>
          <p:cNvSpPr>
            <a:spLocks noGrp="1" noChangeArrowheads="1"/>
          </p:cNvSpPr>
          <p:nvPr>
            <p:ph type="title"/>
          </p:nvPr>
        </p:nvSpPr>
        <p:spPr>
          <a:xfrm>
            <a:off x="457200" y="457200"/>
            <a:ext cx="7772400" cy="5334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rPr>
              <a:t>假设有下面过程：</a:t>
            </a:r>
            <a:endParaRPr kumimoji="0" lang="zh-CN" altLang="en-US" sz="2800" b="1" i="0" u="none" strike="noStrike" kern="1200" cap="none" spc="0" normalizeH="0" baseline="0" noProof="0" smtClean="0">
              <a:ln>
                <a:noFill/>
              </a:ln>
              <a:solidFill>
                <a:schemeClr val="tx1"/>
              </a:solidFill>
              <a:effectLst>
                <a:outerShdw blurRad="31750" dist="25400" dir="5400000" algn="tl" rotWithShape="0">
                  <a:srgbClr val="000000">
                    <a:alpha val="25000"/>
                  </a:srgbClr>
                </a:outerShdw>
              </a:effectLst>
              <a:uLnTx/>
              <a:uFillTx/>
              <a:latin typeface="宋体" panose="02010600030101010101" pitchFamily="2" charset="-122"/>
              <a:ea typeface="+mj-ea"/>
              <a:cs typeface="+mj-cs"/>
            </a:endParaRPr>
          </a:p>
        </p:txBody>
      </p:sp>
      <p:graphicFrame>
        <p:nvGraphicFramePr>
          <p:cNvPr id="27652" name="表格 27651"/>
          <p:cNvGraphicFramePr/>
          <p:nvPr/>
        </p:nvGraphicFramePr>
        <p:xfrm>
          <a:off x="6877050" y="1736725"/>
          <a:ext cx="1981200" cy="4089400"/>
        </p:xfrm>
        <a:graphic>
          <a:graphicData uri="http://schemas.openxmlformats.org/drawingml/2006/table">
            <a:tbl>
              <a:tblPr/>
              <a:tblGrid>
                <a:gridCol w="1981200"/>
              </a:tblGrid>
              <a:tr h="6064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en-US" altLang="zh-CN" sz="2800" b="0" dirty="0">
                          <a:solidFill>
                            <a:srgbClr val="FF0000"/>
                          </a:solidFill>
                          <a:latin typeface="Tahoma" panose="020B0604030504040204" pitchFamily="34" charset="0"/>
                        </a:rPr>
                        <a:t>a</a:t>
                      </a:r>
                      <a:endParaRPr lang="en-US" altLang="zh-CN" sz="2800" b="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9438">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en-US" altLang="zh-CN" sz="2800" b="0" dirty="0">
                          <a:solidFill>
                            <a:srgbClr val="FF0000"/>
                          </a:solidFill>
                          <a:latin typeface="Tahoma" panose="020B0604030504040204" pitchFamily="34" charset="0"/>
                        </a:rPr>
                        <a:t>y</a:t>
                      </a:r>
                      <a:endParaRPr lang="en-US" altLang="zh-CN" sz="2800" b="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810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en-US" altLang="zh-CN" sz="2800" b="0" dirty="0">
                          <a:solidFill>
                            <a:srgbClr val="FF0000"/>
                          </a:solidFill>
                          <a:latin typeface="Tahoma" panose="020B0604030504040204" pitchFamily="34" charset="0"/>
                        </a:rPr>
                        <a:t>i</a:t>
                      </a:r>
                      <a:endParaRPr lang="en-US" altLang="zh-CN" sz="2800" b="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810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zh-CN" altLang="en-US" sz="2800" dirty="0">
                          <a:solidFill>
                            <a:srgbClr val="FF0000"/>
                          </a:solidFill>
                          <a:latin typeface="Tahoma" panose="020B0604030504040204" pitchFamily="34" charset="0"/>
                        </a:rPr>
                        <a:t>返回值</a:t>
                      </a:r>
                      <a:endParaRPr lang="zh-CN" altLang="en-US" sz="280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810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zh-CN" altLang="en-US" sz="2800" dirty="0">
                          <a:solidFill>
                            <a:srgbClr val="FF0000"/>
                          </a:solidFill>
                          <a:latin typeface="Tahoma" panose="020B0604030504040204" pitchFamily="34" charset="0"/>
                        </a:rPr>
                        <a:t>全局信息</a:t>
                      </a:r>
                      <a:endParaRPr lang="zh-CN" altLang="en-US" sz="280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9437">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zh-CN" altLang="en-US" sz="2800" dirty="0">
                          <a:solidFill>
                            <a:srgbClr val="FF0000"/>
                          </a:solidFill>
                          <a:latin typeface="Tahoma" panose="020B0604030504040204" pitchFamily="34" charset="0"/>
                        </a:rPr>
                        <a:t>机器信息</a:t>
                      </a:r>
                      <a:endParaRPr lang="zh-CN" altLang="en-US" sz="280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810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accent1"/>
                        </a:buClr>
                        <a:buNone/>
                      </a:pPr>
                      <a:r>
                        <a:rPr lang="zh-CN" altLang="en-US" sz="2800" dirty="0">
                          <a:solidFill>
                            <a:srgbClr val="FF0000"/>
                          </a:solidFill>
                          <a:latin typeface="Tahoma" panose="020B0604030504040204" pitchFamily="34" charset="0"/>
                        </a:rPr>
                        <a:t>控制信息</a:t>
                      </a:r>
                      <a:endParaRPr lang="zh-CN" altLang="en-US" sz="2800" dirty="0">
                        <a:solidFill>
                          <a:srgbClr val="FF0000"/>
                        </a:solidFill>
                        <a:latin typeface="Tahoma" panose="020B0604030504040204" pitchFamily="34"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7670" name="Line 27"/>
          <p:cNvSpPr/>
          <p:nvPr/>
        </p:nvSpPr>
        <p:spPr>
          <a:xfrm>
            <a:off x="5886450" y="5851525"/>
            <a:ext cx="914400" cy="0"/>
          </a:xfrm>
          <a:prstGeom prst="line">
            <a:avLst/>
          </a:prstGeom>
          <a:ln w="9525" cap="flat" cmpd="sng">
            <a:solidFill>
              <a:schemeClr val="tx1"/>
            </a:solidFill>
            <a:prstDash val="solid"/>
            <a:headEnd type="none" w="med" len="med"/>
            <a:tailEnd type="triangle" w="med" len="med"/>
          </a:ln>
        </p:spPr>
      </p:sp>
      <p:sp>
        <p:nvSpPr>
          <p:cNvPr id="27671" name="Text Box 28"/>
          <p:cNvSpPr txBox="1"/>
          <p:nvPr/>
        </p:nvSpPr>
        <p:spPr>
          <a:xfrm>
            <a:off x="5276850" y="5470525"/>
            <a:ext cx="1371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offset = 0</a:t>
            </a:r>
            <a:endParaRPr lang="en-US" altLang="zh-CN" dirty="0">
              <a:latin typeface="Times New Roman" panose="02020603050405020304" pitchFamily="18" charset="0"/>
            </a:endParaRPr>
          </a:p>
        </p:txBody>
      </p:sp>
      <p:sp>
        <p:nvSpPr>
          <p:cNvPr id="27672" name="Line 29"/>
          <p:cNvSpPr/>
          <p:nvPr/>
        </p:nvSpPr>
        <p:spPr>
          <a:xfrm>
            <a:off x="5886450" y="3489325"/>
            <a:ext cx="914400" cy="0"/>
          </a:xfrm>
          <a:prstGeom prst="line">
            <a:avLst/>
          </a:prstGeom>
          <a:ln w="9525" cap="flat" cmpd="sng">
            <a:solidFill>
              <a:schemeClr val="tx1"/>
            </a:solidFill>
            <a:prstDash val="solid"/>
            <a:headEnd type="none" w="med" len="med"/>
            <a:tailEnd type="triangle" w="med" len="med"/>
          </a:ln>
        </p:spPr>
      </p:sp>
      <p:sp>
        <p:nvSpPr>
          <p:cNvPr id="27673" name="Text Box 30"/>
          <p:cNvSpPr txBox="1"/>
          <p:nvPr/>
        </p:nvSpPr>
        <p:spPr>
          <a:xfrm>
            <a:off x="5276850" y="3108325"/>
            <a:ext cx="1371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offset = 20</a:t>
            </a:r>
            <a:endParaRPr lang="en-US" altLang="zh-CN" dirty="0">
              <a:latin typeface="Times New Roman" panose="02020603050405020304" pitchFamily="18" charset="0"/>
            </a:endParaRPr>
          </a:p>
        </p:txBody>
      </p:sp>
      <p:sp>
        <p:nvSpPr>
          <p:cNvPr id="27674" name="Line 31"/>
          <p:cNvSpPr/>
          <p:nvPr/>
        </p:nvSpPr>
        <p:spPr>
          <a:xfrm>
            <a:off x="5886450" y="2879725"/>
            <a:ext cx="914400" cy="0"/>
          </a:xfrm>
          <a:prstGeom prst="line">
            <a:avLst/>
          </a:prstGeom>
          <a:ln w="9525" cap="flat" cmpd="sng">
            <a:solidFill>
              <a:schemeClr val="tx1"/>
            </a:solidFill>
            <a:prstDash val="solid"/>
            <a:headEnd type="none" w="med" len="med"/>
            <a:tailEnd type="triangle" w="med" len="med"/>
          </a:ln>
        </p:spPr>
      </p:sp>
      <p:sp>
        <p:nvSpPr>
          <p:cNvPr id="27675" name="Text Box 32"/>
          <p:cNvSpPr txBox="1"/>
          <p:nvPr/>
        </p:nvSpPr>
        <p:spPr>
          <a:xfrm>
            <a:off x="5276850" y="2498725"/>
            <a:ext cx="1371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offset = 24</a:t>
            </a:r>
            <a:endParaRPr lang="en-US" altLang="zh-CN" dirty="0">
              <a:latin typeface="Times New Roman" panose="02020603050405020304" pitchFamily="18" charset="0"/>
            </a:endParaRPr>
          </a:p>
        </p:txBody>
      </p:sp>
      <p:sp>
        <p:nvSpPr>
          <p:cNvPr id="27676" name="Line 33"/>
          <p:cNvSpPr/>
          <p:nvPr/>
        </p:nvSpPr>
        <p:spPr>
          <a:xfrm>
            <a:off x="5886450" y="2346325"/>
            <a:ext cx="914400" cy="0"/>
          </a:xfrm>
          <a:prstGeom prst="line">
            <a:avLst/>
          </a:prstGeom>
          <a:ln w="9525" cap="flat" cmpd="sng">
            <a:solidFill>
              <a:schemeClr val="tx1"/>
            </a:solidFill>
            <a:prstDash val="solid"/>
            <a:headEnd type="none" w="med" len="med"/>
            <a:tailEnd type="triangle" w="med" len="med"/>
          </a:ln>
        </p:spPr>
      </p:sp>
      <p:sp>
        <p:nvSpPr>
          <p:cNvPr id="27677" name="Text Box 34"/>
          <p:cNvSpPr txBox="1"/>
          <p:nvPr/>
        </p:nvSpPr>
        <p:spPr>
          <a:xfrm>
            <a:off x="5276850" y="1965325"/>
            <a:ext cx="1371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offset = 32</a:t>
            </a:r>
            <a:endParaRPr lang="en-US" altLang="zh-CN" dirty="0">
              <a:latin typeface="Times New Roman" panose="02020603050405020304" pitchFamily="18" charset="0"/>
            </a:endParaRPr>
          </a:p>
        </p:txBody>
      </p:sp>
      <p:sp>
        <p:nvSpPr>
          <p:cNvPr id="27678" name="Line 35"/>
          <p:cNvSpPr/>
          <p:nvPr/>
        </p:nvSpPr>
        <p:spPr>
          <a:xfrm>
            <a:off x="5886450" y="1736725"/>
            <a:ext cx="914400" cy="0"/>
          </a:xfrm>
          <a:prstGeom prst="line">
            <a:avLst/>
          </a:prstGeom>
          <a:ln w="9525" cap="flat" cmpd="sng">
            <a:solidFill>
              <a:schemeClr val="tx1"/>
            </a:solidFill>
            <a:prstDash val="solid"/>
            <a:headEnd type="none" w="med" len="med"/>
            <a:tailEnd type="triangle" w="med" len="med"/>
          </a:ln>
        </p:spPr>
      </p:sp>
      <p:sp>
        <p:nvSpPr>
          <p:cNvPr id="27679" name="Text Box 36"/>
          <p:cNvSpPr txBox="1"/>
          <p:nvPr/>
        </p:nvSpPr>
        <p:spPr>
          <a:xfrm>
            <a:off x="5276850" y="1355725"/>
            <a:ext cx="1371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offset = 72</a:t>
            </a:r>
            <a:endParaRPr lang="en-US" altLang="zh-CN"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3"/>
          <p:cNvSpPr/>
          <p:nvPr/>
        </p:nvSpPr>
        <p:spPr>
          <a:xfrm>
            <a:off x="381000" y="642938"/>
            <a:ext cx="8458200" cy="5143500"/>
          </a:xfrm>
          <a:prstGeom prst="rect">
            <a:avLst/>
          </a:prstGeom>
          <a:noFill/>
          <a:ln w="9525">
            <a:noFill/>
          </a:ln>
        </p:spPr>
        <p:txBody>
          <a:bodyPr/>
          <a:p>
            <a:pPr marL="342900" indent="-342900">
              <a:lnSpc>
                <a:spcPct val="120000"/>
              </a:lnSpc>
              <a:spcBef>
                <a:spcPct val="20000"/>
              </a:spcBef>
              <a:buClr>
                <a:schemeClr val="accent1"/>
              </a:buClr>
            </a:pPr>
            <a:r>
              <a:rPr lang="zh-CN" altLang="en-US" sz="2800" dirty="0">
                <a:latin typeface="宋体" panose="02010600030101010101" pitchFamily="2" charset="-122"/>
              </a:rPr>
              <a:t>过程调用被执行时，其目标代码将负责完成以下工作：</a:t>
            </a:r>
            <a:endParaRPr lang="zh-CN" altLang="en-US" sz="2800" dirty="0">
              <a:latin typeface="宋体" panose="02010600030101010101" pitchFamily="2" charset="-122"/>
            </a:endParaRPr>
          </a:p>
          <a:p>
            <a:pPr marL="342900" indent="-342900">
              <a:lnSpc>
                <a:spcPct val="120000"/>
              </a:lnSpc>
              <a:spcBef>
                <a:spcPct val="20000"/>
              </a:spcBef>
              <a:buClr>
                <a:schemeClr val="accent1"/>
              </a:buClr>
            </a:pPr>
            <a:r>
              <a:rPr lang="zh-CN" altLang="en-US" sz="2800" dirty="0">
                <a:latin typeface="宋体" panose="02010600030101010101" pitchFamily="2" charset="-122"/>
              </a:rPr>
              <a:t>（</a:t>
            </a:r>
            <a:r>
              <a:rPr lang="en-US" altLang="zh-CN" sz="2800" dirty="0">
                <a:latin typeface="宋体" panose="02010600030101010101" pitchFamily="2" charset="-122"/>
              </a:rPr>
              <a:t>1</a:t>
            </a:r>
            <a:r>
              <a:rPr lang="zh-CN" altLang="en-US" sz="2800" dirty="0">
                <a:latin typeface="宋体" panose="02010600030101010101" pitchFamily="2" charset="-122"/>
              </a:rPr>
              <a:t>）将</a:t>
            </a:r>
            <a:r>
              <a:rPr lang="zh-CN" altLang="en-US" sz="2800" dirty="0">
                <a:solidFill>
                  <a:srgbClr val="FF0000"/>
                </a:solidFill>
                <a:latin typeface="宋体" panose="02010600030101010101" pitchFamily="2" charset="-122"/>
              </a:rPr>
              <a:t>实参值</a:t>
            </a:r>
            <a:r>
              <a:rPr lang="zh-CN" altLang="en-US" sz="2800" dirty="0">
                <a:latin typeface="宋体" panose="02010600030101010101" pitchFamily="2" charset="-122"/>
              </a:rPr>
              <a:t>送入</a:t>
            </a:r>
            <a:r>
              <a:rPr lang="en-US" altLang="zh-CN" sz="2800" dirty="0">
                <a:latin typeface="宋体" panose="02010600030101010101" pitchFamily="2" charset="-122"/>
              </a:rPr>
              <a:t>NewAR</a:t>
            </a:r>
            <a:r>
              <a:rPr lang="zh-CN" altLang="en-US" sz="2800" dirty="0">
                <a:latin typeface="宋体" panose="02010600030101010101" pitchFamily="2" charset="-122"/>
              </a:rPr>
              <a:t>的形参单元中；</a:t>
            </a:r>
            <a:endParaRPr lang="zh-CN" altLang="en-US" sz="2800" dirty="0">
              <a:latin typeface="宋体" panose="02010600030101010101" pitchFamily="2" charset="-122"/>
            </a:endParaRPr>
          </a:p>
          <a:p>
            <a:pPr marL="342900" indent="-342900">
              <a:spcBef>
                <a:spcPct val="10000"/>
              </a:spcBef>
              <a:buClr>
                <a:schemeClr val="accent1"/>
              </a:buClr>
            </a:pPr>
            <a:r>
              <a:rPr lang="zh-CN" altLang="en-US" sz="2800" dirty="0">
                <a:latin typeface="宋体" panose="02010600030101010101" pitchFamily="2" charset="-122"/>
              </a:rPr>
              <a:t>（</a:t>
            </a:r>
            <a:r>
              <a:rPr lang="en-US" altLang="zh-CN" sz="2800" dirty="0">
                <a:latin typeface="宋体" panose="02010600030101010101" pitchFamily="2" charset="-122"/>
              </a:rPr>
              <a:t>2</a:t>
            </a:r>
            <a:r>
              <a:rPr lang="zh-CN" altLang="en-US" sz="2800" dirty="0">
                <a:latin typeface="宋体" panose="02010600030101010101" pitchFamily="2" charset="-122"/>
              </a:rPr>
              <a:t>）将</a:t>
            </a:r>
            <a:r>
              <a:rPr lang="zh-CN" altLang="en-US" sz="2800" dirty="0">
                <a:solidFill>
                  <a:srgbClr val="FF0000"/>
                </a:solidFill>
                <a:latin typeface="宋体" panose="02010600030101010101" pitchFamily="2" charset="-122"/>
              </a:rPr>
              <a:t>控制信息</a:t>
            </a:r>
            <a:r>
              <a:rPr lang="zh-CN" altLang="en-US" sz="2800" dirty="0">
                <a:latin typeface="宋体" panose="02010600030101010101" pitchFamily="2" charset="-122"/>
              </a:rPr>
              <a:t>（返回地址</a:t>
            </a:r>
            <a:r>
              <a:rPr lang="en-US" altLang="zh-CN" sz="2800" dirty="0">
                <a:latin typeface="宋体" panose="02010600030101010101" pitchFamily="2" charset="-122"/>
              </a:rPr>
              <a:t>/</a:t>
            </a:r>
            <a:r>
              <a:rPr lang="zh-CN" altLang="en-US" sz="2800" dirty="0">
                <a:latin typeface="宋体" panose="02010600030101010101" pitchFamily="2" charset="-122"/>
              </a:rPr>
              <a:t>层数</a:t>
            </a:r>
            <a:r>
              <a:rPr lang="en-US" altLang="zh-CN" sz="2800" dirty="0">
                <a:latin typeface="宋体" panose="02010600030101010101" pitchFamily="2" charset="-122"/>
              </a:rPr>
              <a:t>/AR</a:t>
            </a:r>
            <a:r>
              <a:rPr lang="zh-CN" altLang="en-US" sz="2800" dirty="0">
                <a:latin typeface="宋体" panose="02010600030101010101" pitchFamily="2" charset="-122"/>
              </a:rPr>
              <a:t>长度</a:t>
            </a:r>
            <a:r>
              <a:rPr lang="en-US" altLang="zh-CN" sz="2800" dirty="0">
                <a:latin typeface="宋体" panose="02010600030101010101" pitchFamily="2" charset="-122"/>
              </a:rPr>
              <a:t>/</a:t>
            </a:r>
            <a:r>
              <a:rPr lang="zh-CN" altLang="en-US" sz="2800" dirty="0">
                <a:latin typeface="宋体" panose="02010600030101010101" pitchFamily="2" charset="-122"/>
              </a:rPr>
              <a:t>动态链地  </a:t>
            </a:r>
            <a:endParaRPr lang="zh-CN" altLang="en-US" sz="2800" dirty="0">
              <a:latin typeface="宋体" panose="02010600030101010101" pitchFamily="2" charset="-122"/>
            </a:endParaRPr>
          </a:p>
          <a:p>
            <a:pPr marL="342900" indent="-342900">
              <a:spcBef>
                <a:spcPct val="10000"/>
              </a:spcBef>
              <a:buClr>
                <a:schemeClr val="accent1"/>
              </a:buClr>
            </a:pPr>
            <a:r>
              <a:rPr lang="zh-CN" altLang="en-US" sz="2800" dirty="0">
                <a:latin typeface="宋体" panose="02010600030101010101" pitchFamily="2" charset="-122"/>
              </a:rPr>
              <a:t>     址等）填入</a:t>
            </a:r>
            <a:r>
              <a:rPr lang="en-US" altLang="zh-CN" sz="2800" dirty="0">
                <a:latin typeface="宋体" panose="02010600030101010101" pitchFamily="2" charset="-122"/>
              </a:rPr>
              <a:t>NewAR</a:t>
            </a:r>
            <a:r>
              <a:rPr lang="zh-CN" altLang="en-US" sz="2800" dirty="0">
                <a:latin typeface="宋体" panose="02010600030101010101" pitchFamily="2" charset="-122"/>
              </a:rPr>
              <a:t>的相应单元中；</a:t>
            </a:r>
            <a:endParaRPr lang="zh-CN" altLang="en-US" sz="2800" dirty="0">
              <a:latin typeface="宋体" panose="02010600030101010101" pitchFamily="2" charset="-122"/>
            </a:endParaRPr>
          </a:p>
          <a:p>
            <a:pPr marL="342900" indent="-342900">
              <a:spcBef>
                <a:spcPct val="10000"/>
              </a:spcBef>
              <a:buClr>
                <a:schemeClr val="accent1"/>
              </a:buClr>
            </a:pPr>
            <a:r>
              <a:rPr lang="zh-CN" altLang="en-US" sz="2800" dirty="0">
                <a:latin typeface="宋体" panose="02010600030101010101" pitchFamily="2" charset="-122"/>
              </a:rPr>
              <a:t>（</a:t>
            </a:r>
            <a:r>
              <a:rPr lang="en-US" altLang="zh-CN" sz="2800" dirty="0">
                <a:latin typeface="宋体" panose="02010600030101010101" pitchFamily="2" charset="-122"/>
              </a:rPr>
              <a:t>3</a:t>
            </a:r>
            <a:r>
              <a:rPr lang="zh-CN" altLang="en-US" sz="2800" dirty="0">
                <a:latin typeface="宋体" panose="02010600030101010101" pitchFamily="2" charset="-122"/>
              </a:rPr>
              <a:t>）将</a:t>
            </a:r>
            <a:r>
              <a:rPr lang="zh-CN" altLang="en-US" sz="2800" dirty="0">
                <a:solidFill>
                  <a:srgbClr val="FF0000"/>
                </a:solidFill>
                <a:latin typeface="宋体" panose="02010600030101010101" pitchFamily="2" charset="-122"/>
              </a:rPr>
              <a:t>机器状态信息</a:t>
            </a:r>
            <a:r>
              <a:rPr lang="zh-CN" altLang="en-US" sz="2800" dirty="0">
                <a:latin typeface="宋体" panose="02010600030101010101" pitchFamily="2" charset="-122"/>
              </a:rPr>
              <a:t>填入</a:t>
            </a:r>
            <a:r>
              <a:rPr lang="en-US" altLang="zh-CN" sz="2800" dirty="0">
                <a:latin typeface="宋体" panose="02010600030101010101" pitchFamily="2" charset="-122"/>
              </a:rPr>
              <a:t>NewAR</a:t>
            </a:r>
            <a:r>
              <a:rPr lang="zh-CN" altLang="en-US" sz="2800" dirty="0">
                <a:latin typeface="宋体" panose="02010600030101010101" pitchFamily="2" charset="-122"/>
              </a:rPr>
              <a:t>的相应单元中；</a:t>
            </a:r>
            <a:endParaRPr lang="zh-CN" altLang="en-US" sz="2800" dirty="0">
              <a:latin typeface="宋体" panose="02010600030101010101" pitchFamily="2" charset="-122"/>
            </a:endParaRPr>
          </a:p>
          <a:p>
            <a:pPr marL="342900" indent="-342900">
              <a:spcBef>
                <a:spcPct val="10000"/>
              </a:spcBef>
              <a:buClr>
                <a:schemeClr val="accent1"/>
              </a:buClr>
            </a:pPr>
            <a:r>
              <a:rPr lang="zh-CN" altLang="en-US" sz="2800" dirty="0">
                <a:latin typeface="宋体" panose="02010600030101010101" pitchFamily="2" charset="-122"/>
              </a:rPr>
              <a:t>（</a:t>
            </a:r>
            <a:r>
              <a:rPr lang="en-US" altLang="zh-CN" sz="2800" dirty="0">
                <a:latin typeface="宋体" panose="02010600030101010101" pitchFamily="2" charset="-122"/>
              </a:rPr>
              <a:t>4</a:t>
            </a:r>
            <a:r>
              <a:rPr lang="zh-CN" altLang="en-US" sz="2800" dirty="0">
                <a:latin typeface="宋体" panose="02010600030101010101" pitchFamily="2" charset="-122"/>
              </a:rPr>
              <a:t>）</a:t>
            </a:r>
            <a:r>
              <a:rPr lang="zh-CN" altLang="en-US" sz="2800" dirty="0">
                <a:solidFill>
                  <a:srgbClr val="FF0000"/>
                </a:solidFill>
                <a:latin typeface="宋体" panose="02010600030101010101" pitchFamily="2" charset="-122"/>
              </a:rPr>
              <a:t>全局变量信息</a:t>
            </a:r>
            <a:r>
              <a:rPr lang="zh-CN" altLang="en-US" sz="2800" dirty="0">
                <a:latin typeface="宋体" panose="02010600030101010101" pitchFamily="2" charset="-122"/>
              </a:rPr>
              <a:t>填入</a:t>
            </a:r>
            <a:r>
              <a:rPr lang="en-US" altLang="zh-CN" sz="2800" dirty="0">
                <a:latin typeface="宋体" panose="02010600030101010101" pitchFamily="2" charset="-122"/>
              </a:rPr>
              <a:t>NewAR</a:t>
            </a:r>
            <a:r>
              <a:rPr lang="zh-CN" altLang="en-US" sz="2800" dirty="0">
                <a:latin typeface="宋体" panose="02010600030101010101" pitchFamily="2" charset="-122"/>
              </a:rPr>
              <a:t>的相应单元中。</a:t>
            </a:r>
            <a:endParaRPr lang="zh-CN" altLang="en-US" sz="2800" dirty="0">
              <a:latin typeface="宋体" panose="02010600030101010101" pitchFamily="2" charset="-122"/>
            </a:endParaRPr>
          </a:p>
          <a:p>
            <a:pPr marL="342900" indent="-342900">
              <a:lnSpc>
                <a:spcPct val="120000"/>
              </a:lnSpc>
              <a:spcBef>
                <a:spcPct val="20000"/>
              </a:spcBef>
              <a:buClr>
                <a:schemeClr val="accent1"/>
              </a:buClr>
            </a:pPr>
            <a:r>
              <a:rPr lang="zh-CN" altLang="en-US" sz="2800" dirty="0">
                <a:latin typeface="宋体" panose="02010600030101010101" pitchFamily="2" charset="-122"/>
              </a:rPr>
              <a:t>为了使</a:t>
            </a:r>
            <a:r>
              <a:rPr lang="en-US" altLang="zh-CN" sz="2800" dirty="0">
                <a:latin typeface="宋体" panose="02010600030101010101" pitchFamily="2" charset="-122"/>
              </a:rPr>
              <a:t>sp</a:t>
            </a:r>
            <a:r>
              <a:rPr lang="zh-CN" altLang="en-US" sz="2800" dirty="0">
                <a:latin typeface="宋体" panose="02010600030101010101" pitchFamily="2" charset="-122"/>
              </a:rPr>
              <a:t>指向</a:t>
            </a:r>
            <a:r>
              <a:rPr lang="en-US" altLang="zh-CN" sz="2800" dirty="0">
                <a:latin typeface="宋体" panose="02010600030101010101" pitchFamily="2" charset="-122"/>
              </a:rPr>
              <a:t>NewAR</a:t>
            </a:r>
            <a:r>
              <a:rPr lang="zh-CN" altLang="en-US" sz="2800" dirty="0">
                <a:latin typeface="宋体" panose="02010600030101010101" pitchFamily="2" charset="-122"/>
              </a:rPr>
              <a:t>，应做：</a:t>
            </a:r>
            <a:r>
              <a:rPr lang="en-US" altLang="zh-CN" sz="2800" dirty="0">
                <a:latin typeface="宋体" panose="02010600030101010101" pitchFamily="2" charset="-122"/>
              </a:rPr>
              <a:t>sp:=sp+CurrentAR.Size;</a:t>
            </a:r>
            <a:endParaRPr lang="en-US" altLang="zh-CN" sz="2800" dirty="0">
              <a:latin typeface="宋体" panose="02010600030101010101" pitchFamily="2" charset="-122"/>
            </a:endParaRPr>
          </a:p>
          <a:p>
            <a:pPr marL="342900" indent="-342900">
              <a:spcBef>
                <a:spcPct val="20000"/>
              </a:spcBef>
              <a:buClr>
                <a:schemeClr val="accent1"/>
              </a:buClr>
            </a:pPr>
            <a:r>
              <a:rPr lang="zh-CN" altLang="en-US" sz="2800" dirty="0">
                <a:latin typeface="宋体" panose="02010600030101010101" pitchFamily="2" charset="-122"/>
              </a:rPr>
              <a:t>过程调用结束时，释放当前活动记录，把保存在</a:t>
            </a:r>
            <a:endParaRPr lang="zh-CN" altLang="en-US" sz="2800" dirty="0">
              <a:latin typeface="宋体" panose="02010600030101010101" pitchFamily="2" charset="-122"/>
            </a:endParaRPr>
          </a:p>
          <a:p>
            <a:pPr marL="342900" indent="-342900">
              <a:spcBef>
                <a:spcPct val="20000"/>
              </a:spcBef>
              <a:buClr>
                <a:schemeClr val="accent1"/>
              </a:buClr>
            </a:pPr>
            <a:r>
              <a:rPr lang="en-US" altLang="zh-CN" sz="2800" dirty="0">
                <a:latin typeface="宋体" panose="02010600030101010101" pitchFamily="2" charset="-122"/>
              </a:rPr>
              <a:t>CurrentAR</a:t>
            </a:r>
            <a:r>
              <a:rPr lang="zh-CN" altLang="en-US" sz="2800" dirty="0">
                <a:latin typeface="宋体" panose="02010600030101010101" pitchFamily="2" charset="-122"/>
              </a:rPr>
              <a:t>中的值取出来赋给</a:t>
            </a:r>
            <a:r>
              <a:rPr lang="en-US" altLang="zh-CN" sz="2800" dirty="0">
                <a:latin typeface="宋体" panose="02010600030101010101" pitchFamily="2" charset="-122"/>
              </a:rPr>
              <a:t>sp</a:t>
            </a:r>
            <a:r>
              <a:rPr lang="zh-CN" altLang="en-US" sz="2800" dirty="0">
                <a:latin typeface="宋体" panose="02010600030101010101" pitchFamily="2" charset="-122"/>
              </a:rPr>
              <a:t>。</a:t>
            </a:r>
            <a:endParaRPr lang="zh-CN" altLang="en-US" sz="2800" dirty="0">
              <a:latin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6886" name="Rectangle 6"/>
          <p:cNvSpPr>
            <a:spLocks noGrp="1" noChangeArrowheads="1"/>
          </p:cNvSpPr>
          <p:nvPr>
            <p:ph type="title"/>
          </p:nvPr>
        </p:nvSpPr>
        <p:spPr>
          <a:xfrm>
            <a:off x="457200" y="228600"/>
            <a:ext cx="8153400" cy="6858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8.3.3</a:t>
            </a:r>
            <a:r>
              <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rPr>
              <a:t>、动态链</a:t>
            </a:r>
            <a:endParaRPr kumimoji="0" lang="zh-CN" altLang="en-US" sz="3200" b="1" i="0" u="none" strike="noStrike" kern="1200" cap="none" spc="0" normalizeH="0" baseline="0" noProof="0" smtClean="0">
              <a:ln>
                <a:noFill/>
              </a:ln>
              <a:solidFill>
                <a:schemeClr val="hlink"/>
              </a:solidFill>
              <a:effectLst>
                <a:outerShdw blurRad="38100" dist="38100" dir="2700000" algn="tl">
                  <a:srgbClr val="000000"/>
                </a:outerShdw>
              </a:effectLst>
              <a:uLnTx/>
              <a:uFillTx/>
              <a:latin typeface="宋体" panose="02010600030101010101" pitchFamily="2" charset="-122"/>
              <a:ea typeface="+mj-ea"/>
              <a:cs typeface="+mj-cs"/>
            </a:endParaRPr>
          </a:p>
        </p:txBody>
      </p:sp>
      <p:sp>
        <p:nvSpPr>
          <p:cNvPr id="29699" name="Text Box 7"/>
          <p:cNvSpPr txBox="1"/>
          <p:nvPr/>
        </p:nvSpPr>
        <p:spPr>
          <a:xfrm>
            <a:off x="533400" y="1066800"/>
            <a:ext cx="8229600" cy="4213225"/>
          </a:xfrm>
          <a:prstGeom prst="rect">
            <a:avLst/>
          </a:prstGeom>
          <a:noFill/>
          <a:ln w="9525">
            <a:noFill/>
          </a:ln>
        </p:spPr>
        <p:txBody>
          <a:bodyPr>
            <a:spAutoFit/>
          </a:bodyPr>
          <a:p>
            <a:pPr>
              <a:lnSpc>
                <a:spcPct val="114000"/>
              </a:lnSpc>
              <a:spcBef>
                <a:spcPct val="50000"/>
              </a:spcBef>
            </a:pPr>
            <a:r>
              <a:rPr lang="zh-CN" altLang="en-US" sz="2400" dirty="0">
                <a:solidFill>
                  <a:srgbClr val="FF0000"/>
                </a:solidFill>
                <a:latin typeface="Times New Roman" panose="02020603050405020304" pitchFamily="18" charset="0"/>
              </a:rPr>
              <a:t>动态链：将栈上所有</a:t>
            </a:r>
            <a:r>
              <a:rPr lang="en-US" altLang="zh-CN" sz="2400" dirty="0">
                <a:solidFill>
                  <a:srgbClr val="FF0000"/>
                </a:solidFill>
                <a:latin typeface="Times New Roman" panose="02020603050405020304" pitchFamily="18" charset="0"/>
              </a:rPr>
              <a:t>AR</a:t>
            </a:r>
            <a:r>
              <a:rPr lang="zh-CN" altLang="en-US" sz="2400" dirty="0">
                <a:solidFill>
                  <a:srgbClr val="FF0000"/>
                </a:solidFill>
                <a:latin typeface="Times New Roman" panose="02020603050405020304" pitchFamily="18" charset="0"/>
              </a:rPr>
              <a:t>连接起来的链。</a:t>
            </a:r>
            <a:r>
              <a:rPr lang="zh-CN" altLang="en-US" sz="2400" dirty="0">
                <a:latin typeface="Times New Roman" panose="02020603050405020304" pitchFamily="18" charset="0"/>
              </a:rPr>
              <a:t>动态链指向调用该过程前的最新活动记录地址的指针。为了更精确地揭示动态链的含义，引进</a:t>
            </a:r>
            <a:r>
              <a:rPr lang="zh-CN" altLang="en-US" sz="2400" dirty="0">
                <a:solidFill>
                  <a:srgbClr val="FF0000"/>
                </a:solidFill>
                <a:latin typeface="Times New Roman" panose="02020603050405020304" pitchFamily="18" charset="0"/>
              </a:rPr>
              <a:t>调用链</a:t>
            </a:r>
            <a:r>
              <a:rPr lang="zh-CN" altLang="en-US" sz="2400" dirty="0">
                <a:latin typeface="Times New Roman" panose="02020603050405020304" pitchFamily="18" charset="0"/>
              </a:rPr>
              <a:t>的概念</a:t>
            </a:r>
            <a:r>
              <a:rPr lang="zh-CN" altLang="en-US" sz="2400" dirty="0">
                <a:latin typeface="Times New Roman" panose="02020603050405020304" pitchFamily="18" charset="0"/>
                <a:sym typeface="Wingdings" panose="05000000000000000000" pitchFamily="2" charset="2"/>
              </a:rPr>
              <a:t>：</a:t>
            </a:r>
            <a:endParaRPr lang="zh-CN" altLang="en-US" sz="2400" dirty="0">
              <a:latin typeface="Times New Roman" panose="02020603050405020304" pitchFamily="18" charset="0"/>
              <a:sym typeface="Wingdings" panose="05000000000000000000" pitchFamily="2" charset="2"/>
            </a:endParaRPr>
          </a:p>
          <a:p>
            <a:pPr>
              <a:lnSpc>
                <a:spcPct val="114000"/>
              </a:lnSpc>
              <a:spcBef>
                <a:spcPct val="50000"/>
              </a:spcBef>
            </a:pPr>
            <a:r>
              <a:rPr lang="en-US" altLang="zh-CN" sz="2400" dirty="0">
                <a:solidFill>
                  <a:srgbClr val="FF0000"/>
                </a:solidFill>
                <a:latin typeface="Times New Roman" panose="02020603050405020304" pitchFamily="18" charset="0"/>
                <a:sym typeface="Wingdings" panose="05000000000000000000" pitchFamily="2" charset="2"/>
              </a:rPr>
              <a:t>(M)</a:t>
            </a:r>
            <a:r>
              <a:rPr lang="zh-CN" altLang="en-US" sz="2400" dirty="0">
                <a:solidFill>
                  <a:srgbClr val="FF0000"/>
                </a:solidFill>
                <a:latin typeface="Times New Roman" panose="02020603050405020304" pitchFamily="18" charset="0"/>
                <a:sym typeface="Wingdings" panose="05000000000000000000" pitchFamily="2" charset="2"/>
              </a:rPr>
              <a:t>是调用链</a:t>
            </a:r>
            <a:r>
              <a:rPr lang="zh-CN" altLang="en-US" sz="2400" dirty="0">
                <a:latin typeface="Times New Roman" panose="02020603050405020304" pitchFamily="18" charset="0"/>
                <a:sym typeface="Wingdings" panose="05000000000000000000" pitchFamily="2" charset="2"/>
              </a:rPr>
              <a:t>；若</a:t>
            </a:r>
            <a:r>
              <a:rPr lang="en-US" altLang="zh-CN" sz="2400" dirty="0">
                <a:latin typeface="Times New Roman" panose="02020603050405020304" pitchFamily="18" charset="0"/>
                <a:sym typeface="Wingdings" panose="05000000000000000000" pitchFamily="2" charset="2"/>
              </a:rPr>
              <a:t>(M</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ea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R)</a:t>
            </a:r>
            <a:r>
              <a:rPr lang="zh-CN" altLang="en-US" sz="2400" dirty="0">
                <a:latin typeface="Times New Roman" panose="02020603050405020304" pitchFamily="18" charset="0"/>
                <a:sym typeface="Wingdings" panose="05000000000000000000" pitchFamily="2" charset="2"/>
              </a:rPr>
              <a:t>是调用链，且</a:t>
            </a:r>
            <a:r>
              <a:rPr lang="en-US" altLang="zh-CN" sz="2400" dirty="0">
                <a:latin typeface="Times New Roman" panose="02020603050405020304" pitchFamily="18" charset="0"/>
                <a:sym typeface="Wingdings" panose="05000000000000000000" pitchFamily="2" charset="2"/>
              </a:rPr>
              <a:t>R</a:t>
            </a:r>
            <a:r>
              <a:rPr lang="zh-CN" altLang="en-US" sz="2400" dirty="0">
                <a:latin typeface="Times New Roman" panose="02020603050405020304" pitchFamily="18" charset="0"/>
                <a:sym typeface="Wingdings" panose="05000000000000000000" pitchFamily="2" charset="2"/>
              </a:rPr>
              <a:t>中有</a:t>
            </a:r>
            <a:r>
              <a:rPr lang="en-US" altLang="zh-CN" sz="2400" dirty="0">
                <a:latin typeface="Times New Roman" panose="02020603050405020304" pitchFamily="18" charset="0"/>
                <a:sym typeface="Wingdings" panose="05000000000000000000" pitchFamily="2" charset="2"/>
              </a:rPr>
              <a:t>S</a:t>
            </a:r>
            <a:r>
              <a:rPr lang="zh-CN" altLang="en-US" sz="2400" dirty="0">
                <a:latin typeface="Times New Roman" panose="02020603050405020304" pitchFamily="18" charset="0"/>
                <a:sym typeface="Wingdings" panose="05000000000000000000" pitchFamily="2" charset="2"/>
              </a:rPr>
              <a:t>的调用，则</a:t>
            </a:r>
            <a:r>
              <a:rPr lang="en-US" altLang="zh-CN" sz="2400" dirty="0">
                <a:latin typeface="Times New Roman" panose="02020603050405020304" pitchFamily="18" charset="0"/>
                <a:sym typeface="Wingdings" panose="05000000000000000000" pitchFamily="2" charset="2"/>
              </a:rPr>
              <a:t>(M</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R</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S)</a:t>
            </a:r>
            <a:r>
              <a:rPr lang="zh-CN" altLang="en-US" sz="2400" dirty="0">
                <a:latin typeface="Times New Roman" panose="02020603050405020304" pitchFamily="18" charset="0"/>
                <a:sym typeface="Wingdings" panose="05000000000000000000" pitchFamily="2" charset="2"/>
              </a:rPr>
              <a:t>也是调用链，用</a:t>
            </a:r>
            <a:r>
              <a:rPr lang="en-US" altLang="zh-CN" sz="2400" dirty="0">
                <a:latin typeface="Times New Roman" panose="02020603050405020304" pitchFamily="18" charset="0"/>
                <a:sym typeface="Wingdings" panose="05000000000000000000" pitchFamily="2" charset="2"/>
              </a:rPr>
              <a:t>CallChain(S)</a:t>
            </a:r>
            <a:r>
              <a:rPr lang="zh-CN" altLang="en-US" sz="2400" dirty="0">
                <a:latin typeface="Times New Roman" panose="02020603050405020304" pitchFamily="18" charset="0"/>
                <a:sym typeface="Wingdings" panose="05000000000000000000" pitchFamily="2" charset="2"/>
              </a:rPr>
              <a:t>表示。对于任一过程</a:t>
            </a:r>
            <a:r>
              <a:rPr lang="en-US" altLang="zh-CN" sz="2400" dirty="0">
                <a:latin typeface="Times New Roman" panose="02020603050405020304" pitchFamily="18" charset="0"/>
                <a:sym typeface="Wingdings" panose="05000000000000000000" pitchFamily="2" charset="2"/>
              </a:rPr>
              <a:t>S</a:t>
            </a:r>
            <a:r>
              <a:rPr lang="zh-CN" altLang="en-US" sz="2400" dirty="0">
                <a:latin typeface="Times New Roman" panose="02020603050405020304" pitchFamily="18" charset="0"/>
                <a:sym typeface="Wingdings" panose="05000000000000000000" pitchFamily="2" charset="2"/>
              </a:rPr>
              <a:t>，其</a:t>
            </a:r>
            <a:r>
              <a:rPr lang="zh-CN" altLang="en-US" sz="2400" dirty="0">
                <a:solidFill>
                  <a:srgbClr val="FF0000"/>
                </a:solidFill>
                <a:latin typeface="Times New Roman" panose="02020603050405020304" pitchFamily="18" charset="0"/>
                <a:sym typeface="Wingdings" panose="05000000000000000000" pitchFamily="2" charset="2"/>
              </a:rPr>
              <a:t>调用链不唯一</a:t>
            </a:r>
            <a:r>
              <a:rPr lang="zh-CN" altLang="en-US" sz="2400" dirty="0">
                <a:latin typeface="Times New Roman" panose="02020603050405020304" pitchFamily="18" charset="0"/>
                <a:sym typeface="Wingdings" panose="05000000000000000000" pitchFamily="2" charset="2"/>
              </a:rPr>
              <a:t>。</a:t>
            </a:r>
            <a:endParaRPr lang="zh-CN" altLang="en-US" sz="2400" dirty="0">
              <a:latin typeface="Times New Roman" panose="02020603050405020304" pitchFamily="18" charset="0"/>
              <a:sym typeface="Wingdings" panose="05000000000000000000" pitchFamily="2" charset="2"/>
            </a:endParaRPr>
          </a:p>
          <a:p>
            <a:pPr>
              <a:lnSpc>
                <a:spcPct val="114000"/>
              </a:lnSpc>
              <a:spcBef>
                <a:spcPct val="50000"/>
              </a:spcBef>
            </a:pPr>
            <a:r>
              <a:rPr lang="zh-CN" altLang="en-US" sz="2400" dirty="0">
                <a:latin typeface="Times New Roman" panose="02020603050405020304" pitchFamily="18" charset="0"/>
                <a:sym typeface="Wingdings" panose="05000000000000000000" pitchFamily="2" charset="2"/>
              </a:rPr>
              <a:t>假设有调用链</a:t>
            </a:r>
            <a:r>
              <a:rPr lang="en-US" altLang="zh-CN" sz="2400" dirty="0">
                <a:latin typeface="Times New Roman" panose="02020603050405020304" pitchFamily="18" charset="0"/>
                <a:sym typeface="Wingdings" panose="05000000000000000000" pitchFamily="2" charset="2"/>
              </a:rPr>
              <a:t>CallChain(S) = (M</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R</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S)</a:t>
            </a:r>
            <a:r>
              <a:rPr lang="zh-CN" altLang="en-US" sz="2400" dirty="0">
                <a:latin typeface="Times New Roman" panose="02020603050405020304" pitchFamily="18" charset="0"/>
                <a:sym typeface="Wingdings" panose="05000000000000000000" pitchFamily="2" charset="2"/>
              </a:rPr>
              <a:t>，则栈的当前内容可表示为：</a:t>
            </a:r>
            <a:r>
              <a:rPr lang="en-US" altLang="zh-CN" sz="2400" dirty="0">
                <a:latin typeface="Times New Roman" panose="02020603050405020304" pitchFamily="18" charset="0"/>
                <a:sym typeface="Wingdings" panose="05000000000000000000" pitchFamily="2" charset="2"/>
              </a:rPr>
              <a:t>[AR(M)</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AR(R)</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AR(S)]</a:t>
            </a:r>
            <a:r>
              <a:rPr lang="zh-CN" altLang="en-US" sz="2400" dirty="0">
                <a:latin typeface="Times New Roman" panose="02020603050405020304" pitchFamily="18" charset="0"/>
                <a:sym typeface="Wingdings" panose="05000000000000000000" pitchFamily="2" charset="2"/>
              </a:rPr>
              <a:t>。称它为对应调用链</a:t>
            </a:r>
            <a:r>
              <a:rPr lang="en-US" altLang="zh-CN" sz="2400" dirty="0">
                <a:latin typeface="Times New Roman" panose="02020603050405020304" pitchFamily="18" charset="0"/>
                <a:sym typeface="Wingdings" panose="05000000000000000000" pitchFamily="2" charset="2"/>
              </a:rPr>
              <a:t>(M</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R</a:t>
            </a:r>
            <a:r>
              <a:rPr lang="zh-CN" altLang="en-US" sz="2400" dirty="0">
                <a:latin typeface="Times New Roman" panose="02020603050405020304" pitchFamily="18" charset="0"/>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S)</a:t>
            </a:r>
            <a:r>
              <a:rPr lang="zh-CN" altLang="en-US" sz="2400" dirty="0">
                <a:latin typeface="Times New Roman" panose="02020603050405020304" pitchFamily="18" charset="0"/>
                <a:sym typeface="Wingdings" panose="05000000000000000000" pitchFamily="2" charset="2"/>
              </a:rPr>
              <a:t>的</a:t>
            </a:r>
            <a:r>
              <a:rPr lang="zh-CN" altLang="en-US" sz="2400" dirty="0">
                <a:solidFill>
                  <a:srgbClr val="FF0000"/>
                </a:solidFill>
                <a:latin typeface="Times New Roman" panose="02020603050405020304" pitchFamily="18" charset="0"/>
                <a:sym typeface="Wingdings" panose="05000000000000000000" pitchFamily="2" charset="2"/>
              </a:rPr>
              <a:t>动态链</a:t>
            </a:r>
            <a:r>
              <a:rPr lang="zh-CN" altLang="en-US" sz="2400" dirty="0">
                <a:latin typeface="Times New Roman" panose="02020603050405020304" pitchFamily="18" charset="0"/>
                <a:sym typeface="Wingdings" panose="05000000000000000000" pitchFamily="2" charset="2"/>
              </a:rPr>
              <a:t>。其动态链逻辑示意图如下：</a:t>
            </a:r>
            <a:endParaRPr lang="zh-CN" altLang="en-US" sz="2400" dirty="0">
              <a:latin typeface="Times New Roman" panose="02020603050405020304" pitchFamily="18" charset="0"/>
              <a:sym typeface="Wingdings" panose="05000000000000000000" pitchFamily="2" charset="2"/>
            </a:endParaRPr>
          </a:p>
        </p:txBody>
      </p:sp>
      <p:grpSp>
        <p:nvGrpSpPr>
          <p:cNvPr id="29700" name="Group 11"/>
          <p:cNvGrpSpPr/>
          <p:nvPr/>
        </p:nvGrpSpPr>
        <p:grpSpPr>
          <a:xfrm>
            <a:off x="1362075" y="5194300"/>
            <a:ext cx="1066800" cy="1143000"/>
            <a:chOff x="624" y="2976"/>
            <a:chExt cx="672" cy="720"/>
          </a:xfrm>
        </p:grpSpPr>
        <p:sp>
          <p:nvSpPr>
            <p:cNvPr id="29715" name="Rectangle 8"/>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6" name="Rectangle 9"/>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7" name="Text Box 10"/>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M</a:t>
              </a:r>
              <a:endParaRPr lang="en-US" altLang="zh-CN" baseline="-25000" dirty="0">
                <a:latin typeface="Times New Roman" panose="02020603050405020304" pitchFamily="18" charset="0"/>
              </a:endParaRPr>
            </a:p>
          </p:txBody>
        </p:sp>
      </p:grpSp>
      <p:grpSp>
        <p:nvGrpSpPr>
          <p:cNvPr id="29701" name="Group 16"/>
          <p:cNvGrpSpPr/>
          <p:nvPr/>
        </p:nvGrpSpPr>
        <p:grpSpPr>
          <a:xfrm>
            <a:off x="4562475" y="5194300"/>
            <a:ext cx="1066800" cy="1143000"/>
            <a:chOff x="624" y="2976"/>
            <a:chExt cx="672" cy="720"/>
          </a:xfrm>
        </p:grpSpPr>
        <p:sp>
          <p:nvSpPr>
            <p:cNvPr id="29712" name="Rectangle 17"/>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3" name="Rectangle 18"/>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4" name="Text Box 19"/>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R</a:t>
              </a:r>
              <a:endParaRPr lang="en-US" altLang="zh-CN" baseline="-25000" dirty="0">
                <a:latin typeface="Times New Roman" panose="02020603050405020304" pitchFamily="18" charset="0"/>
              </a:endParaRPr>
            </a:p>
          </p:txBody>
        </p:sp>
      </p:grpSp>
      <p:grpSp>
        <p:nvGrpSpPr>
          <p:cNvPr id="29702" name="Group 20"/>
          <p:cNvGrpSpPr/>
          <p:nvPr/>
        </p:nvGrpSpPr>
        <p:grpSpPr>
          <a:xfrm>
            <a:off x="6086475" y="5194300"/>
            <a:ext cx="1066800" cy="1143000"/>
            <a:chOff x="624" y="2976"/>
            <a:chExt cx="672" cy="720"/>
          </a:xfrm>
        </p:grpSpPr>
        <p:sp>
          <p:nvSpPr>
            <p:cNvPr id="29709" name="Rectangle 21"/>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0" name="Rectangle 22"/>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9711" name="Text Box 23"/>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S</a:t>
              </a:r>
              <a:endParaRPr lang="en-US" altLang="zh-CN" baseline="-25000" dirty="0">
                <a:latin typeface="Times New Roman" panose="02020603050405020304" pitchFamily="18" charset="0"/>
              </a:endParaRPr>
            </a:p>
          </p:txBody>
        </p:sp>
      </p:grpSp>
      <p:sp>
        <p:nvSpPr>
          <p:cNvPr id="29703" name="Line 28"/>
          <p:cNvSpPr/>
          <p:nvPr/>
        </p:nvSpPr>
        <p:spPr>
          <a:xfrm flipH="1">
            <a:off x="2428875" y="6184900"/>
            <a:ext cx="762000" cy="0"/>
          </a:xfrm>
          <a:prstGeom prst="line">
            <a:avLst/>
          </a:prstGeom>
          <a:ln w="9525" cap="flat" cmpd="sng">
            <a:solidFill>
              <a:schemeClr val="tx1"/>
            </a:solidFill>
            <a:prstDash val="solid"/>
            <a:headEnd type="none" w="med" len="med"/>
            <a:tailEnd type="triangle" w="med" len="med"/>
          </a:ln>
        </p:spPr>
      </p:sp>
      <p:sp>
        <p:nvSpPr>
          <p:cNvPr id="29704" name="Line 29"/>
          <p:cNvSpPr/>
          <p:nvPr/>
        </p:nvSpPr>
        <p:spPr>
          <a:xfrm flipH="1">
            <a:off x="4029075" y="6184900"/>
            <a:ext cx="762000" cy="0"/>
          </a:xfrm>
          <a:prstGeom prst="line">
            <a:avLst/>
          </a:prstGeom>
          <a:ln w="9525" cap="flat" cmpd="sng">
            <a:solidFill>
              <a:schemeClr val="tx1"/>
            </a:solidFill>
            <a:prstDash val="solid"/>
            <a:headEnd type="none" w="med" len="med"/>
            <a:tailEnd type="triangle" w="med" len="med"/>
          </a:ln>
        </p:spPr>
      </p:sp>
      <p:sp>
        <p:nvSpPr>
          <p:cNvPr id="29705" name="Line 30"/>
          <p:cNvSpPr/>
          <p:nvPr/>
        </p:nvSpPr>
        <p:spPr>
          <a:xfrm flipH="1">
            <a:off x="5629275" y="6184900"/>
            <a:ext cx="762000" cy="0"/>
          </a:xfrm>
          <a:prstGeom prst="line">
            <a:avLst/>
          </a:prstGeom>
          <a:ln w="9525" cap="flat" cmpd="sng">
            <a:solidFill>
              <a:schemeClr val="tx1"/>
            </a:solidFill>
            <a:prstDash val="solid"/>
            <a:headEnd type="none" w="med" len="med"/>
            <a:tailEnd type="triangle" w="med" len="med"/>
          </a:ln>
        </p:spPr>
      </p:sp>
      <p:sp>
        <p:nvSpPr>
          <p:cNvPr id="29706" name="Line 31"/>
          <p:cNvSpPr/>
          <p:nvPr/>
        </p:nvSpPr>
        <p:spPr>
          <a:xfrm flipH="1">
            <a:off x="7153275" y="6184900"/>
            <a:ext cx="762000" cy="0"/>
          </a:xfrm>
          <a:prstGeom prst="line">
            <a:avLst/>
          </a:prstGeom>
          <a:ln w="9525" cap="flat" cmpd="sng">
            <a:solidFill>
              <a:schemeClr val="tx1"/>
            </a:solidFill>
            <a:prstDash val="solid"/>
            <a:headEnd type="none" w="med" len="med"/>
            <a:tailEnd type="triangle" w="med" len="med"/>
          </a:ln>
        </p:spPr>
      </p:sp>
      <p:sp>
        <p:nvSpPr>
          <p:cNvPr id="29707" name="Text Box 32"/>
          <p:cNvSpPr txBox="1"/>
          <p:nvPr/>
        </p:nvSpPr>
        <p:spPr>
          <a:xfrm>
            <a:off x="3190875" y="6032500"/>
            <a:ext cx="8382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ea typeface="Times New Roman" panose="02020603050405020304" pitchFamily="18" charset="0"/>
              </a:rPr>
              <a:t>…</a:t>
            </a:r>
            <a:endParaRPr lang="en-US" altLang="zh-CN" dirty="0">
              <a:latin typeface="Times New Roman" panose="02020603050405020304" pitchFamily="18" charset="0"/>
              <a:ea typeface="Times New Roman" panose="02020603050405020304" pitchFamily="18" charset="0"/>
            </a:endParaRPr>
          </a:p>
        </p:txBody>
      </p:sp>
      <p:sp>
        <p:nvSpPr>
          <p:cNvPr id="29708" name="Text Box 33"/>
          <p:cNvSpPr txBox="1"/>
          <p:nvPr/>
        </p:nvSpPr>
        <p:spPr>
          <a:xfrm>
            <a:off x="7534275" y="5803900"/>
            <a:ext cx="609600" cy="396875"/>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sp</a:t>
            </a:r>
            <a:endParaRPr lang="en-US" altLang="zh-CN"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457200" y="457200"/>
            <a:ext cx="8229600" cy="6043613"/>
          </a:xfrm>
          <a:prstGeom prst="rect">
            <a:avLst/>
          </a:prstGeom>
          <a:noFill/>
          <a:ln w="9525">
            <a:noFill/>
          </a:ln>
        </p:spPr>
        <p:txBody>
          <a:bodyPr>
            <a:spAutoFit/>
          </a:bodyPr>
          <a:p>
            <a:pPr>
              <a:spcBef>
                <a:spcPct val="50000"/>
              </a:spcBef>
            </a:pPr>
            <a:r>
              <a:rPr lang="zh-CN" altLang="en-US" sz="2400" dirty="0">
                <a:solidFill>
                  <a:schemeClr val="tx2"/>
                </a:solidFill>
                <a:latin typeface="Times New Roman" panose="02020603050405020304" pitchFamily="18" charset="0"/>
              </a:rPr>
              <a:t>调用过程</a:t>
            </a:r>
            <a:r>
              <a:rPr lang="en-US" altLang="zh-CN" sz="2400" dirty="0">
                <a:solidFill>
                  <a:schemeClr val="tx2"/>
                </a:solidFill>
                <a:latin typeface="Times New Roman" panose="02020603050405020304" pitchFamily="18" charset="0"/>
              </a:rPr>
              <a:t>Q</a:t>
            </a:r>
            <a:r>
              <a:rPr lang="zh-CN" altLang="en-US" sz="2400" dirty="0">
                <a:solidFill>
                  <a:schemeClr val="tx2"/>
                </a:solidFill>
                <a:latin typeface="Times New Roman" panose="02020603050405020304" pitchFamily="18" charset="0"/>
              </a:rPr>
              <a:t>时：</a:t>
            </a:r>
            <a:endParaRPr lang="zh-CN" altLang="en-US" sz="2400" dirty="0">
              <a:solidFill>
                <a:schemeClr val="tx2"/>
              </a:solidFill>
              <a:latin typeface="Times New Roman" panose="02020603050405020304" pitchFamily="18" charset="0"/>
            </a:endParaRPr>
          </a:p>
          <a:p>
            <a:pPr lvl="1" eaLnBrk="1" hangingPunct="1">
              <a:spcBef>
                <a:spcPct val="5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NewAR.DynaChainPointer := sp;</a:t>
            </a:r>
            <a:endParaRPr lang="en-US" altLang="zh-CN" sz="2400" dirty="0">
              <a:latin typeface="Times New Roman" panose="02020603050405020304" pitchFamily="18" charset="0"/>
            </a:endParaRPr>
          </a:p>
          <a:p>
            <a:pPr lvl="1" eaLnBrk="1" hangingPunct="1">
              <a:spcBef>
                <a:spcPct val="20000"/>
              </a:spcBef>
              <a:buFont typeface="Wingdings" panose="05000000000000000000" pitchFamily="2" charset="2"/>
              <a:buChar char="q"/>
            </a:pPr>
            <a:r>
              <a:rPr lang="en-US" altLang="zh-CN" sz="2400" dirty="0">
                <a:latin typeface="Times New Roman" panose="02020603050405020304" pitchFamily="18" charset="0"/>
              </a:rPr>
              <a:t> NewAR.Return := ReturnAddr  ................ </a:t>
            </a:r>
            <a:r>
              <a:rPr lang="zh-CN" altLang="en-US" sz="2400" dirty="0">
                <a:solidFill>
                  <a:schemeClr val="hlink"/>
                </a:solidFill>
                <a:latin typeface="Times New Roman" panose="02020603050405020304" pitchFamily="18" charset="0"/>
              </a:rPr>
              <a:t>返回地址</a:t>
            </a:r>
            <a:endParaRPr lang="zh-CN" altLang="en-US" sz="2400" dirty="0">
              <a:solidFill>
                <a:schemeClr val="hlink"/>
              </a:solidFill>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NewAR.Level := Level(Q);    ...................... </a:t>
            </a:r>
            <a:r>
              <a:rPr lang="zh-CN" altLang="en-US" sz="2400" dirty="0">
                <a:solidFill>
                  <a:schemeClr val="hlink"/>
                </a:solidFill>
                <a:latin typeface="Times New Roman" panose="02020603050405020304" pitchFamily="18" charset="0"/>
              </a:rPr>
              <a:t>层数</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NewAR.Size := Size(Q); .............................  </a:t>
            </a:r>
            <a:r>
              <a:rPr lang="en-US" altLang="zh-CN" sz="2400" dirty="0">
                <a:solidFill>
                  <a:schemeClr val="hlink"/>
                </a:solidFill>
                <a:latin typeface="Times New Roman" panose="02020603050405020304" pitchFamily="18" charset="0"/>
              </a:rPr>
              <a:t>AR</a:t>
            </a:r>
            <a:r>
              <a:rPr lang="zh-CN" altLang="en-US" sz="2400" dirty="0">
                <a:solidFill>
                  <a:schemeClr val="hlink"/>
                </a:solidFill>
                <a:latin typeface="Times New Roman" panose="02020603050405020304" pitchFamily="18" charset="0"/>
              </a:rPr>
              <a:t>长度</a:t>
            </a:r>
            <a:endParaRPr lang="zh-CN" altLang="en-US" sz="2400" dirty="0">
              <a:solidFill>
                <a:schemeClr val="hlink"/>
              </a:solidFill>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NewAR.Machine := (R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a:t>
            </a:r>
            <a:r>
              <a:rPr lang="en-US" altLang="zh-CN" sz="2400" dirty="0">
                <a:latin typeface="Times New Roman" panose="02020603050405020304" pitchFamily="18" charset="0"/>
                <a:ea typeface="Times New Roman" panose="02020603050405020304" pitchFamily="18" charset="0"/>
              </a:rPr>
              <a:t>…</a:t>
            </a: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  ........  </a:t>
            </a:r>
            <a:r>
              <a:rPr lang="zh-CN" altLang="en-US" sz="2400" dirty="0">
                <a:solidFill>
                  <a:schemeClr val="hlink"/>
                </a:solidFill>
                <a:latin typeface="Times New Roman" panose="02020603050405020304" pitchFamily="18" charset="0"/>
              </a:rPr>
              <a:t>机器状态信息</a:t>
            </a:r>
            <a:endParaRPr lang="zh-CN" altLang="en-US" sz="2400" dirty="0">
              <a:solidFill>
                <a:schemeClr val="hlink"/>
              </a:solidFill>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sp := sp + CurrentAR.Size;      .................... </a:t>
            </a:r>
            <a:r>
              <a:rPr lang="zh-CN" altLang="en-US" sz="2400" dirty="0">
                <a:solidFill>
                  <a:schemeClr val="hlink"/>
                </a:solidFill>
                <a:latin typeface="Times New Roman" panose="02020603050405020304" pitchFamily="18" charset="0"/>
              </a:rPr>
              <a:t>修改</a:t>
            </a:r>
            <a:r>
              <a:rPr lang="en-US" altLang="zh-CN" sz="2400" dirty="0">
                <a:solidFill>
                  <a:schemeClr val="hlink"/>
                </a:solidFill>
                <a:latin typeface="Times New Roman" panose="02020603050405020304" pitchFamily="18" charset="0"/>
              </a:rPr>
              <a:t>sp</a:t>
            </a:r>
            <a:endParaRPr lang="en-US" altLang="zh-CN" sz="2400" dirty="0">
              <a:solidFill>
                <a:schemeClr val="hlink"/>
              </a:solidFill>
              <a:latin typeface="Times New Roman" panose="02020603050405020304" pitchFamily="18" charset="0"/>
            </a:endParaRPr>
          </a:p>
          <a:p>
            <a:pPr lvl="1" eaLnBrk="1" hangingPunct="1">
              <a:spcBef>
                <a:spcPct val="20000"/>
              </a:spcBef>
              <a:buFont typeface="Wingdings" panose="05000000000000000000" pitchFamily="2" charset="2"/>
              <a:buChar char="q"/>
            </a:pPr>
            <a:r>
              <a:rPr lang="en-US" altLang="zh-CN" sz="2400" dirty="0">
                <a:latin typeface="Times New Roman" panose="02020603050405020304" pitchFamily="18" charset="0"/>
              </a:rPr>
              <a:t> </a:t>
            </a:r>
            <a:r>
              <a:rPr lang="zh-CN" altLang="en-US" sz="2400" dirty="0">
                <a:latin typeface="Times New Roman" panose="02020603050405020304" pitchFamily="18" charset="0"/>
              </a:rPr>
              <a:t>转向</a:t>
            </a:r>
            <a:r>
              <a:rPr lang="en-US" altLang="zh-CN" sz="2400" dirty="0">
                <a:latin typeface="Times New Roman" panose="02020603050405020304" pitchFamily="18" charset="0"/>
              </a:rPr>
              <a:t>Q</a:t>
            </a:r>
            <a:r>
              <a:rPr lang="zh-CN" altLang="en-US" sz="2400" dirty="0">
                <a:latin typeface="Times New Roman" panose="02020603050405020304" pitchFamily="18" charset="0"/>
              </a:rPr>
              <a:t>子程序</a:t>
            </a:r>
            <a:endParaRPr lang="zh-CN" altLang="en-US" sz="2400" dirty="0">
              <a:latin typeface="Times New Roman" panose="02020603050405020304" pitchFamily="18" charset="0"/>
            </a:endParaRPr>
          </a:p>
          <a:p>
            <a:pPr>
              <a:spcBef>
                <a:spcPct val="50000"/>
              </a:spcBef>
            </a:pPr>
            <a:r>
              <a:rPr lang="zh-CN" altLang="en-US" sz="2400" dirty="0">
                <a:solidFill>
                  <a:schemeClr val="tx2"/>
                </a:solidFill>
                <a:latin typeface="Times New Roman" panose="02020603050405020304" pitchFamily="18" charset="0"/>
              </a:rPr>
              <a:t>退出过程</a:t>
            </a:r>
            <a:r>
              <a:rPr lang="en-US" altLang="zh-CN" sz="2400" dirty="0">
                <a:solidFill>
                  <a:schemeClr val="tx2"/>
                </a:solidFill>
                <a:latin typeface="Times New Roman" panose="02020603050405020304" pitchFamily="18" charset="0"/>
              </a:rPr>
              <a:t>Q</a:t>
            </a:r>
            <a:r>
              <a:rPr lang="zh-CN" altLang="en-US" sz="2400" dirty="0">
                <a:solidFill>
                  <a:schemeClr val="tx2"/>
                </a:solidFill>
                <a:latin typeface="Times New Roman" panose="02020603050405020304" pitchFamily="18" charset="0"/>
              </a:rPr>
              <a:t>时（正常返回情形）：</a:t>
            </a:r>
            <a:endParaRPr lang="zh-CN" altLang="en-US" sz="2400" dirty="0">
              <a:solidFill>
                <a:schemeClr val="tx2"/>
              </a:solidFill>
              <a:latin typeface="Times New Roman" panose="02020603050405020304" pitchFamily="18" charset="0"/>
            </a:endParaRPr>
          </a:p>
          <a:p>
            <a:pPr lvl="1" eaLnBrk="1" hangingPunct="1">
              <a:spcBef>
                <a:spcPct val="5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,…,R</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 := CurrentAR.Machine; ... </a:t>
            </a:r>
            <a:r>
              <a:rPr lang="zh-CN" altLang="en-US" sz="2400" dirty="0">
                <a:solidFill>
                  <a:schemeClr val="hlink"/>
                </a:solidFill>
                <a:latin typeface="Times New Roman" panose="02020603050405020304" pitchFamily="18" charset="0"/>
              </a:rPr>
              <a:t>恢复机器状态</a:t>
            </a:r>
            <a:endParaRPr lang="zh-CN" altLang="en-US" sz="2400" dirty="0">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Value := CurrentAR. ReturnValue; .........   </a:t>
            </a:r>
            <a:r>
              <a:rPr lang="zh-CN" altLang="en-US" sz="2400" dirty="0">
                <a:solidFill>
                  <a:schemeClr val="hlink"/>
                </a:solidFill>
                <a:latin typeface="Times New Roman" panose="02020603050405020304" pitchFamily="18" charset="0"/>
              </a:rPr>
              <a:t>返回值</a:t>
            </a:r>
            <a:endParaRPr lang="zh-CN" altLang="en-US" sz="2400" dirty="0">
              <a:solidFill>
                <a:schemeClr val="hlink"/>
              </a:solidFill>
              <a:latin typeface="Times New Roman" panose="02020603050405020304" pitchFamily="18" charset="0"/>
            </a:endParaRPr>
          </a:p>
          <a:p>
            <a:pPr lvl="1" eaLnBrk="1" hangingPunct="1">
              <a:spcBef>
                <a:spcPct val="20000"/>
              </a:spcBef>
              <a:buFont typeface="Wingdings" panose="05000000000000000000" pitchFamily="2" charset="2"/>
              <a:buChar char="q"/>
            </a:pPr>
            <a:r>
              <a:rPr lang="zh-CN" altLang="en-US" sz="2400" dirty="0">
                <a:latin typeface="Times New Roman" panose="02020603050405020304" pitchFamily="18" charset="0"/>
              </a:rPr>
              <a:t> </a:t>
            </a:r>
            <a:r>
              <a:rPr lang="en-US" altLang="zh-CN" sz="2400" dirty="0">
                <a:latin typeface="Times New Roman" panose="02020603050405020304" pitchFamily="18" charset="0"/>
              </a:rPr>
              <a:t>sp := CurrentAR.DynaChainPointer;</a:t>
            </a:r>
            <a:endParaRPr lang="en-US" altLang="zh-CN" sz="2400" dirty="0">
              <a:latin typeface="Times New Roman" panose="02020603050405020304" pitchFamily="18" charset="0"/>
            </a:endParaRPr>
          </a:p>
          <a:p>
            <a:pPr lvl="1" eaLnBrk="1" hangingPunct="1">
              <a:spcBef>
                <a:spcPct val="20000"/>
              </a:spcBef>
              <a:buFont typeface="Wingdings" panose="05000000000000000000" pitchFamily="2" charset="2"/>
              <a:buChar char="q"/>
            </a:pPr>
            <a:r>
              <a:rPr lang="en-US" altLang="zh-CN" sz="2400" dirty="0">
                <a:latin typeface="Times New Roman" panose="02020603050405020304" pitchFamily="18" charset="0"/>
              </a:rPr>
              <a:t> </a:t>
            </a:r>
            <a:r>
              <a:rPr lang="zh-CN" altLang="en-US" sz="2400" dirty="0">
                <a:latin typeface="Times New Roman" panose="02020603050405020304" pitchFamily="18" charset="0"/>
              </a:rPr>
              <a:t>按原</a:t>
            </a:r>
            <a:r>
              <a:rPr lang="en-US" altLang="zh-CN" sz="2400" dirty="0">
                <a:latin typeface="Times New Roman" panose="02020603050405020304" pitchFamily="18" charset="0"/>
              </a:rPr>
              <a:t>CurrentAR.return</a:t>
            </a:r>
            <a:r>
              <a:rPr lang="zh-CN" altLang="en-US" sz="2400" dirty="0">
                <a:latin typeface="Times New Roman" panose="02020603050405020304" pitchFamily="18" charset="0"/>
              </a:rPr>
              <a:t>返回。</a:t>
            </a:r>
            <a:endParaRPr lang="zh-CN" altLang="en-US" sz="2400" dirty="0">
              <a:latin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3619" name="Rectangle 3"/>
          <p:cNvSpPr>
            <a:spLocks noChangeArrowheads="1"/>
          </p:cNvSpPr>
          <p:nvPr/>
        </p:nvSpPr>
        <p:spPr bwMode="auto">
          <a:xfrm>
            <a:off x="381000" y="381000"/>
            <a:ext cx="8153400"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8.3.4</a:t>
            </a:r>
            <a:r>
              <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、活跃活动记录</a:t>
            </a:r>
            <a:endPar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1747" name="Text Box 4"/>
          <p:cNvSpPr txBox="1"/>
          <p:nvPr/>
        </p:nvSpPr>
        <p:spPr>
          <a:xfrm>
            <a:off x="457200" y="914400"/>
            <a:ext cx="8229600" cy="5076825"/>
          </a:xfrm>
          <a:prstGeom prst="rect">
            <a:avLst/>
          </a:prstGeom>
          <a:noFill/>
          <a:ln w="9525">
            <a:noFill/>
          </a:ln>
        </p:spPr>
        <p:txBody>
          <a:bodyPr>
            <a:spAutoFit/>
          </a:bodyPr>
          <a:p>
            <a:pPr>
              <a:lnSpc>
                <a:spcPct val="120000"/>
              </a:lnSpc>
              <a:spcBef>
                <a:spcPct val="50000"/>
              </a:spcBef>
            </a:pPr>
            <a:r>
              <a:rPr lang="zh-CN" altLang="en-US" sz="2400" dirty="0">
                <a:latin typeface="Times New Roman" panose="02020603050405020304" pitchFamily="18" charset="0"/>
              </a:rPr>
              <a:t>假设有过程</a:t>
            </a:r>
            <a:r>
              <a:rPr lang="en-US" altLang="zh-CN" sz="2400" dirty="0">
                <a:latin typeface="Times New Roman" panose="02020603050405020304" pitchFamily="18" charset="0"/>
              </a:rPr>
              <a:t>M</a:t>
            </a:r>
            <a:r>
              <a:rPr lang="zh-CN" altLang="en-US" sz="2400" dirty="0">
                <a:latin typeface="Times New Roman" panose="02020603050405020304" pitchFamily="18" charset="0"/>
              </a:rPr>
              <a:t>、</a:t>
            </a:r>
            <a:r>
              <a:rPr lang="en-US" altLang="zh-CN" sz="2400" dirty="0">
                <a:latin typeface="Times New Roman" panose="02020603050405020304" pitchFamily="18" charset="0"/>
              </a:rPr>
              <a:t>P</a:t>
            </a:r>
            <a:r>
              <a:rPr lang="zh-CN" altLang="en-US" sz="2400" dirty="0">
                <a:latin typeface="Times New Roman" panose="02020603050405020304" pitchFamily="18" charset="0"/>
              </a:rPr>
              <a:t>、</a:t>
            </a:r>
            <a:r>
              <a:rPr lang="en-US" altLang="zh-CN" sz="2400" dirty="0">
                <a:latin typeface="Times New Roman" panose="02020603050405020304" pitchFamily="18" charset="0"/>
              </a:rPr>
              <a:t>Q</a:t>
            </a:r>
            <a:r>
              <a:rPr lang="zh-CN" altLang="en-US" sz="2400" dirty="0">
                <a:latin typeface="Times New Roman" panose="02020603050405020304" pitchFamily="18" charset="0"/>
              </a:rPr>
              <a:t>、</a:t>
            </a:r>
            <a:r>
              <a:rPr lang="en-US" altLang="zh-CN" sz="2400" dirty="0">
                <a:latin typeface="Times New Roman" panose="02020603050405020304" pitchFamily="18" charset="0"/>
              </a:rPr>
              <a:t>R</a:t>
            </a:r>
            <a:r>
              <a:rPr lang="zh-CN" altLang="en-US" sz="2400" dirty="0">
                <a:latin typeface="Times New Roman" panose="02020603050405020304" pitchFamily="18" charset="0"/>
              </a:rPr>
              <a:t>，当前调用链是</a:t>
            </a:r>
            <a:r>
              <a:rPr lang="en-US" altLang="zh-CN" sz="2400" dirty="0">
                <a:latin typeface="Times New Roman" panose="02020603050405020304" pitchFamily="18" charset="0"/>
              </a:rPr>
              <a:t>(M,P</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,P</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,Q</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,R</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,R</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,R</a:t>
            </a:r>
            <a:r>
              <a:rPr lang="en-US" altLang="zh-CN" sz="2400" baseline="30000" dirty="0">
                <a:latin typeface="Times New Roman" panose="02020603050405020304" pitchFamily="18" charset="0"/>
              </a:rPr>
              <a:t>3</a:t>
            </a:r>
            <a:r>
              <a:rPr lang="en-US" altLang="zh-CN" sz="2400" dirty="0">
                <a:latin typeface="Times New Roman" panose="02020603050405020304" pitchFamily="18" charset="0"/>
              </a:rPr>
              <a:t>)</a:t>
            </a:r>
            <a:r>
              <a:rPr lang="zh-CN" altLang="en-US" sz="2400" dirty="0">
                <a:latin typeface="Times New Roman" panose="02020603050405020304" pitchFamily="18" charset="0"/>
              </a:rPr>
              <a:t>，则当前动态</a:t>
            </a:r>
            <a:r>
              <a:rPr lang="en-US" altLang="zh-CN" sz="2400" dirty="0">
                <a:latin typeface="Times New Roman" panose="02020603050405020304" pitchFamily="18" charset="0"/>
              </a:rPr>
              <a:t>AR</a:t>
            </a:r>
            <a:r>
              <a:rPr lang="zh-CN" altLang="en-US" sz="2400" dirty="0">
                <a:latin typeface="Times New Roman" panose="02020603050405020304" pitchFamily="18" charset="0"/>
              </a:rPr>
              <a:t>链为：</a:t>
            </a:r>
            <a:r>
              <a:rPr lang="en-US" altLang="zh-CN" sz="2400" dirty="0">
                <a:latin typeface="Times New Roman" panose="02020603050405020304" pitchFamily="18" charset="0"/>
              </a:rPr>
              <a:t>[AR(M),AR(P</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),AR(P</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),AR(Q</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),AR(R</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),AR(R</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),AR(R</a:t>
            </a:r>
            <a:r>
              <a:rPr lang="en-US" altLang="zh-CN" sz="2400" baseline="30000" dirty="0">
                <a:latin typeface="Times New Roman" panose="02020603050405020304" pitchFamily="18" charset="0"/>
              </a:rPr>
              <a:t>3</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a:lnSpc>
                <a:spcPct val="120000"/>
              </a:lnSpc>
              <a:spcBef>
                <a:spcPct val="50000"/>
              </a:spcBef>
            </a:pPr>
            <a:r>
              <a:rPr lang="zh-CN" altLang="en-US" sz="2400" dirty="0">
                <a:latin typeface="Times New Roman" panose="02020603050405020304" pitchFamily="18" charset="0"/>
              </a:rPr>
              <a:t>其中</a:t>
            </a:r>
            <a:r>
              <a:rPr lang="en-US" altLang="zh-CN" sz="2400" dirty="0">
                <a:solidFill>
                  <a:srgbClr val="FF0000"/>
                </a:solidFill>
                <a:latin typeface="Times New Roman" panose="02020603050405020304" pitchFamily="18" charset="0"/>
              </a:rPr>
              <a:t>P</a:t>
            </a:r>
            <a:r>
              <a:rPr lang="en-US" altLang="zh-CN" sz="2400" baseline="30000" dirty="0">
                <a:solidFill>
                  <a:srgbClr val="FF0000"/>
                </a:solidFill>
                <a:latin typeface="Times New Roman" panose="02020603050405020304" pitchFamily="18" charset="0"/>
              </a:rPr>
              <a:t>i</a:t>
            </a:r>
            <a:r>
              <a:rPr lang="zh-CN" altLang="en-US" sz="2400" dirty="0">
                <a:solidFill>
                  <a:srgbClr val="FF0000"/>
                </a:solidFill>
                <a:latin typeface="Times New Roman" panose="02020603050405020304" pitchFamily="18" charset="0"/>
              </a:rPr>
              <a:t>表示</a:t>
            </a:r>
            <a:r>
              <a:rPr lang="en-US" altLang="zh-CN" sz="2400" dirty="0">
                <a:solidFill>
                  <a:srgbClr val="FF0000"/>
                </a:solidFill>
                <a:latin typeface="Times New Roman" panose="02020603050405020304" pitchFamily="18" charset="0"/>
              </a:rPr>
              <a:t>P</a:t>
            </a:r>
            <a:r>
              <a:rPr lang="zh-CN" altLang="en-US" sz="2400" dirty="0">
                <a:solidFill>
                  <a:srgbClr val="FF0000"/>
                </a:solidFill>
                <a:latin typeface="Times New Roman" panose="02020603050405020304" pitchFamily="18" charset="0"/>
              </a:rPr>
              <a:t>的第</a:t>
            </a:r>
            <a:r>
              <a:rPr lang="en-US" altLang="zh-CN" sz="2400" dirty="0">
                <a:solidFill>
                  <a:srgbClr val="FF0000"/>
                </a:solidFill>
                <a:latin typeface="Times New Roman" panose="02020603050405020304" pitchFamily="18" charset="0"/>
              </a:rPr>
              <a:t>i</a:t>
            </a:r>
            <a:r>
              <a:rPr lang="zh-CN" altLang="en-US" sz="2400" dirty="0">
                <a:solidFill>
                  <a:srgbClr val="FF0000"/>
                </a:solidFill>
                <a:latin typeface="Times New Roman" panose="02020603050405020304" pitchFamily="18" charset="0"/>
              </a:rPr>
              <a:t>次调用</a:t>
            </a:r>
            <a:r>
              <a:rPr lang="zh-CN" altLang="en-US" sz="2400" dirty="0">
                <a:latin typeface="Times New Roman" panose="02020603050405020304" pitchFamily="18" charset="0"/>
              </a:rPr>
              <a:t>。一个过程</a:t>
            </a:r>
            <a:r>
              <a:rPr lang="en-US" altLang="zh-CN" sz="2400" dirty="0">
                <a:latin typeface="Times New Roman" panose="02020603050405020304" pitchFamily="18" charset="0"/>
              </a:rPr>
              <a:t>S</a:t>
            </a:r>
            <a:r>
              <a:rPr lang="zh-CN" altLang="en-US" sz="2400" dirty="0">
                <a:latin typeface="Times New Roman" panose="02020603050405020304" pitchFamily="18" charset="0"/>
              </a:rPr>
              <a:t>在动态链中可有多个</a:t>
            </a:r>
            <a:r>
              <a:rPr lang="en-US" altLang="zh-CN" sz="2400" dirty="0">
                <a:latin typeface="Times New Roman" panose="02020603050405020304" pitchFamily="18" charset="0"/>
              </a:rPr>
              <a:t>AR</a:t>
            </a:r>
            <a:r>
              <a:rPr lang="zh-CN" altLang="en-US" sz="2400" dirty="0">
                <a:latin typeface="Times New Roman" panose="02020603050405020304" pitchFamily="18" charset="0"/>
              </a:rPr>
              <a:t>，但其中只有</a:t>
            </a:r>
            <a:r>
              <a:rPr lang="zh-CN" altLang="en-US" sz="2400" dirty="0">
                <a:solidFill>
                  <a:srgbClr val="FF0000"/>
                </a:solidFill>
                <a:latin typeface="Times New Roman" panose="02020603050405020304" pitchFamily="18" charset="0"/>
              </a:rPr>
              <a:t>最新</a:t>
            </a:r>
            <a:r>
              <a:rPr lang="en-US" altLang="zh-CN" sz="2400" dirty="0">
                <a:solidFill>
                  <a:srgbClr val="FF0000"/>
                </a:solidFill>
                <a:latin typeface="Times New Roman" panose="02020603050405020304" pitchFamily="18" charset="0"/>
              </a:rPr>
              <a:t>AR(S)</a:t>
            </a:r>
            <a:r>
              <a:rPr lang="zh-CN" altLang="en-US" sz="2400" dirty="0">
                <a:latin typeface="Times New Roman" panose="02020603050405020304" pitchFamily="18" charset="0"/>
              </a:rPr>
              <a:t>是可访问的，我们称此</a:t>
            </a:r>
            <a:r>
              <a:rPr lang="en-US" altLang="zh-CN" sz="2400" dirty="0">
                <a:latin typeface="Times New Roman" panose="02020603050405020304" pitchFamily="18" charset="0"/>
              </a:rPr>
              <a:t>AR(S)</a:t>
            </a:r>
            <a:r>
              <a:rPr lang="zh-CN" altLang="en-US" sz="2400" dirty="0">
                <a:latin typeface="Times New Roman" panose="02020603050405020304" pitchFamily="18" charset="0"/>
              </a:rPr>
              <a:t>是</a:t>
            </a:r>
            <a:r>
              <a:rPr lang="en-US" altLang="zh-CN" sz="2400" dirty="0">
                <a:solidFill>
                  <a:srgbClr val="FF0000"/>
                </a:solidFill>
                <a:latin typeface="Times New Roman" panose="02020603050405020304" pitchFamily="18" charset="0"/>
              </a:rPr>
              <a:t>S</a:t>
            </a:r>
            <a:r>
              <a:rPr lang="zh-CN" altLang="en-US" sz="2400" dirty="0">
                <a:solidFill>
                  <a:srgbClr val="FF0000"/>
                </a:solidFill>
                <a:latin typeface="Times New Roman" panose="02020603050405020304" pitchFamily="18" charset="0"/>
              </a:rPr>
              <a:t>的活跃活动记录</a:t>
            </a:r>
            <a:r>
              <a:rPr lang="zh-CN" altLang="en-US" sz="2400" dirty="0">
                <a:latin typeface="Times New Roman" panose="02020603050405020304" pitchFamily="18" charset="0"/>
              </a:rPr>
              <a:t>，记为</a:t>
            </a:r>
            <a:r>
              <a:rPr lang="en-US" altLang="zh-CN" sz="2400" dirty="0">
                <a:solidFill>
                  <a:srgbClr val="FF0000"/>
                </a:solidFill>
                <a:latin typeface="Times New Roman" panose="02020603050405020304" pitchFamily="18" charset="0"/>
              </a:rPr>
              <a:t>LiveAR(S)</a:t>
            </a:r>
            <a:r>
              <a:rPr lang="zh-CN" altLang="en-US" sz="2400" dirty="0">
                <a:latin typeface="Times New Roman" panose="02020603050405020304" pitchFamily="18" charset="0"/>
              </a:rPr>
              <a:t>。对于上述动态链，有：</a:t>
            </a:r>
            <a:endParaRPr lang="zh-CN" altLang="en-US" sz="2400" dirty="0">
              <a:latin typeface="Times New Roman" panose="02020603050405020304" pitchFamily="18" charset="0"/>
            </a:endParaRPr>
          </a:p>
          <a:p>
            <a:pPr lvl="1" eaLnBrk="1" hangingPunct="1">
              <a:lnSpc>
                <a:spcPct val="120000"/>
              </a:lnSpc>
              <a:spcBef>
                <a:spcPct val="50000"/>
              </a:spcBef>
            </a:pPr>
            <a:r>
              <a:rPr lang="en-US" altLang="zh-CN" sz="2400" dirty="0">
                <a:latin typeface="Times New Roman" panose="02020603050405020304" pitchFamily="18" charset="0"/>
              </a:rPr>
              <a:t>LiveAR(M) = AR(M)</a:t>
            </a:r>
            <a:endParaRPr lang="en-US" altLang="zh-CN" sz="2400" dirty="0">
              <a:latin typeface="Times New Roman" panose="02020603050405020304" pitchFamily="18" charset="0"/>
            </a:endParaRPr>
          </a:p>
          <a:p>
            <a:pPr lvl="1" eaLnBrk="1" hangingPunct="1">
              <a:lnSpc>
                <a:spcPct val="120000"/>
              </a:lnSpc>
              <a:spcBef>
                <a:spcPct val="20000"/>
              </a:spcBef>
            </a:pPr>
            <a:r>
              <a:rPr lang="en-US" altLang="zh-CN" sz="2400" dirty="0">
                <a:latin typeface="Times New Roman" panose="02020603050405020304" pitchFamily="18" charset="0"/>
              </a:rPr>
              <a:t>LiveAR(P) = AR(P</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20000"/>
              </a:lnSpc>
              <a:spcBef>
                <a:spcPct val="20000"/>
              </a:spcBef>
            </a:pPr>
            <a:r>
              <a:rPr lang="en-US" altLang="zh-CN" sz="2400" dirty="0">
                <a:latin typeface="Times New Roman" panose="02020603050405020304" pitchFamily="18" charset="0"/>
              </a:rPr>
              <a:t>LiveAR(Q) = AR(Q</a:t>
            </a:r>
            <a:r>
              <a:rPr lang="en-US" altLang="zh-CN" sz="2400" baseline="30000" dirty="0">
                <a:latin typeface="Times New Roman" panose="02020603050405020304" pitchFamily="18" charset="0"/>
              </a:rPr>
              <a:t>1</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20000"/>
              </a:lnSpc>
              <a:spcBef>
                <a:spcPct val="20000"/>
              </a:spcBef>
            </a:pPr>
            <a:r>
              <a:rPr lang="en-US" altLang="zh-CN" sz="2400" dirty="0">
                <a:latin typeface="Times New Roman" panose="02020603050405020304" pitchFamily="18" charset="0"/>
              </a:rPr>
              <a:t>LiveAR(R) = AR(R</a:t>
            </a:r>
            <a:r>
              <a:rPr lang="en-US" altLang="zh-CN" sz="2400" baseline="30000" dirty="0">
                <a:latin typeface="Times New Roman" panose="02020603050405020304" pitchFamily="18" charset="0"/>
              </a:rPr>
              <a:t>3</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p:nvPr/>
        </p:nvSpPr>
        <p:spPr>
          <a:xfrm>
            <a:off x="381000" y="304800"/>
            <a:ext cx="7772400" cy="533400"/>
          </a:xfrm>
          <a:prstGeom prst="rect">
            <a:avLst/>
          </a:prstGeom>
          <a:noFill/>
          <a:ln w="9525">
            <a:noFill/>
          </a:ln>
        </p:spPr>
        <p:txBody>
          <a:bodyPr anchor="b" anchorCtr="0"/>
          <a:p>
            <a:r>
              <a:rPr lang="en-US" altLang="zh-CN" sz="2800" dirty="0">
                <a:latin typeface="宋体" panose="02010600030101010101" pitchFamily="2" charset="-122"/>
              </a:rPr>
              <a:t>8.4</a:t>
            </a:r>
            <a:r>
              <a:rPr lang="zh-CN" altLang="en-US" sz="2800" dirty="0">
                <a:latin typeface="宋体" panose="02010600030101010101" pitchFamily="2" charset="-122"/>
              </a:rPr>
              <a:t>、运行时的变量访问</a:t>
            </a:r>
            <a:endParaRPr lang="zh-CN" altLang="en-US" sz="2400" dirty="0">
              <a:latin typeface="宋体" panose="02010600030101010101" pitchFamily="2" charset="-122"/>
            </a:endParaRPr>
          </a:p>
        </p:txBody>
      </p:sp>
      <p:sp>
        <p:nvSpPr>
          <p:cNvPr id="32771" name="Rectangle 5"/>
          <p:cNvSpPr/>
          <p:nvPr/>
        </p:nvSpPr>
        <p:spPr>
          <a:xfrm>
            <a:off x="457200" y="1600200"/>
            <a:ext cx="8229600" cy="4832350"/>
          </a:xfrm>
          <a:prstGeom prst="rect">
            <a:avLst/>
          </a:prstGeom>
          <a:noFill/>
          <a:ln w="9525">
            <a:noFill/>
          </a:ln>
        </p:spPr>
        <p:txBody>
          <a:bodyPr>
            <a:spAutoFit/>
          </a:bodyPr>
          <a:p>
            <a:pPr>
              <a:spcBef>
                <a:spcPct val="50000"/>
              </a:spcBef>
              <a:buClr>
                <a:schemeClr val="accent1"/>
              </a:buClr>
            </a:pPr>
            <a:r>
              <a:rPr lang="zh-CN" altLang="en-US" sz="2400" dirty="0">
                <a:latin typeface="宋体" panose="02010600030101010101" pitchFamily="2" charset="-122"/>
              </a:rPr>
              <a:t>嵌套过程中既包含自己定义的局部变量，还包括其它过程中定义的局部变量，它们存储在定义它们的过程的活跃</a:t>
            </a:r>
            <a:r>
              <a:rPr lang="en-US" altLang="zh-CN" sz="2400" dirty="0">
                <a:latin typeface="宋体" panose="02010600030101010101" pitchFamily="2" charset="-122"/>
              </a:rPr>
              <a:t>AR</a:t>
            </a:r>
            <a:r>
              <a:rPr lang="zh-CN" altLang="en-US" sz="2400" dirty="0">
                <a:latin typeface="宋体" panose="02010600030101010101" pitchFamily="2" charset="-122"/>
              </a:rPr>
              <a:t>中。</a:t>
            </a:r>
            <a:endParaRPr lang="zh-CN" altLang="en-US" sz="2400" dirty="0">
              <a:latin typeface="宋体" panose="02010600030101010101" pitchFamily="2" charset="-122"/>
              <a:sym typeface="Wingdings" panose="05000000000000000000" pitchFamily="2" charset="2"/>
            </a:endParaRPr>
          </a:p>
          <a:p>
            <a:pPr>
              <a:spcBef>
                <a:spcPts val="1200"/>
              </a:spcBef>
              <a:buClr>
                <a:schemeClr val="hlink"/>
              </a:buClr>
              <a:buFont typeface="Wingdings" panose="05000000000000000000" pitchFamily="2" charset="2"/>
            </a:pPr>
            <a:r>
              <a:rPr lang="zh-CN" altLang="en-US" sz="2400" dirty="0">
                <a:solidFill>
                  <a:srgbClr val="FF0000"/>
                </a:solidFill>
                <a:latin typeface="宋体" panose="02010600030101010101" pitchFamily="2" charset="-122"/>
              </a:rPr>
              <a:t>静态链（</a:t>
            </a:r>
            <a:r>
              <a:rPr lang="en-US" altLang="zh-CN" sz="2400" dirty="0">
                <a:solidFill>
                  <a:srgbClr val="FF0000"/>
                </a:solidFill>
                <a:latin typeface="宋体" panose="02010600030101010101" pitchFamily="2" charset="-122"/>
              </a:rPr>
              <a:t>DeclaChain</a:t>
            </a:r>
            <a:r>
              <a:rPr lang="zh-CN" altLang="en-US" sz="2400" dirty="0">
                <a:solidFill>
                  <a:srgbClr val="FF0000"/>
                </a:solidFill>
                <a:latin typeface="宋体" panose="02010600030101010101" pitchFamily="2" charset="-122"/>
              </a:rPr>
              <a:t>：也称过程声明链）</a:t>
            </a:r>
            <a:r>
              <a:rPr lang="zh-CN" altLang="en-US" sz="2400" dirty="0">
                <a:latin typeface="宋体" panose="02010600030101010101" pitchFamily="2" charset="-122"/>
              </a:rPr>
              <a:t>：指向静态直接外层最新活动记录地址的指针，用来访问非局部数据。</a:t>
            </a:r>
            <a:r>
              <a:rPr lang="en-US" altLang="zh-CN" sz="2400" dirty="0">
                <a:latin typeface="宋体" panose="02010600030101010101" pitchFamily="2" charset="-122"/>
                <a:sym typeface="Wingdings" panose="05000000000000000000" pitchFamily="2" charset="2"/>
              </a:rPr>
              <a:t>(M)</a:t>
            </a:r>
            <a:r>
              <a:rPr lang="zh-CN" altLang="en-US" sz="2400" dirty="0">
                <a:latin typeface="宋体" panose="02010600030101010101" pitchFamily="2" charset="-122"/>
                <a:sym typeface="Wingdings" panose="05000000000000000000" pitchFamily="2" charset="2"/>
              </a:rPr>
              <a:t>是静态链；若</a:t>
            </a:r>
            <a:r>
              <a:rPr lang="en-US" altLang="zh-CN" sz="2400" dirty="0">
                <a:latin typeface="宋体" panose="02010600030101010101" pitchFamily="2" charset="-122"/>
                <a:sym typeface="Wingdings" panose="05000000000000000000" pitchFamily="2" charset="2"/>
              </a:rPr>
              <a:t>(M</a:t>
            </a:r>
            <a:r>
              <a:rPr lang="zh-CN" altLang="en-US" sz="2400" dirty="0">
                <a:latin typeface="宋体" panose="02010600030101010101" pitchFamily="2" charset="-122"/>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是静态链，且</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中有过程</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的声明，则</a:t>
            </a:r>
            <a:r>
              <a:rPr lang="en-US" altLang="zh-CN" sz="2400" dirty="0">
                <a:latin typeface="宋体" panose="02010600030101010101" pitchFamily="2" charset="-122"/>
                <a:sym typeface="Wingdings" panose="05000000000000000000" pitchFamily="2" charset="2"/>
              </a:rPr>
              <a:t>(M</a:t>
            </a:r>
            <a:r>
              <a:rPr lang="zh-CN" altLang="en-US" sz="2400" dirty="0">
                <a:latin typeface="宋体" panose="02010600030101010101" pitchFamily="2" charset="-122"/>
                <a:sym typeface="Wingdings" panose="05000000000000000000" pitchFamily="2" charset="2"/>
              </a:rPr>
              <a:t>，</a:t>
            </a:r>
            <a:r>
              <a:rPr lang="en-US" altLang="zh-CN" sz="2400" dirty="0">
                <a:latin typeface="Times New Roman" panose="02020603050405020304" pitchFamily="18" charset="0"/>
                <a:sym typeface="Wingdings" panose="05000000000000000000" pitchFamily="2" charset="2"/>
              </a:rPr>
              <a:t>…</a:t>
            </a:r>
            <a:r>
              <a:rPr lang="zh-CN" altLang="en-US"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也是静态链。对于过程</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，静态链</a:t>
            </a:r>
            <a:r>
              <a:rPr lang="en-US" altLang="zh-CN" sz="2400" dirty="0">
                <a:latin typeface="宋体" panose="02010600030101010101" pitchFamily="2" charset="-122"/>
                <a:sym typeface="Wingdings" panose="05000000000000000000" pitchFamily="2" charset="2"/>
              </a:rPr>
              <a:t>DeclaChain(Q)</a:t>
            </a:r>
            <a:r>
              <a:rPr lang="zh-CN" altLang="en-US" sz="2400" dirty="0">
                <a:latin typeface="宋体" panose="02010600030101010101" pitchFamily="2" charset="-122"/>
                <a:sym typeface="Wingdings" panose="05000000000000000000" pitchFamily="2" charset="2"/>
              </a:rPr>
              <a:t>是唯一的，且</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中出现的各变量其声明一定在</a:t>
            </a:r>
            <a:r>
              <a:rPr lang="en-US" altLang="zh-CN" sz="2400" dirty="0">
                <a:latin typeface="宋体" panose="02010600030101010101" pitchFamily="2" charset="-122"/>
              </a:rPr>
              <a:t>DeclaChain</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中。</a:t>
            </a:r>
            <a:endParaRPr lang="zh-CN" altLang="en-US" sz="2400" dirty="0">
              <a:latin typeface="宋体" panose="02010600030101010101" pitchFamily="2" charset="-122"/>
              <a:sym typeface="Wingdings" panose="05000000000000000000" pitchFamily="2" charset="2"/>
            </a:endParaRPr>
          </a:p>
          <a:p>
            <a:pPr>
              <a:spcBef>
                <a:spcPts val="1200"/>
              </a:spcBef>
              <a:buClr>
                <a:schemeClr val="hlink"/>
              </a:buClr>
              <a:buFont typeface="Wingdings" panose="05000000000000000000" pitchFamily="2" charset="2"/>
            </a:pPr>
            <a:r>
              <a:rPr lang="zh-CN" altLang="en-US" sz="2400" dirty="0">
                <a:solidFill>
                  <a:srgbClr val="FF0000"/>
                </a:solidFill>
                <a:latin typeface="宋体" panose="02010600030101010101" pitchFamily="2" charset="-122"/>
                <a:sym typeface="Wingdings" panose="05000000000000000000" pitchFamily="2" charset="2"/>
              </a:rPr>
              <a:t>静态链可由调用链</a:t>
            </a:r>
            <a:r>
              <a:rPr lang="zh-CN" altLang="en-US" sz="2400" dirty="0">
                <a:latin typeface="宋体" panose="02010600030101010101" pitchFamily="2" charset="-122"/>
                <a:sym typeface="Wingdings" panose="05000000000000000000" pitchFamily="2" charset="2"/>
              </a:rPr>
              <a:t>求得。具体说，如果</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中调用</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，且已知</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的静态链，则</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的静态链可从</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的静态链产生，且等于由</a:t>
            </a:r>
            <a:r>
              <a:rPr lang="en-US" altLang="zh-CN" sz="2400" dirty="0">
                <a:latin typeface="宋体" panose="02010600030101010101" pitchFamily="2" charset="-122"/>
                <a:sym typeface="Wingdings" panose="05000000000000000000" pitchFamily="2" charset="2"/>
              </a:rPr>
              <a:t>P</a:t>
            </a:r>
            <a:r>
              <a:rPr lang="zh-CN" altLang="en-US" sz="2400" dirty="0">
                <a:latin typeface="宋体" panose="02010600030101010101" pitchFamily="2" charset="-122"/>
                <a:sym typeface="Wingdings" panose="05000000000000000000" pitchFamily="2" charset="2"/>
              </a:rPr>
              <a:t>静态链的前</a:t>
            </a:r>
            <a:r>
              <a:rPr lang="en-US" altLang="zh-CN" sz="2400" dirty="0">
                <a:latin typeface="宋体" panose="02010600030101010101" pitchFamily="2" charset="-122"/>
                <a:sym typeface="Wingdings" panose="05000000000000000000" pitchFamily="2" charset="2"/>
              </a:rPr>
              <a:t>m</a:t>
            </a:r>
            <a:r>
              <a:rPr lang="zh-CN" altLang="en-US" sz="2400" dirty="0">
                <a:latin typeface="宋体" panose="02010600030101010101" pitchFamily="2" charset="-122"/>
                <a:sym typeface="Wingdings" panose="05000000000000000000" pitchFamily="2" charset="2"/>
              </a:rPr>
              <a:t>项组成的子链加上</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，其中</a:t>
            </a:r>
            <a:r>
              <a:rPr lang="en-US" altLang="zh-CN" sz="2400" dirty="0">
                <a:latin typeface="宋体" panose="02010600030101010101" pitchFamily="2" charset="-122"/>
                <a:sym typeface="Wingdings" panose="05000000000000000000" pitchFamily="2" charset="2"/>
              </a:rPr>
              <a:t>m</a:t>
            </a:r>
            <a:r>
              <a:rPr lang="zh-CN" altLang="en-US" sz="2400" dirty="0">
                <a:latin typeface="宋体" panose="02010600030101010101" pitchFamily="2" charset="-122"/>
                <a:sym typeface="Wingdings" panose="05000000000000000000" pitchFamily="2" charset="2"/>
              </a:rPr>
              <a:t>是</a:t>
            </a:r>
            <a:r>
              <a:rPr lang="en-US" altLang="zh-CN" sz="2400" dirty="0">
                <a:latin typeface="宋体" panose="02010600030101010101" pitchFamily="2" charset="-122"/>
                <a:sym typeface="Wingdings" panose="05000000000000000000" pitchFamily="2" charset="2"/>
              </a:rPr>
              <a:t>Q</a:t>
            </a:r>
            <a:r>
              <a:rPr lang="zh-CN" altLang="en-US" sz="2400" dirty="0">
                <a:latin typeface="宋体" panose="02010600030101010101" pitchFamily="2" charset="-122"/>
                <a:sym typeface="Wingdings" panose="05000000000000000000" pitchFamily="2" charset="2"/>
              </a:rPr>
              <a:t>的层数（假设主程序的层数是</a:t>
            </a:r>
            <a:r>
              <a:rPr lang="en-US" altLang="zh-CN" sz="2400" dirty="0">
                <a:latin typeface="宋体" panose="02010600030101010101" pitchFamily="2" charset="-122"/>
                <a:sym typeface="Wingdings" panose="05000000000000000000" pitchFamily="2" charset="2"/>
              </a:rPr>
              <a:t>0</a:t>
            </a:r>
            <a:r>
              <a:rPr lang="zh-CN" altLang="en-US" sz="2400" dirty="0">
                <a:latin typeface="宋体" panose="02010600030101010101" pitchFamily="2" charset="-122"/>
                <a:sym typeface="Wingdings" panose="05000000000000000000" pitchFamily="2" charset="2"/>
              </a:rPr>
              <a:t>）。</a:t>
            </a:r>
            <a:endParaRPr lang="zh-CN" altLang="en-US" sz="2400" dirty="0">
              <a:latin typeface="宋体" panose="02010600030101010101" pitchFamily="2" charset="-122"/>
              <a:sym typeface="Wingdings" panose="05000000000000000000" pitchFamily="2" charset="2"/>
            </a:endParaRPr>
          </a:p>
        </p:txBody>
      </p:sp>
      <p:sp>
        <p:nvSpPr>
          <p:cNvPr id="624646" name="Rectangle 6"/>
          <p:cNvSpPr>
            <a:spLocks noChangeArrowheads="1"/>
          </p:cNvSpPr>
          <p:nvPr/>
        </p:nvSpPr>
        <p:spPr bwMode="auto">
          <a:xfrm>
            <a:off x="533400" y="9779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8.4.1</a:t>
            </a:r>
            <a:r>
              <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、变量的访问环境</a:t>
            </a:r>
            <a:endPar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Picture 2" descr="在这里插入图片描述"/>
          <p:cNvPicPr>
            <a:picLocks noChangeAspect="1"/>
          </p:cNvPicPr>
          <p:nvPr/>
        </p:nvPicPr>
        <p:blipFill>
          <a:blip r:embed="rId1"/>
          <a:srcRect t="8794" r="45572" b="53859"/>
          <a:stretch>
            <a:fillRect/>
          </a:stretch>
        </p:blipFill>
        <p:spPr>
          <a:xfrm>
            <a:off x="2736215" y="404495"/>
            <a:ext cx="3672205" cy="2447925"/>
          </a:xfrm>
          <a:prstGeom prst="rect">
            <a:avLst/>
          </a:prstGeom>
          <a:noFill/>
          <a:ln w="9525">
            <a:noFill/>
          </a:ln>
        </p:spPr>
      </p:pic>
      <p:sp>
        <p:nvSpPr>
          <p:cNvPr id="2" name="文本框 1"/>
          <p:cNvSpPr txBox="1"/>
          <p:nvPr/>
        </p:nvSpPr>
        <p:spPr>
          <a:xfrm>
            <a:off x="539115" y="2924810"/>
            <a:ext cx="7924165" cy="953135"/>
          </a:xfrm>
          <a:prstGeom prst="rect">
            <a:avLst/>
          </a:prstGeom>
          <a:noFill/>
        </p:spPr>
        <p:txBody>
          <a:bodyPr wrap="square" rtlCol="0">
            <a:spAutoFit/>
          </a:bodyPr>
          <a:p>
            <a:r>
              <a:rPr lang="en-US" altLang="zh-CN" sz="2800"/>
              <a:t>P1,P2,P3</a:t>
            </a:r>
            <a:r>
              <a:rPr lang="zh-CN" altLang="zh-CN" sz="2800"/>
              <a:t>是三个程序（函数）</a:t>
            </a:r>
            <a:endParaRPr lang="zh-CN" altLang="zh-CN" sz="2800"/>
          </a:p>
          <a:p>
            <a:r>
              <a:rPr lang="en-US" altLang="zh-CN" sz="2800"/>
              <a:t>RA</a:t>
            </a:r>
            <a:r>
              <a:rPr lang="zh-CN" altLang="en-US" sz="2800"/>
              <a:t>：返回地址，</a:t>
            </a:r>
            <a:r>
              <a:rPr lang="en-US" altLang="zh-CN" sz="2800"/>
              <a:t>DL</a:t>
            </a:r>
            <a:r>
              <a:rPr lang="zh-CN" altLang="en-US" sz="2800"/>
              <a:t>：动态链，</a:t>
            </a:r>
            <a:r>
              <a:rPr lang="en-US" altLang="zh-CN" sz="2800"/>
              <a:t>SL</a:t>
            </a:r>
            <a:r>
              <a:rPr lang="zh-CN" altLang="en-US" sz="2800"/>
              <a:t>：静态链</a:t>
            </a:r>
            <a:endParaRPr lang="zh-CN" altLang="en-US" sz="2800"/>
          </a:p>
        </p:txBody>
      </p:sp>
      <p:sp>
        <p:nvSpPr>
          <p:cNvPr id="3" name="文本框 2"/>
          <p:cNvSpPr txBox="1"/>
          <p:nvPr>
            <p:custDataLst>
              <p:tags r:id="rId2"/>
            </p:custDataLst>
          </p:nvPr>
        </p:nvSpPr>
        <p:spPr>
          <a:xfrm>
            <a:off x="549910" y="3932555"/>
            <a:ext cx="8201660" cy="1814830"/>
          </a:xfrm>
          <a:prstGeom prst="rect">
            <a:avLst/>
          </a:prstGeom>
          <a:noFill/>
        </p:spPr>
        <p:txBody>
          <a:bodyPr wrap="square" rtlCol="0">
            <a:spAutoFit/>
          </a:bodyPr>
          <a:p>
            <a:r>
              <a:rPr lang="en-US" altLang="zh-CN" sz="2800"/>
              <a:t>P1</a:t>
            </a:r>
            <a:r>
              <a:rPr lang="zh-CN" altLang="en-US" sz="2800"/>
              <a:t>主程序调用</a:t>
            </a:r>
            <a:r>
              <a:rPr lang="en-US" altLang="zh-CN" sz="2800"/>
              <a:t>P2,P3</a:t>
            </a:r>
            <a:r>
              <a:rPr lang="zh-CN" altLang="en-US" sz="2800"/>
              <a:t>子程序</a:t>
            </a:r>
            <a:endParaRPr lang="zh-CN" altLang="en-US" sz="2800"/>
          </a:p>
          <a:p>
            <a:r>
              <a:rPr lang="en-US" altLang="zh-CN" sz="2800"/>
              <a:t>P3</a:t>
            </a:r>
            <a:r>
              <a:rPr lang="zh-CN" altLang="en-US" sz="2800"/>
              <a:t>的动态链（调用者的基地址）是</a:t>
            </a:r>
            <a:r>
              <a:rPr lang="en-US" altLang="zh-CN" sz="2800"/>
              <a:t>P1</a:t>
            </a:r>
            <a:r>
              <a:rPr lang="zh-CN" altLang="en-US" sz="2800"/>
              <a:t>的基地址</a:t>
            </a:r>
            <a:endParaRPr lang="zh-CN" altLang="en-US" sz="2800"/>
          </a:p>
          <a:p>
            <a:r>
              <a:rPr lang="en-US" altLang="zh-CN" sz="2800"/>
              <a:t>P3</a:t>
            </a:r>
            <a:r>
              <a:rPr lang="zh-CN" altLang="en-US" sz="2800"/>
              <a:t>的静态链（定义</a:t>
            </a:r>
            <a:r>
              <a:rPr lang="en-US" altLang="zh-CN" sz="2800"/>
              <a:t>P3</a:t>
            </a:r>
            <a:r>
              <a:rPr lang="zh-CN" altLang="en-US" sz="2800"/>
              <a:t>直接外层的基地址）是</a:t>
            </a:r>
            <a:r>
              <a:rPr lang="en-US" altLang="zh-CN" sz="2800"/>
              <a:t>P2</a:t>
            </a:r>
            <a:r>
              <a:rPr lang="zh-CN" altLang="en-US" sz="2800"/>
              <a:t>的基地址</a:t>
            </a:r>
            <a:endParaRPr lang="zh-CN" altLang="en-US"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Picture 2" descr="在这里插入图片描述"/>
          <p:cNvPicPr>
            <a:picLocks noChangeAspect="1"/>
          </p:cNvPicPr>
          <p:nvPr/>
        </p:nvPicPr>
        <p:blipFill>
          <a:blip r:embed="rId1"/>
          <a:srcRect l="8042" t="8718" r="11591" b="19947"/>
          <a:stretch>
            <a:fillRect/>
          </a:stretch>
        </p:blipFill>
        <p:spPr>
          <a:xfrm>
            <a:off x="251460" y="404495"/>
            <a:ext cx="8545195" cy="568896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842" name="Group 7"/>
          <p:cNvGrpSpPr/>
          <p:nvPr/>
        </p:nvGrpSpPr>
        <p:grpSpPr>
          <a:xfrm>
            <a:off x="457200" y="4800600"/>
            <a:ext cx="1219200" cy="1143000"/>
            <a:chOff x="624" y="2976"/>
            <a:chExt cx="672" cy="720"/>
          </a:xfrm>
        </p:grpSpPr>
        <p:sp>
          <p:nvSpPr>
            <p:cNvPr id="35882" name="Rectangle 8"/>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83" name="Rectangle 9"/>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84" name="Text Box 10"/>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0 </a:t>
              </a:r>
              <a:r>
                <a:rPr lang="en-US" altLang="zh-CN" dirty="0">
                  <a:latin typeface="Times New Roman" panose="02020603050405020304" pitchFamily="18" charset="0"/>
                </a:rPr>
                <a:t>(M)</a:t>
              </a:r>
              <a:endParaRPr lang="en-US" altLang="zh-CN" dirty="0">
                <a:latin typeface="Times New Roman" panose="02020603050405020304" pitchFamily="18" charset="0"/>
              </a:endParaRPr>
            </a:p>
          </p:txBody>
        </p:sp>
      </p:grpSp>
      <p:grpSp>
        <p:nvGrpSpPr>
          <p:cNvPr id="35843" name="Group 11"/>
          <p:cNvGrpSpPr/>
          <p:nvPr/>
        </p:nvGrpSpPr>
        <p:grpSpPr>
          <a:xfrm>
            <a:off x="2209800" y="4800600"/>
            <a:ext cx="1143000" cy="1143000"/>
            <a:chOff x="624" y="2976"/>
            <a:chExt cx="672" cy="720"/>
          </a:xfrm>
        </p:grpSpPr>
        <p:sp>
          <p:nvSpPr>
            <p:cNvPr id="35879" name="Rectangle 12"/>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80" name="Rectangle 13"/>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81" name="Text Box 14"/>
            <p:cNvSpPr txBox="1"/>
            <p:nvPr/>
          </p:nvSpPr>
          <p:spPr>
            <a:xfrm>
              <a:off x="672" y="3072"/>
              <a:ext cx="576"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1</a:t>
              </a:r>
              <a:r>
                <a:rPr lang="en-US" altLang="zh-CN" dirty="0">
                  <a:latin typeface="Times New Roman" panose="02020603050405020304" pitchFamily="18" charset="0"/>
                </a:rPr>
                <a:t>(G)</a:t>
              </a:r>
              <a:endParaRPr lang="en-US" altLang="zh-CN" dirty="0">
                <a:latin typeface="Times New Roman" panose="02020603050405020304" pitchFamily="18" charset="0"/>
              </a:endParaRPr>
            </a:p>
          </p:txBody>
        </p:sp>
      </p:grpSp>
      <p:grpSp>
        <p:nvGrpSpPr>
          <p:cNvPr id="35844" name="Group 15"/>
          <p:cNvGrpSpPr/>
          <p:nvPr/>
        </p:nvGrpSpPr>
        <p:grpSpPr>
          <a:xfrm>
            <a:off x="3733800" y="4800600"/>
            <a:ext cx="1219200" cy="1143000"/>
            <a:chOff x="624" y="2976"/>
            <a:chExt cx="672" cy="720"/>
          </a:xfrm>
        </p:grpSpPr>
        <p:sp>
          <p:nvSpPr>
            <p:cNvPr id="35876" name="Rectangle 16"/>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7" name="Rectangle 17"/>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8" name="Text Box 18"/>
            <p:cNvSpPr txBox="1"/>
            <p:nvPr/>
          </p:nvSpPr>
          <p:spPr>
            <a:xfrm>
              <a:off x="672" y="3072"/>
              <a:ext cx="576"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2</a:t>
              </a: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grpSp>
      <p:grpSp>
        <p:nvGrpSpPr>
          <p:cNvPr id="35845" name="Group 19"/>
          <p:cNvGrpSpPr/>
          <p:nvPr/>
        </p:nvGrpSpPr>
        <p:grpSpPr>
          <a:xfrm>
            <a:off x="5334000" y="4800600"/>
            <a:ext cx="1219200" cy="1143000"/>
            <a:chOff x="624" y="2976"/>
            <a:chExt cx="672" cy="720"/>
          </a:xfrm>
        </p:grpSpPr>
        <p:sp>
          <p:nvSpPr>
            <p:cNvPr id="35873" name="Rectangle 20"/>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4" name="Rectangle 21"/>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5" name="Text Box 22"/>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3 </a:t>
              </a: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grpSp>
      <p:grpSp>
        <p:nvGrpSpPr>
          <p:cNvPr id="35846" name="Group 23"/>
          <p:cNvGrpSpPr/>
          <p:nvPr/>
        </p:nvGrpSpPr>
        <p:grpSpPr>
          <a:xfrm>
            <a:off x="6858000" y="4800600"/>
            <a:ext cx="1219200" cy="1143000"/>
            <a:chOff x="624" y="2976"/>
            <a:chExt cx="672" cy="720"/>
          </a:xfrm>
        </p:grpSpPr>
        <p:sp>
          <p:nvSpPr>
            <p:cNvPr id="35870" name="Rectangle 24"/>
            <p:cNvSpPr/>
            <p:nvPr/>
          </p:nvSpPr>
          <p:spPr>
            <a:xfrm>
              <a:off x="624" y="2976"/>
              <a:ext cx="672" cy="72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1" name="Rectangle 25"/>
            <p:cNvSpPr/>
            <p:nvPr/>
          </p:nvSpPr>
          <p:spPr>
            <a:xfrm>
              <a:off x="624" y="3408"/>
              <a:ext cx="67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5872" name="Text Box 26"/>
            <p:cNvSpPr txBox="1"/>
            <p:nvPr/>
          </p:nvSpPr>
          <p:spPr>
            <a:xfrm>
              <a:off x="672" y="3072"/>
              <a:ext cx="576"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rPr>
                <a:t>AR</a:t>
              </a:r>
              <a:r>
                <a:rPr lang="en-US" altLang="zh-CN" baseline="-25000" dirty="0">
                  <a:latin typeface="Times New Roman" panose="02020603050405020304" pitchFamily="18" charset="0"/>
                </a:rPr>
                <a:t>4 </a:t>
              </a: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grpSp>
      <p:sp>
        <p:nvSpPr>
          <p:cNvPr id="35847" name="Line 27"/>
          <p:cNvSpPr/>
          <p:nvPr/>
        </p:nvSpPr>
        <p:spPr>
          <a:xfrm flipH="1">
            <a:off x="1676400" y="5791200"/>
            <a:ext cx="762000" cy="0"/>
          </a:xfrm>
          <a:prstGeom prst="line">
            <a:avLst/>
          </a:prstGeom>
          <a:ln w="9525" cap="flat" cmpd="sng">
            <a:solidFill>
              <a:schemeClr val="tx1"/>
            </a:solidFill>
            <a:prstDash val="solid"/>
            <a:headEnd type="none" w="med" len="med"/>
            <a:tailEnd type="triangle" w="med" len="med"/>
          </a:ln>
        </p:spPr>
      </p:sp>
      <p:sp>
        <p:nvSpPr>
          <p:cNvPr id="35848" name="Line 28"/>
          <p:cNvSpPr/>
          <p:nvPr/>
        </p:nvSpPr>
        <p:spPr>
          <a:xfrm flipH="1">
            <a:off x="3352800" y="5791200"/>
            <a:ext cx="762000" cy="0"/>
          </a:xfrm>
          <a:prstGeom prst="line">
            <a:avLst/>
          </a:prstGeom>
          <a:ln w="9525" cap="flat" cmpd="sng">
            <a:solidFill>
              <a:schemeClr val="tx1"/>
            </a:solidFill>
            <a:prstDash val="solid"/>
            <a:headEnd type="none" w="med" len="med"/>
            <a:tailEnd type="triangle" w="med" len="med"/>
          </a:ln>
        </p:spPr>
      </p:sp>
      <p:sp>
        <p:nvSpPr>
          <p:cNvPr id="35849" name="Line 29"/>
          <p:cNvSpPr/>
          <p:nvPr/>
        </p:nvSpPr>
        <p:spPr>
          <a:xfrm flipH="1">
            <a:off x="4953000" y="5791200"/>
            <a:ext cx="762000" cy="0"/>
          </a:xfrm>
          <a:prstGeom prst="line">
            <a:avLst/>
          </a:prstGeom>
          <a:ln w="9525" cap="flat" cmpd="sng">
            <a:solidFill>
              <a:schemeClr val="tx1"/>
            </a:solidFill>
            <a:prstDash val="solid"/>
            <a:headEnd type="none" w="med" len="med"/>
            <a:tailEnd type="triangle" w="med" len="med"/>
          </a:ln>
        </p:spPr>
      </p:sp>
      <p:sp>
        <p:nvSpPr>
          <p:cNvPr id="35850" name="Text Box 30"/>
          <p:cNvSpPr txBox="1"/>
          <p:nvPr/>
        </p:nvSpPr>
        <p:spPr>
          <a:xfrm>
            <a:off x="838200" y="5486400"/>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nil</a:t>
            </a:r>
            <a:endParaRPr lang="en-US" altLang="zh-CN" dirty="0">
              <a:latin typeface="Times New Roman" panose="02020603050405020304" pitchFamily="18" charset="0"/>
            </a:endParaRPr>
          </a:p>
        </p:txBody>
      </p:sp>
      <p:sp>
        <p:nvSpPr>
          <p:cNvPr id="35851" name="Text Box 31"/>
          <p:cNvSpPr txBox="1"/>
          <p:nvPr/>
        </p:nvSpPr>
        <p:spPr>
          <a:xfrm>
            <a:off x="2514600" y="5546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ar0</a:t>
            </a:r>
            <a:endParaRPr lang="en-US" altLang="zh-CN" dirty="0">
              <a:latin typeface="Times New Roman" panose="02020603050405020304" pitchFamily="18" charset="0"/>
            </a:endParaRPr>
          </a:p>
        </p:txBody>
      </p:sp>
      <p:sp>
        <p:nvSpPr>
          <p:cNvPr id="35852" name="Text Box 32"/>
          <p:cNvSpPr txBox="1"/>
          <p:nvPr/>
        </p:nvSpPr>
        <p:spPr>
          <a:xfrm>
            <a:off x="4114800" y="5546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ar1</a:t>
            </a:r>
            <a:endParaRPr lang="en-US" altLang="zh-CN" dirty="0">
              <a:latin typeface="Times New Roman" panose="02020603050405020304" pitchFamily="18" charset="0"/>
            </a:endParaRPr>
          </a:p>
        </p:txBody>
      </p:sp>
      <p:sp>
        <p:nvSpPr>
          <p:cNvPr id="35853" name="Text Box 33"/>
          <p:cNvSpPr txBox="1"/>
          <p:nvPr/>
        </p:nvSpPr>
        <p:spPr>
          <a:xfrm>
            <a:off x="5638800" y="5546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ar2</a:t>
            </a:r>
            <a:endParaRPr lang="en-US" altLang="zh-CN" dirty="0">
              <a:latin typeface="Times New Roman" panose="02020603050405020304" pitchFamily="18" charset="0"/>
            </a:endParaRPr>
          </a:p>
        </p:txBody>
      </p:sp>
      <p:sp>
        <p:nvSpPr>
          <p:cNvPr id="35854" name="Text Box 34"/>
          <p:cNvSpPr txBox="1"/>
          <p:nvPr/>
        </p:nvSpPr>
        <p:spPr>
          <a:xfrm>
            <a:off x="7162800" y="5546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ar2</a:t>
            </a:r>
            <a:endParaRPr lang="en-US" altLang="zh-CN" dirty="0">
              <a:latin typeface="Times New Roman" panose="02020603050405020304" pitchFamily="18" charset="0"/>
            </a:endParaRPr>
          </a:p>
        </p:txBody>
      </p:sp>
      <p:sp>
        <p:nvSpPr>
          <p:cNvPr id="35855" name="Line 35"/>
          <p:cNvSpPr/>
          <p:nvPr/>
        </p:nvSpPr>
        <p:spPr>
          <a:xfrm flipH="1">
            <a:off x="8077200" y="5791200"/>
            <a:ext cx="609600" cy="0"/>
          </a:xfrm>
          <a:prstGeom prst="line">
            <a:avLst/>
          </a:prstGeom>
          <a:ln w="9525" cap="flat" cmpd="sng">
            <a:solidFill>
              <a:schemeClr val="tx1"/>
            </a:solidFill>
            <a:prstDash val="solid"/>
            <a:headEnd type="none" w="med" len="med"/>
            <a:tailEnd type="triangle" w="med" len="med"/>
          </a:ln>
        </p:spPr>
      </p:sp>
      <p:sp>
        <p:nvSpPr>
          <p:cNvPr id="35856" name="Text Box 36"/>
          <p:cNvSpPr txBox="1"/>
          <p:nvPr/>
        </p:nvSpPr>
        <p:spPr>
          <a:xfrm>
            <a:off x="8153400" y="5715000"/>
            <a:ext cx="4572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sp</a:t>
            </a:r>
            <a:endParaRPr lang="en-US" altLang="zh-CN" dirty="0">
              <a:latin typeface="Times New Roman" panose="02020603050405020304" pitchFamily="18" charset="0"/>
            </a:endParaRPr>
          </a:p>
        </p:txBody>
      </p:sp>
      <p:sp>
        <p:nvSpPr>
          <p:cNvPr id="35857" name="Text Box 37"/>
          <p:cNvSpPr txBox="1"/>
          <p:nvPr/>
        </p:nvSpPr>
        <p:spPr>
          <a:xfrm>
            <a:off x="838200" y="5927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ar0</a:t>
            </a:r>
            <a:endParaRPr lang="en-US" altLang="zh-CN" dirty="0">
              <a:latin typeface="Times New Roman" panose="02020603050405020304" pitchFamily="18" charset="0"/>
            </a:endParaRPr>
          </a:p>
        </p:txBody>
      </p:sp>
      <p:sp>
        <p:nvSpPr>
          <p:cNvPr id="35858" name="Text Box 38"/>
          <p:cNvSpPr txBox="1"/>
          <p:nvPr/>
        </p:nvSpPr>
        <p:spPr>
          <a:xfrm>
            <a:off x="2438400" y="5927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ar1</a:t>
            </a:r>
            <a:endParaRPr lang="en-US" altLang="zh-CN" dirty="0">
              <a:latin typeface="Times New Roman" panose="02020603050405020304" pitchFamily="18" charset="0"/>
            </a:endParaRPr>
          </a:p>
        </p:txBody>
      </p:sp>
      <p:sp>
        <p:nvSpPr>
          <p:cNvPr id="35859" name="Text Box 39"/>
          <p:cNvSpPr txBox="1"/>
          <p:nvPr/>
        </p:nvSpPr>
        <p:spPr>
          <a:xfrm>
            <a:off x="4038600" y="5927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ar2</a:t>
            </a:r>
            <a:endParaRPr lang="en-US" altLang="zh-CN" dirty="0">
              <a:latin typeface="Times New Roman" panose="02020603050405020304" pitchFamily="18" charset="0"/>
            </a:endParaRPr>
          </a:p>
        </p:txBody>
      </p:sp>
      <p:sp>
        <p:nvSpPr>
          <p:cNvPr id="35860" name="Text Box 40"/>
          <p:cNvSpPr txBox="1"/>
          <p:nvPr/>
        </p:nvSpPr>
        <p:spPr>
          <a:xfrm>
            <a:off x="5562600" y="5927725"/>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ar3</a:t>
            </a:r>
            <a:endParaRPr lang="en-US" altLang="zh-CN" dirty="0">
              <a:latin typeface="Times New Roman" panose="02020603050405020304" pitchFamily="18" charset="0"/>
            </a:endParaRPr>
          </a:p>
        </p:txBody>
      </p:sp>
      <p:sp>
        <p:nvSpPr>
          <p:cNvPr id="35861" name="Text Box 41"/>
          <p:cNvSpPr txBox="1"/>
          <p:nvPr/>
        </p:nvSpPr>
        <p:spPr>
          <a:xfrm>
            <a:off x="7086600" y="5943600"/>
            <a:ext cx="609600" cy="396875"/>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ar4</a:t>
            </a:r>
            <a:endParaRPr lang="en-US" altLang="zh-CN" dirty="0">
              <a:latin typeface="Times New Roman" panose="02020603050405020304" pitchFamily="18" charset="0"/>
            </a:endParaRPr>
          </a:p>
        </p:txBody>
      </p:sp>
      <p:sp>
        <p:nvSpPr>
          <p:cNvPr id="35862" name="Line 43"/>
          <p:cNvSpPr/>
          <p:nvPr/>
        </p:nvSpPr>
        <p:spPr>
          <a:xfrm flipH="1">
            <a:off x="6705600" y="5791200"/>
            <a:ext cx="457200" cy="0"/>
          </a:xfrm>
          <a:prstGeom prst="line">
            <a:avLst/>
          </a:prstGeom>
          <a:ln w="9525" cap="flat" cmpd="sng">
            <a:solidFill>
              <a:schemeClr val="tx1"/>
            </a:solidFill>
            <a:prstDash val="solid"/>
            <a:headEnd type="none" w="med" len="med"/>
            <a:tailEnd type="none" w="med" len="med"/>
          </a:ln>
        </p:spPr>
      </p:sp>
      <p:sp>
        <p:nvSpPr>
          <p:cNvPr id="35863" name="Line 44"/>
          <p:cNvSpPr/>
          <p:nvPr/>
        </p:nvSpPr>
        <p:spPr>
          <a:xfrm>
            <a:off x="6705600" y="5791200"/>
            <a:ext cx="0" cy="609600"/>
          </a:xfrm>
          <a:prstGeom prst="line">
            <a:avLst/>
          </a:prstGeom>
          <a:ln w="9525" cap="flat" cmpd="sng">
            <a:solidFill>
              <a:schemeClr val="tx1"/>
            </a:solidFill>
            <a:prstDash val="solid"/>
            <a:headEnd type="none" w="med" len="med"/>
            <a:tailEnd type="none" w="med" len="med"/>
          </a:ln>
        </p:spPr>
      </p:sp>
      <p:sp>
        <p:nvSpPr>
          <p:cNvPr id="35864" name="Line 45"/>
          <p:cNvSpPr/>
          <p:nvPr/>
        </p:nvSpPr>
        <p:spPr>
          <a:xfrm flipH="1">
            <a:off x="5181600" y="6400800"/>
            <a:ext cx="1524000" cy="0"/>
          </a:xfrm>
          <a:prstGeom prst="line">
            <a:avLst/>
          </a:prstGeom>
          <a:ln w="9525" cap="flat" cmpd="sng">
            <a:solidFill>
              <a:schemeClr val="tx1"/>
            </a:solidFill>
            <a:prstDash val="solid"/>
            <a:headEnd type="none" w="med" len="med"/>
            <a:tailEnd type="none" w="med" len="med"/>
          </a:ln>
        </p:spPr>
      </p:sp>
      <p:sp>
        <p:nvSpPr>
          <p:cNvPr id="35865" name="Line 46"/>
          <p:cNvSpPr/>
          <p:nvPr/>
        </p:nvSpPr>
        <p:spPr>
          <a:xfrm flipV="1">
            <a:off x="5181600" y="5943600"/>
            <a:ext cx="0" cy="457200"/>
          </a:xfrm>
          <a:prstGeom prst="line">
            <a:avLst/>
          </a:prstGeom>
          <a:ln w="9525" cap="flat" cmpd="sng">
            <a:solidFill>
              <a:schemeClr val="tx1"/>
            </a:solidFill>
            <a:prstDash val="solid"/>
            <a:headEnd type="none" w="med" len="med"/>
            <a:tailEnd type="none" w="med" len="med"/>
          </a:ln>
        </p:spPr>
      </p:sp>
      <p:sp>
        <p:nvSpPr>
          <p:cNvPr id="35866" name="Line 47"/>
          <p:cNvSpPr/>
          <p:nvPr/>
        </p:nvSpPr>
        <p:spPr>
          <a:xfrm flipH="1">
            <a:off x="4876800" y="5943600"/>
            <a:ext cx="304800" cy="0"/>
          </a:xfrm>
          <a:prstGeom prst="line">
            <a:avLst/>
          </a:prstGeom>
          <a:ln w="9525" cap="flat" cmpd="sng">
            <a:solidFill>
              <a:schemeClr val="tx1"/>
            </a:solidFill>
            <a:prstDash val="solid"/>
            <a:headEnd type="none" w="med" len="med"/>
            <a:tailEnd type="triangle" w="med" len="med"/>
          </a:ln>
        </p:spPr>
      </p:sp>
      <p:sp>
        <p:nvSpPr>
          <p:cNvPr id="625712" name="Rectangle 48"/>
          <p:cNvSpPr>
            <a:spLocks noChangeArrowheads="1"/>
          </p:cNvSpPr>
          <p:nvPr/>
        </p:nvSpPr>
        <p:spPr bwMode="auto">
          <a:xfrm>
            <a:off x="457200" y="18288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8.4.2</a:t>
            </a:r>
            <a:r>
              <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、静态链方法（</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Static Chain</a:t>
            </a:r>
            <a:r>
              <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a:t>
            </a:r>
            <a:endPar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35868" name="Rectangle 49"/>
          <p:cNvSpPr/>
          <p:nvPr/>
        </p:nvSpPr>
        <p:spPr>
          <a:xfrm>
            <a:off x="609600" y="2455863"/>
            <a:ext cx="7848600" cy="2308225"/>
          </a:xfrm>
          <a:prstGeom prst="rect">
            <a:avLst/>
          </a:prstGeom>
          <a:noFill/>
          <a:ln w="9525">
            <a:noFill/>
          </a:ln>
        </p:spPr>
        <p:txBody>
          <a:bodyPr>
            <a:spAutoFit/>
          </a:bodyPr>
          <a:p>
            <a:pPr>
              <a:lnSpc>
                <a:spcPct val="110000"/>
              </a:lnSpc>
              <a:spcBef>
                <a:spcPct val="50000"/>
              </a:spcBef>
              <a:buClr>
                <a:schemeClr val="accent1"/>
              </a:buClr>
            </a:pPr>
            <a:r>
              <a:rPr lang="zh-CN" altLang="en-US" sz="2400" dirty="0">
                <a:latin typeface="宋体" panose="02010600030101010101" pitchFamily="2" charset="-122"/>
              </a:rPr>
              <a:t>在活动记录中引入一个</a:t>
            </a:r>
            <a:r>
              <a:rPr lang="zh-CN" altLang="en-US" sz="2400" dirty="0">
                <a:solidFill>
                  <a:srgbClr val="FF0000"/>
                </a:solidFill>
                <a:latin typeface="宋体" panose="02010600030101010101" pitchFamily="2" charset="-122"/>
              </a:rPr>
              <a:t>静态链指针</a:t>
            </a:r>
            <a:r>
              <a:rPr lang="zh-CN" altLang="en-US" sz="2400" dirty="0">
                <a:latin typeface="宋体" panose="02010600030101010101" pitchFamily="2" charset="-122"/>
              </a:rPr>
              <a:t>，指向</a:t>
            </a:r>
            <a:r>
              <a:rPr lang="zh-CN" altLang="en-US" sz="2400" dirty="0">
                <a:solidFill>
                  <a:srgbClr val="FF0000"/>
                </a:solidFill>
                <a:latin typeface="宋体" panose="02010600030101010101" pitchFamily="2" charset="-122"/>
              </a:rPr>
              <a:t>直接外层的最新活动记录的基地址</a:t>
            </a:r>
            <a:r>
              <a:rPr lang="zh-CN" altLang="en-US" sz="2400" dirty="0">
                <a:latin typeface="宋体" panose="02010600030101010101" pitchFamily="2" charset="-122"/>
              </a:rPr>
              <a:t>。由于过程的嵌套结构是确定的，则顺着静态链查找就可以找到</a:t>
            </a:r>
            <a:r>
              <a:rPr lang="zh-CN" altLang="en-US" sz="2400" dirty="0">
                <a:solidFill>
                  <a:srgbClr val="FF0000"/>
                </a:solidFill>
                <a:latin typeface="宋体" panose="02010600030101010101" pitchFamily="2" charset="-122"/>
              </a:rPr>
              <a:t>包含非局部变量的过程</a:t>
            </a:r>
            <a:r>
              <a:rPr lang="zh-CN" altLang="en-US" sz="2400" dirty="0">
                <a:latin typeface="宋体" panose="02010600030101010101" pitchFamily="2" charset="-122"/>
              </a:rPr>
              <a:t>。</a:t>
            </a:r>
            <a:endParaRPr lang="zh-CN" altLang="en-US" sz="2400" dirty="0">
              <a:latin typeface="宋体" panose="02010600030101010101" pitchFamily="2" charset="-122"/>
            </a:endParaRPr>
          </a:p>
          <a:p>
            <a:pPr>
              <a:lnSpc>
                <a:spcPct val="110000"/>
              </a:lnSpc>
              <a:spcBef>
                <a:spcPct val="50000"/>
              </a:spcBef>
              <a:buClr>
                <a:schemeClr val="accent1"/>
              </a:buClr>
            </a:pPr>
            <a:r>
              <a:rPr lang="zh-CN" altLang="en-US" sz="2400" dirty="0">
                <a:latin typeface="宋体" panose="02010600030101010101" pitchFamily="2" charset="-122"/>
              </a:rPr>
              <a:t>例</a:t>
            </a:r>
            <a:r>
              <a:rPr lang="en-US" altLang="zh-CN" sz="2400" dirty="0">
                <a:latin typeface="宋体" panose="02010600030101010101" pitchFamily="2" charset="-122"/>
              </a:rPr>
              <a:t>1</a:t>
            </a:r>
            <a:r>
              <a:rPr lang="zh-CN" altLang="en-US" sz="2400" dirty="0">
                <a:latin typeface="宋体" panose="02010600030101010101" pitchFamily="2" charset="-122"/>
              </a:rPr>
              <a:t>：假设有调用链</a:t>
            </a:r>
            <a:r>
              <a:rPr lang="en-US" altLang="zh-CN" sz="2400" dirty="0">
                <a:latin typeface="宋体" panose="02010600030101010101" pitchFamily="2" charset="-122"/>
              </a:rPr>
              <a:t>(M,G,H,R,S)</a:t>
            </a:r>
            <a:r>
              <a:rPr lang="zh-CN" altLang="en-US" sz="2400" dirty="0">
                <a:latin typeface="宋体" panose="02010600030101010101" pitchFamily="2" charset="-122"/>
              </a:rPr>
              <a:t>，且它们的层数分别为</a:t>
            </a:r>
            <a:r>
              <a:rPr lang="en-US" altLang="zh-CN" sz="2400" dirty="0">
                <a:latin typeface="宋体" panose="02010600030101010101" pitchFamily="2" charset="-122"/>
              </a:rPr>
              <a:t>0</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；则活动记录</a:t>
            </a:r>
            <a:r>
              <a:rPr lang="en-US" altLang="zh-CN" sz="2400" dirty="0">
                <a:latin typeface="宋体" panose="02010600030101010101" pitchFamily="2" charset="-122"/>
              </a:rPr>
              <a:t>AR</a:t>
            </a:r>
            <a:r>
              <a:rPr lang="zh-CN" altLang="en-US" sz="2400" dirty="0">
                <a:latin typeface="宋体" panose="02010600030101010101" pitchFamily="2" charset="-122"/>
              </a:rPr>
              <a:t>形态为：</a:t>
            </a:r>
            <a:endParaRPr lang="zh-CN" altLang="en-US" sz="2400" dirty="0">
              <a:latin typeface="宋体" panose="02010600030101010101" pitchFamily="2" charset="-122"/>
            </a:endParaRPr>
          </a:p>
        </p:txBody>
      </p:sp>
      <p:sp>
        <p:nvSpPr>
          <p:cNvPr id="35869" name="Rectangle 50"/>
          <p:cNvSpPr/>
          <p:nvPr/>
        </p:nvSpPr>
        <p:spPr>
          <a:xfrm>
            <a:off x="685800" y="381000"/>
            <a:ext cx="8001000" cy="1347788"/>
          </a:xfrm>
          <a:prstGeom prst="rect">
            <a:avLst/>
          </a:prstGeom>
          <a:noFill/>
          <a:ln w="9525">
            <a:noFill/>
          </a:ln>
        </p:spPr>
        <p:txBody>
          <a:bodyPr>
            <a:spAutoFit/>
          </a:bodyPr>
          <a:p>
            <a:pPr>
              <a:spcBef>
                <a:spcPct val="50000"/>
              </a:spcBef>
              <a:buClr>
                <a:schemeClr val="accent1"/>
              </a:buClr>
            </a:pPr>
            <a:r>
              <a:rPr lang="zh-CN" altLang="en-US" sz="2400" dirty="0">
                <a:solidFill>
                  <a:schemeClr val="tx2"/>
                </a:solidFill>
                <a:latin typeface="宋体" panose="02010600030101010101" pitchFamily="2" charset="-122"/>
                <a:sym typeface="Wingdings" panose="05000000000000000000" pitchFamily="2" charset="2"/>
              </a:rPr>
              <a:t>变量访问环境的实现方法有多种，较常见的有</a:t>
            </a:r>
            <a:endParaRPr lang="zh-CN" altLang="en-US" sz="2400" dirty="0">
              <a:solidFill>
                <a:schemeClr val="tx2"/>
              </a:solidFill>
              <a:latin typeface="宋体" panose="02010600030101010101" pitchFamily="2" charset="-122"/>
              <a:sym typeface="Wingdings" panose="05000000000000000000" pitchFamily="2" charset="2"/>
            </a:endParaRPr>
          </a:p>
          <a:p>
            <a:pPr lvl="1" eaLnBrk="1" hangingPunct="1">
              <a:spcBef>
                <a:spcPct val="20000"/>
              </a:spcBef>
              <a:buClr>
                <a:schemeClr val="hlink"/>
              </a:buClr>
              <a:buFont typeface="Wingdings" panose="05000000000000000000" pitchFamily="2" charset="2"/>
              <a:buChar char="ü"/>
            </a:pPr>
            <a:r>
              <a:rPr lang="zh-CN" altLang="en-US" sz="2400" dirty="0">
                <a:solidFill>
                  <a:schemeClr val="tx2"/>
                </a:solidFill>
                <a:latin typeface="宋体" panose="02010600030101010101" pitchFamily="2" charset="-122"/>
                <a:sym typeface="Wingdings" panose="05000000000000000000" pitchFamily="2" charset="2"/>
              </a:rPr>
              <a:t> 静态链方法</a:t>
            </a:r>
            <a:endParaRPr lang="zh-CN" altLang="en-US" sz="2400" dirty="0">
              <a:solidFill>
                <a:schemeClr val="tx2"/>
              </a:solidFill>
              <a:latin typeface="宋体" panose="02010600030101010101" pitchFamily="2" charset="-122"/>
              <a:sym typeface="Wingdings" panose="05000000000000000000" pitchFamily="2" charset="2"/>
            </a:endParaRPr>
          </a:p>
          <a:p>
            <a:pPr lvl="1" eaLnBrk="1" hangingPunct="1">
              <a:spcBef>
                <a:spcPct val="20000"/>
              </a:spcBef>
              <a:buClr>
                <a:schemeClr val="hlink"/>
              </a:buClr>
              <a:buFont typeface="Wingdings" panose="05000000000000000000" pitchFamily="2" charset="2"/>
              <a:buChar char="ü"/>
            </a:pPr>
            <a:r>
              <a:rPr lang="zh-CN" altLang="en-US" sz="2400" dirty="0">
                <a:solidFill>
                  <a:schemeClr val="tx2"/>
                </a:solidFill>
                <a:latin typeface="宋体" panose="02010600030101010101" pitchFamily="2" charset="-122"/>
                <a:sym typeface="Wingdings" panose="05000000000000000000" pitchFamily="2" charset="2"/>
              </a:rPr>
              <a:t> 嵌套层次显示表（</a:t>
            </a:r>
            <a:r>
              <a:rPr lang="en-US" altLang="zh-CN" sz="2400" dirty="0">
                <a:solidFill>
                  <a:schemeClr val="tx2"/>
                </a:solidFill>
                <a:latin typeface="宋体" panose="02010600030101010101" pitchFamily="2" charset="-122"/>
                <a:sym typeface="Wingdings" panose="05000000000000000000" pitchFamily="2" charset="2"/>
              </a:rPr>
              <a:t>Display</a:t>
            </a:r>
            <a:r>
              <a:rPr lang="zh-CN" altLang="en-US" sz="2400" dirty="0">
                <a:solidFill>
                  <a:schemeClr val="tx2"/>
                </a:solidFill>
                <a:latin typeface="宋体" panose="02010600030101010101" pitchFamily="2" charset="-122"/>
                <a:sym typeface="Wingdings" panose="05000000000000000000" pitchFamily="2" charset="2"/>
              </a:rPr>
              <a:t>表）方法（局部</a:t>
            </a:r>
            <a:r>
              <a:rPr lang="en-US" altLang="zh-CN" sz="2400" dirty="0">
                <a:solidFill>
                  <a:schemeClr val="tx2"/>
                </a:solidFill>
                <a:latin typeface="宋体" panose="02010600030101010101" pitchFamily="2" charset="-122"/>
                <a:sym typeface="Wingdings" panose="05000000000000000000" pitchFamily="2" charset="2"/>
              </a:rPr>
              <a:t>/</a:t>
            </a:r>
            <a:r>
              <a:rPr lang="zh-CN" altLang="en-US" sz="2400" dirty="0">
                <a:solidFill>
                  <a:schemeClr val="tx2"/>
                </a:solidFill>
                <a:latin typeface="宋体" panose="02010600030101010101" pitchFamily="2" charset="-122"/>
                <a:sym typeface="Wingdings" panose="05000000000000000000" pitchFamily="2" charset="2"/>
              </a:rPr>
              <a:t>全局）</a:t>
            </a:r>
            <a:endParaRPr lang="zh-CN" altLang="en-US" sz="2400" dirty="0">
              <a:solidFill>
                <a:schemeClr val="tx2"/>
              </a:solidFill>
              <a:latin typeface="宋体" panose="02010600030101010101" pitchFamily="2" charset="-122"/>
              <a:sym typeface="Wingdings" panose="05000000000000000000" pitchFamily="2" charset="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9762" name="Rectangle 2"/>
          <p:cNvSpPr>
            <a:spLocks noChangeArrowheads="1"/>
          </p:cNvSpPr>
          <p:nvPr/>
        </p:nvSpPr>
        <p:spPr bwMode="auto">
          <a:xfrm>
            <a:off x="457200" y="3810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8.4.2</a:t>
            </a:r>
            <a:r>
              <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、局部</a:t>
            </a:r>
            <a:r>
              <a:rPr kumimoji="1" lang="en-US" altLang="zh-CN"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Display</a:t>
            </a:r>
            <a:r>
              <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表方法</a:t>
            </a:r>
            <a:endParaRPr kumimoji="1" lang="zh-CN" altLang="en-US" sz="28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629763" name="Rectangle 3"/>
          <p:cNvSpPr>
            <a:spLocks noChangeArrowheads="1"/>
          </p:cNvSpPr>
          <p:nvPr/>
        </p:nvSpPr>
        <p:spPr bwMode="auto">
          <a:xfrm>
            <a:off x="609600" y="990600"/>
            <a:ext cx="7848600" cy="48942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
                <a:schemeClr val="accent1"/>
              </a:buClr>
              <a:buSzTx/>
              <a:buFontTx/>
              <a:buNone/>
              <a:defRPr/>
            </a:pP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为了提高访问</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非局部量</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的速度，可以用一个</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指针数组</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，称为</a:t>
            </a:r>
            <a:r>
              <a:rPr kumimoji="1" lang="zh-CN" altLang="en-US" sz="24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嵌套层次显示表</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display</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）来求每个活动记录</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AR</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的变量访问环境。即</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每进入一个过程后，在建立它的活动记录的同时建立一张局部</a:t>
            </a:r>
            <a:r>
              <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display</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表。第</a:t>
            </a:r>
            <a:r>
              <a:rPr kumimoji="1" lang="en-US" altLang="zh-CN" sz="2400" b="1" i="0" u="none" strike="noStrike" kern="1200" cap="none" spc="0" normalizeH="0" baseline="0" noProof="0" dirty="0" err="1">
                <a:ln>
                  <a:noFill/>
                </a:ln>
                <a:solidFill>
                  <a:srgbClr val="FF0000"/>
                </a:solidFill>
                <a:effectLst/>
                <a:uLnTx/>
                <a:uFillTx/>
                <a:latin typeface="宋体" panose="02010600030101010101" pitchFamily="2" charset="-122"/>
                <a:ea typeface="宋体" panose="02010600030101010101" pitchFamily="2" charset="-122"/>
                <a:cs typeface="+mn-cs"/>
              </a:rPr>
              <a:t>i</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层过程的局部</a:t>
            </a:r>
            <a:r>
              <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display</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表有</a:t>
            </a:r>
            <a:r>
              <a:rPr kumimoji="1"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i+1</a:t>
            </a:r>
            <a:r>
              <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个单元</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endPar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
                <a:schemeClr val="accent1"/>
              </a:buClr>
              <a:buSzTx/>
              <a:buFontTx/>
              <a:buNone/>
              <a:defRPr/>
            </a:pP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刚才的例子：调用链</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(M,G,H,R,S)</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，且它们的层数分别为</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0</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1</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2</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3</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3</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；则各</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AR</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的</a:t>
            </a:r>
            <a:r>
              <a:rPr kumimoji="1" lang="en-US" altLang="zh-CN"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Display</a:t>
            </a:r>
            <a:r>
              <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表如下：</a:t>
            </a:r>
            <a:endParaRPr kumimoji="1" lang="zh-CN" altLang="en-US" sz="24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
                <a:schemeClr val="accent1"/>
              </a:buClr>
              <a:buSzTx/>
              <a:buFontTx/>
              <a:buNone/>
              <a:defRPr/>
            </a:pPr>
            <a:r>
              <a:rPr kumimoji="1" lang="en-US" altLang="zh-CN" sz="2400" b="1" i="0" u="none" strike="noStrike" kern="1200" cap="none" spc="0" normalizeH="0" baseline="0" noProof="0" dirty="0">
                <a:ln>
                  <a:noFill/>
                </a:ln>
                <a:solidFill>
                  <a:schemeClr val="hlink"/>
                </a:solidFill>
                <a:effectLst/>
                <a:uLnTx/>
                <a:uFillTx/>
                <a:latin typeface="宋体" panose="02010600030101010101" pitchFamily="2" charset="-122"/>
                <a:ea typeface="宋体" panose="02010600030101010101" pitchFamily="2" charset="-122"/>
                <a:cs typeface="+mn-cs"/>
              </a:rPr>
              <a:t>0</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AR(M).Display = [ar0]</a:t>
            </a:r>
            <a:endPar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
                <a:schemeClr val="accent1"/>
              </a:buClr>
              <a:buSzTx/>
              <a:buFontTx/>
              <a:buNone/>
              <a:defRPr/>
            </a:pPr>
            <a:r>
              <a:rPr kumimoji="1" lang="en-US" altLang="zh-CN" sz="2400" b="1" i="0" u="none" strike="noStrike" kern="1200" cap="none" spc="0" normalizeH="0" baseline="0" noProof="0" dirty="0">
                <a:ln>
                  <a:noFill/>
                </a:ln>
                <a:solidFill>
                  <a:schemeClr val="hlink"/>
                </a:solidFill>
                <a:effectLst/>
                <a:uLnTx/>
                <a:uFillTx/>
                <a:latin typeface="宋体" panose="02010600030101010101" pitchFamily="2" charset="-122"/>
                <a:ea typeface="宋体" panose="02010600030101010101" pitchFamily="2" charset="-122"/>
                <a:cs typeface="+mn-cs"/>
              </a:rPr>
              <a:t>1</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AR(G).Display = [ar0,ar1]</a:t>
            </a:r>
            <a:endPar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
                <a:schemeClr val="accent1"/>
              </a:buClr>
              <a:buSzTx/>
              <a:buFontTx/>
              <a:buNone/>
              <a:defRPr/>
            </a:pPr>
            <a:r>
              <a:rPr kumimoji="1" lang="en-US" altLang="zh-CN" sz="2400" b="1" i="0" u="none" strike="noStrike" kern="1200" cap="none" spc="0" normalizeH="0" baseline="0" noProof="0" dirty="0">
                <a:ln>
                  <a:noFill/>
                </a:ln>
                <a:solidFill>
                  <a:schemeClr val="hlink"/>
                </a:solidFill>
                <a:effectLst/>
                <a:uLnTx/>
                <a:uFillTx/>
                <a:latin typeface="宋体" panose="02010600030101010101" pitchFamily="2" charset="-122"/>
                <a:ea typeface="宋体" panose="02010600030101010101" pitchFamily="2" charset="-122"/>
                <a:cs typeface="+mn-cs"/>
              </a:rPr>
              <a:t>2</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AR(H).Display = [ar0,ar1,ar2]</a:t>
            </a:r>
            <a:endPar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
                <a:schemeClr val="accent1"/>
              </a:buClr>
              <a:buSzTx/>
              <a:buFontTx/>
              <a:buNone/>
              <a:defRPr/>
            </a:pPr>
            <a:r>
              <a:rPr kumimoji="1" lang="en-US" altLang="zh-CN" sz="2400" b="1" i="0" u="none" strike="noStrike" kern="1200" cap="none" spc="0" normalizeH="0" baseline="0" noProof="0" dirty="0">
                <a:ln>
                  <a:noFill/>
                </a:ln>
                <a:solidFill>
                  <a:schemeClr val="hlink"/>
                </a:solidFill>
                <a:effectLst/>
                <a:uLnTx/>
                <a:uFillTx/>
                <a:latin typeface="宋体" panose="02010600030101010101" pitchFamily="2" charset="-122"/>
                <a:ea typeface="宋体" panose="02010600030101010101" pitchFamily="2" charset="-122"/>
                <a:cs typeface="+mn-cs"/>
              </a:rPr>
              <a:t>3</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AR(R).Display = [ar0,ar1,ar2,ar3]</a:t>
            </a:r>
            <a:endPar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
                <a:schemeClr val="accent1"/>
              </a:buClr>
              <a:buSzTx/>
              <a:buFontTx/>
              <a:buNone/>
              <a:defRPr/>
            </a:pPr>
            <a:r>
              <a:rPr kumimoji="1" lang="en-US" altLang="zh-CN" sz="2400" b="1" i="0" u="none" strike="noStrike" kern="1200" cap="none" spc="0" normalizeH="0" baseline="0" noProof="0" dirty="0">
                <a:ln>
                  <a:noFill/>
                </a:ln>
                <a:solidFill>
                  <a:schemeClr val="hlink"/>
                </a:solidFill>
                <a:effectLst/>
                <a:uLnTx/>
                <a:uFillTx/>
                <a:latin typeface="宋体" panose="02010600030101010101" pitchFamily="2" charset="-122"/>
                <a:ea typeface="宋体" panose="02010600030101010101" pitchFamily="2" charset="-122"/>
                <a:cs typeface="+mn-cs"/>
              </a:rPr>
              <a:t>3</a:t>
            </a:r>
            <a:r>
              <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AR(S).Display = [ar0,ar1,ar2,ar4]</a:t>
            </a:r>
            <a:endParaRPr kumimoji="1"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6868" name="Text Box 4"/>
          <p:cNvSpPr txBox="1"/>
          <p:nvPr/>
        </p:nvSpPr>
        <p:spPr>
          <a:xfrm>
            <a:off x="6324600" y="3733800"/>
            <a:ext cx="2362200" cy="2530475"/>
          </a:xfrm>
          <a:prstGeom prst="rect">
            <a:avLst/>
          </a:prstGeom>
          <a:noFill/>
          <a:ln w="9525">
            <a:noFill/>
          </a:ln>
        </p:spPr>
        <p:txBody>
          <a:bodyPr>
            <a:spAutoFit/>
          </a:bodyPr>
          <a:p>
            <a:r>
              <a:rPr lang="en-US" altLang="zh-CN" dirty="0">
                <a:latin typeface="Times New Roman" panose="02020603050405020304" pitchFamily="18" charset="0"/>
              </a:rPr>
              <a:t>M{</a:t>
            </a:r>
            <a:endParaRPr lang="en-US" altLang="zh-CN" dirty="0">
              <a:latin typeface="Times New Roman" panose="02020603050405020304" pitchFamily="18" charset="0"/>
            </a:endParaRPr>
          </a:p>
          <a:p>
            <a:pPr lvl="1" eaLnBrk="1" hangingPunct="1"/>
            <a:r>
              <a:rPr lang="en-US" altLang="zh-CN" dirty="0">
                <a:latin typeface="Times New Roman" panose="02020603050405020304" pitchFamily="18" charset="0"/>
              </a:rPr>
              <a:t>G{</a:t>
            </a:r>
            <a:endParaRPr lang="en-US" altLang="zh-CN" dirty="0">
              <a:latin typeface="Times New Roman" panose="02020603050405020304" pitchFamily="18" charset="0"/>
            </a:endParaRPr>
          </a:p>
          <a:p>
            <a:pPr lvl="2" eaLnBrk="1" hangingPunct="1"/>
            <a:r>
              <a:rPr lang="en-US" altLang="zh-CN" dirty="0">
                <a:latin typeface="Times New Roman" panose="02020603050405020304" pitchFamily="18" charset="0"/>
              </a:rPr>
              <a:t>H{</a:t>
            </a:r>
            <a:endParaRPr lang="en-US" altLang="zh-CN" dirty="0">
              <a:latin typeface="Times New Roman" panose="02020603050405020304" pitchFamily="18" charset="0"/>
            </a:endParaRPr>
          </a:p>
          <a:p>
            <a:pPr lvl="3" eaLnBrk="1" hangingPunct="1"/>
            <a:r>
              <a:rPr lang="en-US" altLang="zh-CN" dirty="0">
                <a:latin typeface="Times New Roman" panose="02020603050405020304" pitchFamily="18" charset="0"/>
              </a:rPr>
              <a:t>R{ }</a:t>
            </a:r>
            <a:endParaRPr lang="en-US" altLang="zh-CN" dirty="0">
              <a:latin typeface="Times New Roman" panose="02020603050405020304" pitchFamily="18" charset="0"/>
            </a:endParaRPr>
          </a:p>
          <a:p>
            <a:pPr lvl="3" eaLnBrk="1" hangingPunct="1"/>
            <a:r>
              <a:rPr lang="en-US" altLang="zh-CN" dirty="0">
                <a:latin typeface="Times New Roman" panose="02020603050405020304" pitchFamily="18" charset="0"/>
              </a:rPr>
              <a:t>S{ }</a:t>
            </a:r>
            <a:endParaRPr lang="en-US" altLang="zh-CN" dirty="0">
              <a:latin typeface="Times New Roman" panose="02020603050405020304" pitchFamily="18" charset="0"/>
            </a:endParaRPr>
          </a:p>
          <a:p>
            <a:pPr lvl="2" eaLnBrk="1" hangingPunct="1"/>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hangingPunct="1"/>
            <a:r>
              <a:rPr lang="en-US" altLang="zh-CN" dirty="0">
                <a:latin typeface="Times New Roman" panose="02020603050405020304" pitchFamily="18" charset="0"/>
              </a:rPr>
              <a:t>}</a:t>
            </a:r>
            <a:endParaRPr lang="en-US" altLang="zh-CN" dirty="0">
              <a:latin typeface="Times New Roman" panose="02020603050405020304" pitchFamily="18" charset="0"/>
            </a:endParaRPr>
          </a:p>
          <a:p>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Picture 2"/>
          <p:cNvPicPr>
            <a:picLocks noChangeAspect="1"/>
          </p:cNvPicPr>
          <p:nvPr/>
        </p:nvPicPr>
        <p:blipFill>
          <a:blip r:embed="rId1"/>
          <a:srcRect l="17401" t="33948" r="48514" b="35817"/>
          <a:stretch>
            <a:fillRect/>
          </a:stretch>
        </p:blipFill>
        <p:spPr>
          <a:xfrm>
            <a:off x="755650" y="476250"/>
            <a:ext cx="7477125" cy="5608638"/>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4" name="Picture 3"/>
          <p:cNvPicPr>
            <a:picLocks noChangeAspect="1"/>
          </p:cNvPicPr>
          <p:nvPr/>
        </p:nvPicPr>
        <p:blipFill>
          <a:blip r:embed="rId1"/>
          <a:srcRect l="16533" t="31972" r="46413" b="34254"/>
          <a:stretch>
            <a:fillRect/>
          </a:stretch>
        </p:blipFill>
        <p:spPr>
          <a:xfrm>
            <a:off x="900113" y="476250"/>
            <a:ext cx="7021512" cy="541178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8" name="Picture 2"/>
          <p:cNvPicPr>
            <a:picLocks noChangeAspect="1"/>
          </p:cNvPicPr>
          <p:nvPr/>
        </p:nvPicPr>
        <p:blipFill>
          <a:blip r:embed="rId1"/>
          <a:srcRect l="14635" t="31010" r="44511" b="33653"/>
          <a:stretch>
            <a:fillRect/>
          </a:stretch>
        </p:blipFill>
        <p:spPr>
          <a:xfrm>
            <a:off x="684213" y="476250"/>
            <a:ext cx="7461250" cy="54578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2" name="Picture 2"/>
          <p:cNvPicPr>
            <a:picLocks noChangeAspect="1"/>
          </p:cNvPicPr>
          <p:nvPr/>
        </p:nvPicPr>
        <p:blipFill>
          <a:blip r:embed="rId1"/>
          <a:srcRect l="15854" t="31010" r="46341" b="35097"/>
          <a:stretch>
            <a:fillRect/>
          </a:stretch>
        </p:blipFill>
        <p:spPr>
          <a:xfrm>
            <a:off x="755650" y="404813"/>
            <a:ext cx="7023100" cy="5322887"/>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6730" name="Rectangle 42"/>
          <p:cNvSpPr>
            <a:spLocks noChangeArrowheads="1"/>
          </p:cNvSpPr>
          <p:nvPr/>
        </p:nvSpPr>
        <p:spPr bwMode="auto">
          <a:xfrm>
            <a:off x="457200" y="381000"/>
            <a:ext cx="7772400" cy="533400"/>
          </a:xfrm>
          <a:prstGeom prst="rect">
            <a:avLst/>
          </a:prstGeom>
          <a:noFill/>
          <a:ln w="9525">
            <a:noFill/>
            <a:miter lim="800000"/>
          </a:ln>
          <a:effectLst/>
        </p:spPr>
        <p:txBody>
          <a:bodyPr anchor="b"/>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8.4.3</a:t>
            </a:r>
            <a:r>
              <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、全局</a:t>
            </a:r>
            <a:r>
              <a:rPr kumimoji="1" lang="en-US" altLang="zh-CN"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Display</a:t>
            </a:r>
            <a:r>
              <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表方法</a:t>
            </a:r>
            <a:endParaRPr kumimoji="1" lang="zh-CN" altLang="en-US" sz="2800" b="0" i="0" u="none" strike="noStrike" kern="1200" cap="none" spc="0" normalizeH="0" baseline="0" noProof="0" dirty="0">
              <a:ln>
                <a:noFill/>
              </a:ln>
              <a:solidFill>
                <a:srgbClr val="FF00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p:txBody>
      </p:sp>
      <p:sp>
        <p:nvSpPr>
          <p:cNvPr id="41987" name="Rectangle 43"/>
          <p:cNvSpPr/>
          <p:nvPr/>
        </p:nvSpPr>
        <p:spPr>
          <a:xfrm>
            <a:off x="428625" y="1539875"/>
            <a:ext cx="8286750" cy="2032000"/>
          </a:xfrm>
          <a:prstGeom prst="rect">
            <a:avLst/>
          </a:prstGeom>
          <a:noFill/>
          <a:ln w="9525">
            <a:noFill/>
          </a:ln>
        </p:spPr>
        <p:txBody>
          <a:bodyPr>
            <a:spAutoFit/>
          </a:bodyPr>
          <a:p>
            <a:pPr>
              <a:spcBef>
                <a:spcPct val="50000"/>
              </a:spcBef>
              <a:buClr>
                <a:schemeClr val="accent1"/>
              </a:buClr>
            </a:pPr>
            <a:r>
              <a:rPr lang="zh-CN" altLang="en-US" sz="2800" dirty="0">
                <a:latin typeface="宋体" panose="02010600030101010101" pitchFamily="2" charset="-122"/>
              </a:rPr>
              <a:t>二者思想类似。即：在程序的任何一个位置，包含该点的各过程必然层数都不相同。</a:t>
            </a:r>
            <a:endParaRPr lang="zh-CN" altLang="en-US" sz="2800" dirty="0">
              <a:latin typeface="宋体" panose="02010600030101010101" pitchFamily="2" charset="-122"/>
            </a:endParaRPr>
          </a:p>
          <a:p>
            <a:pPr>
              <a:spcBef>
                <a:spcPct val="50000"/>
              </a:spcBef>
              <a:buClr>
                <a:schemeClr val="accent1"/>
              </a:buClr>
            </a:pPr>
            <a:r>
              <a:rPr lang="zh-CN" altLang="en-US" sz="2800" dirty="0">
                <a:latin typeface="宋体" panose="02010600030101010101" pitchFamily="2" charset="-122"/>
              </a:rPr>
              <a:t>基于此思想，设一个总的</a:t>
            </a:r>
            <a:r>
              <a:rPr lang="en-US" altLang="zh-CN" sz="2800" dirty="0">
                <a:latin typeface="宋体" panose="02010600030101010101" pitchFamily="2" charset="-122"/>
              </a:rPr>
              <a:t>Display</a:t>
            </a:r>
            <a:r>
              <a:rPr lang="zh-CN" altLang="en-US" sz="2800" dirty="0">
                <a:latin typeface="宋体" panose="02010600030101010101" pitchFamily="2" charset="-122"/>
              </a:rPr>
              <a:t>表，用</a:t>
            </a:r>
            <a:r>
              <a:rPr lang="en-US" altLang="zh-CN" sz="2800" dirty="0">
                <a:latin typeface="宋体" panose="02010600030101010101" pitchFamily="2" charset="-122"/>
              </a:rPr>
              <a:t>Display[i]</a:t>
            </a:r>
            <a:r>
              <a:rPr lang="zh-CN" altLang="en-US" sz="2800" dirty="0">
                <a:latin typeface="宋体" panose="02010600030101010101" pitchFamily="2" charset="-122"/>
              </a:rPr>
              <a:t>指向层数为</a:t>
            </a:r>
            <a:r>
              <a:rPr lang="en-US" altLang="zh-CN" sz="2800" dirty="0">
                <a:latin typeface="宋体" panose="02010600030101010101" pitchFamily="2" charset="-122"/>
              </a:rPr>
              <a:t>i</a:t>
            </a:r>
            <a:r>
              <a:rPr lang="zh-CN" altLang="en-US" sz="2800" dirty="0">
                <a:latin typeface="宋体" panose="02010600030101010101" pitchFamily="2" charset="-122"/>
              </a:rPr>
              <a:t>的过程的最新</a:t>
            </a:r>
            <a:r>
              <a:rPr lang="en-US" altLang="zh-CN" sz="2800" dirty="0">
                <a:latin typeface="宋体" panose="02010600030101010101" pitchFamily="2" charset="-122"/>
              </a:rPr>
              <a:t>AR</a:t>
            </a:r>
            <a:r>
              <a:rPr lang="zh-CN" altLang="en-US" sz="2800" dirty="0">
                <a:latin typeface="宋体" panose="02010600030101010101" pitchFamily="2" charset="-122"/>
              </a:rPr>
              <a:t>。</a:t>
            </a:r>
            <a:endParaRPr lang="zh-CN" altLang="en-US" sz="2800" dirty="0">
              <a:latin typeface="宋体" panose="02010600030101010101" pitchFamily="2" charset="-122"/>
              <a:sym typeface="Wingdings" panose="05000000000000000000" pitchFamily="2" charset="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p:nvPr/>
        </p:nvSpPr>
        <p:spPr>
          <a:xfrm>
            <a:off x="381000" y="304800"/>
            <a:ext cx="7772400" cy="533400"/>
          </a:xfrm>
          <a:prstGeom prst="rect">
            <a:avLst/>
          </a:prstGeom>
          <a:noFill/>
          <a:ln w="9525">
            <a:noFill/>
          </a:ln>
        </p:spPr>
        <p:txBody>
          <a:bodyPr anchor="b" anchorCtr="0"/>
          <a:p>
            <a:r>
              <a:rPr lang="en-US" altLang="zh-CN" sz="2800" dirty="0">
                <a:latin typeface="宋体" panose="02010600030101010101" pitchFamily="2" charset="-122"/>
              </a:rPr>
              <a:t>8.5</a:t>
            </a:r>
            <a:r>
              <a:rPr lang="zh-CN" altLang="en-US" sz="2800" dirty="0">
                <a:latin typeface="宋体" panose="02010600030101010101" pitchFamily="2" charset="-122"/>
              </a:rPr>
              <a:t>、堆式动态存储分配</a:t>
            </a:r>
            <a:endParaRPr lang="zh-CN" altLang="en-US" sz="2400" dirty="0">
              <a:latin typeface="宋体" panose="02010600030101010101" pitchFamily="2" charset="-122"/>
            </a:endParaRPr>
          </a:p>
        </p:txBody>
      </p:sp>
      <p:sp>
        <p:nvSpPr>
          <p:cNvPr id="43011" name="Text Box 3"/>
          <p:cNvSpPr txBox="1"/>
          <p:nvPr/>
        </p:nvSpPr>
        <p:spPr>
          <a:xfrm>
            <a:off x="468313" y="990600"/>
            <a:ext cx="8280400" cy="405606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适用于允许用户自由申请和退还空间的情形（</a:t>
            </a:r>
            <a:r>
              <a:rPr lang="en-US" altLang="zh-CN" sz="2800" dirty="0">
                <a:latin typeface="Times New Roman" panose="02020603050405020304" pitchFamily="18" charset="0"/>
              </a:rPr>
              <a:t>Pascal</a:t>
            </a:r>
            <a:r>
              <a:rPr lang="zh-CN" altLang="en-US" sz="2800" dirty="0">
                <a:latin typeface="Times New Roman" panose="02020603050405020304" pitchFamily="18" charset="0"/>
              </a:rPr>
              <a:t>中的</a:t>
            </a:r>
            <a:r>
              <a:rPr lang="en-US" altLang="zh-CN" sz="2800" dirty="0">
                <a:latin typeface="Times New Roman" panose="02020603050405020304" pitchFamily="18" charset="0"/>
              </a:rPr>
              <a:t>new</a:t>
            </a:r>
            <a:r>
              <a:rPr lang="zh-CN" altLang="en-US" sz="2800" dirty="0">
                <a:latin typeface="Times New Roman" panose="02020603050405020304" pitchFamily="18" charset="0"/>
              </a:rPr>
              <a:t>与</a:t>
            </a:r>
            <a:r>
              <a:rPr lang="en-US" altLang="zh-CN" sz="2800" dirty="0">
                <a:latin typeface="Times New Roman" panose="02020603050405020304" pitchFamily="18" charset="0"/>
              </a:rPr>
              <a:t>dispose</a:t>
            </a:r>
            <a:r>
              <a:rPr lang="zh-CN" altLang="en-US" sz="2800" dirty="0">
                <a:latin typeface="Times New Roman" panose="02020603050405020304" pitchFamily="18" charset="0"/>
              </a:rPr>
              <a:t>）。经一段运行时间后，由于自由借还导致空间被划分成许多碎块。</a:t>
            </a:r>
            <a:endParaRPr lang="zh-CN" altLang="en-US" sz="2800" dirty="0">
              <a:latin typeface="Times New Roman" panose="02020603050405020304" pitchFamily="18" charset="0"/>
            </a:endParaRPr>
          </a:p>
          <a:p>
            <a:pPr>
              <a:spcBef>
                <a:spcPct val="50000"/>
              </a:spcBef>
            </a:pPr>
            <a:r>
              <a:rPr lang="zh-CN" altLang="en-US" sz="2800" dirty="0">
                <a:solidFill>
                  <a:srgbClr val="FF0000"/>
                </a:solidFill>
                <a:latin typeface="Times New Roman" panose="02020603050405020304" pitchFamily="18" charset="0"/>
              </a:rPr>
              <a:t>分配时需考虑的问题：</a:t>
            </a:r>
            <a:endParaRPr lang="zh-CN" altLang="en-US" sz="2800" dirty="0">
              <a:solidFill>
                <a:srgbClr val="FF0000"/>
              </a:solidFill>
              <a:latin typeface="Times New Roman" panose="02020603050405020304" pitchFamily="18" charset="0"/>
            </a:endParaRPr>
          </a:p>
          <a:p>
            <a:pPr>
              <a:spcBef>
                <a:spcPct val="50000"/>
              </a:spcBef>
              <a:buFont typeface="Wingdings" panose="05000000000000000000" pitchFamily="2" charset="2"/>
              <a:buChar char="Ø"/>
            </a:pPr>
            <a:r>
              <a:rPr lang="zh-CN" altLang="en-US" sz="2800" dirty="0">
                <a:latin typeface="Times New Roman" panose="02020603050405020304" pitchFamily="18" charset="0"/>
              </a:rPr>
              <a:t> 需要</a:t>
            </a:r>
            <a:r>
              <a:rPr lang="zh-CN" altLang="en-US" sz="2800" dirty="0">
                <a:solidFill>
                  <a:srgbClr val="FF0000"/>
                </a:solidFill>
                <a:latin typeface="Times New Roman" panose="02020603050405020304" pitchFamily="18" charset="0"/>
              </a:rPr>
              <a:t>合并碎块</a:t>
            </a:r>
            <a:r>
              <a:rPr lang="zh-CN" altLang="en-US" sz="2800" dirty="0">
                <a:latin typeface="Times New Roman" panose="02020603050405020304" pitchFamily="18" charset="0"/>
              </a:rPr>
              <a:t>时，必须调整运行程序对各占用块的全部引用点</a:t>
            </a:r>
            <a:endParaRPr lang="zh-CN" altLang="en-US" sz="2800" dirty="0">
              <a:latin typeface="Times New Roman" panose="02020603050405020304" pitchFamily="18" charset="0"/>
            </a:endParaRPr>
          </a:p>
          <a:p>
            <a:pPr>
              <a:spcBef>
                <a:spcPct val="20000"/>
              </a:spcBef>
              <a:buFont typeface="Wingdings" panose="05000000000000000000" pitchFamily="2" charset="2"/>
              <a:buChar char="Ø"/>
            </a:pPr>
            <a:r>
              <a:rPr lang="zh-CN" altLang="en-US" sz="2800" dirty="0">
                <a:latin typeface="Times New Roman" panose="02020603050405020304" pitchFamily="18" charset="0"/>
              </a:rPr>
              <a:t> </a:t>
            </a:r>
            <a:r>
              <a:rPr lang="zh-CN" altLang="en-US" sz="2800" dirty="0">
                <a:solidFill>
                  <a:srgbClr val="FF0000"/>
                </a:solidFill>
                <a:latin typeface="Times New Roman" panose="02020603050405020304" pitchFamily="18" charset="0"/>
              </a:rPr>
              <a:t>回收</a:t>
            </a:r>
            <a:r>
              <a:rPr lang="zh-CN" altLang="en-US" sz="2800" dirty="0">
                <a:latin typeface="Times New Roman" panose="02020603050405020304" pitchFamily="18" charset="0"/>
              </a:rPr>
              <a:t>无用但是未被释放的碎块时，如何确定其当前无用且永远无用</a:t>
            </a:r>
            <a:endParaRPr lang="zh-CN" altLang="en-US" sz="2800" dirty="0">
              <a:latin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p:nvPr/>
        </p:nvSpPr>
        <p:spPr>
          <a:xfrm>
            <a:off x="381000" y="304800"/>
            <a:ext cx="7772400" cy="533400"/>
          </a:xfrm>
          <a:prstGeom prst="rect">
            <a:avLst/>
          </a:prstGeom>
          <a:noFill/>
          <a:ln w="9525">
            <a:noFill/>
          </a:ln>
        </p:spPr>
        <p:txBody>
          <a:bodyPr anchor="b" anchorCtr="0"/>
          <a:p>
            <a:r>
              <a:rPr lang="en-US" altLang="zh-CN" sz="2800" dirty="0">
                <a:latin typeface="宋体" panose="02010600030101010101" pitchFamily="2" charset="-122"/>
              </a:rPr>
              <a:t>8.5</a:t>
            </a:r>
            <a:r>
              <a:rPr lang="zh-CN" altLang="en-US" sz="2800" dirty="0">
                <a:latin typeface="宋体" panose="02010600030101010101" pitchFamily="2" charset="-122"/>
              </a:rPr>
              <a:t>、堆式动态存储分配</a:t>
            </a:r>
            <a:endParaRPr lang="zh-CN" altLang="en-US" sz="2400" dirty="0">
              <a:latin typeface="宋体" panose="02010600030101010101" pitchFamily="2" charset="-122"/>
            </a:endParaRPr>
          </a:p>
        </p:txBody>
      </p:sp>
      <p:sp>
        <p:nvSpPr>
          <p:cNvPr id="44035" name="Text Box 4"/>
          <p:cNvSpPr txBox="1"/>
          <p:nvPr/>
        </p:nvSpPr>
        <p:spPr>
          <a:xfrm>
            <a:off x="533400" y="1000125"/>
            <a:ext cx="8001000" cy="2462213"/>
          </a:xfrm>
          <a:prstGeom prst="rect">
            <a:avLst/>
          </a:prstGeom>
          <a:noFill/>
          <a:ln w="9525">
            <a:noFill/>
          </a:ln>
        </p:spPr>
        <p:txBody>
          <a:bodyPr>
            <a:spAutoFit/>
          </a:bodyPr>
          <a:p>
            <a:pPr>
              <a:spcBef>
                <a:spcPct val="50000"/>
              </a:spcBef>
            </a:pPr>
            <a:r>
              <a:rPr lang="en-US" altLang="zh-CN" sz="2800" dirty="0">
                <a:solidFill>
                  <a:schemeClr val="tx2"/>
                </a:solidFill>
                <a:latin typeface="Times New Roman" panose="02020603050405020304" pitchFamily="18" charset="0"/>
              </a:rPr>
              <a:t>1</a:t>
            </a:r>
            <a:r>
              <a:rPr lang="zh-CN" altLang="en-US" sz="2800" dirty="0">
                <a:solidFill>
                  <a:schemeClr val="tx2"/>
                </a:solidFill>
                <a:latin typeface="Times New Roman" panose="02020603050405020304" pitchFamily="18" charset="0"/>
              </a:rPr>
              <a:t>、</a:t>
            </a:r>
            <a:r>
              <a:rPr lang="zh-CN" altLang="en-US" sz="2800" dirty="0">
                <a:solidFill>
                  <a:srgbClr val="FF0000"/>
                </a:solidFill>
                <a:latin typeface="Times New Roman" panose="02020603050405020304" pitchFamily="18" charset="0"/>
              </a:rPr>
              <a:t>定长块分配方法     </a:t>
            </a:r>
            <a:r>
              <a:rPr lang="zh-CN" altLang="en-US" sz="2800" dirty="0">
                <a:latin typeface="Times New Roman" panose="02020603050405020304" pitchFamily="18" charset="0"/>
              </a:rPr>
              <a:t>将堆存储空间分成长度相等的若干块。</a:t>
            </a:r>
            <a:endParaRPr lang="zh-CN" altLang="en-US" sz="2800" dirty="0">
              <a:latin typeface="Times New Roman" panose="02020603050405020304" pitchFamily="18" charset="0"/>
            </a:endParaRPr>
          </a:p>
          <a:p>
            <a:pPr>
              <a:spcBef>
                <a:spcPct val="50000"/>
              </a:spcBef>
            </a:pPr>
            <a:r>
              <a:rPr lang="en-US" altLang="zh-CN" sz="2800" dirty="0">
                <a:solidFill>
                  <a:schemeClr val="tx2"/>
                </a:solidFill>
                <a:latin typeface="Times New Roman" panose="02020603050405020304" pitchFamily="18" charset="0"/>
              </a:rPr>
              <a:t>2</a:t>
            </a:r>
            <a:r>
              <a:rPr lang="zh-CN" altLang="en-US" sz="2800" dirty="0">
                <a:solidFill>
                  <a:schemeClr val="tx2"/>
                </a:solidFill>
                <a:latin typeface="Times New Roman" panose="02020603050405020304" pitchFamily="18" charset="0"/>
              </a:rPr>
              <a:t>、</a:t>
            </a:r>
            <a:r>
              <a:rPr lang="zh-CN" altLang="en-US" sz="2800" dirty="0">
                <a:solidFill>
                  <a:srgbClr val="FF0000"/>
                </a:solidFill>
                <a:latin typeface="Times New Roman" panose="02020603050405020304" pitchFamily="18" charset="0"/>
              </a:rPr>
              <a:t>变长块分配方法     </a:t>
            </a:r>
            <a:r>
              <a:rPr lang="zh-CN" altLang="en-US" sz="2800" dirty="0">
                <a:latin typeface="Times New Roman" panose="02020603050405020304" pitchFamily="18" charset="0"/>
              </a:rPr>
              <a:t>分配长度不同的存储块，随请求而变。空闲块链起来，分配时采取首次满足法、 最优满足法、 最差满足法等原则。</a:t>
            </a:r>
            <a:endParaRPr lang="zh-CN" altLang="en-US" sz="2800" dirty="0">
              <a:latin typeface="Times New Roman" panose="02020603050405020304" pitchFamily="18" charset="0"/>
            </a:endParaRPr>
          </a:p>
        </p:txBody>
      </p:sp>
      <p:sp>
        <p:nvSpPr>
          <p:cNvPr id="44036" name="Text Box 5"/>
          <p:cNvSpPr txBox="1"/>
          <p:nvPr/>
        </p:nvSpPr>
        <p:spPr>
          <a:xfrm>
            <a:off x="428625" y="3714750"/>
            <a:ext cx="8410575" cy="1816100"/>
          </a:xfrm>
          <a:prstGeom prst="rect">
            <a:avLst/>
          </a:prstGeom>
          <a:noFill/>
          <a:ln w="9525">
            <a:noFill/>
          </a:ln>
        </p:spPr>
        <p:txBody>
          <a:bodyPr>
            <a:spAutoFit/>
          </a:bodyPr>
          <a:p>
            <a:pPr>
              <a:spcBef>
                <a:spcPct val="50000"/>
              </a:spcBef>
            </a:pPr>
            <a:r>
              <a:rPr lang="zh-CN" altLang="en-US" sz="2800" dirty="0">
                <a:solidFill>
                  <a:srgbClr val="FF0000"/>
                </a:solidFill>
                <a:latin typeface="Times New Roman" panose="02020603050405020304" pitchFamily="18" charset="0"/>
              </a:rPr>
              <a:t>隐式存储回收</a:t>
            </a:r>
            <a:r>
              <a:rPr lang="zh-CN" altLang="en-US" sz="2800" dirty="0">
                <a:latin typeface="Times New Roman" panose="02020603050405020304" pitchFamily="18" charset="0"/>
              </a:rPr>
              <a:t>：用户程序和回收子程序并行工作，以便让回收子程序知道存储块何时不再使用，此时回收子程序负责给块加标记。当申请块的需求得不到满足时，就调用回收程序的回收过程实现真正回收。</a:t>
            </a:r>
            <a:endParaRPr lang="zh-CN" altLang="en-US" sz="2800" dirty="0">
              <a:latin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11505" y="260350"/>
            <a:ext cx="7152640" cy="1014730"/>
          </a:xfrm>
          <a:prstGeom prst="rect">
            <a:avLst/>
          </a:prstGeom>
          <a:noFill/>
        </p:spPr>
        <p:txBody>
          <a:bodyPr wrap="square" rtlCol="0" anchor="t">
            <a:spAutoFit/>
          </a:bodyPr>
          <a:p>
            <a:r>
              <a:rPr lang="zh-CN" altLang="en-US"/>
              <a:t>非局部名字的访问和实现有两种方式：</a:t>
            </a:r>
            <a:endParaRPr lang="zh-CN" altLang="en-US"/>
          </a:p>
          <a:p>
            <a:endParaRPr lang="zh-CN" altLang="en-US"/>
          </a:p>
          <a:p>
            <a:r>
              <a:rPr lang="zh-CN" altLang="en-US"/>
              <a:t>（1）静态链和活动记录</a:t>
            </a:r>
            <a:endParaRPr lang="zh-CN" altLang="en-US"/>
          </a:p>
        </p:txBody>
      </p:sp>
      <p:pic>
        <p:nvPicPr>
          <p:cNvPr id="102" name="图片 101"/>
          <p:cNvPicPr/>
          <p:nvPr>
            <p:custDataLst>
              <p:tags r:id="rId1"/>
            </p:custDataLst>
          </p:nvPr>
        </p:nvPicPr>
        <p:blipFill>
          <a:blip r:embed="rId2"/>
          <a:stretch>
            <a:fillRect/>
          </a:stretch>
        </p:blipFill>
        <p:spPr>
          <a:xfrm>
            <a:off x="2270125" y="1628140"/>
            <a:ext cx="3829050" cy="455295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83260" y="332740"/>
            <a:ext cx="6058535" cy="398780"/>
          </a:xfrm>
          <a:prstGeom prst="rect">
            <a:avLst/>
          </a:prstGeom>
          <a:noFill/>
        </p:spPr>
        <p:txBody>
          <a:bodyPr wrap="square" rtlCol="0" anchor="t">
            <a:spAutoFit/>
          </a:bodyPr>
          <a:p>
            <a:r>
              <a:rPr lang="zh-CN" altLang="en-US"/>
              <a:t>（2）嵌套层次显示表（display）和活动记录</a:t>
            </a:r>
            <a:endParaRPr lang="zh-CN" altLang="en-US"/>
          </a:p>
        </p:txBody>
      </p:sp>
      <p:pic>
        <p:nvPicPr>
          <p:cNvPr id="103" name="图片 102"/>
          <p:cNvPicPr/>
          <p:nvPr>
            <p:custDataLst>
              <p:tags r:id="rId1"/>
            </p:custDataLst>
          </p:nvPr>
        </p:nvPicPr>
        <p:blipFill>
          <a:blip r:embed="rId2"/>
          <a:stretch>
            <a:fillRect/>
          </a:stretch>
        </p:blipFill>
        <p:spPr>
          <a:xfrm>
            <a:off x="2267903" y="1052513"/>
            <a:ext cx="3819524" cy="509587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0205" y="547370"/>
            <a:ext cx="8448675" cy="4965065"/>
          </a:xfrm>
          <a:prstGeom prst="rect">
            <a:avLst/>
          </a:prstGeom>
          <a:noFill/>
        </p:spPr>
        <p:txBody>
          <a:bodyPr wrap="square" rtlCol="0" anchor="t">
            <a:spAutoFit/>
          </a:bodyPr>
          <a:p>
            <a:pPr>
              <a:lnSpc>
                <a:spcPct val="120000"/>
              </a:lnSpc>
            </a:pPr>
            <a:r>
              <a:rPr lang="zh-CN" altLang="en-US" sz="2400">
                <a:solidFill>
                  <a:srgbClr val="FF0000"/>
                </a:solidFill>
              </a:rPr>
              <a:t>静态链</a:t>
            </a:r>
            <a:r>
              <a:rPr lang="zh-CN" altLang="en-US" sz="2400"/>
              <a:t>：指向本过程的直接外层过程的活动记录的起始地址，也称存取链</a:t>
            </a:r>
            <a:r>
              <a:rPr lang="en-US" altLang="zh-CN" sz="2400"/>
              <a:t>.</a:t>
            </a:r>
            <a:endParaRPr lang="zh-CN" altLang="en-US" sz="2400"/>
          </a:p>
          <a:p>
            <a:pPr>
              <a:lnSpc>
                <a:spcPct val="120000"/>
              </a:lnSpc>
            </a:pPr>
            <a:r>
              <a:rPr lang="zh-CN" altLang="en-US" sz="2400"/>
              <a:t>（这个直接外层就是可以理解为写程序的时候为了区分层次会用递进空格，直接外层就是比当前少一层递进空格的层，比如P1调用P2，P2又调用P2，这个过程中第二次调用P2的直接外层仍然是P1不是P2）</a:t>
            </a:r>
            <a:endParaRPr lang="zh-CN" altLang="en-US" sz="2400"/>
          </a:p>
          <a:p>
            <a:pPr>
              <a:lnSpc>
                <a:spcPct val="120000"/>
              </a:lnSpc>
            </a:pPr>
            <a:endParaRPr lang="zh-CN" altLang="en-US" sz="2400"/>
          </a:p>
          <a:p>
            <a:pPr>
              <a:lnSpc>
                <a:spcPct val="120000"/>
              </a:lnSpc>
            </a:pPr>
            <a:r>
              <a:rPr lang="zh-CN" altLang="en-US" sz="2400">
                <a:solidFill>
                  <a:srgbClr val="FF0000"/>
                </a:solidFill>
              </a:rPr>
              <a:t>动态链</a:t>
            </a:r>
            <a:r>
              <a:rPr lang="zh-CN" altLang="en-US" sz="2400"/>
              <a:t>：指向本过程的调用过程的活动记录的起始地址，也称控制链。</a:t>
            </a:r>
            <a:endParaRPr lang="zh-CN" altLang="en-US" sz="2400"/>
          </a:p>
          <a:p>
            <a:pPr>
              <a:lnSpc>
                <a:spcPct val="120000"/>
              </a:lnSpc>
            </a:pPr>
            <a:r>
              <a:rPr lang="zh-CN" altLang="en-US" sz="2400"/>
              <a:t>画动态链就是看每段的返回地址下面的那个格子，最后穿起来是一层层指下来到0</a:t>
            </a:r>
            <a:endParaRPr lang="zh-CN"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stretch>
            <a:fillRect/>
          </a:stretch>
        </p:blipFill>
        <p:spPr>
          <a:xfrm>
            <a:off x="467360" y="-27305"/>
            <a:ext cx="7524750" cy="5257165"/>
          </a:xfrm>
          <a:prstGeom prst="rect">
            <a:avLst/>
          </a:prstGeom>
          <a:noFill/>
          <a:ln w="9525">
            <a:noFill/>
          </a:ln>
        </p:spPr>
      </p:pic>
      <p:sp>
        <p:nvSpPr>
          <p:cNvPr id="2" name="文本框 1"/>
          <p:cNvSpPr txBox="1"/>
          <p:nvPr/>
        </p:nvSpPr>
        <p:spPr>
          <a:xfrm>
            <a:off x="1335405" y="5248275"/>
            <a:ext cx="7717790" cy="1322070"/>
          </a:xfrm>
          <a:prstGeom prst="rect">
            <a:avLst/>
          </a:prstGeom>
          <a:noFill/>
        </p:spPr>
        <p:txBody>
          <a:bodyPr wrap="square" rtlCol="0" anchor="t">
            <a:spAutoFit/>
          </a:bodyPr>
          <a:p>
            <a:r>
              <a:rPr lang="zh-CN" altLang="en-US"/>
              <a:t>第一层主程序是不用写形参个数和形参的，上面如果没有形参也记得要写一层0（形参个数），可以看到静态链是从</a:t>
            </a:r>
            <a:r>
              <a:rPr lang="zh-CN" altLang="en-US">
                <a:solidFill>
                  <a:srgbClr val="FF0000"/>
                </a:solidFill>
              </a:rPr>
              <a:t>返回地址上面的格子</a:t>
            </a:r>
            <a:r>
              <a:rPr lang="zh-CN" altLang="en-US"/>
              <a:t>往下指的，但不一定和</a:t>
            </a:r>
            <a:r>
              <a:rPr lang="zh-CN" altLang="en-US">
                <a:solidFill>
                  <a:srgbClr val="FF0000"/>
                </a:solidFill>
              </a:rPr>
              <a:t>动态链那样每条线只有一个起点和终点</a:t>
            </a:r>
            <a:r>
              <a:rPr lang="zh-CN" altLang="en-US"/>
              <a:t>，有可能一条线有多个起点和一个终点。</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1" name="图片 100"/>
          <p:cNvPicPr/>
          <p:nvPr>
            <p:custDataLst>
              <p:tags r:id="rId1"/>
            </p:custDataLst>
          </p:nvPr>
        </p:nvPicPr>
        <p:blipFill>
          <a:blip r:embed="rId2"/>
          <a:srcRect t="1207"/>
          <a:stretch>
            <a:fillRect/>
          </a:stretch>
        </p:blipFill>
        <p:spPr>
          <a:xfrm>
            <a:off x="1259840" y="692785"/>
            <a:ext cx="6858000" cy="5871845"/>
          </a:xfrm>
          <a:prstGeom prst="rect">
            <a:avLst/>
          </a:prstGeom>
          <a:noFill/>
          <a:ln w="9525">
            <a:noFill/>
          </a:ln>
        </p:spPr>
      </p:pic>
      <p:sp>
        <p:nvSpPr>
          <p:cNvPr id="2" name="文本框 1"/>
          <p:cNvSpPr txBox="1"/>
          <p:nvPr/>
        </p:nvSpPr>
        <p:spPr>
          <a:xfrm>
            <a:off x="1331595" y="187960"/>
            <a:ext cx="6568440" cy="398780"/>
          </a:xfrm>
          <a:prstGeom prst="rect">
            <a:avLst/>
          </a:prstGeom>
          <a:noFill/>
        </p:spPr>
        <p:txBody>
          <a:bodyPr wrap="square" rtlCol="0" anchor="t">
            <a:spAutoFit/>
          </a:bodyPr>
          <a:p>
            <a:r>
              <a:rPr lang="zh-CN" altLang="en-US"/>
              <a:t>（2）display表要注意全局display和当前display表</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33462" t="28340" r="37003" b="47943"/>
          <a:stretch>
            <a:fillRect/>
          </a:stretch>
        </p:blipFill>
        <p:spPr>
          <a:xfrm>
            <a:off x="899795" y="1124585"/>
            <a:ext cx="7284085" cy="31686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33462" t="28340" r="37003" b="44763"/>
          <a:stretch>
            <a:fillRect/>
          </a:stretch>
        </p:blipFill>
        <p:spPr>
          <a:xfrm>
            <a:off x="899795" y="1124585"/>
            <a:ext cx="7284085" cy="359346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rcRect l="34289" t="41280" r="40960" b="50720"/>
          <a:stretch>
            <a:fillRect/>
          </a:stretch>
        </p:blipFill>
        <p:spPr>
          <a:xfrm>
            <a:off x="1259840" y="2132965"/>
            <a:ext cx="5976620" cy="10464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rcRect l="34250" t="41276" r="37792" b="50724"/>
          <a:stretch>
            <a:fillRect/>
          </a:stretch>
        </p:blipFill>
        <p:spPr>
          <a:xfrm>
            <a:off x="1259840" y="2132965"/>
            <a:ext cx="6751320" cy="10464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78765" y="250190"/>
            <a:ext cx="8651875" cy="6133465"/>
          </a:xfrm>
          <a:prstGeom prst="rect">
            <a:avLst/>
          </a:prstGeom>
          <a:noFill/>
        </p:spPr>
        <p:txBody>
          <a:bodyPr wrap="square" rtlCol="0" anchor="t">
            <a:noAutofit/>
          </a:bodyPr>
          <a:p>
            <a:r>
              <a:rPr lang="zh-CN" altLang="en-US"/>
              <a:t>虚拟机的实现方式</a:t>
            </a:r>
            <a:endParaRPr lang="zh-CN" altLang="en-US"/>
          </a:p>
          <a:p>
            <a:r>
              <a:rPr lang="zh-CN" altLang="en-US"/>
              <a:t>有两种基本的方法实现虚拟机：基于Stack的和基于Register的，比如基于Stack的虚拟机有JVM、.net的CLR，这种基于Stack实现虚拟机是一种广泛的实现方法。而基于Register的虚拟机有Lua VM（是Lua编程语言的虚拟机）和Dalvik VM。这两种虚拟机实现的不同主要在于操作数和结果的存储和检索机制不一样。</a:t>
            </a:r>
            <a:endParaRPr lang="zh-CN" altLang="en-US"/>
          </a:p>
          <a:p>
            <a:endParaRPr lang="zh-CN" altLang="en-US"/>
          </a:p>
          <a:p>
            <a:r>
              <a:rPr lang="zh-CN" altLang="en-US"/>
              <a:t>基于栈的虚拟机：基于栈的虚拟机有一个操作数栈的概念，虚拟机在进行真正的运算时都是直接与操作数栈（operand stack）进行交互，这样做的直接好处就是虚拟机可以无视具体的物理架构，但缺点也显而易见，就是速度慢，因为无论什么操作都要通过操作数栈这一结构（不过值得一提的是实现时通过栈顶缓存（top-of-stack caching）可以大幅降低基于栈的解释器的数据移动开销，可以让这部分开销跟基于寄存器的在同等水平）。</a:t>
            </a:r>
            <a:endParaRPr lang="zh-CN" altLang="en-US"/>
          </a:p>
          <a:p>
            <a:endParaRPr lang="zh-CN" altLang="en-US"/>
          </a:p>
          <a:p>
            <a:r>
              <a:rPr lang="zh-CN" altLang="en-US"/>
              <a:t>由于执行时默认都是从操作数栈上取数据，那么就无需指定操作数。这就相当于所有操作数的存储位置都是运行期决定的，在编译器的代码生成阶段不需要额外为在哪里存储操作数费心，所以基于栈的编译器实现起来相对比较简单直接。也正因为这个原因，每条指令占用的存储空间也比较小（无需带地址）。</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 name="KSO_WM_UNIT_PLACING_PICTURE_USER_VIEWPORT" val="{&quot;height&quot;:7545,&quot;width&quot;:10800}"/>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PP_MARK_KEY" val="860598c5-5a40-4883-b473-cd627dd02d23"/>
  <p:tag name="COMMONDATA" val="eyJoZGlkIjoiYWZhMDYyMDkyNmI0MzgzZTQ1NzlkOWQ4NjlhNmM1ZGUifQ=="/>
  <p:tag name="commondata" val="eyJoZGlkIjoiMTFmMjNjNDI4OTgyMDU5N2Q3MzM5MmVjOWIyZjc2NT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5559</Words>
  <Application>WPS 演示</Application>
  <PresentationFormat>全屏显示(4:3)</PresentationFormat>
  <Paragraphs>360</Paragraphs>
  <Slides>45</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45</vt:i4>
      </vt:variant>
    </vt:vector>
  </HeadingPairs>
  <TitlesOfParts>
    <vt:vector size="62" baseType="lpstr">
      <vt:lpstr>Arial</vt:lpstr>
      <vt:lpstr>宋体</vt:lpstr>
      <vt:lpstr>Wingdings</vt:lpstr>
      <vt:lpstr>Times New Roman</vt:lpstr>
      <vt:lpstr>Lucida Sans Unicode</vt:lpstr>
      <vt:lpstr>黑体</vt:lpstr>
      <vt:lpstr>Wingdings 3</vt:lpstr>
      <vt:lpstr>Symbol</vt:lpstr>
      <vt:lpstr>Verdana</vt:lpstr>
      <vt:lpstr>Wingdings 2</vt:lpstr>
      <vt:lpstr>Wingdings</vt:lpstr>
      <vt:lpstr>Wingdings 2</vt:lpstr>
      <vt:lpstr>Tahoma</vt:lpstr>
      <vt:lpstr>Symbol</vt:lpstr>
      <vt:lpstr>微软雅黑</vt:lpstr>
      <vt:lpstr>Arial Unicode MS</vt:lpstr>
      <vt:lpstr>聚合</vt:lpstr>
      <vt:lpstr>PowerPoint 演示文稿</vt:lpstr>
      <vt:lpstr>PowerPoint 演示文稿</vt:lpstr>
      <vt:lpstr>PowerPoint 演示文稿</vt:lpstr>
      <vt:lpstr>8.2、各个区的存储空间分配</vt:lpstr>
      <vt:lpstr>8.2.2、栈式存储分配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8.2.3、堆式存储分配</vt:lpstr>
      <vt:lpstr>PowerPoint 演示文稿</vt:lpstr>
      <vt:lpstr>8.3、运行时的过程活动记录与栈区的组织结构</vt:lpstr>
      <vt:lpstr>8.3.2、过程调用的活动记录</vt:lpstr>
      <vt:lpstr>假设有下面过程：</vt:lpstr>
      <vt:lpstr>PowerPoint 演示文稿</vt:lpstr>
      <vt:lpstr>8.3.3、动态链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rgkj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Viscual Basic6.0程序设       计实验指导与习题详解》</dc:title>
  <dc:creator>ws021</dc:creator>
  <cp:lastModifiedBy>Administrator</cp:lastModifiedBy>
  <cp:revision>334</cp:revision>
  <dcterms:created xsi:type="dcterms:W3CDTF">2001-08-16T12:48:00Z</dcterms:created>
  <dcterms:modified xsi:type="dcterms:W3CDTF">2024-05-22T03:36:54Z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E0F590242C9D4AECB8BA5EE92AB395D4_12</vt:lpwstr>
  </property>
  <property fmtid="{D5CDD505-2E9C-101B-9397-08002B2CF9AE}" pid="3" name="KSOProductBuildVer">
    <vt:lpwstr>2052-12.1.0.15374</vt:lpwstr>
  </property>
</Properties>
</file>