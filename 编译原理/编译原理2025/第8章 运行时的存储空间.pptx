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616" r:id="rId3"/>
    <p:sldId id="513" r:id="rId4"/>
    <p:sldId id="617" r:id="rId5"/>
    <p:sldId id="530" r:id="rId6"/>
    <p:sldId id="594" r:id="rId7"/>
    <p:sldId id="618" r:id="rId8"/>
    <p:sldId id="619" r:id="rId9"/>
    <p:sldId id="620" r:id="rId10"/>
    <p:sldId id="604" r:id="rId11"/>
    <p:sldId id="605" r:id="rId12"/>
    <p:sldId id="606" r:id="rId13"/>
    <p:sldId id="621" r:id="rId14"/>
    <p:sldId id="622" r:id="rId15"/>
    <p:sldId id="596" r:id="rId16"/>
    <p:sldId id="623" r:id="rId17"/>
    <p:sldId id="597" r:id="rId18"/>
    <p:sldId id="595" r:id="rId19"/>
    <p:sldId id="602" r:id="rId20"/>
    <p:sldId id="603" r:id="rId21"/>
    <p:sldId id="535" r:id="rId22"/>
    <p:sldId id="607" r:id="rId23"/>
    <p:sldId id="608" r:id="rId24"/>
    <p:sldId id="609" r:id="rId25"/>
    <p:sldId id="610" r:id="rId26"/>
    <p:sldId id="613" r:id="rId27"/>
    <p:sldId id="625" r:id="rId28"/>
    <p:sldId id="626" r:id="rId29"/>
    <p:sldId id="627" r:id="rId30"/>
    <p:sldId id="628" r:id="rId31"/>
    <p:sldId id="611" r:id="rId32"/>
    <p:sldId id="615" r:id="rId33"/>
    <p:sldId id="624" r:id="rId34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howGuides="1">
      <p:cViewPr varScale="1">
        <p:scale>
          <a:sx n="114" d="100"/>
          <a:sy n="114" d="100"/>
        </p:scale>
        <p:origin x="-15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2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8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组合 15"/>
          <p:cNvGrpSpPr/>
          <p:nvPr/>
        </p:nvGrpSpPr>
        <p:grpSpPr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2" name="任意多边形 16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任意多边形 18"/>
            <p:cNvSpPr/>
            <p:nvPr/>
          </p:nvSpPr>
          <p:spPr>
            <a:xfrm>
              <a:off x="35926" y="5135025"/>
              <a:ext cx="9108074" cy="838869"/>
            </a:xfrm>
            <a:custGeom>
              <a:avLst/>
              <a:gdLst>
                <a:gd name="txL" fmla="*/ 0 w 5760"/>
                <a:gd name="txT" fmla="*/ 0 h 528"/>
                <a:gd name="txR" fmla="*/ 5760 w 5760"/>
                <a:gd name="txB" fmla="*/ 528 h 528"/>
              </a:gdLst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txL" t="txT" r="txR" b="tx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23" name="日期占位符 2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18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2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>
                <a:solidFill>
                  <a:srgbClr val="FFFFFF"/>
                </a:solidFill>
              </a:rPr>
            </a:fld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3636963" y="3005138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任意多边形 15"/>
          <p:cNvSpPr/>
          <p:nvPr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7" name="直角三角形 16"/>
          <p:cNvSpPr/>
          <p:nvPr/>
        </p:nvSpPr>
        <p:spPr bwMode="auto">
          <a:xfrm>
            <a:off x="-6042" y="5791253"/>
            <a:ext cx="3402313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燕尾形 19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燕尾形 20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3" name="日期占位符 4"/>
          <p:cNvSpPr>
            <a:spLocks noGrp="1"/>
          </p:cNvSpPr>
          <p:nvPr>
            <p:ph type="dt" sz="half" idx="1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页脚占位符 5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p>
            <a:pPr algn="r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任意多边形 12"/>
          <p:cNvSpPr/>
          <p:nvPr userDrawn="1"/>
        </p:nvSpPr>
        <p:spPr bwMode="auto">
          <a:xfrm>
            <a:off x="715963" y="5002213"/>
            <a:ext cx="3802063" cy="1443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任意多边形 11"/>
          <p:cNvSpPr/>
          <p:nvPr userDrawn="1"/>
        </p:nvSpPr>
        <p:spPr>
          <a:xfrm>
            <a:off x="-53975" y="5784850"/>
            <a:ext cx="3802063" cy="838200"/>
          </a:xfrm>
          <a:custGeom>
            <a:avLst/>
            <a:gdLst>
              <a:gd name="txL" fmla="*/ 0 w 5760"/>
              <a:gd name="txT" fmla="*/ 0 h 528"/>
              <a:gd name="txR" fmla="*/ 5760 w 5760"/>
              <a:gd name="txB" fmla="*/ 528 h 528"/>
            </a:gdLst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txL" t="txT" r="txR" b="tx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8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3" cy="365125"/>
          </a:xfrm>
          <a:prstGeom prst="rect">
            <a:avLst/>
          </a:prstGeom>
        </p:spPr>
        <p:txBody>
          <a:bodyPr vert="horz" anchor="b"/>
          <a:lstStyle>
            <a:lvl1pPr algn="r">
              <a:defRPr sz="1000" b="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直角三角形 2"/>
          <p:cNvSpPr/>
          <p:nvPr userDrawn="1">
            <p:custDataLst>
              <p:tags r:id="rId12"/>
            </p:custDataLst>
          </p:nvPr>
        </p:nvSpPr>
        <p:spPr bwMode="auto">
          <a:xfrm>
            <a:off x="-6350" y="5791200"/>
            <a:ext cx="3402013" cy="1081088"/>
          </a:xfrm>
          <a:prstGeom prst="rtTriangle">
            <a:avLst/>
          </a:prstGeom>
          <a:solidFill>
            <a:schemeClr val="accent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3"/>
          <p:cNvSpPr>
            <a:spLocks noRot="1"/>
          </p:cNvSpPr>
          <p:nvPr/>
        </p:nvSpPr>
        <p:spPr>
          <a:xfrm>
            <a:off x="-180975" y="620713"/>
            <a:ext cx="8569325" cy="1150937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 anchor="ctr" anchorCtr="0"/>
          <a:p>
            <a:pPr algn="ctr">
              <a:buNone/>
            </a:pPr>
            <a:r>
              <a:rPr lang="en-US" altLang="zh-CN" sz="4900" dirty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sz="4900" dirty="0">
                <a:latin typeface="黑体" panose="02010609060101010101" pitchFamily="2" charset="-122"/>
                <a:ea typeface="黑体" panose="02010609060101010101" pitchFamily="2" charset="-122"/>
              </a:rPr>
              <a:t>第八章  运行时的存储空间</a:t>
            </a:r>
            <a:br>
              <a:rPr lang="zh-CN" altLang="en-US" sz="4900" dirty="0">
                <a:latin typeface="黑体" panose="02010609060101010101" pitchFamily="2" charset="-122"/>
                <a:ea typeface="黑体" panose="02010609060101010101" pitchFamily="2" charset="-122"/>
              </a:rPr>
            </a:br>
            <a:endParaRPr lang="zh-CN" altLang="en-US" sz="49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219" name="Text Box 5"/>
          <p:cNvSpPr txBox="1"/>
          <p:nvPr/>
        </p:nvSpPr>
        <p:spPr>
          <a:xfrm>
            <a:off x="684213" y="1773238"/>
            <a:ext cx="7777162" cy="3040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黑体" panose="02010609060101010101" pitchFamily="2" charset="-122"/>
              </a:rPr>
              <a:t>【</a:t>
            </a:r>
            <a:r>
              <a:rPr lang="zh-CN" altLang="en-US" sz="2800" b="1" dirty="0">
                <a:latin typeface="黑体" panose="02010609060101010101" pitchFamily="2" charset="-122"/>
              </a:rPr>
              <a:t>教学目标</a:t>
            </a:r>
            <a:r>
              <a:rPr lang="en-US" altLang="zh-CN" sz="2800" b="1" dirty="0">
                <a:latin typeface="黑体" panose="02010609060101010101" pitchFamily="2" charset="-122"/>
              </a:rPr>
              <a:t>】</a:t>
            </a:r>
            <a:r>
              <a:rPr lang="zh-CN" altLang="en-US" sz="2800" dirty="0">
                <a:latin typeface="黑体" panose="02010609060101010101" pitchFamily="2" charset="-122"/>
              </a:rPr>
              <a:t>掌握目标程序运行时，编译程序对其地址进行组织的原理及技术</a:t>
            </a:r>
            <a:br>
              <a:rPr lang="zh-CN" altLang="en-US" sz="2800" dirty="0">
                <a:latin typeface="黑体" panose="02010609060101010101" pitchFamily="2" charset="-122"/>
              </a:rPr>
            </a:br>
            <a:endParaRPr lang="zh-CN" altLang="en-US" sz="2800" dirty="0">
              <a:latin typeface="黑体" panose="0201060906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黑体" panose="02010609060101010101" pitchFamily="2" charset="-122"/>
              </a:rPr>
              <a:t>【</a:t>
            </a:r>
            <a:r>
              <a:rPr lang="zh-CN" altLang="en-US" sz="2800" b="1" dirty="0">
                <a:latin typeface="黑体" panose="02010609060101010101" pitchFamily="2" charset="-122"/>
              </a:rPr>
              <a:t>教学重点</a:t>
            </a:r>
            <a:r>
              <a:rPr lang="en-US" altLang="zh-CN" sz="2800" b="1" dirty="0">
                <a:latin typeface="黑体" panose="02010609060101010101" pitchFamily="2" charset="-122"/>
              </a:rPr>
              <a:t>】</a:t>
            </a:r>
            <a:r>
              <a:rPr lang="zh-CN" altLang="en-US" sz="2800" dirty="0">
                <a:latin typeface="黑体" panose="02010609060101010101" pitchFamily="2" charset="-122"/>
              </a:rPr>
              <a:t>栈式存储分配原理及技术</a:t>
            </a:r>
            <a:br>
              <a:rPr lang="zh-CN" altLang="en-US" sz="2800" dirty="0">
                <a:latin typeface="黑体" panose="02010609060101010101" pitchFamily="2" charset="-122"/>
              </a:rPr>
            </a:br>
            <a:endParaRPr lang="zh-CN" altLang="en-US" sz="2800" dirty="0">
              <a:latin typeface="黑体" panose="0201060906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黑体" panose="02010609060101010101" pitchFamily="2" charset="-122"/>
              </a:rPr>
              <a:t>【</a:t>
            </a:r>
            <a:r>
              <a:rPr lang="zh-CN" altLang="en-US" sz="2800" b="1" dirty="0">
                <a:latin typeface="黑体" panose="02010609060101010101" pitchFamily="2" charset="-122"/>
              </a:rPr>
              <a:t>教学难点</a:t>
            </a:r>
            <a:r>
              <a:rPr lang="en-US" altLang="zh-CN" sz="2800" b="1" dirty="0">
                <a:latin typeface="黑体" panose="02010609060101010101" pitchFamily="2" charset="-122"/>
              </a:rPr>
              <a:t>】</a:t>
            </a:r>
            <a:r>
              <a:rPr lang="zh-CN" altLang="en-US" sz="2800" dirty="0">
                <a:latin typeface="黑体" panose="02010609060101010101" pitchFamily="2" charset="-122"/>
              </a:rPr>
              <a:t>运行时的变量访问</a:t>
            </a:r>
            <a:endParaRPr lang="zh-CN" altLang="en-US" sz="2800" dirty="0">
              <a:latin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5"/>
          <p:cNvSpPr>
            <a:spLocks noGrp="1"/>
          </p:cNvSpPr>
          <p:nvPr>
            <p:ph idx="1"/>
          </p:nvPr>
        </p:nvSpPr>
        <p:spPr>
          <a:xfrm>
            <a:off x="304800" y="765175"/>
            <a:ext cx="8534400" cy="152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源程序中由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标识符</a:t>
            </a:r>
            <a:r>
              <a:rPr lang="zh-CN" altLang="en-US" sz="2400" dirty="0">
                <a:latin typeface="宋体" panose="02010600030101010101" pitchFamily="2" charset="-122"/>
              </a:rPr>
              <a:t>代表存储单元，它们对应的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内存地址</a:t>
            </a:r>
            <a:r>
              <a:rPr lang="zh-CN" altLang="en-US" sz="2400" dirty="0">
                <a:latin typeface="宋体" panose="02010600030101010101" pitchFamily="2" charset="-122"/>
              </a:rPr>
              <a:t>由编译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程序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在编译时分配</a:t>
            </a:r>
            <a:r>
              <a:rPr lang="zh-CN" altLang="en-US" sz="2400" dirty="0">
                <a:latin typeface="宋体" panose="02010600030101010101" pitchFamily="2" charset="-122"/>
              </a:rPr>
              <a:t>或由其生成的目标程序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在运行时分配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0243" name="Line 7"/>
          <p:cNvSpPr/>
          <p:nvPr/>
        </p:nvSpPr>
        <p:spPr>
          <a:xfrm>
            <a:off x="4267200" y="3382963"/>
            <a:ext cx="0" cy="1984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244" name="Line 8"/>
          <p:cNvSpPr/>
          <p:nvPr/>
        </p:nvSpPr>
        <p:spPr>
          <a:xfrm flipV="1">
            <a:off x="4267200" y="4078288"/>
            <a:ext cx="0" cy="2651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84413" name="Group 61"/>
          <p:cNvGraphicFramePr>
            <a:graphicFrameLocks noGrp="1"/>
          </p:cNvGraphicFramePr>
          <p:nvPr/>
        </p:nvGraphicFramePr>
        <p:xfrm>
          <a:off x="3048000" y="2921000"/>
          <a:ext cx="2514600" cy="2916238"/>
        </p:xfrm>
        <a:graphic>
          <a:graphicData uri="http://schemas.openxmlformats.org/drawingml/2006/table">
            <a:tbl>
              <a:tblPr/>
              <a:tblGrid>
                <a:gridCol w="2514600"/>
              </a:tblGrid>
              <a:tr h="18493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heap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stack</a:t>
                      </a:r>
                      <a:endParaRPr kumimoji="1" lang="en-US" altLang="zh-CN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静态区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目标代码区</a:t>
                      </a: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55" name="Rectangle 58"/>
          <p:cNvSpPr/>
          <p:nvPr/>
        </p:nvSpPr>
        <p:spPr>
          <a:xfrm>
            <a:off x="457200" y="2133600"/>
            <a:ext cx="53340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8.1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、运行时的存储空间结构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56" name="AutoShape 59"/>
          <p:cNvSpPr/>
          <p:nvPr/>
        </p:nvSpPr>
        <p:spPr>
          <a:xfrm>
            <a:off x="6400800" y="2667000"/>
            <a:ext cx="1219200" cy="1047750"/>
          </a:xfrm>
          <a:prstGeom prst="wedgeRoundRectCallout">
            <a:avLst>
              <a:gd name="adj1" fmla="val -114454"/>
              <a:gd name="adj2" fmla="val 64583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需要检查冲突和溢出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268" name="Picture 2"/>
          <p:cNvPicPr>
            <a:picLocks noChangeAspect="1"/>
          </p:cNvPicPr>
          <p:nvPr/>
        </p:nvPicPr>
        <p:blipFill>
          <a:blip r:embed="rId1"/>
          <a:srcRect l="9818" t="33894" r="10121" b="36539"/>
          <a:stretch>
            <a:fillRect/>
          </a:stretch>
        </p:blipFill>
        <p:spPr>
          <a:xfrm>
            <a:off x="571500" y="1643063"/>
            <a:ext cx="7942263" cy="3071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457200" y="857250"/>
            <a:ext cx="7772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8.2.1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、静态存储分配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11"/>
          <p:cNvSpPr>
            <a:spLocks noGrp="1"/>
          </p:cNvSpPr>
          <p:nvPr>
            <p:ph idx="1"/>
          </p:nvPr>
        </p:nvSpPr>
        <p:spPr>
          <a:xfrm>
            <a:off x="685800" y="1676400"/>
            <a:ext cx="7848600" cy="4800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主要分配对象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全局变量和不改变值的对象如常量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特点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编译时确定存储位置，因此访问时可采用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绝对地址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访问效率高，但造成空间浪费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实现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并不是一开始就使用绝对地址</a:t>
            </a:r>
            <a:r>
              <a:rPr lang="zh-CN" altLang="en-US" sz="2400" b="1" dirty="0">
                <a:latin typeface="宋体" panose="02010600030101010101" pitchFamily="2" charset="-122"/>
              </a:rPr>
              <a:t>，而是使用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块地址</a:t>
            </a:r>
            <a:r>
              <a:rPr lang="zh-CN" altLang="en-US" sz="2400" b="1" dirty="0">
                <a:latin typeface="宋体" panose="02010600030101010101" pitchFamily="2" charset="-122"/>
              </a:rPr>
              <a:t>形式</a:t>
            </a:r>
            <a:r>
              <a:rPr lang="en-US" altLang="zh-CN" sz="2400" b="1" dirty="0">
                <a:latin typeface="宋体" panose="02010600030101010101" pitchFamily="2" charset="-122"/>
              </a:rPr>
              <a:t>(DataArea, Offset)</a:t>
            </a:r>
            <a:r>
              <a:rPr lang="zh-CN" altLang="en-US" sz="2400" b="1" dirty="0">
                <a:latin typeface="宋体" panose="02010600030101010101" pitchFamily="2" charset="-122"/>
              </a:rPr>
              <a:t>，运行时由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连接装配系统</a:t>
            </a:r>
            <a:r>
              <a:rPr lang="zh-CN" altLang="en-US" sz="2400" b="1" dirty="0">
                <a:latin typeface="宋体" panose="02010600030101010101" pitchFamily="2" charset="-122"/>
              </a:rPr>
              <a:t>把</a:t>
            </a:r>
            <a:r>
              <a:rPr lang="en-US" altLang="zh-CN" sz="2400" b="1" dirty="0">
                <a:latin typeface="宋体" panose="02010600030101010101" pitchFamily="2" charset="-122"/>
              </a:rPr>
              <a:t>DataArea </a:t>
            </a:r>
            <a:r>
              <a:rPr lang="zh-CN" altLang="en-US" sz="2400" b="1" dirty="0">
                <a:latin typeface="宋体" panose="02010600030101010101" pitchFamily="2" charset="-122"/>
              </a:rPr>
              <a:t>映射到实际空间中。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122" name="Rectangle 8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6858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8.2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、各个区的存储空间分配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01770" name="Rectangle 10"/>
          <p:cNvSpPr>
            <a:spLocks noChangeArrowheads="1"/>
          </p:cNvSpPr>
          <p:nvPr/>
        </p:nvSpPr>
        <p:spPr bwMode="auto">
          <a:xfrm>
            <a:off x="457200" y="990600"/>
            <a:ext cx="7772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8.2.1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、静态存储分配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609600" y="1143000"/>
            <a:ext cx="5691188" cy="4191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用途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能适应嵌套及递归调用的情形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特点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先进后出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变量生存期限仅为本次调用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自动释放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09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772400" cy="6096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8.2.2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、栈式存储分配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3316" name="Rectangle 4"/>
          <p:cNvSpPr/>
          <p:nvPr/>
        </p:nvSpPr>
        <p:spPr>
          <a:xfrm>
            <a:off x="6572250" y="4202113"/>
            <a:ext cx="1600200" cy="1295400"/>
          </a:xfrm>
          <a:prstGeom prst="rect">
            <a:avLst/>
          </a:prstGeom>
          <a:solidFill>
            <a:schemeClr val="tx2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tx2"/>
            </a:extrusionClr>
          </a:sp3d>
        </p:spPr>
        <p:txBody>
          <a:bodyPr wrap="none" anchor="ctr" anchorCtr="0">
            <a:flatTx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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7" name="Rectangle 5"/>
          <p:cNvSpPr/>
          <p:nvPr/>
        </p:nvSpPr>
        <p:spPr>
          <a:xfrm>
            <a:off x="6572250" y="3440113"/>
            <a:ext cx="1600200" cy="762000"/>
          </a:xfrm>
          <a:prstGeom prst="rect">
            <a:avLst/>
          </a:prstGeom>
          <a:solidFill>
            <a:srgbClr val="00CC00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00"/>
            </a:extrusionClr>
          </a:sp3d>
        </p:spPr>
        <p:txBody>
          <a:bodyPr wrap="none" anchor="ctr" anchorCtr="0">
            <a:flatTx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活动记录</a:t>
            </a:r>
            <a:endParaRPr lang="zh-CN" altLang="en-US" sz="28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Rectangle 6"/>
          <p:cNvSpPr/>
          <p:nvPr/>
        </p:nvSpPr>
        <p:spPr>
          <a:xfrm>
            <a:off x="6572250" y="2678113"/>
            <a:ext cx="1600200" cy="762000"/>
          </a:xfrm>
          <a:prstGeom prst="rect">
            <a:avLst/>
          </a:prstGeom>
          <a:solidFill>
            <a:srgbClr val="669900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9900"/>
            </a:extrusionClr>
          </a:sp3d>
        </p:spPr>
        <p:txBody>
          <a:bodyPr wrap="none" anchor="ctr" anchorCtr="0">
            <a:flatTx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活动记录</a:t>
            </a:r>
            <a:endParaRPr lang="zh-CN" altLang="en-US" sz="28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9" name="Rectangle 7"/>
          <p:cNvSpPr/>
          <p:nvPr/>
        </p:nvSpPr>
        <p:spPr>
          <a:xfrm>
            <a:off x="6572250" y="1916113"/>
            <a:ext cx="1600200" cy="762000"/>
          </a:xfrm>
          <a:prstGeom prst="rect">
            <a:avLst/>
          </a:prstGeom>
          <a:solidFill>
            <a:schemeClr val="accent1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 anchorCtr="0">
            <a:flatTx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i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活动记录</a:t>
            </a:r>
            <a:endParaRPr lang="zh-CN" altLang="en-US" sz="28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0" name="Text Box 8"/>
          <p:cNvSpPr txBox="1"/>
          <p:nvPr/>
        </p:nvSpPr>
        <p:spPr>
          <a:xfrm>
            <a:off x="6629400" y="1066800"/>
            <a:ext cx="1255713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运行栈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321" name="Picture 9"/>
          <p:cNvPicPr>
            <a:picLocks noChangeAspect="1"/>
          </p:cNvPicPr>
          <p:nvPr/>
        </p:nvPicPr>
        <p:blipFill>
          <a:blip r:embed="rId1"/>
          <a:srcRect l="9233" t="20914" r="15483" b="48077"/>
          <a:stretch>
            <a:fillRect/>
          </a:stretch>
        </p:blipFill>
        <p:spPr>
          <a:xfrm>
            <a:off x="428625" y="3929063"/>
            <a:ext cx="6143625" cy="2492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340" name="Picture 2"/>
          <p:cNvPicPr>
            <a:picLocks noChangeAspect="1"/>
          </p:cNvPicPr>
          <p:nvPr/>
        </p:nvPicPr>
        <p:blipFill>
          <a:blip r:embed="rId1"/>
          <a:srcRect l="9943" t="20192" r="16193" b="41586"/>
          <a:stretch>
            <a:fillRect/>
          </a:stretch>
        </p:blipFill>
        <p:spPr>
          <a:xfrm>
            <a:off x="500063" y="214313"/>
            <a:ext cx="8131175" cy="4143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1" name="Picture 3"/>
          <p:cNvPicPr>
            <a:picLocks noChangeAspect="1"/>
          </p:cNvPicPr>
          <p:nvPr/>
        </p:nvPicPr>
        <p:blipFill>
          <a:blip r:embed="rId2"/>
          <a:srcRect l="20882" t="32692" r="29404" b="25917"/>
          <a:stretch>
            <a:fillRect/>
          </a:stretch>
        </p:blipFill>
        <p:spPr>
          <a:xfrm>
            <a:off x="3071813" y="3929063"/>
            <a:ext cx="3571875" cy="2928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4" name="Picture 3"/>
          <p:cNvPicPr>
            <a:picLocks noChangeAspect="1"/>
          </p:cNvPicPr>
          <p:nvPr/>
        </p:nvPicPr>
        <p:blipFill>
          <a:blip r:embed="rId1"/>
          <a:srcRect l="20882" t="32692" r="29404" b="15385"/>
          <a:stretch>
            <a:fillRect/>
          </a:stretch>
        </p:blipFill>
        <p:spPr>
          <a:xfrm>
            <a:off x="2571750" y="0"/>
            <a:ext cx="3930650" cy="4043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Picture 2"/>
          <p:cNvPicPr>
            <a:picLocks noChangeAspect="1"/>
          </p:cNvPicPr>
          <p:nvPr/>
        </p:nvPicPr>
        <p:blipFill>
          <a:blip r:embed="rId2"/>
          <a:srcRect l="4971" t="49760" r="16193" b="24278"/>
          <a:stretch>
            <a:fillRect/>
          </a:stretch>
        </p:blipFill>
        <p:spPr>
          <a:xfrm>
            <a:off x="642938" y="4071938"/>
            <a:ext cx="7929562" cy="257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6388" name="Picture 3"/>
          <p:cNvPicPr>
            <a:picLocks noChangeAspect="1"/>
          </p:cNvPicPr>
          <p:nvPr/>
        </p:nvPicPr>
        <p:blipFill>
          <a:blip r:embed="rId1"/>
          <a:srcRect l="8522" t="29567" r="15483" b="35817"/>
          <a:stretch>
            <a:fillRect/>
          </a:stretch>
        </p:blipFill>
        <p:spPr>
          <a:xfrm>
            <a:off x="428625" y="1214438"/>
            <a:ext cx="8280400" cy="3714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2"/>
          <p:cNvSpPr txBox="1"/>
          <p:nvPr/>
        </p:nvSpPr>
        <p:spPr>
          <a:xfrm>
            <a:off x="457200" y="71438"/>
            <a:ext cx="8229600" cy="6073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例如，考察下面函数，该函数计算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的阶乘：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  f(int x)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if (x == 0) f = 1;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	else  f = f(x-1) * x; 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假设要计算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f(2)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，计算过程表示如下：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f(2)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 f(x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- 1) * 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endParaRPr lang="en-US" altLang="zh-CN" sz="2400" b="1" baseline="300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 f(x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- 1) * 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* 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endParaRPr lang="en-US" altLang="zh-CN" sz="2400" b="1" baseline="300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 f(0) * 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* 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(1)</a:t>
            </a:r>
            <a:endParaRPr lang="en-US" altLang="zh-CN" sz="2400" b="1" baseline="300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 2                  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其中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(i)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表示第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次调用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时的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值。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ts val="600"/>
              </a:spcBef>
              <a:buClrTx/>
              <a:buSzTx/>
              <a:buFontTx/>
              <a:buNone/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栈式分配法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：每调用一次过程就给过程中被声明的所有变量（包括编译器自身产生的临时变量）分配一次新单元，并在返回时释放最后一次为过程分配的单元。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2"/>
          <p:cNvSpPr txBox="1"/>
          <p:nvPr/>
        </p:nvSpPr>
        <p:spPr>
          <a:xfrm>
            <a:off x="214313" y="500063"/>
            <a:ext cx="8643937" cy="5395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如何确定每次要分配的过程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存储块的开始地址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？要求每个过程的空间块长度可静态计算。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这涉及到两个复杂问题：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）过程内可能有可变长类型 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C++, Java 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VB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变体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）临时变量多且需确定类型，空间不太好计算；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那么栈区的主要分配对象是：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过程中被声明的形参和局部变量，以及编译器自己产生的临时变量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。这样上例中为计算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f(2)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将为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f( 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分配三次空间。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栈式分配法不仅解决了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递归调用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问题，实际上又很好地解决了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空间的共享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问题。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/>
          <p:nvPr/>
        </p:nvSpPr>
        <p:spPr>
          <a:xfrm>
            <a:off x="457200" y="4143375"/>
            <a:ext cx="8382000" cy="200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下列情形不能进行栈式分配：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）在过程寿命结束时变量的寿命还未结束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全局变量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动态申请空间的变量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new(P)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）某些语言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Fortran)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中可由两个子程序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共享空间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的情形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/>
          <p:nvPr/>
        </p:nvSpPr>
        <p:spPr>
          <a:xfrm>
            <a:off x="533400" y="533400"/>
            <a:ext cx="7467600" cy="1981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Pascal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程序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bin(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program  bin(…)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function  f( X,Y,Z: real ): real;  var  u: char;    begin …end;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function  g( A,B: integer ): real;                     begin …end;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function  h( C: boolean ): real;  var v: real;   begin …end;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begin … end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0" name="Line 4"/>
          <p:cNvSpPr/>
          <p:nvPr/>
        </p:nvSpPr>
        <p:spPr>
          <a:xfrm>
            <a:off x="838200" y="3962400"/>
            <a:ext cx="7162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461" name="Line 5"/>
          <p:cNvSpPr/>
          <p:nvPr/>
        </p:nvSpPr>
        <p:spPr>
          <a:xfrm flipV="1">
            <a:off x="1219200" y="2590800"/>
            <a:ext cx="0" cy="1371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462" name="Rectangle 6"/>
          <p:cNvSpPr/>
          <p:nvPr/>
        </p:nvSpPr>
        <p:spPr>
          <a:xfrm>
            <a:off x="2209800" y="2514600"/>
            <a:ext cx="1066800" cy="1447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3" name="Line 7"/>
          <p:cNvSpPr/>
          <p:nvPr/>
        </p:nvSpPr>
        <p:spPr>
          <a:xfrm>
            <a:off x="2209800" y="32766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4" name="Line 8"/>
          <p:cNvSpPr/>
          <p:nvPr/>
        </p:nvSpPr>
        <p:spPr>
          <a:xfrm>
            <a:off x="2209800" y="36576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5" name="Line 9"/>
          <p:cNvSpPr/>
          <p:nvPr/>
        </p:nvSpPr>
        <p:spPr>
          <a:xfrm>
            <a:off x="2209800" y="28956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6" name="Rectangle 10"/>
          <p:cNvSpPr/>
          <p:nvPr/>
        </p:nvSpPr>
        <p:spPr>
          <a:xfrm>
            <a:off x="3962400" y="3276600"/>
            <a:ext cx="1066800" cy="6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7" name="Line 11"/>
          <p:cNvSpPr/>
          <p:nvPr/>
        </p:nvSpPr>
        <p:spPr>
          <a:xfrm>
            <a:off x="3962400" y="36449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8" name="Rectangle 12"/>
          <p:cNvSpPr/>
          <p:nvPr/>
        </p:nvSpPr>
        <p:spPr>
          <a:xfrm>
            <a:off x="5715000" y="3276600"/>
            <a:ext cx="1066800" cy="6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9" name="Line 13"/>
          <p:cNvSpPr/>
          <p:nvPr/>
        </p:nvSpPr>
        <p:spPr>
          <a:xfrm>
            <a:off x="5715000" y="36449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70" name="Text Box 14"/>
          <p:cNvSpPr txBox="1"/>
          <p:nvPr/>
        </p:nvSpPr>
        <p:spPr>
          <a:xfrm>
            <a:off x="5956300" y="32639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1" name="Text Box 15"/>
          <p:cNvSpPr txBox="1"/>
          <p:nvPr/>
        </p:nvSpPr>
        <p:spPr>
          <a:xfrm>
            <a:off x="5956300" y="36195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2" name="Text Box 16"/>
          <p:cNvSpPr txBox="1"/>
          <p:nvPr/>
        </p:nvSpPr>
        <p:spPr>
          <a:xfrm>
            <a:off x="4216400" y="3273425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3" name="Text Box 17"/>
          <p:cNvSpPr txBox="1"/>
          <p:nvPr/>
        </p:nvSpPr>
        <p:spPr>
          <a:xfrm>
            <a:off x="4229100" y="3616325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4" name="Text Box 18"/>
          <p:cNvSpPr txBox="1"/>
          <p:nvPr/>
        </p:nvSpPr>
        <p:spPr>
          <a:xfrm>
            <a:off x="2463800" y="32766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5" name="Text Box 19"/>
          <p:cNvSpPr txBox="1"/>
          <p:nvPr/>
        </p:nvSpPr>
        <p:spPr>
          <a:xfrm>
            <a:off x="2476500" y="36195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6" name="Text Box 20"/>
          <p:cNvSpPr txBox="1"/>
          <p:nvPr/>
        </p:nvSpPr>
        <p:spPr>
          <a:xfrm>
            <a:off x="2463800" y="25146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77" name="Text Box 21"/>
          <p:cNvSpPr txBox="1"/>
          <p:nvPr/>
        </p:nvSpPr>
        <p:spPr>
          <a:xfrm>
            <a:off x="2476500" y="29210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Picture 2"/>
          <p:cNvPicPr>
            <a:picLocks noChangeAspect="1"/>
          </p:cNvPicPr>
          <p:nvPr/>
        </p:nvPicPr>
        <p:blipFill>
          <a:blip r:embed="rId1"/>
          <a:srcRect l="5682" t="16586" r="16193" b="49519"/>
          <a:stretch>
            <a:fillRect/>
          </a:stretch>
        </p:blipFill>
        <p:spPr>
          <a:xfrm>
            <a:off x="500063" y="847725"/>
            <a:ext cx="8193087" cy="3500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3" name="Picture 2"/>
          <p:cNvPicPr>
            <a:picLocks noChangeAspect="1"/>
          </p:cNvPicPr>
          <p:nvPr/>
        </p:nvPicPr>
        <p:blipFill>
          <a:blip r:embed="rId1"/>
          <a:srcRect l="5682" t="76346" r="16193" b="4086"/>
          <a:stretch>
            <a:fillRect/>
          </a:stretch>
        </p:blipFill>
        <p:spPr>
          <a:xfrm>
            <a:off x="785813" y="4491038"/>
            <a:ext cx="7858125" cy="1938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71538" y="214313"/>
            <a:ext cx="7772400" cy="533400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R="0" algn="just" defTabSz="914400" fontAlgn="auto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8.2.3</a:t>
            </a:r>
            <a:r>
              <a:rPr kumimoji="0" lang="zh-CN" altLang="en-US" sz="32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+mj-ea"/>
                <a:cs typeface="+mj-cs"/>
              </a:rPr>
              <a:t>、堆式存储分配</a:t>
            </a:r>
            <a:endParaRPr kumimoji="0" lang="zh-CN" altLang="en-US" sz="32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2"/>
          <p:cNvPicPr>
            <a:picLocks noChangeAspect="1"/>
          </p:cNvPicPr>
          <p:nvPr/>
        </p:nvPicPr>
        <p:blipFill>
          <a:blip r:embed="rId1"/>
          <a:srcRect l="10654" t="28125" r="16193" b="18509"/>
          <a:stretch>
            <a:fillRect/>
          </a:stretch>
        </p:blipFill>
        <p:spPr>
          <a:xfrm>
            <a:off x="571500" y="357188"/>
            <a:ext cx="8053388" cy="5786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457200" y="1143000"/>
            <a:ext cx="80010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用途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Font typeface="Verdana" panose="020B0604030504040204" pitchFamily="34" charset="0"/>
              <a:buChar char="◦"/>
            </a:pPr>
            <a:r>
              <a:rPr lang="zh-CN" altLang="en-US" sz="2800" b="1" dirty="0">
                <a:latin typeface="宋体" panose="02010600030101010101" pitchFamily="2" charset="-122"/>
              </a:rPr>
              <a:t>存储空间的动态分配和释放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特点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Font typeface="Verdana" panose="020B0604030504040204" pitchFamily="34" charset="0"/>
              <a:buChar char="◦"/>
            </a:pPr>
            <a:r>
              <a:rPr lang="zh-CN" altLang="en-US" sz="2800" b="1" dirty="0">
                <a:latin typeface="宋体" panose="02010600030101010101" pitchFamily="2" charset="-122"/>
              </a:rPr>
              <a:t>可随时分配和释放空间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实现方法：     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将内存空间分为若干块，根据用户要求分配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无法满足时，调用无用单元收集程序将被释放的块收集起来重新分配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8.2.3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、堆式存储分配</a:t>
            </a:r>
            <a:endParaRPr kumimoji="0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内容占位符 1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1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3556" name="Picture 2"/>
          <p:cNvPicPr>
            <a:picLocks noChangeAspect="1"/>
          </p:cNvPicPr>
          <p:nvPr/>
        </p:nvPicPr>
        <p:blipFill>
          <a:blip r:embed="rId1"/>
          <a:srcRect l="9233" t="49039" r="15483" b="11298"/>
          <a:stretch>
            <a:fillRect/>
          </a:stretch>
        </p:blipFill>
        <p:spPr>
          <a:xfrm>
            <a:off x="428625" y="1071563"/>
            <a:ext cx="8261350" cy="4286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83613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8.3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、运行时的过程活动记录与栈区的组织结构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612356" name="Rectangle 4"/>
          <p:cNvSpPr>
            <a:spLocks noChangeArrowheads="1"/>
          </p:cNvSpPr>
          <p:nvPr/>
        </p:nvSpPr>
        <p:spPr bwMode="auto">
          <a:xfrm>
            <a:off x="533400" y="914400"/>
            <a:ext cx="7772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8.3.1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、过程调用需存放的信息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7"/>
          <p:cNvSpPr/>
          <p:nvPr/>
        </p:nvSpPr>
        <p:spPr>
          <a:xfrm>
            <a:off x="571500" y="1560513"/>
            <a:ext cx="8358188" cy="439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ts val="1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过程控制信息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：包括返回地址、先行活动记录的动态链指针、层数和长度等。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ts val="1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机器状态信息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：包括寄存器状态等过程中断时的机器状态。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ts val="1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全局变量信息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：包括有关访问非局部变量的信息。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ts val="1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局部变量信息</a:t>
            </a: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：包括形参变量、局部变量和临时变量的值。</a:t>
            </a:r>
            <a:endParaRPr lang="zh-CN" altLang="en-US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53400" cy="6858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8.3.2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、过程调用的活动记录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5603" name="Rectangle 46"/>
          <p:cNvSpPr/>
          <p:nvPr/>
        </p:nvSpPr>
        <p:spPr>
          <a:xfrm>
            <a:off x="762000" y="898525"/>
            <a:ext cx="7924800" cy="1281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栈来保存递归过程执行所需保存的信息。即栈区是由所谓的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过程活动记录（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组成的一个连续的存储区。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5604" name="Group 50"/>
          <p:cNvGrpSpPr/>
          <p:nvPr/>
        </p:nvGrpSpPr>
        <p:grpSpPr>
          <a:xfrm>
            <a:off x="5740400" y="2133600"/>
            <a:ext cx="2209800" cy="4244975"/>
            <a:chOff x="432" y="1598"/>
            <a:chExt cx="1488" cy="2996"/>
          </a:xfrm>
        </p:grpSpPr>
        <p:sp>
          <p:nvSpPr>
            <p:cNvPr id="25624" name="Rectangle 6"/>
            <p:cNvSpPr/>
            <p:nvPr/>
          </p:nvSpPr>
          <p:spPr>
            <a:xfrm>
              <a:off x="432" y="4265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动态链指针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5" name="Rectangle 8"/>
            <p:cNvSpPr/>
            <p:nvPr/>
          </p:nvSpPr>
          <p:spPr>
            <a:xfrm>
              <a:off x="432" y="3929"/>
              <a:ext cx="1488" cy="330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返回地址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6" name="Rectangle 5"/>
            <p:cNvSpPr/>
            <p:nvPr/>
          </p:nvSpPr>
          <p:spPr>
            <a:xfrm>
              <a:off x="432" y="3600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过程层数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7" name="Rectangle 9"/>
            <p:cNvSpPr/>
            <p:nvPr/>
          </p:nvSpPr>
          <p:spPr>
            <a:xfrm>
              <a:off x="432" y="3264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机器状态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8" name="Rectangle 49"/>
            <p:cNvSpPr/>
            <p:nvPr/>
          </p:nvSpPr>
          <p:spPr>
            <a:xfrm>
              <a:off x="432" y="2928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全局变量环境	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9" name="Rectangle 7"/>
            <p:cNvSpPr/>
            <p:nvPr/>
          </p:nvSpPr>
          <p:spPr>
            <a:xfrm>
              <a:off x="432" y="2592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返回值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0" name="Rectangle 48"/>
            <p:cNvSpPr/>
            <p:nvPr/>
          </p:nvSpPr>
          <p:spPr>
            <a:xfrm>
              <a:off x="432" y="2256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形参变量区	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Rectangle 10"/>
            <p:cNvSpPr/>
            <p:nvPr/>
          </p:nvSpPr>
          <p:spPr>
            <a:xfrm>
              <a:off x="432" y="1927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局部变量区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2" name="Rectangle 11"/>
            <p:cNvSpPr/>
            <p:nvPr/>
          </p:nvSpPr>
          <p:spPr>
            <a:xfrm>
              <a:off x="432" y="1598"/>
              <a:ext cx="1488" cy="329"/>
            </a:xfrm>
            <a:prstGeom prst="rect">
              <a:avLst/>
            </a:prstGeom>
            <a:solidFill>
              <a:srgbClr val="99FFCC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FFCC"/>
              </a:extrusionClr>
            </a:sp3d>
          </p:spPr>
          <p:txBody>
            <a:bodyPr wrap="none" anchor="ctr" anchorCtr="0">
              <a:flatTx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sz="2400" b="1" i="1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临时变量区	</a:t>
              </a:r>
              <a:endParaRPr lang="zh-CN" altLang="en-US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05" name="Line 51"/>
          <p:cNvSpPr/>
          <p:nvPr/>
        </p:nvSpPr>
        <p:spPr>
          <a:xfrm flipH="1">
            <a:off x="3835400" y="21336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52"/>
          <p:cNvSpPr/>
          <p:nvPr/>
        </p:nvSpPr>
        <p:spPr>
          <a:xfrm flipH="1">
            <a:off x="3822700" y="40132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53"/>
          <p:cNvSpPr/>
          <p:nvPr/>
        </p:nvSpPr>
        <p:spPr>
          <a:xfrm flipH="1">
            <a:off x="3822700" y="44958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54"/>
          <p:cNvSpPr/>
          <p:nvPr/>
        </p:nvSpPr>
        <p:spPr>
          <a:xfrm flipH="1">
            <a:off x="3810000" y="49657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Line 55"/>
          <p:cNvSpPr/>
          <p:nvPr/>
        </p:nvSpPr>
        <p:spPr>
          <a:xfrm flipH="1">
            <a:off x="3835400" y="6375400"/>
            <a:ext cx="190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0" name="Line 56"/>
          <p:cNvSpPr/>
          <p:nvPr/>
        </p:nvSpPr>
        <p:spPr>
          <a:xfrm>
            <a:off x="4597400" y="21336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1" name="Line 57"/>
          <p:cNvSpPr/>
          <p:nvPr/>
        </p:nvSpPr>
        <p:spPr>
          <a:xfrm flipV="1">
            <a:off x="4597400" y="3581400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2" name="Text Box 58"/>
          <p:cNvSpPr txBox="1"/>
          <p:nvPr/>
        </p:nvSpPr>
        <p:spPr>
          <a:xfrm>
            <a:off x="4064000" y="2651125"/>
            <a:ext cx="12954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本层变量和返回值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3" name="Rectangle 59"/>
          <p:cNvSpPr/>
          <p:nvPr/>
        </p:nvSpPr>
        <p:spPr>
          <a:xfrm>
            <a:off x="3835400" y="4073525"/>
            <a:ext cx="17176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全局变量信息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4" name="Rectangle 60"/>
          <p:cNvSpPr/>
          <p:nvPr/>
        </p:nvSpPr>
        <p:spPr>
          <a:xfrm>
            <a:off x="3835400" y="4556125"/>
            <a:ext cx="17176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机器状态信息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5" name="Rectangle 61"/>
          <p:cNvSpPr/>
          <p:nvPr/>
        </p:nvSpPr>
        <p:spPr>
          <a:xfrm>
            <a:off x="3835400" y="5470525"/>
            <a:ext cx="17176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控制状态信息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6" name="Line 62"/>
          <p:cNvSpPr/>
          <p:nvPr/>
        </p:nvSpPr>
        <p:spPr>
          <a:xfrm>
            <a:off x="4597400" y="4965700"/>
            <a:ext cx="0" cy="444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7" name="Line 63"/>
          <p:cNvSpPr/>
          <p:nvPr/>
        </p:nvSpPr>
        <p:spPr>
          <a:xfrm flipV="1">
            <a:off x="4597400" y="5943600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18" name="Text Box 64"/>
          <p:cNvSpPr txBox="1"/>
          <p:nvPr/>
        </p:nvSpPr>
        <p:spPr>
          <a:xfrm>
            <a:off x="642938" y="2928938"/>
            <a:ext cx="2971800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其中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sp(Stack  Pointer)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表示栈指针，它始终指向当前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始地址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9" name="Rectangle 68"/>
          <p:cNvSpPr/>
          <p:nvPr/>
        </p:nvSpPr>
        <p:spPr>
          <a:xfrm>
            <a:off x="8610600" y="5715000"/>
            <a:ext cx="455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endParaRPr lang="en-US" altLang="zh-CN" sz="2400" b="1" i="1" dirty="0">
              <a:solidFill>
                <a:srgbClr val="6600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20" name="Line 69"/>
          <p:cNvSpPr/>
          <p:nvPr/>
        </p:nvSpPr>
        <p:spPr>
          <a:xfrm flipH="1">
            <a:off x="8153400" y="60960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21" name="Line 70"/>
          <p:cNvSpPr/>
          <p:nvPr/>
        </p:nvSpPr>
        <p:spPr>
          <a:xfrm>
            <a:off x="7620000" y="6172200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22" name="Line 71"/>
          <p:cNvSpPr/>
          <p:nvPr/>
        </p:nvSpPr>
        <p:spPr>
          <a:xfrm>
            <a:off x="8001000" y="61722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5623" name="Line 72"/>
          <p:cNvSpPr/>
          <p:nvPr/>
        </p:nvSpPr>
        <p:spPr>
          <a:xfrm flipV="1">
            <a:off x="8458200" y="2362200"/>
            <a:ext cx="0" cy="3581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214313" y="1000125"/>
            <a:ext cx="4929187" cy="528637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void  p(int i)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float  y;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int   a[10];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y = a[i] * 25;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调用</a:t>
            </a:r>
            <a:r>
              <a:rPr lang="en-US" altLang="zh-CN" sz="2800" b="1" dirty="0">
                <a:latin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</a:rPr>
              <a:t>时的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活动记录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AR</a:t>
            </a:r>
            <a:r>
              <a:rPr lang="zh-CN" altLang="en-US" sz="2800" b="1" dirty="0">
                <a:latin typeface="Times New Roman" panose="02020603050405020304" pitchFamily="18" charset="0"/>
              </a:rPr>
              <a:t>结构如右图所示。其中假设整数占四个单元，实数占八个单元，同时假定形参开始的偏移量</a:t>
            </a:r>
            <a:r>
              <a:rPr lang="en-US" altLang="zh-CN" sz="2800" b="1" dirty="0">
                <a:latin typeface="Times New Roman" panose="02020603050405020304" pitchFamily="18" charset="0"/>
              </a:rPr>
              <a:t>Offset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</a:rPr>
              <a:t>20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5334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假设有下面过程：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graphicFrame>
        <p:nvGraphicFramePr>
          <p:cNvPr id="617498" name="Group 26"/>
          <p:cNvGraphicFramePr>
            <a:graphicFrameLocks noGrp="1"/>
          </p:cNvGraphicFramePr>
          <p:nvPr/>
        </p:nvGraphicFramePr>
        <p:xfrm>
          <a:off x="6877050" y="1736725"/>
          <a:ext cx="1981200" cy="4089400"/>
        </p:xfrm>
        <a:graphic>
          <a:graphicData uri="http://schemas.openxmlformats.org/drawingml/2006/table">
            <a:tbl>
              <a:tblPr/>
              <a:tblGrid>
                <a:gridCol w="1981200"/>
              </a:tblGrid>
              <a:tr h="606425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返回值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全局信息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机器信息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>
                      <a:lvl1pPr eaLnBrk="0" hangingPunct="0"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itchFamily="18" charset="2"/>
                        <a:defRPr sz="23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1pPr>
                      <a:lvl2pPr marL="742950" indent="-285750" eaLnBrk="0" hangingPunct="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defRPr sz="21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2pPr>
                      <a:lvl3pPr marL="11430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3pPr>
                      <a:lvl4pPr marL="16002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 sz="170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4pPr>
                      <a:lvl5pPr marL="2057400" indent="-228600" eaLnBrk="0" hangingPunct="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控制信息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46" name="Line 27"/>
          <p:cNvSpPr/>
          <p:nvPr/>
        </p:nvSpPr>
        <p:spPr>
          <a:xfrm>
            <a:off x="5886450" y="58515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7" name="Text Box 28"/>
          <p:cNvSpPr txBox="1"/>
          <p:nvPr/>
        </p:nvSpPr>
        <p:spPr>
          <a:xfrm>
            <a:off x="5276850" y="5470525"/>
            <a:ext cx="1371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offset = 0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48" name="Line 29"/>
          <p:cNvSpPr/>
          <p:nvPr/>
        </p:nvSpPr>
        <p:spPr>
          <a:xfrm>
            <a:off x="5886450" y="34893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9" name="Text Box 30"/>
          <p:cNvSpPr txBox="1"/>
          <p:nvPr/>
        </p:nvSpPr>
        <p:spPr>
          <a:xfrm>
            <a:off x="5276850" y="3108325"/>
            <a:ext cx="1371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offset = 20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50" name="Line 31"/>
          <p:cNvSpPr/>
          <p:nvPr/>
        </p:nvSpPr>
        <p:spPr>
          <a:xfrm>
            <a:off x="5886450" y="28797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51" name="Text Box 32"/>
          <p:cNvSpPr txBox="1"/>
          <p:nvPr/>
        </p:nvSpPr>
        <p:spPr>
          <a:xfrm>
            <a:off x="5276850" y="2498725"/>
            <a:ext cx="1371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offset = 24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52" name="Line 33"/>
          <p:cNvSpPr/>
          <p:nvPr/>
        </p:nvSpPr>
        <p:spPr>
          <a:xfrm>
            <a:off x="5886450" y="23463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53" name="Text Box 34"/>
          <p:cNvSpPr txBox="1"/>
          <p:nvPr/>
        </p:nvSpPr>
        <p:spPr>
          <a:xfrm>
            <a:off x="5276850" y="1965325"/>
            <a:ext cx="1371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offset = 32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54" name="Line 35"/>
          <p:cNvSpPr/>
          <p:nvPr/>
        </p:nvSpPr>
        <p:spPr>
          <a:xfrm>
            <a:off x="5886450" y="17367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55" name="Text Box 36"/>
          <p:cNvSpPr txBox="1"/>
          <p:nvPr/>
        </p:nvSpPr>
        <p:spPr>
          <a:xfrm>
            <a:off x="5276850" y="1355725"/>
            <a:ext cx="1371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offset = 72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3"/>
          <p:cNvSpPr/>
          <p:nvPr/>
        </p:nvSpPr>
        <p:spPr>
          <a:xfrm>
            <a:off x="381000" y="642938"/>
            <a:ext cx="8458200" cy="5143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过程调用被执行时，其目标代码将负责完成以下工作：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）将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实参值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送入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NewAR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的形参单元中；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）将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控制信息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（返回地址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层数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/AR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长度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动态链地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 址等）填入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NewAR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的相应单元中；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）将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机器状态信息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填入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NewAR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的相应单元中；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1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全局变量信息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填入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NewAR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的相应单元中。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120000"/>
              </a:lnSpc>
              <a:spcBef>
                <a:spcPct val="2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为了使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指向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NewAR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，应做：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sp:=sp+CurrentAR.Size;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2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过程调用结束时，释放当前活动记录，把保存在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20000"/>
              </a:spcBef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CurrentAR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中的值取出来赋给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688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153400" cy="685800"/>
          </a:xfrm>
          <a:noFill/>
          <a:ln>
            <a:noFill/>
          </a:ln>
          <a:effectLst/>
          <a:sp3d prstMaterial="plastic"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8.3.3</a:t>
            </a:r>
            <a:r>
              <a: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、动态链</a:t>
            </a:r>
            <a:endParaRPr kumimoji="0" lang="zh-CN" altLang="en-US" sz="3200" b="1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8675" name="Text Box 7"/>
          <p:cNvSpPr txBox="1"/>
          <p:nvPr/>
        </p:nvSpPr>
        <p:spPr>
          <a:xfrm>
            <a:off x="533400" y="1066800"/>
            <a:ext cx="8229600" cy="37925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4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将栈上所有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连接起来的链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。为了更精确地揭示动态链的含义，引进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调用链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的概念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lnSpc>
                <a:spcPct val="114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(M)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是调用链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；若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R)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是调用链，且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中有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的调用，则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也是调用链，用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CallChain(S)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表示。对于任一过程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，其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调用链不唯一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lnSpc>
                <a:spcPct val="114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假设有调用链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CallChain(S) = (M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，则栈的当前内容可表示为：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[AR(M)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AR(R)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AR(S)]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。称它为对应调用链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(M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S)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动态链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。其动态链逻辑示意图如下：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grpSp>
        <p:nvGrpSpPr>
          <p:cNvPr id="28676" name="Group 11"/>
          <p:cNvGrpSpPr/>
          <p:nvPr/>
        </p:nvGrpSpPr>
        <p:grpSpPr>
          <a:xfrm>
            <a:off x="1362075" y="5194300"/>
            <a:ext cx="1066800" cy="1143000"/>
            <a:chOff x="624" y="2976"/>
            <a:chExt cx="672" cy="720"/>
          </a:xfrm>
        </p:grpSpPr>
        <p:sp>
          <p:nvSpPr>
            <p:cNvPr id="28691" name="Rectangle 8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2" name="Rectangle 9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Text Box 10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77" name="Group 16"/>
          <p:cNvGrpSpPr/>
          <p:nvPr/>
        </p:nvGrpSpPr>
        <p:grpSpPr>
          <a:xfrm>
            <a:off x="4562475" y="5194300"/>
            <a:ext cx="1066800" cy="1143000"/>
            <a:chOff x="624" y="2976"/>
            <a:chExt cx="672" cy="720"/>
          </a:xfrm>
        </p:grpSpPr>
        <p:sp>
          <p:nvSpPr>
            <p:cNvPr id="28688" name="Rectangle 17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Rectangle 18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Text Box 19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78" name="Group 20"/>
          <p:cNvGrpSpPr/>
          <p:nvPr/>
        </p:nvGrpSpPr>
        <p:grpSpPr>
          <a:xfrm>
            <a:off x="6086475" y="5194300"/>
            <a:ext cx="1066800" cy="1143000"/>
            <a:chOff x="624" y="2976"/>
            <a:chExt cx="672" cy="720"/>
          </a:xfrm>
        </p:grpSpPr>
        <p:sp>
          <p:nvSpPr>
            <p:cNvPr id="28685" name="Rectangle 21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Rectangle 22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Text Box 23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sz="2000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679" name="Line 28"/>
          <p:cNvSpPr/>
          <p:nvPr/>
        </p:nvSpPr>
        <p:spPr>
          <a:xfrm flipH="1">
            <a:off x="2428875" y="61849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0" name="Line 29"/>
          <p:cNvSpPr/>
          <p:nvPr/>
        </p:nvSpPr>
        <p:spPr>
          <a:xfrm flipH="1">
            <a:off x="4029075" y="61849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1" name="Line 30"/>
          <p:cNvSpPr/>
          <p:nvPr/>
        </p:nvSpPr>
        <p:spPr>
          <a:xfrm flipH="1">
            <a:off x="5629275" y="61849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2" name="Line 31"/>
          <p:cNvSpPr/>
          <p:nvPr/>
        </p:nvSpPr>
        <p:spPr>
          <a:xfrm flipH="1">
            <a:off x="7153275" y="61849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3" name="Text Box 32"/>
          <p:cNvSpPr txBox="1"/>
          <p:nvPr/>
        </p:nvSpPr>
        <p:spPr>
          <a:xfrm>
            <a:off x="3190875" y="60325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84" name="Text Box 33"/>
          <p:cNvSpPr txBox="1"/>
          <p:nvPr/>
        </p:nvSpPr>
        <p:spPr>
          <a:xfrm>
            <a:off x="7534275" y="5803900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ext Box 2"/>
          <p:cNvSpPr txBox="1"/>
          <p:nvPr/>
        </p:nvSpPr>
        <p:spPr>
          <a:xfrm>
            <a:off x="457200" y="457200"/>
            <a:ext cx="8229600" cy="6043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调用过程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NewAR.DynaChainPointer := sp;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NewAR.Return := ReturnAddr  ................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返回地址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NewAR.Level := Level(Q);    ......................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层数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NewAR.Size := Size(Q); .............................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长度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NewAR.Machine := (R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);  ........ 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机器状态信息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 := sp + CurrentAR.Size;      ....................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转向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子程序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退出过程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时（正常返回情形）：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 := CurrentAR.Machine; ...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恢复机器状态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Value := CurrentAR. ReturnValue; .........  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返回值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 := CurrentAR.DynaChainPointer;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200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按原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CurrentAR.return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返回。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381000" y="381000"/>
            <a:ext cx="8153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8.3.4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、活跃活动记录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3" name="Text Box 4"/>
          <p:cNvSpPr txBox="1"/>
          <p:nvPr/>
        </p:nvSpPr>
        <p:spPr>
          <a:xfrm>
            <a:off x="457200" y="914400"/>
            <a:ext cx="8229600" cy="5076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假设有过程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，当前调用链是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(M,P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,Q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,R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,R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,R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，则当前动态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链为：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[AR(M),AR(P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),AR(P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),AR(Q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),AR(R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),AR(R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),AR(R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)]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其中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的第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次调用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。一个过程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在动态链中可有多个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，但其中只有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最新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AR(S)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是可访问的，我们称此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AR(S)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的活跃活动记录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，记为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LiveAR(S)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。对于上述动态链，有：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LiveAR(M) = AR(M)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LiveAR(P) = AR(P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LiveAR(Q) = AR(Q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20000"/>
              </a:spcBef>
              <a:buClr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LiveAR(R) = AR(R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/>
          <p:nvPr/>
        </p:nvSpPr>
        <p:spPr>
          <a:xfrm>
            <a:off x="381000" y="304800"/>
            <a:ext cx="77724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8.4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、运行时的变量访问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747" name="Rectangle 5"/>
          <p:cNvSpPr/>
          <p:nvPr/>
        </p:nvSpPr>
        <p:spPr>
          <a:xfrm>
            <a:off x="457200" y="1600200"/>
            <a:ext cx="8229600" cy="409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嵌套过程中既包含自己定义的局部变量，还包括其它过程中定义的局部变量，它们存储在定义它们的过程的活跃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中。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静态链（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DeclaChain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：也称过程声明链）：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(M)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是静态链；若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P)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是静态链，且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中有过程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的声明，则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…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也是静态链。对于过程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，静态链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DeclaChain(Q)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是唯一的，且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中出现的各变量其声明一定在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DeclaChain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(Q)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中。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静态链可由调用链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求得。具体说，如果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中调用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，且已知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的静态链，则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的静态链可从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的静态链产生，且等于由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静态链的前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项组成的子链加上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，其中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的层数（假设主程序的层数是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）。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24646" name="Rectangle 6"/>
          <p:cNvSpPr>
            <a:spLocks noChangeArrowheads="1"/>
          </p:cNvSpPr>
          <p:nvPr/>
        </p:nvSpPr>
        <p:spPr bwMode="auto">
          <a:xfrm>
            <a:off x="533400" y="977900"/>
            <a:ext cx="7772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8.4.1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、变量的访问环境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770" name="Group 7"/>
          <p:cNvGrpSpPr/>
          <p:nvPr/>
        </p:nvGrpSpPr>
        <p:grpSpPr>
          <a:xfrm>
            <a:off x="457200" y="4800600"/>
            <a:ext cx="1219200" cy="1143000"/>
            <a:chOff x="624" y="2976"/>
            <a:chExt cx="672" cy="720"/>
          </a:xfrm>
        </p:grpSpPr>
        <p:sp>
          <p:nvSpPr>
            <p:cNvPr id="32810" name="Rectangle 8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1" name="Rectangle 9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2" name="Text Box 10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</a:t>
              </a: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(M)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771" name="Group 11"/>
          <p:cNvGrpSpPr/>
          <p:nvPr/>
        </p:nvGrpSpPr>
        <p:grpSpPr>
          <a:xfrm>
            <a:off x="2209800" y="4800600"/>
            <a:ext cx="1143000" cy="1143000"/>
            <a:chOff x="624" y="2976"/>
            <a:chExt cx="672" cy="720"/>
          </a:xfrm>
        </p:grpSpPr>
        <p:sp>
          <p:nvSpPr>
            <p:cNvPr id="32807" name="Rectangle 12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8" name="Rectangle 13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9" name="Text Box 14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(G)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772" name="Group 15"/>
          <p:cNvGrpSpPr/>
          <p:nvPr/>
        </p:nvGrpSpPr>
        <p:grpSpPr>
          <a:xfrm>
            <a:off x="3733800" y="4800600"/>
            <a:ext cx="1219200" cy="1143000"/>
            <a:chOff x="624" y="2976"/>
            <a:chExt cx="672" cy="720"/>
          </a:xfrm>
        </p:grpSpPr>
        <p:sp>
          <p:nvSpPr>
            <p:cNvPr id="32804" name="Rectangle 16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5" name="Rectangle 17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6" name="Text Box 18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(H)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773" name="Group 19"/>
          <p:cNvGrpSpPr/>
          <p:nvPr/>
        </p:nvGrpSpPr>
        <p:grpSpPr>
          <a:xfrm>
            <a:off x="5334000" y="4800600"/>
            <a:ext cx="1219200" cy="1143000"/>
            <a:chOff x="624" y="2976"/>
            <a:chExt cx="672" cy="720"/>
          </a:xfrm>
        </p:grpSpPr>
        <p:sp>
          <p:nvSpPr>
            <p:cNvPr id="32801" name="Rectangle 20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2" name="Rectangle 21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3" name="Text Box 22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 </a:t>
              </a: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(R)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774" name="Group 23"/>
          <p:cNvGrpSpPr/>
          <p:nvPr/>
        </p:nvGrpSpPr>
        <p:grpSpPr>
          <a:xfrm>
            <a:off x="6858000" y="4800600"/>
            <a:ext cx="1219200" cy="1143000"/>
            <a:chOff x="624" y="2976"/>
            <a:chExt cx="672" cy="720"/>
          </a:xfrm>
        </p:grpSpPr>
        <p:sp>
          <p:nvSpPr>
            <p:cNvPr id="32798" name="Rectangle 24"/>
            <p:cNvSpPr/>
            <p:nvPr/>
          </p:nvSpPr>
          <p:spPr>
            <a:xfrm>
              <a:off x="624" y="2976"/>
              <a:ext cx="672" cy="7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9" name="Rectangle 25"/>
            <p:cNvSpPr/>
            <p:nvPr/>
          </p:nvSpPr>
          <p:spPr>
            <a:xfrm>
              <a:off x="624" y="3408"/>
              <a:ext cx="67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0" name="Text Box 26"/>
            <p:cNvSpPr txBox="1"/>
            <p:nvPr/>
          </p:nvSpPr>
          <p:spPr>
            <a:xfrm>
              <a:off x="672" y="3072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65125" indent="-255905" algn="l" rtl="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1030" indent="-228600" algn="l" rtl="0" eaLnBrk="0" fontAlgn="base" hangingPunct="0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9155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AR</a:t>
              </a:r>
              <a:r>
                <a:rPr lang="en-US" altLang="zh-CN" sz="2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 </a:t>
              </a:r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(S)</a:t>
              </a:r>
              <a:endPara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775" name="Line 27"/>
          <p:cNvSpPr/>
          <p:nvPr/>
        </p:nvSpPr>
        <p:spPr>
          <a:xfrm flipH="1">
            <a:off x="1676400" y="57912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76" name="Line 28"/>
          <p:cNvSpPr/>
          <p:nvPr/>
        </p:nvSpPr>
        <p:spPr>
          <a:xfrm flipH="1">
            <a:off x="3352800" y="57912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77" name="Line 29"/>
          <p:cNvSpPr/>
          <p:nvPr/>
        </p:nvSpPr>
        <p:spPr>
          <a:xfrm flipH="1">
            <a:off x="4953000" y="57912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78" name="Text Box 30"/>
          <p:cNvSpPr txBox="1"/>
          <p:nvPr/>
        </p:nvSpPr>
        <p:spPr>
          <a:xfrm>
            <a:off x="838200" y="5486400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nil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9" name="Text Box 31"/>
          <p:cNvSpPr txBox="1"/>
          <p:nvPr/>
        </p:nvSpPr>
        <p:spPr>
          <a:xfrm>
            <a:off x="2514600" y="5546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ar0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0" name="Text Box 32"/>
          <p:cNvSpPr txBox="1"/>
          <p:nvPr/>
        </p:nvSpPr>
        <p:spPr>
          <a:xfrm>
            <a:off x="4114800" y="5546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ar1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1" name="Text Box 33"/>
          <p:cNvSpPr txBox="1"/>
          <p:nvPr/>
        </p:nvSpPr>
        <p:spPr>
          <a:xfrm>
            <a:off x="5638800" y="5546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ar2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2" name="Text Box 34"/>
          <p:cNvSpPr txBox="1"/>
          <p:nvPr/>
        </p:nvSpPr>
        <p:spPr>
          <a:xfrm>
            <a:off x="7162800" y="5546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ar2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3" name="Line 35"/>
          <p:cNvSpPr/>
          <p:nvPr/>
        </p:nvSpPr>
        <p:spPr>
          <a:xfrm flipH="1">
            <a:off x="8077200" y="5791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4" name="Text Box 36"/>
          <p:cNvSpPr txBox="1"/>
          <p:nvPr/>
        </p:nvSpPr>
        <p:spPr>
          <a:xfrm>
            <a:off x="8153400" y="5715000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5" name="Text Box 37"/>
          <p:cNvSpPr txBox="1"/>
          <p:nvPr/>
        </p:nvSpPr>
        <p:spPr>
          <a:xfrm>
            <a:off x="838200" y="5927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ar0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6" name="Text Box 38"/>
          <p:cNvSpPr txBox="1"/>
          <p:nvPr/>
        </p:nvSpPr>
        <p:spPr>
          <a:xfrm>
            <a:off x="2438400" y="5927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ar1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7" name="Text Box 39"/>
          <p:cNvSpPr txBox="1"/>
          <p:nvPr/>
        </p:nvSpPr>
        <p:spPr>
          <a:xfrm>
            <a:off x="4038600" y="5927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ar2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8" name="Text Box 40"/>
          <p:cNvSpPr txBox="1"/>
          <p:nvPr/>
        </p:nvSpPr>
        <p:spPr>
          <a:xfrm>
            <a:off x="5562600" y="59277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ar3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9" name="Text Box 41"/>
          <p:cNvSpPr txBox="1"/>
          <p:nvPr/>
        </p:nvSpPr>
        <p:spPr>
          <a:xfrm>
            <a:off x="7086600" y="5943600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ar4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90" name="Line 43"/>
          <p:cNvSpPr/>
          <p:nvPr/>
        </p:nvSpPr>
        <p:spPr>
          <a:xfrm flipH="1">
            <a:off x="6705600" y="57912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1" name="Line 44"/>
          <p:cNvSpPr/>
          <p:nvPr/>
        </p:nvSpPr>
        <p:spPr>
          <a:xfrm>
            <a:off x="6705600" y="57912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2" name="Line 45"/>
          <p:cNvSpPr/>
          <p:nvPr/>
        </p:nvSpPr>
        <p:spPr>
          <a:xfrm flipH="1">
            <a:off x="5181600" y="64008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3" name="Line 46"/>
          <p:cNvSpPr/>
          <p:nvPr/>
        </p:nvSpPr>
        <p:spPr>
          <a:xfrm flipV="1">
            <a:off x="5181600" y="59436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94" name="Line 47"/>
          <p:cNvSpPr/>
          <p:nvPr/>
        </p:nvSpPr>
        <p:spPr>
          <a:xfrm flipH="1">
            <a:off x="4876800" y="5943600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5712" name="Rectangle 48"/>
          <p:cNvSpPr>
            <a:spLocks noChangeArrowheads="1"/>
          </p:cNvSpPr>
          <p:nvPr/>
        </p:nvSpPr>
        <p:spPr bwMode="auto">
          <a:xfrm>
            <a:off x="457200" y="1828800"/>
            <a:ext cx="7772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8.4.2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、静态链方法（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Static Chain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96" name="Rectangle 49"/>
          <p:cNvSpPr/>
          <p:nvPr/>
        </p:nvSpPr>
        <p:spPr>
          <a:xfrm>
            <a:off x="609600" y="2455863"/>
            <a:ext cx="7848600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在活动记录中引入一个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静态链指针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，指向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直接外层的最新活动记录的基地址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。由于过程的嵌套结构是确定的，则顺着静态链查找就可以找到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包含非局部变量的过程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：假设有调用链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(M,G,H,R,S)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，且它们的层数分别为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；则活动记录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形态为：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97" name="Rectangle 50"/>
          <p:cNvSpPr/>
          <p:nvPr/>
        </p:nvSpPr>
        <p:spPr>
          <a:xfrm>
            <a:off x="685800" y="381000"/>
            <a:ext cx="8001000" cy="1347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变量访问环境的实现方法有多种，较常见的有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57200" lvl="1" indent="0"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静态链方法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457200" lvl="1" indent="0"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嵌套层次显示表（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Display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表）方法（局部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/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全局）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9762" name="Rectangle 2"/>
          <p:cNvSpPr>
            <a:spLocks noChangeArrowheads="1"/>
          </p:cNvSpPr>
          <p:nvPr/>
        </p:nvSpPr>
        <p:spPr bwMode="auto">
          <a:xfrm>
            <a:off x="457200" y="381000"/>
            <a:ext cx="7772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8.4.2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、局部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Display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表方法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9763" name="Rectangle 3"/>
          <p:cNvSpPr>
            <a:spLocks noChangeArrowheads="1"/>
          </p:cNvSpPr>
          <p:nvPr/>
        </p:nvSpPr>
        <p:spPr bwMode="auto">
          <a:xfrm>
            <a:off x="609600" y="990600"/>
            <a:ext cx="7848600" cy="4894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为了提高访问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非局部量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的速度，可以用一个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指针数组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，称为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嵌套层次显示表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display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）来求每个活动记录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的变量访问环境。即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每进入一个过程后，在建立它的活动记录的同时建立一张局部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display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表。第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层过程的局部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display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i+1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个单元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刚才的例子：调用链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(M,G,H,R,S)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，且它们的层数分别为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；则各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Display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表如下：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AR(M).Display = [ar0]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AR(G).Display = [ar0,ar1]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AR(H).Display = [ar0,ar1,ar2]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AR(R).Display = [ar0,ar1,ar2,ar3]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AR(S).Display = [ar0,ar1,ar2,ar4]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6" name="Text Box 4"/>
          <p:cNvSpPr txBox="1"/>
          <p:nvPr/>
        </p:nvSpPr>
        <p:spPr>
          <a:xfrm>
            <a:off x="6324600" y="3733800"/>
            <a:ext cx="2362200" cy="253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M{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G{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H{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71600" lvl="3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R{ }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371600" lvl="3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S{ }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8" name="Picture 2"/>
          <p:cNvPicPr>
            <a:picLocks noChangeAspect="1"/>
          </p:cNvPicPr>
          <p:nvPr/>
        </p:nvPicPr>
        <p:blipFill>
          <a:blip r:embed="rId1"/>
          <a:srcRect l="17401" t="33948" r="48514" b="35817"/>
          <a:stretch>
            <a:fillRect/>
          </a:stretch>
        </p:blipFill>
        <p:spPr>
          <a:xfrm>
            <a:off x="755650" y="476250"/>
            <a:ext cx="7477125" cy="5608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2" name="Picture 3"/>
          <p:cNvPicPr>
            <a:picLocks noChangeAspect="1"/>
          </p:cNvPicPr>
          <p:nvPr/>
        </p:nvPicPr>
        <p:blipFill>
          <a:blip r:embed="rId1"/>
          <a:srcRect l="16533" t="31972" r="46413" b="34254"/>
          <a:stretch>
            <a:fillRect/>
          </a:stretch>
        </p:blipFill>
        <p:spPr>
          <a:xfrm>
            <a:off x="900113" y="476250"/>
            <a:ext cx="7021512" cy="5411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6" name="Picture 2"/>
          <p:cNvPicPr>
            <a:picLocks noChangeAspect="1"/>
          </p:cNvPicPr>
          <p:nvPr/>
        </p:nvPicPr>
        <p:blipFill>
          <a:blip r:embed="rId1"/>
          <a:srcRect l="14635" t="31010" r="44511" b="33653"/>
          <a:stretch>
            <a:fillRect/>
          </a:stretch>
        </p:blipFill>
        <p:spPr>
          <a:xfrm>
            <a:off x="684213" y="476250"/>
            <a:ext cx="7461250" cy="5457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Picture 2"/>
          <p:cNvPicPr>
            <a:picLocks noChangeAspect="1"/>
          </p:cNvPicPr>
          <p:nvPr/>
        </p:nvPicPr>
        <p:blipFill>
          <a:blip r:embed="rId1"/>
          <a:srcRect l="15854" t="31010" r="46341" b="35097"/>
          <a:stretch>
            <a:fillRect/>
          </a:stretch>
        </p:blipFill>
        <p:spPr>
          <a:xfrm>
            <a:off x="755650" y="404813"/>
            <a:ext cx="7023100" cy="53228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6730" name="Rectangle 42"/>
          <p:cNvSpPr>
            <a:spLocks noChangeArrowheads="1"/>
          </p:cNvSpPr>
          <p:nvPr/>
        </p:nvSpPr>
        <p:spPr bwMode="auto">
          <a:xfrm>
            <a:off x="457200" y="381000"/>
            <a:ext cx="777240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8.4.3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、全局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Display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表方法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Rectangle 43"/>
          <p:cNvSpPr/>
          <p:nvPr/>
        </p:nvSpPr>
        <p:spPr>
          <a:xfrm>
            <a:off x="428625" y="1539875"/>
            <a:ext cx="8286750" cy="203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二者思想类似。即：在程序的任何一个位置，包含该点的各过程必然层数都不相同。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基于此思想，设一个总的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Display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表，用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Display[i]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指向层数为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的过程的最新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AR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/>
          <p:nvPr/>
        </p:nvSpPr>
        <p:spPr>
          <a:xfrm>
            <a:off x="381000" y="304800"/>
            <a:ext cx="77724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8.5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、堆式动态存储分配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939" name="Text Box 3"/>
          <p:cNvSpPr txBox="1"/>
          <p:nvPr/>
        </p:nvSpPr>
        <p:spPr>
          <a:xfrm>
            <a:off x="468313" y="990600"/>
            <a:ext cx="8280400" cy="4056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适用于允许用户自由申请和退还空间的情形（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Pascal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中的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dispose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）。经一段运行时间后，由于自由借还导致空间被划分成许多碎块。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分配时需考虑的问题：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需要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合并碎块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时，必须调整运行程序对各占用块的全部引用点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回收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无用但是未被释放的碎块时，如何确定其当前无用且永远无用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/>
          <p:nvPr/>
        </p:nvSpPr>
        <p:spPr>
          <a:xfrm>
            <a:off x="381000" y="304800"/>
            <a:ext cx="77724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8.5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、堆式动态存储分配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963" name="Text Box 4"/>
          <p:cNvSpPr txBox="1"/>
          <p:nvPr/>
        </p:nvSpPr>
        <p:spPr>
          <a:xfrm>
            <a:off x="533400" y="1000125"/>
            <a:ext cx="8001000" cy="2462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定长块分配方法 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将堆存储空间分成长度相等的若干块。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变长块分配方法  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分配长度不同的存储块，随请求而变。空闲块链起来，分配时采取首次满足法、 最优满足法、 最差满足法等原则。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4" name="Text Box 5"/>
          <p:cNvSpPr txBox="1"/>
          <p:nvPr/>
        </p:nvSpPr>
        <p:spPr>
          <a:xfrm>
            <a:off x="428625" y="3714750"/>
            <a:ext cx="8410575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隐式存储回收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：用户程序和回收子程序并行工作，以便让回收子程序知道存储块何时不再使用，此时回收子程序负责给块加标记。当申请块的需求得不到满足时，就调用回收程序的回收过程实现真正回收。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5bac72f2-9c7e-4f71-b158-3bde5cbde877"/>
  <p:tag name="COMMONDATA" val="eyJoZGlkIjoiYWZhMDYyMDkyNmI0MzgzZTQ1NzlkOWQ4NjlhNmM1ZG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4491</Words>
  <Application>WPS 演示</Application>
  <PresentationFormat>全屏显示(4:3)</PresentationFormat>
  <Paragraphs>330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Arial</vt:lpstr>
      <vt:lpstr>宋体</vt:lpstr>
      <vt:lpstr>Wingdings</vt:lpstr>
      <vt:lpstr>Times New Roman</vt:lpstr>
      <vt:lpstr>Lucida Sans Unicode</vt:lpstr>
      <vt:lpstr>黑体</vt:lpstr>
      <vt:lpstr>Wingdings 3</vt:lpstr>
      <vt:lpstr>Symbol</vt:lpstr>
      <vt:lpstr>Verdana</vt:lpstr>
      <vt:lpstr>Wingdings 2</vt:lpstr>
      <vt:lpstr>Wingdings</vt:lpstr>
      <vt:lpstr>Tahoma</vt:lpstr>
      <vt:lpstr>Symbol</vt:lpstr>
      <vt:lpstr>Wingdings 2</vt:lpstr>
      <vt:lpstr>微软雅黑</vt:lpstr>
      <vt:lpstr>Arial Unicode MS</vt:lpstr>
      <vt:lpstr>聚合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rgkj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 Viscual Basic6.0程序设       计实验指导与习题详解》</dc:title>
  <dc:creator>ws021</dc:creator>
  <cp:lastModifiedBy>Administrator</cp:lastModifiedBy>
  <cp:revision>315</cp:revision>
  <dcterms:created xsi:type="dcterms:W3CDTF">2001-08-16T12:48:45Z</dcterms:created>
  <dcterms:modified xsi:type="dcterms:W3CDTF">2023-05-16T01:27:33Z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E45643BF15804D698BADF3FAE82EE3BB_12</vt:lpwstr>
  </property>
  <property fmtid="{D5CDD505-2E9C-101B-9397-08002B2CF9AE}" pid="3" name="KSOProductBuildVer">
    <vt:lpwstr>2052-11.1.0.14309</vt:lpwstr>
  </property>
</Properties>
</file>