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593" r:id="rId3"/>
    <p:sldId id="594" r:id="rId4"/>
    <p:sldId id="595" r:id="rId5"/>
    <p:sldId id="596" r:id="rId6"/>
    <p:sldId id="597" r:id="rId7"/>
    <p:sldId id="599" r:id="rId8"/>
    <p:sldId id="598" r:id="rId9"/>
    <p:sldId id="600" r:id="rId10"/>
    <p:sldId id="601" r:id="rId11"/>
    <p:sldId id="602" r:id="rId12"/>
    <p:sldId id="603" r:id="rId13"/>
    <p:sldId id="604" r:id="rId14"/>
    <p:sldId id="605" r:id="rId15"/>
    <p:sldId id="606" r:id="rId16"/>
    <p:sldId id="607" r:id="rId17"/>
    <p:sldId id="608" r:id="rId18"/>
    <p:sldId id="609" r:id="rId19"/>
    <p:sldId id="610" r:id="rId20"/>
    <p:sldId id="589" r:id="rId21"/>
    <p:sldId id="590" r:id="rId22"/>
    <p:sldId id="591" r:id="rId23"/>
    <p:sldId id="611" r:id="rId24"/>
    <p:sldId id="612" r:id="rId25"/>
    <p:sldId id="613" r:id="rId26"/>
    <p:sldId id="614" r:id="rId27"/>
    <p:sldId id="615" r:id="rId28"/>
    <p:sldId id="616" r:id="rId29"/>
    <p:sldId id="538" r:id="rId30"/>
    <p:sldId id="624" r:id="rId31"/>
    <p:sldId id="618" r:id="rId32"/>
    <p:sldId id="619" r:id="rId33"/>
    <p:sldId id="620" r:id="rId34"/>
    <p:sldId id="621" r:id="rId35"/>
    <p:sldId id="622" r:id="rId36"/>
    <p:sldId id="623" r:id="rId37"/>
    <p:sldId id="625" r:id="rId38"/>
    <p:sldId id="626" r:id="rId39"/>
    <p:sldId id="627" r:id="rId40"/>
    <p:sldId id="628" r:id="rId41"/>
    <p:sldId id="629" r:id="rId42"/>
    <p:sldId id="630" r:id="rId43"/>
    <p:sldId id="631" r:id="rId44"/>
  </p:sldIdLst>
  <p:sldSz cx="9144000" cy="6858000" type="screen4x3"/>
  <p:notesSz cx="6858000" cy="9144000"/>
  <p:custShowLst>
    <p:custShow name="自定义放映1" id="0">
      <p:sldLst>
        <p:sld r:id="rId21"/>
      </p:sldLst>
    </p:custShow>
    <p:custShow name="自定义放映2" id="1">
      <p:sldLst>
        <p:sld r:id="rId30"/>
      </p:sldLst>
    </p:custShow>
  </p:custShowLst>
  <p:custDataLst>
    <p:tags r:id="rId50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00"/>
    <a:srgbClr val="A50021"/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0604"/>
    <p:restoredTop sz="90929"/>
  </p:normalViewPr>
  <p:slideViewPr>
    <p:cSldViewPr showGuides="1">
      <p:cViewPr>
        <p:scale>
          <a:sx n="90" d="100"/>
          <a:sy n="90" d="100"/>
        </p:scale>
        <p:origin x="-2928" y="-6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2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</a:t>
            </a:r>
            <a:r>
              <a:rPr kumimoji="0" lang="zh-CN" alt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章 中间代码生成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 vert="horz" wrap="square" lIns="45720" tIns="45720" rIns="45720" bIns="45720" anchor="t" anchorCtr="0"/>
          <a:p>
            <a:pPr marR="0" eaLnBrk="1" hangingPunct="1">
              <a:buSzPct val="68000"/>
            </a:pPr>
            <a:endParaRPr lang="zh-CN" altLang="en-US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常见的中间语言</a:t>
            </a:r>
            <a:endParaRPr kumimoji="0" lang="zh-CN" alt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4" name="Picture 2"/>
          <p:cNvPicPr>
            <a:picLocks noChangeAspect="1"/>
          </p:cNvPicPr>
          <p:nvPr/>
        </p:nvPicPr>
        <p:blipFill>
          <a:blip r:embed="rId1"/>
          <a:srcRect l="8594" t="35269" r="6250" b="33781"/>
          <a:stretch>
            <a:fillRect/>
          </a:stretch>
        </p:blipFill>
        <p:spPr>
          <a:xfrm>
            <a:off x="357188" y="1428750"/>
            <a:ext cx="8329612" cy="32861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6588125" y="3070225"/>
            <a:ext cx="93662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613525" y="3573463"/>
            <a:ext cx="134302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8" name="Picture 2"/>
          <p:cNvPicPr>
            <a:picLocks noChangeAspect="1"/>
          </p:cNvPicPr>
          <p:nvPr/>
        </p:nvPicPr>
        <p:blipFill>
          <a:blip r:embed="rId1"/>
          <a:srcRect l="10156" t="30231" r="7031" b="37379"/>
          <a:stretch>
            <a:fillRect/>
          </a:stretch>
        </p:blipFill>
        <p:spPr>
          <a:xfrm>
            <a:off x="642938" y="214313"/>
            <a:ext cx="7572375" cy="321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2"/>
          <a:srcRect l="10156" t="29846" r="7031" b="34885"/>
          <a:stretch>
            <a:fillRect/>
          </a:stretch>
        </p:blipFill>
        <p:spPr>
          <a:xfrm>
            <a:off x="714375" y="3357563"/>
            <a:ext cx="7572375" cy="35004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6804025" y="692150"/>
            <a:ext cx="1223963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555875" y="1196975"/>
            <a:ext cx="12954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79788" y="5805488"/>
            <a:ext cx="1912938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84663" y="6308725"/>
            <a:ext cx="223202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2" name="Picture 2"/>
          <p:cNvPicPr>
            <a:picLocks noChangeAspect="1"/>
          </p:cNvPicPr>
          <p:nvPr/>
        </p:nvPicPr>
        <p:blipFill>
          <a:blip r:embed="rId1"/>
          <a:srcRect l="10156" t="27351" r="7813" b="47456"/>
          <a:stretch>
            <a:fillRect/>
          </a:stretch>
        </p:blipFill>
        <p:spPr>
          <a:xfrm>
            <a:off x="857250" y="214313"/>
            <a:ext cx="7500938" cy="2500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Picture 3"/>
          <p:cNvPicPr>
            <a:picLocks noChangeAspect="1"/>
          </p:cNvPicPr>
          <p:nvPr/>
        </p:nvPicPr>
        <p:blipFill>
          <a:blip r:embed="rId2"/>
          <a:srcRect l="16406" t="21210" r="17188" b="33446"/>
          <a:stretch>
            <a:fillRect/>
          </a:stretch>
        </p:blipFill>
        <p:spPr>
          <a:xfrm>
            <a:off x="1714500" y="2714625"/>
            <a:ext cx="5529263" cy="409733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5857875" y="1785938"/>
            <a:ext cx="242887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6" name="Picture 2"/>
          <p:cNvPicPr>
            <a:picLocks noChangeAspect="1"/>
          </p:cNvPicPr>
          <p:nvPr/>
        </p:nvPicPr>
        <p:blipFill>
          <a:blip r:embed="rId1"/>
          <a:srcRect l="9375" t="23033" r="7813" b="48177"/>
          <a:stretch>
            <a:fillRect/>
          </a:stretch>
        </p:blipFill>
        <p:spPr>
          <a:xfrm>
            <a:off x="428625" y="1000125"/>
            <a:ext cx="8329613" cy="31432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1000125" y="3143250"/>
            <a:ext cx="700087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19250" y="3644900"/>
            <a:ext cx="1728788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40" name="Picture 3"/>
          <p:cNvPicPr>
            <a:picLocks noChangeAspect="1"/>
          </p:cNvPicPr>
          <p:nvPr/>
        </p:nvPicPr>
        <p:blipFill>
          <a:blip r:embed="rId1"/>
          <a:srcRect l="10156" t="26967" r="6250" b="32005"/>
          <a:stretch>
            <a:fillRect/>
          </a:stretch>
        </p:blipFill>
        <p:spPr>
          <a:xfrm>
            <a:off x="428625" y="1000125"/>
            <a:ext cx="7912100" cy="42148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3916363" y="1412875"/>
            <a:ext cx="12319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4" name="Picture 2"/>
          <p:cNvPicPr>
            <a:picLocks noChangeAspect="1"/>
          </p:cNvPicPr>
          <p:nvPr/>
        </p:nvPicPr>
        <p:blipFill>
          <a:blip r:embed="rId1"/>
          <a:srcRect l="7031" t="33109" r="8594" b="22984"/>
          <a:stretch>
            <a:fillRect/>
          </a:stretch>
        </p:blipFill>
        <p:spPr>
          <a:xfrm>
            <a:off x="285750" y="785813"/>
            <a:ext cx="8347075" cy="4714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2071688" y="3286125"/>
            <a:ext cx="1928813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076825" y="1743075"/>
            <a:ext cx="223202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388" name="Picture 2"/>
          <p:cNvPicPr>
            <a:picLocks noChangeAspect="1"/>
          </p:cNvPicPr>
          <p:nvPr/>
        </p:nvPicPr>
        <p:blipFill>
          <a:blip r:embed="rId1"/>
          <a:srcRect l="7813" t="27351" r="9375" b="30902"/>
          <a:stretch>
            <a:fillRect/>
          </a:stretch>
        </p:blipFill>
        <p:spPr>
          <a:xfrm>
            <a:off x="285750" y="785813"/>
            <a:ext cx="861695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2" name="Picture 2"/>
          <p:cNvPicPr>
            <a:picLocks noChangeAspect="1"/>
          </p:cNvPicPr>
          <p:nvPr/>
        </p:nvPicPr>
        <p:blipFill>
          <a:blip r:embed="rId1"/>
          <a:srcRect l="6250" t="25912" r="7031" b="37379"/>
          <a:stretch>
            <a:fillRect/>
          </a:stretch>
        </p:blipFill>
        <p:spPr>
          <a:xfrm>
            <a:off x="714375" y="0"/>
            <a:ext cx="7643813" cy="3511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Picture 3"/>
          <p:cNvPicPr>
            <a:picLocks noChangeAspect="1"/>
          </p:cNvPicPr>
          <p:nvPr/>
        </p:nvPicPr>
        <p:blipFill>
          <a:blip r:embed="rId2"/>
          <a:srcRect l="5469" t="37428" r="7813" b="30902"/>
          <a:stretch>
            <a:fillRect/>
          </a:stretch>
        </p:blipFill>
        <p:spPr>
          <a:xfrm>
            <a:off x="500063" y="3643313"/>
            <a:ext cx="7929562" cy="314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3"/>
          <p:cNvPicPr>
            <a:picLocks noChangeAspect="1"/>
          </p:cNvPicPr>
          <p:nvPr/>
        </p:nvPicPr>
        <p:blipFill>
          <a:blip r:embed="rId3"/>
          <a:srcRect l="16406" t="25952" r="63002" b="44009"/>
          <a:stretch>
            <a:fillRect/>
          </a:stretch>
        </p:blipFill>
        <p:spPr>
          <a:xfrm>
            <a:off x="4552950" y="4572000"/>
            <a:ext cx="1444625" cy="2286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3500438" y="1928813"/>
            <a:ext cx="2571750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6" name="Picture 3"/>
          <p:cNvPicPr>
            <a:picLocks noChangeAspect="1"/>
          </p:cNvPicPr>
          <p:nvPr/>
        </p:nvPicPr>
        <p:blipFill>
          <a:blip r:embed="rId1"/>
          <a:srcRect l="5469" t="24088" r="7031" b="29128"/>
          <a:stretch>
            <a:fillRect/>
          </a:stretch>
        </p:blipFill>
        <p:spPr>
          <a:xfrm>
            <a:off x="357188" y="571500"/>
            <a:ext cx="8493125" cy="492918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1500188" y="1643063"/>
            <a:ext cx="3357563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460" name="Picture 2"/>
          <p:cNvPicPr>
            <a:picLocks noChangeAspect="1"/>
          </p:cNvPicPr>
          <p:nvPr/>
        </p:nvPicPr>
        <p:blipFill>
          <a:blip r:embed="rId1"/>
          <a:srcRect l="6250" t="33829" r="7813" b="30902"/>
          <a:stretch>
            <a:fillRect/>
          </a:stretch>
        </p:blipFill>
        <p:spPr>
          <a:xfrm>
            <a:off x="428625" y="1000125"/>
            <a:ext cx="8339138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484" name="Picture 2"/>
          <p:cNvPicPr>
            <a:picLocks noChangeAspect="1"/>
          </p:cNvPicPr>
          <p:nvPr/>
        </p:nvPicPr>
        <p:blipFill>
          <a:blip r:embed="rId1"/>
          <a:srcRect l="6250" t="32390" r="8594" b="22984"/>
          <a:stretch>
            <a:fillRect/>
          </a:stretch>
        </p:blipFill>
        <p:spPr>
          <a:xfrm>
            <a:off x="428625" y="714375"/>
            <a:ext cx="8288338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508" name="Picture 2"/>
          <p:cNvPicPr>
            <a:picLocks noChangeAspect="1"/>
          </p:cNvPicPr>
          <p:nvPr/>
        </p:nvPicPr>
        <p:blipFill>
          <a:blip r:embed="rId1"/>
          <a:srcRect l="9375" t="29510" r="7813" b="25143"/>
          <a:stretch>
            <a:fillRect/>
          </a:stretch>
        </p:blipFill>
        <p:spPr>
          <a:xfrm>
            <a:off x="428625" y="571500"/>
            <a:ext cx="8293100" cy="4929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1"/>
          <a:srcRect l="7031" t="17995" r="7813" b="43858"/>
          <a:stretch>
            <a:fillRect/>
          </a:stretch>
        </p:blipFill>
        <p:spPr>
          <a:xfrm>
            <a:off x="500063" y="857250"/>
            <a:ext cx="8374062" cy="407193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1535113" y="3035300"/>
            <a:ext cx="435768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3556" name="Picture 2"/>
          <p:cNvPicPr>
            <a:picLocks noChangeAspect="1"/>
          </p:cNvPicPr>
          <p:nvPr/>
        </p:nvPicPr>
        <p:blipFill>
          <a:blip r:embed="rId1"/>
          <a:srcRect l="5469" t="15836" r="8594" b="25143"/>
          <a:stretch>
            <a:fillRect/>
          </a:stretch>
        </p:blipFill>
        <p:spPr>
          <a:xfrm>
            <a:off x="428625" y="357188"/>
            <a:ext cx="7858125" cy="585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580" name="Picture 2"/>
          <p:cNvPicPr>
            <a:picLocks noChangeAspect="1"/>
          </p:cNvPicPr>
          <p:nvPr/>
        </p:nvPicPr>
        <p:blipFill>
          <a:blip r:embed="rId1"/>
          <a:srcRect l="6250" t="24472" r="6250" b="19385"/>
          <a:stretch>
            <a:fillRect/>
          </a:stretch>
        </p:blipFill>
        <p:spPr>
          <a:xfrm>
            <a:off x="357188" y="428625"/>
            <a:ext cx="8410575" cy="5857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7000875" y="3214688"/>
            <a:ext cx="150018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072438" y="5286375"/>
            <a:ext cx="64293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85813" y="5786438"/>
            <a:ext cx="64293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4" name="Picture 2"/>
          <p:cNvPicPr>
            <a:picLocks noChangeAspect="1"/>
          </p:cNvPicPr>
          <p:nvPr/>
        </p:nvPicPr>
        <p:blipFill>
          <a:blip r:embed="rId1"/>
          <a:srcRect l="5469" t="36708" r="8594" b="27303"/>
          <a:stretch>
            <a:fillRect/>
          </a:stretch>
        </p:blipFill>
        <p:spPr>
          <a:xfrm>
            <a:off x="428625" y="0"/>
            <a:ext cx="7858125" cy="3571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3"/>
          <p:cNvPicPr>
            <a:picLocks noChangeAspect="1"/>
          </p:cNvPicPr>
          <p:nvPr/>
        </p:nvPicPr>
        <p:blipFill>
          <a:blip r:embed="rId2"/>
          <a:srcRect l="6250" t="34885" r="7813" b="29126"/>
          <a:stretch>
            <a:fillRect/>
          </a:stretch>
        </p:blipFill>
        <p:spPr>
          <a:xfrm>
            <a:off x="1143000" y="3571875"/>
            <a:ext cx="7072313" cy="321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6628" name="Picture 2"/>
          <p:cNvPicPr>
            <a:picLocks noChangeAspect="1"/>
          </p:cNvPicPr>
          <p:nvPr/>
        </p:nvPicPr>
        <p:blipFill>
          <a:blip r:embed="rId1"/>
          <a:srcRect l="7813" t="39587" r="7813" b="22984"/>
          <a:stretch>
            <a:fillRect/>
          </a:stretch>
        </p:blipFill>
        <p:spPr>
          <a:xfrm>
            <a:off x="214313" y="1071563"/>
            <a:ext cx="8308975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/>
          <p:nvPr/>
        </p:nvSpPr>
        <p:spPr>
          <a:xfrm>
            <a:off x="381000" y="142875"/>
            <a:ext cx="83820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下表为三地址码的一个集合。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x[i]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表示对数组元素的引用，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分别表示取数组元素的值和向数组元素赋值；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借用了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C/C++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的语法和语义，分别表示了对地址和指针的引用形式的取值和赋值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1" name="Group 3"/>
          <p:cNvGrpSpPr/>
          <p:nvPr/>
        </p:nvGrpSpPr>
        <p:grpSpPr>
          <a:xfrm>
            <a:off x="533400" y="1295400"/>
            <a:ext cx="8077200" cy="4876800"/>
            <a:chOff x="-3" y="400"/>
            <a:chExt cx="3478" cy="5766"/>
          </a:xfrm>
        </p:grpSpPr>
        <p:grpSp>
          <p:nvGrpSpPr>
            <p:cNvPr id="27654" name="Group 4"/>
            <p:cNvGrpSpPr/>
            <p:nvPr/>
          </p:nvGrpSpPr>
          <p:grpSpPr>
            <a:xfrm>
              <a:off x="0" y="403"/>
              <a:ext cx="3472" cy="5760"/>
              <a:chOff x="0" y="403"/>
              <a:chExt cx="3472" cy="5760"/>
            </a:xfrm>
          </p:grpSpPr>
          <p:grpSp>
            <p:nvGrpSpPr>
              <p:cNvPr id="27656" name="Group 5"/>
              <p:cNvGrpSpPr/>
              <p:nvPr/>
            </p:nvGrpSpPr>
            <p:grpSpPr>
              <a:xfrm>
                <a:off x="0" y="403"/>
                <a:ext cx="464" cy="384"/>
                <a:chOff x="0" y="403"/>
                <a:chExt cx="464" cy="384"/>
              </a:xfrm>
            </p:grpSpPr>
            <p:sp>
              <p:nvSpPr>
                <p:cNvPr id="27789" name="Rectangle 6"/>
                <p:cNvSpPr/>
                <p:nvPr/>
              </p:nvSpPr>
              <p:spPr>
                <a:xfrm>
                  <a:off x="43" y="403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序 号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90" name="Rectangle 7"/>
                <p:cNvSpPr/>
                <p:nvPr/>
              </p:nvSpPr>
              <p:spPr>
                <a:xfrm>
                  <a:off x="0" y="403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57" name="Group 8"/>
              <p:cNvGrpSpPr/>
              <p:nvPr/>
            </p:nvGrpSpPr>
            <p:grpSpPr>
              <a:xfrm>
                <a:off x="464" y="403"/>
                <a:ext cx="1494" cy="384"/>
                <a:chOff x="464" y="403"/>
                <a:chExt cx="1494" cy="384"/>
              </a:xfrm>
            </p:grpSpPr>
            <p:sp>
              <p:nvSpPr>
                <p:cNvPr id="27787" name="Rectangle 9"/>
                <p:cNvSpPr/>
                <p:nvPr/>
              </p:nvSpPr>
              <p:spPr>
                <a:xfrm>
                  <a:off x="507" y="403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三 地 址 码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88" name="Rectangle 10"/>
                <p:cNvSpPr/>
                <p:nvPr/>
              </p:nvSpPr>
              <p:spPr>
                <a:xfrm>
                  <a:off x="464" y="403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58" name="Group 11"/>
              <p:cNvGrpSpPr/>
              <p:nvPr/>
            </p:nvGrpSpPr>
            <p:grpSpPr>
              <a:xfrm>
                <a:off x="1958" y="403"/>
                <a:ext cx="1514" cy="384"/>
                <a:chOff x="1958" y="403"/>
                <a:chExt cx="1514" cy="384"/>
              </a:xfrm>
            </p:grpSpPr>
            <p:sp>
              <p:nvSpPr>
                <p:cNvPr id="27785" name="Rectangle 12"/>
                <p:cNvSpPr/>
                <p:nvPr/>
              </p:nvSpPr>
              <p:spPr>
                <a:xfrm>
                  <a:off x="2001" y="403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四 元 式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86" name="Rectangle 13"/>
                <p:cNvSpPr/>
                <p:nvPr/>
              </p:nvSpPr>
              <p:spPr>
                <a:xfrm>
                  <a:off x="1958" y="403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59" name="Group 14"/>
              <p:cNvGrpSpPr/>
              <p:nvPr/>
            </p:nvGrpSpPr>
            <p:grpSpPr>
              <a:xfrm>
                <a:off x="0" y="787"/>
                <a:ext cx="464" cy="384"/>
                <a:chOff x="0" y="787"/>
                <a:chExt cx="464" cy="384"/>
              </a:xfrm>
            </p:grpSpPr>
            <p:sp>
              <p:nvSpPr>
                <p:cNvPr id="27783" name="Rectangle 15"/>
                <p:cNvSpPr/>
                <p:nvPr/>
              </p:nvSpPr>
              <p:spPr>
                <a:xfrm>
                  <a:off x="43" y="787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84" name="Rectangle 16"/>
                <p:cNvSpPr/>
                <p:nvPr/>
              </p:nvSpPr>
              <p:spPr>
                <a:xfrm>
                  <a:off x="0" y="787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0" name="Group 17"/>
              <p:cNvGrpSpPr/>
              <p:nvPr/>
            </p:nvGrpSpPr>
            <p:grpSpPr>
              <a:xfrm>
                <a:off x="464" y="787"/>
                <a:ext cx="1494" cy="384"/>
                <a:chOff x="464" y="787"/>
                <a:chExt cx="1494" cy="384"/>
              </a:xfrm>
            </p:grpSpPr>
            <p:sp>
              <p:nvSpPr>
                <p:cNvPr id="27781" name="Rectangle 18"/>
                <p:cNvSpPr/>
                <p:nvPr/>
              </p:nvSpPr>
              <p:spPr>
                <a:xfrm>
                  <a:off x="507" y="787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y op z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82" name="Rectangle 19"/>
                <p:cNvSpPr/>
                <p:nvPr/>
              </p:nvSpPr>
              <p:spPr>
                <a:xfrm>
                  <a:off x="464" y="787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1" name="Group 20"/>
              <p:cNvGrpSpPr/>
              <p:nvPr/>
            </p:nvGrpSpPr>
            <p:grpSpPr>
              <a:xfrm>
                <a:off x="1958" y="787"/>
                <a:ext cx="1514" cy="384"/>
                <a:chOff x="1958" y="787"/>
                <a:chExt cx="1514" cy="384"/>
              </a:xfrm>
            </p:grpSpPr>
            <p:sp>
              <p:nvSpPr>
                <p:cNvPr id="27779" name="Rectangle 21"/>
                <p:cNvSpPr/>
                <p:nvPr/>
              </p:nvSpPr>
              <p:spPr>
                <a:xfrm>
                  <a:off x="2001" y="787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(op, y, z, x)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80" name="Rectangle 22"/>
                <p:cNvSpPr/>
                <p:nvPr/>
              </p:nvSpPr>
              <p:spPr>
                <a:xfrm>
                  <a:off x="1958" y="787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2" name="Group 23"/>
              <p:cNvGrpSpPr/>
              <p:nvPr/>
            </p:nvGrpSpPr>
            <p:grpSpPr>
              <a:xfrm>
                <a:off x="0" y="1171"/>
                <a:ext cx="464" cy="384"/>
                <a:chOff x="0" y="1171"/>
                <a:chExt cx="464" cy="384"/>
              </a:xfrm>
            </p:grpSpPr>
            <p:sp>
              <p:nvSpPr>
                <p:cNvPr id="27777" name="Rectangle 24"/>
                <p:cNvSpPr/>
                <p:nvPr/>
              </p:nvSpPr>
              <p:spPr>
                <a:xfrm>
                  <a:off x="43" y="1171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78" name="Rectangle 25"/>
                <p:cNvSpPr/>
                <p:nvPr/>
              </p:nvSpPr>
              <p:spPr>
                <a:xfrm>
                  <a:off x="0" y="1171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3" name="Group 26"/>
              <p:cNvGrpSpPr/>
              <p:nvPr/>
            </p:nvGrpSpPr>
            <p:grpSpPr>
              <a:xfrm>
                <a:off x="464" y="1171"/>
                <a:ext cx="1494" cy="384"/>
                <a:chOff x="464" y="1171"/>
                <a:chExt cx="1494" cy="384"/>
              </a:xfrm>
            </p:grpSpPr>
            <p:sp>
              <p:nvSpPr>
                <p:cNvPr id="27775" name="Rectangle 27"/>
                <p:cNvSpPr/>
                <p:nvPr/>
              </p:nvSpPr>
              <p:spPr>
                <a:xfrm>
                  <a:off x="507" y="1171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op 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76" name="Rectangle 28"/>
                <p:cNvSpPr/>
                <p:nvPr/>
              </p:nvSpPr>
              <p:spPr>
                <a:xfrm>
                  <a:off x="464" y="1171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4" name="Group 29"/>
              <p:cNvGrpSpPr/>
              <p:nvPr/>
            </p:nvGrpSpPr>
            <p:grpSpPr>
              <a:xfrm>
                <a:off x="1958" y="1171"/>
                <a:ext cx="1514" cy="384"/>
                <a:chOff x="1958" y="1171"/>
                <a:chExt cx="1514" cy="384"/>
              </a:xfrm>
            </p:grpSpPr>
            <p:sp>
              <p:nvSpPr>
                <p:cNvPr id="27773" name="Rectangle 30"/>
                <p:cNvSpPr/>
                <p:nvPr/>
              </p:nvSpPr>
              <p:spPr>
                <a:xfrm>
                  <a:off x="2001" y="1171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(op, y, x,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74" name="Rectangle 31"/>
                <p:cNvSpPr/>
                <p:nvPr/>
              </p:nvSpPr>
              <p:spPr>
                <a:xfrm>
                  <a:off x="1958" y="1171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5" name="Group 32"/>
              <p:cNvGrpSpPr/>
              <p:nvPr/>
            </p:nvGrpSpPr>
            <p:grpSpPr>
              <a:xfrm>
                <a:off x="0" y="1555"/>
                <a:ext cx="464" cy="384"/>
                <a:chOff x="0" y="1555"/>
                <a:chExt cx="464" cy="384"/>
              </a:xfrm>
            </p:grpSpPr>
            <p:sp>
              <p:nvSpPr>
                <p:cNvPr id="27771" name="Rectangle 33"/>
                <p:cNvSpPr/>
                <p:nvPr/>
              </p:nvSpPr>
              <p:spPr>
                <a:xfrm>
                  <a:off x="43" y="1555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72" name="Rectangle 34"/>
                <p:cNvSpPr/>
                <p:nvPr/>
              </p:nvSpPr>
              <p:spPr>
                <a:xfrm>
                  <a:off x="0" y="1555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6" name="Group 35"/>
              <p:cNvGrpSpPr/>
              <p:nvPr/>
            </p:nvGrpSpPr>
            <p:grpSpPr>
              <a:xfrm>
                <a:off x="464" y="1555"/>
                <a:ext cx="1494" cy="384"/>
                <a:chOff x="464" y="1555"/>
                <a:chExt cx="1494" cy="384"/>
              </a:xfrm>
            </p:grpSpPr>
            <p:sp>
              <p:nvSpPr>
                <p:cNvPr id="27769" name="Rectangle 36"/>
                <p:cNvSpPr/>
                <p:nvPr/>
              </p:nvSpPr>
              <p:spPr>
                <a:xfrm>
                  <a:off x="507" y="1555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70" name="Rectangle 37"/>
                <p:cNvSpPr/>
                <p:nvPr/>
              </p:nvSpPr>
              <p:spPr>
                <a:xfrm>
                  <a:off x="464" y="1555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7" name="Group 38"/>
              <p:cNvGrpSpPr/>
              <p:nvPr/>
            </p:nvGrpSpPr>
            <p:grpSpPr>
              <a:xfrm>
                <a:off x="1958" y="1555"/>
                <a:ext cx="1514" cy="384"/>
                <a:chOff x="1958" y="1555"/>
                <a:chExt cx="1514" cy="384"/>
              </a:xfrm>
            </p:grpSpPr>
            <p:sp>
              <p:nvSpPr>
                <p:cNvPr id="27767" name="Rectangle 39"/>
                <p:cNvSpPr/>
                <p:nvPr/>
              </p:nvSpPr>
              <p:spPr>
                <a:xfrm>
                  <a:off x="2001" y="1555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(:=, y, x,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68" name="Rectangle 40"/>
                <p:cNvSpPr/>
                <p:nvPr/>
              </p:nvSpPr>
              <p:spPr>
                <a:xfrm>
                  <a:off x="1958" y="1555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8" name="Group 41"/>
              <p:cNvGrpSpPr/>
              <p:nvPr/>
            </p:nvGrpSpPr>
            <p:grpSpPr>
              <a:xfrm>
                <a:off x="0" y="1939"/>
                <a:ext cx="464" cy="384"/>
                <a:chOff x="0" y="1939"/>
                <a:chExt cx="464" cy="384"/>
              </a:xfrm>
            </p:grpSpPr>
            <p:sp>
              <p:nvSpPr>
                <p:cNvPr id="27765" name="Rectangle 42"/>
                <p:cNvSpPr/>
                <p:nvPr/>
              </p:nvSpPr>
              <p:spPr>
                <a:xfrm>
                  <a:off x="43" y="1939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66" name="Rectangle 43"/>
                <p:cNvSpPr/>
                <p:nvPr/>
              </p:nvSpPr>
              <p:spPr>
                <a:xfrm>
                  <a:off x="0" y="1939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69" name="Group 44"/>
              <p:cNvGrpSpPr/>
              <p:nvPr/>
            </p:nvGrpSpPr>
            <p:grpSpPr>
              <a:xfrm>
                <a:off x="464" y="1939"/>
                <a:ext cx="1494" cy="384"/>
                <a:chOff x="464" y="1939"/>
                <a:chExt cx="1494" cy="384"/>
              </a:xfrm>
            </p:grpSpPr>
            <p:sp>
              <p:nvSpPr>
                <p:cNvPr id="27763" name="Rectangle 45"/>
                <p:cNvSpPr/>
                <p:nvPr/>
              </p:nvSpPr>
              <p:spPr>
                <a:xfrm>
                  <a:off x="507" y="1939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goto L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64" name="Rectangle 46"/>
                <p:cNvSpPr/>
                <p:nvPr/>
              </p:nvSpPr>
              <p:spPr>
                <a:xfrm>
                  <a:off x="464" y="1939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0" name="Group 47"/>
              <p:cNvGrpSpPr/>
              <p:nvPr/>
            </p:nvGrpSpPr>
            <p:grpSpPr>
              <a:xfrm>
                <a:off x="1958" y="1939"/>
                <a:ext cx="1514" cy="384"/>
                <a:chOff x="1958" y="1939"/>
                <a:chExt cx="1514" cy="384"/>
              </a:xfrm>
            </p:grpSpPr>
            <p:sp>
              <p:nvSpPr>
                <p:cNvPr id="27761" name="Rectangle 48"/>
                <p:cNvSpPr/>
                <p:nvPr/>
              </p:nvSpPr>
              <p:spPr>
                <a:xfrm>
                  <a:off x="2001" y="1939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(j, L,_ ,_)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62" name="Rectangle 49"/>
                <p:cNvSpPr/>
                <p:nvPr/>
              </p:nvSpPr>
              <p:spPr>
                <a:xfrm>
                  <a:off x="1958" y="1939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1" name="Group 50"/>
              <p:cNvGrpSpPr/>
              <p:nvPr/>
            </p:nvGrpSpPr>
            <p:grpSpPr>
              <a:xfrm>
                <a:off x="0" y="2323"/>
                <a:ext cx="464" cy="384"/>
                <a:chOff x="0" y="2323"/>
                <a:chExt cx="464" cy="384"/>
              </a:xfrm>
            </p:grpSpPr>
            <p:sp>
              <p:nvSpPr>
                <p:cNvPr id="27759" name="Rectangle 51"/>
                <p:cNvSpPr/>
                <p:nvPr/>
              </p:nvSpPr>
              <p:spPr>
                <a:xfrm>
                  <a:off x="43" y="2323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60" name="Rectangle 52"/>
                <p:cNvSpPr/>
                <p:nvPr/>
              </p:nvSpPr>
              <p:spPr>
                <a:xfrm>
                  <a:off x="0" y="2323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2" name="Group 53"/>
              <p:cNvGrpSpPr/>
              <p:nvPr/>
            </p:nvGrpSpPr>
            <p:grpSpPr>
              <a:xfrm>
                <a:off x="464" y="2323"/>
                <a:ext cx="1494" cy="384"/>
                <a:chOff x="464" y="2323"/>
                <a:chExt cx="1494" cy="384"/>
              </a:xfrm>
            </p:grpSpPr>
            <p:sp>
              <p:nvSpPr>
                <p:cNvPr id="27757" name="Rectangle 54"/>
                <p:cNvSpPr/>
                <p:nvPr/>
              </p:nvSpPr>
              <p:spPr>
                <a:xfrm>
                  <a:off x="507" y="2323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if x goto L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58" name="Rectangle 55"/>
                <p:cNvSpPr/>
                <p:nvPr/>
              </p:nvSpPr>
              <p:spPr>
                <a:xfrm>
                  <a:off x="464" y="2323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3" name="Group 56"/>
              <p:cNvGrpSpPr/>
              <p:nvPr/>
            </p:nvGrpSpPr>
            <p:grpSpPr>
              <a:xfrm>
                <a:off x="1958" y="2323"/>
                <a:ext cx="1514" cy="384"/>
                <a:chOff x="1958" y="2323"/>
                <a:chExt cx="1514" cy="384"/>
              </a:xfrm>
            </p:grpSpPr>
            <p:sp>
              <p:nvSpPr>
                <p:cNvPr id="27755" name="Rectangle 57"/>
                <p:cNvSpPr/>
                <p:nvPr/>
              </p:nvSpPr>
              <p:spPr>
                <a:xfrm>
                  <a:off x="2001" y="2323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(jnz, x, L, _)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56" name="Rectangle 58"/>
                <p:cNvSpPr/>
                <p:nvPr/>
              </p:nvSpPr>
              <p:spPr>
                <a:xfrm>
                  <a:off x="1958" y="2323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4" name="Group 59"/>
              <p:cNvGrpSpPr/>
              <p:nvPr/>
            </p:nvGrpSpPr>
            <p:grpSpPr>
              <a:xfrm>
                <a:off x="0" y="2707"/>
                <a:ext cx="464" cy="384"/>
                <a:chOff x="0" y="2707"/>
                <a:chExt cx="464" cy="384"/>
              </a:xfrm>
            </p:grpSpPr>
            <p:sp>
              <p:nvSpPr>
                <p:cNvPr id="27753" name="Rectangle 60"/>
                <p:cNvSpPr/>
                <p:nvPr/>
              </p:nvSpPr>
              <p:spPr>
                <a:xfrm>
                  <a:off x="43" y="2707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r>
                    <a:rPr lang="zh-CN" altLang="en-US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54" name="Rectangle 61"/>
                <p:cNvSpPr/>
                <p:nvPr/>
              </p:nvSpPr>
              <p:spPr>
                <a:xfrm>
                  <a:off x="0" y="2707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5" name="Group 62"/>
              <p:cNvGrpSpPr/>
              <p:nvPr/>
            </p:nvGrpSpPr>
            <p:grpSpPr>
              <a:xfrm>
                <a:off x="464" y="2707"/>
                <a:ext cx="1494" cy="384"/>
                <a:chOff x="464" y="2707"/>
                <a:chExt cx="1494" cy="384"/>
              </a:xfrm>
            </p:grpSpPr>
            <p:sp>
              <p:nvSpPr>
                <p:cNvPr id="27751" name="Rectangle 63"/>
                <p:cNvSpPr/>
                <p:nvPr/>
              </p:nvSpPr>
              <p:spPr>
                <a:xfrm>
                  <a:off x="507" y="2707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if x relop y goto L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52" name="Rectangle 64"/>
                <p:cNvSpPr/>
                <p:nvPr/>
              </p:nvSpPr>
              <p:spPr>
                <a:xfrm>
                  <a:off x="464" y="2707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6" name="Group 65"/>
              <p:cNvGrpSpPr/>
              <p:nvPr/>
            </p:nvGrpSpPr>
            <p:grpSpPr>
              <a:xfrm>
                <a:off x="1958" y="2707"/>
                <a:ext cx="1514" cy="384"/>
                <a:chOff x="1958" y="2707"/>
                <a:chExt cx="1514" cy="384"/>
              </a:xfrm>
            </p:grpSpPr>
            <p:sp>
              <p:nvSpPr>
                <p:cNvPr id="27749" name="Rectangle 66"/>
                <p:cNvSpPr/>
                <p:nvPr/>
              </p:nvSpPr>
              <p:spPr>
                <a:xfrm>
                  <a:off x="2001" y="2707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(jrelop, x, y, L)</a:t>
                  </a:r>
                  <a:endPara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50" name="Rectangle 67"/>
                <p:cNvSpPr/>
                <p:nvPr/>
              </p:nvSpPr>
              <p:spPr>
                <a:xfrm>
                  <a:off x="1958" y="2707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7" name="Group 68"/>
              <p:cNvGrpSpPr/>
              <p:nvPr/>
            </p:nvGrpSpPr>
            <p:grpSpPr>
              <a:xfrm>
                <a:off x="0" y="3091"/>
                <a:ext cx="464" cy="384"/>
                <a:chOff x="0" y="3091"/>
                <a:chExt cx="464" cy="384"/>
              </a:xfrm>
            </p:grpSpPr>
            <p:sp>
              <p:nvSpPr>
                <p:cNvPr id="27747" name="Rectangle 69"/>
                <p:cNvSpPr/>
                <p:nvPr/>
              </p:nvSpPr>
              <p:spPr>
                <a:xfrm>
                  <a:off x="43" y="3091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7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48" name="Rectangle 70"/>
                <p:cNvSpPr/>
                <p:nvPr/>
              </p:nvSpPr>
              <p:spPr>
                <a:xfrm>
                  <a:off x="0" y="3091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8" name="Group 71"/>
              <p:cNvGrpSpPr/>
              <p:nvPr/>
            </p:nvGrpSpPr>
            <p:grpSpPr>
              <a:xfrm>
                <a:off x="464" y="3091"/>
                <a:ext cx="1494" cy="384"/>
                <a:chOff x="464" y="3091"/>
                <a:chExt cx="1494" cy="384"/>
              </a:xfrm>
            </p:grpSpPr>
            <p:sp>
              <p:nvSpPr>
                <p:cNvPr id="27745" name="Rectangle 72"/>
                <p:cNvSpPr/>
                <p:nvPr/>
              </p:nvSpPr>
              <p:spPr>
                <a:xfrm>
                  <a:off x="507" y="3091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param x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46" name="Rectangle 73"/>
                <p:cNvSpPr/>
                <p:nvPr/>
              </p:nvSpPr>
              <p:spPr>
                <a:xfrm>
                  <a:off x="464" y="3091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79" name="Group 74"/>
              <p:cNvGrpSpPr/>
              <p:nvPr/>
            </p:nvGrpSpPr>
            <p:grpSpPr>
              <a:xfrm>
                <a:off x="1958" y="3091"/>
                <a:ext cx="1514" cy="384"/>
                <a:chOff x="1958" y="3091"/>
                <a:chExt cx="1514" cy="384"/>
              </a:xfrm>
            </p:grpSpPr>
            <p:sp>
              <p:nvSpPr>
                <p:cNvPr id="27743" name="Rectangle 75"/>
                <p:cNvSpPr/>
                <p:nvPr/>
              </p:nvSpPr>
              <p:spPr>
                <a:xfrm>
                  <a:off x="2001" y="3091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(param, x, _, _ 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44" name="Rectangle 76"/>
                <p:cNvSpPr/>
                <p:nvPr/>
              </p:nvSpPr>
              <p:spPr>
                <a:xfrm>
                  <a:off x="1958" y="3091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0" name="Group 77"/>
              <p:cNvGrpSpPr/>
              <p:nvPr/>
            </p:nvGrpSpPr>
            <p:grpSpPr>
              <a:xfrm>
                <a:off x="0" y="3475"/>
                <a:ext cx="464" cy="384"/>
                <a:chOff x="0" y="3475"/>
                <a:chExt cx="464" cy="384"/>
              </a:xfrm>
            </p:grpSpPr>
            <p:sp>
              <p:nvSpPr>
                <p:cNvPr id="27741" name="Rectangle 78"/>
                <p:cNvSpPr/>
                <p:nvPr/>
              </p:nvSpPr>
              <p:spPr>
                <a:xfrm>
                  <a:off x="43" y="3475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8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42" name="Rectangle 79"/>
                <p:cNvSpPr/>
                <p:nvPr/>
              </p:nvSpPr>
              <p:spPr>
                <a:xfrm>
                  <a:off x="0" y="3475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1" name="Group 80"/>
              <p:cNvGrpSpPr/>
              <p:nvPr/>
            </p:nvGrpSpPr>
            <p:grpSpPr>
              <a:xfrm>
                <a:off x="464" y="3475"/>
                <a:ext cx="1494" cy="384"/>
                <a:chOff x="464" y="3475"/>
                <a:chExt cx="1494" cy="384"/>
              </a:xfrm>
            </p:grpSpPr>
            <p:sp>
              <p:nvSpPr>
                <p:cNvPr id="27739" name="Rectangle 81"/>
                <p:cNvSpPr/>
                <p:nvPr/>
              </p:nvSpPr>
              <p:spPr>
                <a:xfrm>
                  <a:off x="507" y="3475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call n, P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40" name="Rectangle 82"/>
                <p:cNvSpPr/>
                <p:nvPr/>
              </p:nvSpPr>
              <p:spPr>
                <a:xfrm>
                  <a:off x="464" y="3475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2" name="Group 83"/>
              <p:cNvGrpSpPr/>
              <p:nvPr/>
            </p:nvGrpSpPr>
            <p:grpSpPr>
              <a:xfrm>
                <a:off x="1958" y="3475"/>
                <a:ext cx="1514" cy="384"/>
                <a:chOff x="1958" y="3475"/>
                <a:chExt cx="1514" cy="384"/>
              </a:xfrm>
            </p:grpSpPr>
            <p:sp>
              <p:nvSpPr>
                <p:cNvPr id="27737" name="Rectangle 84"/>
                <p:cNvSpPr/>
                <p:nvPr/>
              </p:nvSpPr>
              <p:spPr>
                <a:xfrm>
                  <a:off x="2001" y="3475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(call, n, P,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38" name="Rectangle 85"/>
                <p:cNvSpPr/>
                <p:nvPr/>
              </p:nvSpPr>
              <p:spPr>
                <a:xfrm>
                  <a:off x="1958" y="3475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3" name="Group 86"/>
              <p:cNvGrpSpPr/>
              <p:nvPr/>
            </p:nvGrpSpPr>
            <p:grpSpPr>
              <a:xfrm>
                <a:off x="0" y="3859"/>
                <a:ext cx="464" cy="384"/>
                <a:chOff x="0" y="3859"/>
                <a:chExt cx="464" cy="384"/>
              </a:xfrm>
            </p:grpSpPr>
            <p:sp>
              <p:nvSpPr>
                <p:cNvPr id="27735" name="Rectangle 87"/>
                <p:cNvSpPr/>
                <p:nvPr/>
              </p:nvSpPr>
              <p:spPr>
                <a:xfrm>
                  <a:off x="43" y="3859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9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36" name="Rectangle 88"/>
                <p:cNvSpPr/>
                <p:nvPr/>
              </p:nvSpPr>
              <p:spPr>
                <a:xfrm>
                  <a:off x="0" y="3859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4" name="Group 89"/>
              <p:cNvGrpSpPr/>
              <p:nvPr/>
            </p:nvGrpSpPr>
            <p:grpSpPr>
              <a:xfrm>
                <a:off x="464" y="3859"/>
                <a:ext cx="1494" cy="384"/>
                <a:chOff x="464" y="3859"/>
                <a:chExt cx="1494" cy="384"/>
              </a:xfrm>
            </p:grpSpPr>
            <p:sp>
              <p:nvSpPr>
                <p:cNvPr id="27733" name="Rectangle 90"/>
                <p:cNvSpPr/>
                <p:nvPr/>
              </p:nvSpPr>
              <p:spPr>
                <a:xfrm>
                  <a:off x="507" y="3859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return 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34" name="Rectangle 91"/>
                <p:cNvSpPr/>
                <p:nvPr/>
              </p:nvSpPr>
              <p:spPr>
                <a:xfrm>
                  <a:off x="464" y="3859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5" name="Group 92"/>
              <p:cNvGrpSpPr/>
              <p:nvPr/>
            </p:nvGrpSpPr>
            <p:grpSpPr>
              <a:xfrm>
                <a:off x="1958" y="3859"/>
                <a:ext cx="1514" cy="384"/>
                <a:chOff x="1958" y="3859"/>
                <a:chExt cx="1514" cy="384"/>
              </a:xfrm>
            </p:grpSpPr>
            <p:sp>
              <p:nvSpPr>
                <p:cNvPr id="27731" name="Rectangle 93"/>
                <p:cNvSpPr/>
                <p:nvPr/>
              </p:nvSpPr>
              <p:spPr>
                <a:xfrm>
                  <a:off x="2001" y="3859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(return, y, _ 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32" name="Rectangle 94"/>
                <p:cNvSpPr/>
                <p:nvPr/>
              </p:nvSpPr>
              <p:spPr>
                <a:xfrm>
                  <a:off x="1958" y="3859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6" name="Group 95"/>
              <p:cNvGrpSpPr/>
              <p:nvPr/>
            </p:nvGrpSpPr>
            <p:grpSpPr>
              <a:xfrm>
                <a:off x="0" y="4243"/>
                <a:ext cx="464" cy="384"/>
                <a:chOff x="0" y="4243"/>
                <a:chExt cx="464" cy="384"/>
              </a:xfrm>
            </p:grpSpPr>
            <p:sp>
              <p:nvSpPr>
                <p:cNvPr id="27729" name="Rectangle 96"/>
                <p:cNvSpPr/>
                <p:nvPr/>
              </p:nvSpPr>
              <p:spPr>
                <a:xfrm>
                  <a:off x="43" y="4243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10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30" name="Rectangle 97"/>
                <p:cNvSpPr/>
                <p:nvPr/>
              </p:nvSpPr>
              <p:spPr>
                <a:xfrm>
                  <a:off x="0" y="4243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7" name="Group 98"/>
              <p:cNvGrpSpPr/>
              <p:nvPr/>
            </p:nvGrpSpPr>
            <p:grpSpPr>
              <a:xfrm>
                <a:off x="464" y="4243"/>
                <a:ext cx="1494" cy="384"/>
                <a:chOff x="464" y="4243"/>
                <a:chExt cx="1494" cy="384"/>
              </a:xfrm>
            </p:grpSpPr>
            <p:sp>
              <p:nvSpPr>
                <p:cNvPr id="27727" name="Rectangle 99"/>
                <p:cNvSpPr/>
                <p:nvPr/>
              </p:nvSpPr>
              <p:spPr>
                <a:xfrm>
                  <a:off x="507" y="4243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y[i]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28" name="Rectangle 100"/>
                <p:cNvSpPr/>
                <p:nvPr/>
              </p:nvSpPr>
              <p:spPr>
                <a:xfrm>
                  <a:off x="464" y="4243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8" name="Group 101"/>
              <p:cNvGrpSpPr/>
              <p:nvPr/>
            </p:nvGrpSpPr>
            <p:grpSpPr>
              <a:xfrm>
                <a:off x="1958" y="4243"/>
                <a:ext cx="1514" cy="384"/>
                <a:chOff x="1958" y="4243"/>
                <a:chExt cx="1514" cy="384"/>
              </a:xfrm>
            </p:grpSpPr>
            <p:sp>
              <p:nvSpPr>
                <p:cNvPr id="27725" name="Rectangle 102"/>
                <p:cNvSpPr/>
                <p:nvPr/>
              </p:nvSpPr>
              <p:spPr>
                <a:xfrm>
                  <a:off x="2001" y="4243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(=[],  y[i], x,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26" name="Rectangle 103"/>
                <p:cNvSpPr/>
                <p:nvPr/>
              </p:nvSpPr>
              <p:spPr>
                <a:xfrm>
                  <a:off x="1958" y="4243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89" name="Group 104"/>
              <p:cNvGrpSpPr/>
              <p:nvPr/>
            </p:nvGrpSpPr>
            <p:grpSpPr>
              <a:xfrm>
                <a:off x="0" y="4627"/>
                <a:ext cx="464" cy="384"/>
                <a:chOff x="0" y="4627"/>
                <a:chExt cx="464" cy="384"/>
              </a:xfrm>
            </p:grpSpPr>
            <p:sp>
              <p:nvSpPr>
                <p:cNvPr id="27723" name="Rectangle 105"/>
                <p:cNvSpPr/>
                <p:nvPr/>
              </p:nvSpPr>
              <p:spPr>
                <a:xfrm>
                  <a:off x="43" y="4627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24" name="Rectangle 106"/>
                <p:cNvSpPr/>
                <p:nvPr/>
              </p:nvSpPr>
              <p:spPr>
                <a:xfrm>
                  <a:off x="0" y="4627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0" name="Group 107"/>
              <p:cNvGrpSpPr/>
              <p:nvPr/>
            </p:nvGrpSpPr>
            <p:grpSpPr>
              <a:xfrm>
                <a:off x="464" y="4627"/>
                <a:ext cx="1494" cy="384"/>
                <a:chOff x="464" y="4627"/>
                <a:chExt cx="1494" cy="384"/>
              </a:xfrm>
            </p:grpSpPr>
            <p:sp>
              <p:nvSpPr>
                <p:cNvPr id="27721" name="Rectangle 108"/>
                <p:cNvSpPr/>
                <p:nvPr/>
              </p:nvSpPr>
              <p:spPr>
                <a:xfrm>
                  <a:off x="507" y="4627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x[i] := 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22" name="Rectangle 109"/>
                <p:cNvSpPr/>
                <p:nvPr/>
              </p:nvSpPr>
              <p:spPr>
                <a:xfrm>
                  <a:off x="464" y="4627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1" name="Group 110"/>
              <p:cNvGrpSpPr/>
              <p:nvPr/>
            </p:nvGrpSpPr>
            <p:grpSpPr>
              <a:xfrm>
                <a:off x="1958" y="4627"/>
                <a:ext cx="1514" cy="384"/>
                <a:chOff x="1958" y="4627"/>
                <a:chExt cx="1514" cy="384"/>
              </a:xfrm>
            </p:grpSpPr>
            <p:sp>
              <p:nvSpPr>
                <p:cNvPr id="27719" name="Rectangle 111"/>
                <p:cNvSpPr/>
                <p:nvPr/>
              </p:nvSpPr>
              <p:spPr>
                <a:xfrm>
                  <a:off x="2001" y="4627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([]=,  y, x[i],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20" name="Rectangle 112"/>
                <p:cNvSpPr/>
                <p:nvPr/>
              </p:nvSpPr>
              <p:spPr>
                <a:xfrm>
                  <a:off x="1958" y="4627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2" name="Group 113"/>
              <p:cNvGrpSpPr/>
              <p:nvPr/>
            </p:nvGrpSpPr>
            <p:grpSpPr>
              <a:xfrm>
                <a:off x="0" y="5011"/>
                <a:ext cx="464" cy="384"/>
                <a:chOff x="0" y="5011"/>
                <a:chExt cx="464" cy="384"/>
              </a:xfrm>
            </p:grpSpPr>
            <p:sp>
              <p:nvSpPr>
                <p:cNvPr id="27717" name="Rectangle 114"/>
                <p:cNvSpPr/>
                <p:nvPr/>
              </p:nvSpPr>
              <p:spPr>
                <a:xfrm>
                  <a:off x="43" y="5011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12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18" name="Rectangle 115"/>
                <p:cNvSpPr/>
                <p:nvPr/>
              </p:nvSpPr>
              <p:spPr>
                <a:xfrm>
                  <a:off x="0" y="5011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3" name="Group 116"/>
              <p:cNvGrpSpPr/>
              <p:nvPr/>
            </p:nvGrpSpPr>
            <p:grpSpPr>
              <a:xfrm>
                <a:off x="464" y="5011"/>
                <a:ext cx="1494" cy="384"/>
                <a:chOff x="464" y="5011"/>
                <a:chExt cx="1494" cy="384"/>
              </a:xfrm>
            </p:grpSpPr>
            <p:sp>
              <p:nvSpPr>
                <p:cNvPr id="27715" name="Rectangle 117"/>
                <p:cNvSpPr/>
                <p:nvPr/>
              </p:nvSpPr>
              <p:spPr>
                <a:xfrm>
                  <a:off x="507" y="5011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&amp;y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16" name="Rectangle 118"/>
                <p:cNvSpPr/>
                <p:nvPr/>
              </p:nvSpPr>
              <p:spPr>
                <a:xfrm>
                  <a:off x="464" y="5011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4" name="Group 119"/>
              <p:cNvGrpSpPr/>
              <p:nvPr/>
            </p:nvGrpSpPr>
            <p:grpSpPr>
              <a:xfrm>
                <a:off x="1958" y="5011"/>
                <a:ext cx="1514" cy="384"/>
                <a:chOff x="1958" y="5011"/>
                <a:chExt cx="1514" cy="384"/>
              </a:xfrm>
            </p:grpSpPr>
            <p:sp>
              <p:nvSpPr>
                <p:cNvPr id="27713" name="Rectangle 120"/>
                <p:cNvSpPr/>
                <p:nvPr/>
              </p:nvSpPr>
              <p:spPr>
                <a:xfrm>
                  <a:off x="2001" y="5011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(=&amp;,   y, x, _)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14" name="Rectangle 121"/>
                <p:cNvSpPr/>
                <p:nvPr/>
              </p:nvSpPr>
              <p:spPr>
                <a:xfrm>
                  <a:off x="1958" y="5011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5" name="Group 122"/>
              <p:cNvGrpSpPr/>
              <p:nvPr/>
            </p:nvGrpSpPr>
            <p:grpSpPr>
              <a:xfrm>
                <a:off x="0" y="5395"/>
                <a:ext cx="464" cy="384"/>
                <a:chOff x="0" y="5395"/>
                <a:chExt cx="464" cy="384"/>
              </a:xfrm>
            </p:grpSpPr>
            <p:sp>
              <p:nvSpPr>
                <p:cNvPr id="27711" name="Rectangle 123"/>
                <p:cNvSpPr/>
                <p:nvPr/>
              </p:nvSpPr>
              <p:spPr>
                <a:xfrm>
                  <a:off x="43" y="5395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13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12" name="Rectangle 124"/>
                <p:cNvSpPr/>
                <p:nvPr/>
              </p:nvSpPr>
              <p:spPr>
                <a:xfrm>
                  <a:off x="0" y="5395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6" name="Group 125"/>
              <p:cNvGrpSpPr/>
              <p:nvPr/>
            </p:nvGrpSpPr>
            <p:grpSpPr>
              <a:xfrm>
                <a:off x="464" y="5395"/>
                <a:ext cx="1494" cy="384"/>
                <a:chOff x="464" y="5395"/>
                <a:chExt cx="1494" cy="384"/>
              </a:xfrm>
            </p:grpSpPr>
            <p:sp>
              <p:nvSpPr>
                <p:cNvPr id="27709" name="Rectangle 126"/>
                <p:cNvSpPr/>
                <p:nvPr/>
              </p:nvSpPr>
              <p:spPr>
                <a:xfrm>
                  <a:off x="507" y="5395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 := *y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10" name="Rectangle 127"/>
                <p:cNvSpPr/>
                <p:nvPr/>
              </p:nvSpPr>
              <p:spPr>
                <a:xfrm>
                  <a:off x="464" y="5395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7" name="Group 128"/>
              <p:cNvGrpSpPr/>
              <p:nvPr/>
            </p:nvGrpSpPr>
            <p:grpSpPr>
              <a:xfrm>
                <a:off x="1958" y="5395"/>
                <a:ext cx="1514" cy="384"/>
                <a:chOff x="1958" y="5395"/>
                <a:chExt cx="1514" cy="384"/>
              </a:xfrm>
            </p:grpSpPr>
            <p:sp>
              <p:nvSpPr>
                <p:cNvPr id="27707" name="Rectangle 129"/>
                <p:cNvSpPr/>
                <p:nvPr/>
              </p:nvSpPr>
              <p:spPr>
                <a:xfrm>
                  <a:off x="2001" y="5395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(=*,   y, x, _ 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8" name="Rectangle 130"/>
                <p:cNvSpPr/>
                <p:nvPr/>
              </p:nvSpPr>
              <p:spPr>
                <a:xfrm>
                  <a:off x="1958" y="5395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8" name="Group 131"/>
              <p:cNvGrpSpPr/>
              <p:nvPr/>
            </p:nvGrpSpPr>
            <p:grpSpPr>
              <a:xfrm>
                <a:off x="0" y="5779"/>
                <a:ext cx="464" cy="384"/>
                <a:chOff x="0" y="5779"/>
                <a:chExt cx="464" cy="384"/>
              </a:xfrm>
            </p:grpSpPr>
            <p:sp>
              <p:nvSpPr>
                <p:cNvPr id="27705" name="Rectangle 132"/>
                <p:cNvSpPr/>
                <p:nvPr/>
              </p:nvSpPr>
              <p:spPr>
                <a:xfrm>
                  <a:off x="43" y="5779"/>
                  <a:ext cx="37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（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14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  <a:endPara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6" name="Rectangle 133"/>
                <p:cNvSpPr/>
                <p:nvPr/>
              </p:nvSpPr>
              <p:spPr>
                <a:xfrm>
                  <a:off x="0" y="5779"/>
                  <a:ext cx="46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699" name="Group 134"/>
              <p:cNvGrpSpPr/>
              <p:nvPr/>
            </p:nvGrpSpPr>
            <p:grpSpPr>
              <a:xfrm>
                <a:off x="464" y="5779"/>
                <a:ext cx="1494" cy="384"/>
                <a:chOff x="464" y="5779"/>
                <a:chExt cx="1494" cy="384"/>
              </a:xfrm>
            </p:grpSpPr>
            <p:sp>
              <p:nvSpPr>
                <p:cNvPr id="27703" name="Rectangle 135"/>
                <p:cNvSpPr/>
                <p:nvPr/>
              </p:nvSpPr>
              <p:spPr>
                <a:xfrm>
                  <a:off x="507" y="5779"/>
                  <a:ext cx="140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*x := y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4" name="Rectangle 136"/>
                <p:cNvSpPr/>
                <p:nvPr/>
              </p:nvSpPr>
              <p:spPr>
                <a:xfrm>
                  <a:off x="464" y="5779"/>
                  <a:ext cx="149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700" name="Group 137"/>
              <p:cNvGrpSpPr/>
              <p:nvPr/>
            </p:nvGrpSpPr>
            <p:grpSpPr>
              <a:xfrm>
                <a:off x="1958" y="5779"/>
                <a:ext cx="1514" cy="384"/>
                <a:chOff x="1958" y="5779"/>
                <a:chExt cx="1514" cy="384"/>
              </a:xfrm>
            </p:grpSpPr>
            <p:sp>
              <p:nvSpPr>
                <p:cNvPr id="27701" name="Rectangle 138"/>
                <p:cNvSpPr/>
                <p:nvPr/>
              </p:nvSpPr>
              <p:spPr>
                <a:xfrm>
                  <a:off x="2001" y="5779"/>
                  <a:ext cx="1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(*=,   y, x,  _ 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2" name="Rectangle 139"/>
                <p:cNvSpPr/>
                <p:nvPr/>
              </p:nvSpPr>
              <p:spPr>
                <a:xfrm>
                  <a:off x="1958" y="5779"/>
                  <a:ext cx="1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lvl1pPr marL="365125" indent="-255905" algn="l" rtl="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8000"/>
                    <a:buFont typeface="Wingdings 3" pitchFamily="18" charset="2"/>
                    <a:buChar char=""/>
                    <a:defRPr sz="27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21030" indent="-228600" algn="l" rtl="0" eaLnBrk="0" fontAlgn="base" hangingPunct="0">
                    <a:spcBef>
                      <a:spcPts val="325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9155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100000"/>
                    <a:buFont typeface="Wingdings 2" pitchFamily="18" charset="2"/>
                    <a:buChar char="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30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-228600" algn="l" rtl="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7655" name="Rectangle 140"/>
            <p:cNvSpPr/>
            <p:nvPr/>
          </p:nvSpPr>
          <p:spPr>
            <a:xfrm>
              <a:off x="-3" y="400"/>
              <a:ext cx="3478" cy="5766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52" name="AutoShape 141">
            <a:hlinkClick r:id="" action="ppaction://noaction"/>
          </p:cNvPr>
          <p:cNvSpPr/>
          <p:nvPr/>
        </p:nvSpPr>
        <p:spPr>
          <a:xfrm flipV="1">
            <a:off x="7696200" y="3276600"/>
            <a:ext cx="685800" cy="457200"/>
          </a:xfrm>
          <a:prstGeom prst="upArrow">
            <a:avLst>
              <a:gd name="adj1" fmla="val 47231"/>
              <a:gd name="adj2" fmla="val 5034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Text Box 142"/>
          <p:cNvSpPr txBox="1"/>
          <p:nvPr/>
        </p:nvSpPr>
        <p:spPr>
          <a:xfrm>
            <a:off x="1955800" y="6223000"/>
            <a:ext cx="502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6-2  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三地址码与其对应的四元式实现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ext Box 4"/>
          <p:cNvSpPr txBox="1"/>
          <p:nvPr/>
        </p:nvSpPr>
        <p:spPr>
          <a:xfrm>
            <a:off x="381000" y="381000"/>
            <a:ext cx="739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6.2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、中间代码生成（写属性计算规则）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5" name="Rectangle 6"/>
          <p:cNvSpPr>
            <a:spLocks noGrp="1"/>
          </p:cNvSpPr>
          <p:nvPr>
            <p:ph idx="1"/>
          </p:nvPr>
        </p:nvSpPr>
        <p:spPr>
          <a:xfrm>
            <a:off x="736600" y="990600"/>
            <a:ext cx="8077200" cy="5181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两个常用的函数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产生一条中间代码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gen(code)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产生新的临时变量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newtemp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属性设置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中间代码序列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.code</a:t>
            </a:r>
            <a:r>
              <a:rPr lang="zh-CN" altLang="en-US" sz="2400" b="1" dirty="0">
                <a:latin typeface="宋体" panose="02010600030101010101" pitchFamily="2" charset="-122"/>
              </a:rPr>
              <a:t>，如</a:t>
            </a:r>
            <a:r>
              <a:rPr lang="en-US" altLang="zh-CN" sz="2400" b="1" dirty="0">
                <a:latin typeface="宋体" panose="02010600030101010101" pitchFamily="2" charset="-122"/>
              </a:rPr>
              <a:t>E.code</a:t>
            </a:r>
            <a:r>
              <a:rPr lang="zh-CN" altLang="en-US" sz="2400" b="1" dirty="0">
                <a:latin typeface="宋体" panose="02010600030101010101" pitchFamily="2" charset="-122"/>
              </a:rPr>
              <a:t>表示已为</a:t>
            </a:r>
            <a:r>
              <a:rPr lang="en-US" altLang="zh-CN" sz="2400" b="1" dirty="0">
                <a:latin typeface="宋体" panose="02010600030101010101" pitchFamily="2" charset="-122"/>
              </a:rPr>
              <a:t>E</a:t>
            </a:r>
            <a:r>
              <a:rPr lang="zh-CN" altLang="en-US" sz="2400" b="1" dirty="0">
                <a:latin typeface="宋体" panose="02010600030101010101" pitchFamily="2" charset="-122"/>
              </a:rPr>
              <a:t>生成的代码序列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存储位置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.place </a:t>
            </a:r>
            <a:r>
              <a:rPr lang="zh-CN" altLang="en-US" sz="2400" b="1" dirty="0">
                <a:latin typeface="宋体" panose="02010600030101010101" pitchFamily="2" charset="-122"/>
              </a:rPr>
              <a:t>，也可认为是中间代码表示中的临时变量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采用的中间代码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在下面的翻译中我们采用表</a:t>
            </a:r>
            <a:r>
              <a:rPr lang="en-US" altLang="zh-CN" sz="2400" b="1" dirty="0">
                <a:latin typeface="宋体" panose="02010600030101010101" pitchFamily="2" charset="-122"/>
              </a:rPr>
              <a:t>6-2</a:t>
            </a:r>
            <a:r>
              <a:rPr lang="zh-CN" altLang="en-US" sz="2400" b="1" dirty="0">
                <a:latin typeface="宋体" panose="02010600030101010101" pitchFamily="2" charset="-122"/>
              </a:rPr>
              <a:t>中的三地址代码形式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6019800"/>
            <a:ext cx="7772400" cy="381000"/>
          </a:xfrm>
        </p:spPr>
        <p:txBody>
          <a:bodyPr vert="horz" wrap="square" lIns="92075" tIns="46038" rIns="92075" bIns="46038" numCol="1" anchor="t" anchorCtr="0" compatLnSpc="1">
            <a:normAutofit fontScale="92500" lnSpcReduction="10000"/>
          </a:bodyPr>
          <a:lstStyle/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注释：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||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表示代码序列的连接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9699" name="Rectangle 7"/>
          <p:cNvSpPr/>
          <p:nvPr/>
        </p:nvSpPr>
        <p:spPr>
          <a:xfrm>
            <a:off x="381000" y="838200"/>
            <a:ext cx="8382000" cy="5105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0" name="Rectangle 3"/>
          <p:cNvSpPr/>
          <p:nvPr/>
        </p:nvSpPr>
        <p:spPr>
          <a:xfrm>
            <a:off x="381000" y="838200"/>
            <a:ext cx="8534400" cy="32416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S → id := E    S.code := E.code || gen(id.place':='E.place)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+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E.place := newtemp;             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               E.code :=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||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|| 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                                gen(E. place ‘:='E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.place'+'E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.place)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E.place := newtemp;             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               E.code :=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||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|| 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                                gen(E. place‘:='E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.place'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'E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.place)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Line 4"/>
          <p:cNvSpPr/>
          <p:nvPr/>
        </p:nvSpPr>
        <p:spPr>
          <a:xfrm>
            <a:off x="2196465" y="838200"/>
            <a:ext cx="0" cy="51054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702" name="Rectangle 6"/>
          <p:cNvSpPr/>
          <p:nvPr/>
        </p:nvSpPr>
        <p:spPr>
          <a:xfrm>
            <a:off x="381000" y="3886200"/>
            <a:ext cx="8534400" cy="209232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–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E.place := newtemp;             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                       E.code :=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|| gen(E.place ‘:='–'E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.place)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(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 )       E.place:=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.place;   E.code:= E</a:t>
            </a:r>
            <a:r>
              <a:rPr lang="en-US" altLang="zh-CN" sz="24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id            E.place:= id.place;   E.code:= ' '    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 → num       E.place:= num.val</a:t>
            </a:r>
            <a:r>
              <a:rPr lang="zh-CN" altLang="en-US" sz="2400" b="1" dirty="0">
                <a:latin typeface="Arial Narrow" pitchFamily="34" charset="0"/>
                <a:ea typeface="宋体" panose="02010600030101010101" pitchFamily="2" charset="-122"/>
              </a:rPr>
              <a:t>；</a:t>
            </a:r>
            <a:r>
              <a:rPr lang="en-US" altLang="zh-CN" sz="2400" b="1" dirty="0">
                <a:latin typeface="Arial Narrow" pitchFamily="34" charset="0"/>
                <a:ea typeface="宋体" panose="02010600030101010101" pitchFamily="2" charset="-122"/>
              </a:rPr>
              <a:t>E.code:= ' ' </a:t>
            </a:r>
            <a:endParaRPr lang="en-US" altLang="zh-CN" sz="24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Line 8"/>
          <p:cNvSpPr/>
          <p:nvPr/>
        </p:nvSpPr>
        <p:spPr>
          <a:xfrm>
            <a:off x="381000" y="1579563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9"/>
          <p:cNvSpPr/>
          <p:nvPr/>
        </p:nvSpPr>
        <p:spPr>
          <a:xfrm>
            <a:off x="381000" y="2728913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Line 10"/>
          <p:cNvSpPr/>
          <p:nvPr/>
        </p:nvSpPr>
        <p:spPr>
          <a:xfrm>
            <a:off x="381000" y="3886200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6" name="Line 11"/>
          <p:cNvSpPr/>
          <p:nvPr/>
        </p:nvSpPr>
        <p:spPr>
          <a:xfrm>
            <a:off x="381000" y="4724400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7" name="Line 12"/>
          <p:cNvSpPr/>
          <p:nvPr/>
        </p:nvSpPr>
        <p:spPr>
          <a:xfrm>
            <a:off x="381000" y="5143500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8" name="Line 13"/>
          <p:cNvSpPr/>
          <p:nvPr/>
        </p:nvSpPr>
        <p:spPr>
          <a:xfrm>
            <a:off x="381000" y="5537200"/>
            <a:ext cx="838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1349" name="Rectangle 21"/>
          <p:cNvSpPr>
            <a:spLocks noChangeArrowheads="1"/>
          </p:cNvSpPr>
          <p:nvPr/>
        </p:nvSpPr>
        <p:spPr bwMode="auto">
          <a:xfrm>
            <a:off x="425450" y="304800"/>
            <a:ext cx="60515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6.2.1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、赋值语句及算术表达式的翻译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0" name="AutoShape 22">
            <a:hlinkClick r:id="" action="ppaction://noaction"/>
          </p:cNvPr>
          <p:cNvSpPr/>
          <p:nvPr/>
        </p:nvSpPr>
        <p:spPr>
          <a:xfrm>
            <a:off x="7772400" y="2895600"/>
            <a:ext cx="685800" cy="533400"/>
          </a:xfrm>
          <a:prstGeom prst="upArrow">
            <a:avLst>
              <a:gd name="adj1" fmla="val 53703"/>
              <a:gd name="adj2" fmla="val 5327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1"/>
          <a:srcRect l="6250" t="35605" r="7031" b="19051"/>
          <a:stretch>
            <a:fillRect/>
          </a:stretch>
        </p:blipFill>
        <p:spPr>
          <a:xfrm>
            <a:off x="285750" y="785813"/>
            <a:ext cx="8559800" cy="485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748" name="Picture 2"/>
          <p:cNvPicPr>
            <a:picLocks noChangeAspect="1"/>
          </p:cNvPicPr>
          <p:nvPr/>
        </p:nvPicPr>
        <p:blipFill>
          <a:blip r:embed="rId1"/>
          <a:srcRect l="6250" t="35269" r="7813" b="23705"/>
          <a:stretch>
            <a:fillRect/>
          </a:stretch>
        </p:blipFill>
        <p:spPr>
          <a:xfrm>
            <a:off x="500063" y="928688"/>
            <a:ext cx="8134350" cy="421481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1571625" y="3500438"/>
            <a:ext cx="500062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429000" y="1927225"/>
            <a:ext cx="321468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2772" name="Picture 2"/>
          <p:cNvPicPr>
            <a:picLocks noChangeAspect="1"/>
          </p:cNvPicPr>
          <p:nvPr/>
        </p:nvPicPr>
        <p:blipFill>
          <a:blip r:embed="rId1"/>
          <a:srcRect l="6250" t="21593" r="7031" b="24425"/>
          <a:stretch>
            <a:fillRect/>
          </a:stretch>
        </p:blipFill>
        <p:spPr>
          <a:xfrm>
            <a:off x="500063" y="428625"/>
            <a:ext cx="8351837" cy="564356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928688" y="1428750"/>
            <a:ext cx="357187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796" name="Picture 2"/>
          <p:cNvPicPr>
            <a:picLocks noChangeAspect="1"/>
          </p:cNvPicPr>
          <p:nvPr/>
        </p:nvPicPr>
        <p:blipFill>
          <a:blip r:embed="rId1"/>
          <a:srcRect l="5469" t="31670" r="7031" b="24425"/>
          <a:stretch>
            <a:fillRect/>
          </a:stretch>
        </p:blipFill>
        <p:spPr>
          <a:xfrm>
            <a:off x="428625" y="642938"/>
            <a:ext cx="8001000" cy="4357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4820" name="Picture 2"/>
          <p:cNvPicPr>
            <a:picLocks noChangeAspect="1"/>
          </p:cNvPicPr>
          <p:nvPr/>
        </p:nvPicPr>
        <p:blipFill>
          <a:blip r:embed="rId1"/>
          <a:srcRect l="7813" t="19434" r="7031" b="58974"/>
          <a:stretch>
            <a:fillRect/>
          </a:stretch>
        </p:blipFill>
        <p:spPr>
          <a:xfrm>
            <a:off x="428625" y="142875"/>
            <a:ext cx="7786688" cy="2143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1" name="Picture 3"/>
          <p:cNvPicPr>
            <a:picLocks noChangeAspect="1"/>
          </p:cNvPicPr>
          <p:nvPr/>
        </p:nvPicPr>
        <p:blipFill>
          <a:blip r:embed="rId2"/>
          <a:srcRect l="4688" t="40643" r="3123" b="15451"/>
          <a:stretch>
            <a:fillRect/>
          </a:stretch>
        </p:blipFill>
        <p:spPr>
          <a:xfrm>
            <a:off x="214313" y="2214563"/>
            <a:ext cx="8715375" cy="4505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5844" name="Picture 2"/>
          <p:cNvPicPr>
            <a:picLocks noChangeAspect="1"/>
          </p:cNvPicPr>
          <p:nvPr/>
        </p:nvPicPr>
        <p:blipFill>
          <a:blip r:embed="rId1"/>
          <a:srcRect l="2344" t="29510" r="2344" b="14346"/>
          <a:stretch>
            <a:fillRect/>
          </a:stretch>
        </p:blipFill>
        <p:spPr>
          <a:xfrm>
            <a:off x="0" y="357188"/>
            <a:ext cx="9163050" cy="585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457200" y="992188"/>
            <a:ext cx="8229600" cy="4951412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高级语言的控制结构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顺序  </a:t>
            </a:r>
            <a:r>
              <a:rPr lang="en-US" altLang="zh-CN" b="1" dirty="0">
                <a:latin typeface="宋体" panose="02010600030101010101" pitchFamily="2" charset="-122"/>
              </a:rPr>
              <a:t>begin </a:t>
            </a:r>
            <a:r>
              <a:rPr lang="zh-CN" altLang="en-US" b="1" dirty="0">
                <a:latin typeface="宋体" panose="02010600030101010101" pitchFamily="2" charset="-122"/>
              </a:rPr>
              <a:t>语句</a:t>
            </a:r>
            <a:r>
              <a:rPr lang="en-US" altLang="zh-CN" b="1" dirty="0">
                <a:latin typeface="宋体" panose="02010600030101010101" pitchFamily="2" charset="-122"/>
              </a:rPr>
              <a:t>; </a:t>
            </a:r>
            <a:r>
              <a:rPr lang="zh-CN" altLang="en-US" b="1" dirty="0">
                <a:latin typeface="宋体" panose="02010600030101010101" pitchFamily="2" charset="-122"/>
              </a:rPr>
              <a:t>语句 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latin typeface="宋体" panose="02010600030101010101" pitchFamily="2" charset="-122"/>
              </a:rPr>
              <a:t>  end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条件  </a:t>
            </a:r>
            <a:r>
              <a:rPr lang="en-US" altLang="zh-CN" b="1" dirty="0">
                <a:latin typeface="宋体" panose="02010600030101010101" pitchFamily="2" charset="-122"/>
              </a:rPr>
              <a:t>if_then_else  if_then  switch case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循环  </a:t>
            </a:r>
            <a:r>
              <a:rPr lang="en-US" altLang="zh-CN" b="1" dirty="0">
                <a:latin typeface="宋体" panose="02010600030101010101" pitchFamily="2" charset="-122"/>
              </a:rPr>
              <a:t>while_do do_while for repeat_until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控制结构中要用到的三地址代码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goto l      </a:t>
            </a:r>
            <a:r>
              <a:rPr lang="en-US" altLang="zh-CN" sz="2400" b="1" dirty="0">
                <a:latin typeface="宋体" panose="02010600030101010101" pitchFamily="2" charset="-122"/>
              </a:rPr>
              <a:t>//l</a:t>
            </a:r>
            <a:r>
              <a:rPr lang="zh-CN" altLang="en-US" sz="2400" b="1" dirty="0">
                <a:latin typeface="宋体" panose="02010600030101010101" pitchFamily="2" charset="-122"/>
              </a:rPr>
              <a:t>为语句标号</a:t>
            </a:r>
            <a:r>
              <a:rPr lang="en-US" altLang="zh-CN" sz="2400" b="1" dirty="0">
                <a:latin typeface="宋体" panose="02010600030101010101" pitchFamily="2" charset="-122"/>
              </a:rPr>
              <a:t>label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if x relop y goto l  </a:t>
            </a:r>
            <a:r>
              <a:rPr lang="zh-CN" altLang="en-US" sz="2000" b="1" i="1" dirty="0">
                <a:latin typeface="宋体" panose="02010600030101010101" pitchFamily="2" charset="-122"/>
              </a:rPr>
              <a:t>其四元式实现请参考表</a:t>
            </a:r>
            <a:r>
              <a:rPr lang="en-US" altLang="zh-CN" sz="2000" b="1" i="1" dirty="0">
                <a:latin typeface="宋体" panose="02010600030101010101" pitchFamily="2" charset="-122"/>
              </a:rPr>
              <a:t>6-2</a:t>
            </a:r>
            <a:endParaRPr lang="en-US" altLang="zh-CN" sz="2000" b="1" i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charset="0"/>
              <a:buChar char="ü"/>
            </a:pPr>
            <a:r>
              <a:rPr lang="zh-CN" altLang="en-US" sz="2800" b="1" dirty="0">
                <a:latin typeface="宋体" panose="02010600030101010101" pitchFamily="2" charset="-122"/>
              </a:rPr>
              <a:t>新增一个函数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产生新的语句标号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newlabel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934200" cy="457200"/>
          </a:xfrm>
          <a:noFill/>
          <a:ln>
            <a:noFill/>
          </a:ln>
          <a:effectLst/>
          <a:sp3d prstMaterial="plastic"/>
        </p:spPr>
        <p:txBody>
          <a:bodyPr vert="horz" lIns="92075" tIns="46038" rIns="92075" bIns="46038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6.2.2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、控制结构的翻译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xfrm>
            <a:off x="166370" y="914400"/>
            <a:ext cx="8714105" cy="32004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E →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relop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E.code := gen( 'if'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.place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			     relop.op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.place 'goto'E.true )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                        || gen( 'goto'E.false )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T → id                    T.place := id.entry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T → num                T.place := num.val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162800" cy="533400"/>
          </a:xfrm>
          <a:noFill/>
          <a:ln>
            <a:noFill/>
          </a:ln>
          <a:effectLst/>
          <a:sp3d prstMaterial="plastic"/>
        </p:spPr>
        <p:txBody>
          <a:bodyPr vert="horz" lIns="92075" tIns="46038" rIns="92075" bIns="46038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6.2.3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、简单布尔表达式的翻译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-22860" y="3827780"/>
            <a:ext cx="5665470" cy="1612900"/>
            <a:chOff x="528" y="2592"/>
            <a:chExt cx="3120" cy="1016"/>
          </a:xfrm>
        </p:grpSpPr>
        <p:sp>
          <p:nvSpPr>
            <p:cNvPr id="623620" name="Rectangle 4"/>
            <p:cNvSpPr>
              <a:spLocks noChangeArrowheads="1"/>
            </p:cNvSpPr>
            <p:nvPr/>
          </p:nvSpPr>
          <p:spPr bwMode="auto">
            <a:xfrm>
              <a:off x="528" y="2592"/>
              <a:ext cx="1692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例：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 &lt; 5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42" name="Rectangle 5"/>
            <p:cNvSpPr/>
            <p:nvPr/>
          </p:nvSpPr>
          <p:spPr>
            <a:xfrm>
              <a:off x="1872" y="2736"/>
              <a:ext cx="1776" cy="8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if c&lt;5  goto 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 Narrow" pitchFamily="34" charset="0"/>
                  <a:ea typeface="宋体" panose="02010600030101010101" pitchFamily="2" charset="-122"/>
                </a:rPr>
                <a:t>E.true</a:t>
              </a:r>
              <a:endParaRPr lang="en-US" altLang="zh-CN" sz="2800" b="1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goto 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 Narrow" pitchFamily="34" charset="0"/>
                  <a:ea typeface="宋体" panose="02010600030101010101" pitchFamily="2" charset="-122"/>
                </a:rPr>
                <a:t>E.false</a:t>
              </a:r>
              <a:endParaRPr lang="en-US" altLang="zh-CN" sz="2800" b="1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4043" name="AutoShape 6"/>
            <p:cNvCxnSpPr>
              <a:stCxn id="623620" idx="2"/>
              <a:endCxn id="44042" idx="1"/>
            </p:cNvCxnSpPr>
            <p:nvPr/>
          </p:nvCxnSpPr>
          <p:spPr>
            <a:xfrm rot="5400000" flipV="1">
              <a:off x="1498" y="2798"/>
              <a:ext cx="251" cy="498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  <p:grpSp>
        <p:nvGrpSpPr>
          <p:cNvPr id="3" name="Group 16"/>
          <p:cNvGrpSpPr/>
          <p:nvPr/>
        </p:nvGrpSpPr>
        <p:grpSpPr>
          <a:xfrm>
            <a:off x="1443355" y="4548546"/>
            <a:ext cx="7713345" cy="2245044"/>
            <a:chOff x="864" y="2820"/>
            <a:chExt cx="4704" cy="1414"/>
          </a:xfrm>
        </p:grpSpPr>
        <p:sp>
          <p:nvSpPr>
            <p:cNvPr id="623623" name="Rectangle 7"/>
            <p:cNvSpPr>
              <a:spLocks noChangeArrowheads="1"/>
            </p:cNvSpPr>
            <p:nvPr/>
          </p:nvSpPr>
          <p:spPr bwMode="auto">
            <a:xfrm>
              <a:off x="864" y="3561"/>
              <a:ext cx="2592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if  c &lt; 5  then  S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else  S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39" name="Rectangle 8"/>
            <p:cNvSpPr/>
            <p:nvPr/>
          </p:nvSpPr>
          <p:spPr>
            <a:xfrm>
              <a:off x="3456" y="2820"/>
              <a:ext cx="2112" cy="141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if c&lt;5  goto 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 Narrow" pitchFamily="34" charset="0"/>
                  <a:ea typeface="宋体" panose="02010600030101010101" pitchFamily="2" charset="-122"/>
                </a:rPr>
                <a:t>L3</a:t>
              </a:r>
              <a:endParaRPr lang="en-US" altLang="zh-CN" sz="2800" b="1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goto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 Narrow" pitchFamily="34" charset="0"/>
                  <a:ea typeface="宋体" panose="02010600030101010101" pitchFamily="2" charset="-122"/>
                </a:rPr>
                <a:t> L4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</a:t>
              </a:r>
              <a:r>
                <a:rPr lang="en-US" altLang="zh-CN" sz="2000" b="1" dirty="0">
                  <a:latin typeface="Arial Narrow" pitchFamily="34" charset="0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latin typeface="Arial Narrow" pitchFamily="34" charset="0"/>
                  <a:ea typeface="宋体" panose="02010600030101010101" pitchFamily="2" charset="-122"/>
                </a:rPr>
                <a:t>回填</a:t>
              </a:r>
              <a:r>
                <a:rPr lang="en-US" altLang="zh-CN" sz="2000" b="1" dirty="0">
                  <a:latin typeface="Arial Narrow" pitchFamily="34" charset="0"/>
                  <a:ea typeface="宋体" panose="02010600030101010101" pitchFamily="2" charset="-122"/>
                </a:rPr>
                <a:t>)</a:t>
              </a:r>
              <a:endParaRPr lang="en-US" altLang="zh-CN" sz="20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L3: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goto S.next</a:t>
              </a:r>
              <a:r>
                <a:rPr lang="en-US" altLang="zh-CN" sz="2800" b="1" dirty="0">
                  <a:solidFill>
                    <a:schemeClr val="tx2"/>
                  </a:solidFill>
                  <a:latin typeface="Arial Narrow" pitchFamily="34" charset="0"/>
                  <a:ea typeface="宋体" panose="02010600030101010101" pitchFamily="2" charset="-122"/>
                </a:rPr>
                <a:t>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L4: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40" name="AutoShape 11"/>
            <p:cNvSpPr/>
            <p:nvPr/>
          </p:nvSpPr>
          <p:spPr>
            <a:xfrm>
              <a:off x="3456" y="360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533400" y="2362200"/>
            <a:ext cx="4724400" cy="3505200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charset="0"/>
              <a:buChar char="ü"/>
            </a:pPr>
            <a:r>
              <a:rPr lang="zh-CN" altLang="en-US" b="1" dirty="0">
                <a:solidFill>
                  <a:schemeClr val="tx2"/>
                </a:solidFill>
              </a:rPr>
              <a:t>属性关系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b="1" dirty="0">
                <a:solidFill>
                  <a:schemeClr val="tx2"/>
                </a:solidFill>
              </a:rPr>
              <a:t>S1.begin = E.true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b="1" dirty="0">
                <a:solidFill>
                  <a:schemeClr val="tx2"/>
                </a:solidFill>
              </a:rPr>
              <a:t>S2.begin = E.false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b="1" dirty="0">
                <a:solidFill>
                  <a:schemeClr val="tx2"/>
                </a:solidFill>
              </a:rPr>
              <a:t>S1.next = S2.next = S.next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4927600" y="0"/>
          <a:ext cx="42164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992120" imgH="4351020" progId="">
                  <p:embed/>
                </p:oleObj>
              </mc:Choice>
              <mc:Fallback>
                <p:oleObj name="" r:id="rId1" imgW="2992120" imgH="435102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27600" y="0"/>
                        <a:ext cx="4216400" cy="685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573" name="Rectangle 5"/>
          <p:cNvSpPr>
            <a:spLocks noChangeArrowheads="1"/>
          </p:cNvSpPr>
          <p:nvPr/>
        </p:nvSpPr>
        <p:spPr bwMode="auto">
          <a:xfrm>
            <a:off x="457200" y="1263650"/>
            <a:ext cx="49530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 Narrow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if  E  then  S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S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的翻译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3" name="TextBox 4"/>
          <p:cNvSpPr txBox="1"/>
          <p:nvPr/>
        </p:nvSpPr>
        <p:spPr>
          <a:xfrm>
            <a:off x="785813" y="214313"/>
            <a:ext cx="3427412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条件语句的翻译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367665" y="609600"/>
            <a:ext cx="8503285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S → if E then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	E.true := newlabel;     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else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 	E.false := newlabel;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				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.next :=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.next := S.next;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                   S.code := E.code || gen( E.true':' ) ||S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.code || gen( 'goto' S.next ) ||  gen( E.false':' ) ||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.code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57200" y="4047490"/>
            <a:ext cx="8583930" cy="2181991"/>
            <a:chOff x="288" y="2736"/>
            <a:chExt cx="5153" cy="1139"/>
          </a:xfrm>
        </p:grpSpPr>
        <p:sp>
          <p:nvSpPr>
            <p:cNvPr id="622596" name="Rectangle 4"/>
            <p:cNvSpPr>
              <a:spLocks noChangeArrowheads="1"/>
            </p:cNvSpPr>
            <p:nvPr/>
          </p:nvSpPr>
          <p:spPr bwMode="auto">
            <a:xfrm>
              <a:off x="288" y="2736"/>
              <a:ext cx="2688" cy="4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例： 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if  c &lt; 5  then  S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else  S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17" name="Rectangle 5"/>
            <p:cNvSpPr/>
            <p:nvPr/>
          </p:nvSpPr>
          <p:spPr>
            <a:xfrm>
              <a:off x="2892" y="2928"/>
              <a:ext cx="2549" cy="94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E.code       //E</a:t>
              </a:r>
              <a:r>
                <a:rPr lang="zh-CN" altLang="en-US" sz="2800" b="1" dirty="0">
                  <a:latin typeface="Arial Narrow" pitchFamily="34" charset="0"/>
                  <a:ea typeface="宋体" panose="02010600030101010101" pitchFamily="2" charset="-122"/>
                </a:rPr>
                <a:t>为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c&lt;5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L3: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goto  S.next</a:t>
              </a:r>
              <a:r>
                <a:rPr lang="en-US" altLang="zh-CN" sz="2800" b="1" dirty="0">
                  <a:solidFill>
                    <a:schemeClr val="tx2"/>
                  </a:solidFill>
                  <a:latin typeface="Arial Narrow" pitchFamily="34" charset="0"/>
                  <a:ea typeface="宋体" panose="02010600030101010101" pitchFamily="2" charset="-122"/>
                </a:rPr>
                <a:t>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L4: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8918" name="AutoShape 6"/>
            <p:cNvCxnSpPr>
              <a:stCxn id="622596" idx="2"/>
              <a:endCxn id="38917" idx="1"/>
            </p:cNvCxnSpPr>
            <p:nvPr/>
          </p:nvCxnSpPr>
          <p:spPr>
            <a:xfrm rot="5400000" flipV="1">
              <a:off x="2178" y="2688"/>
              <a:ext cx="168" cy="1260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7"/>
          <p:cNvGrpSpPr/>
          <p:nvPr/>
        </p:nvGrpSpPr>
        <p:grpSpPr>
          <a:xfrm>
            <a:off x="571500" y="141605"/>
            <a:ext cx="7740015" cy="3888144"/>
            <a:chOff x="360" y="366"/>
            <a:chExt cx="3960" cy="2449"/>
          </a:xfrm>
        </p:grpSpPr>
        <p:sp>
          <p:nvSpPr>
            <p:cNvPr id="622596" name="Rectangle 4"/>
            <p:cNvSpPr>
              <a:spLocks noChangeArrowheads="1"/>
            </p:cNvSpPr>
            <p:nvPr/>
          </p:nvSpPr>
          <p:spPr bwMode="auto">
            <a:xfrm>
              <a:off x="360" y="366"/>
              <a:ext cx="1620" cy="8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例： 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if  (c &lt; 5)  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else  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41" name="Rectangle 5"/>
            <p:cNvSpPr/>
            <p:nvPr/>
          </p:nvSpPr>
          <p:spPr>
            <a:xfrm>
              <a:off x="2025" y="1401"/>
              <a:ext cx="2295" cy="141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E.code       //E</a:t>
              </a:r>
              <a:r>
                <a:rPr lang="zh-CN" altLang="en-US" sz="2800" b="1" dirty="0">
                  <a:latin typeface="Arial Narrow" pitchFamily="34" charset="0"/>
                  <a:ea typeface="宋体" panose="02010600030101010101" pitchFamily="2" charset="-122"/>
                </a:rPr>
                <a:t>为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c&lt;5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L3: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goto  S.next</a:t>
              </a:r>
              <a:r>
                <a:rPr lang="en-US" altLang="zh-CN" sz="2800" b="1" dirty="0">
                  <a:solidFill>
                    <a:schemeClr val="tx2"/>
                  </a:solidFill>
                  <a:latin typeface="Arial Narrow" pitchFamily="34" charset="0"/>
                  <a:ea typeface="宋体" panose="02010600030101010101" pitchFamily="2" charset="-122"/>
                </a:rPr>
                <a:t>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L4: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9942" name="AutoShape 6"/>
            <p:cNvCxnSpPr>
              <a:stCxn id="622596" idx="2"/>
              <a:endCxn id="39941" idx="1"/>
            </p:cNvCxnSpPr>
            <p:nvPr/>
          </p:nvCxnSpPr>
          <p:spPr>
            <a:xfrm rot="5400000" flipV="1">
              <a:off x="1162" y="1246"/>
              <a:ext cx="870" cy="855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  <p:sp>
        <p:nvSpPr>
          <p:cNvPr id="39939" name="Rectangle 5"/>
          <p:cNvSpPr/>
          <p:nvPr/>
        </p:nvSpPr>
        <p:spPr>
          <a:xfrm>
            <a:off x="2784475" y="4215130"/>
            <a:ext cx="4142740" cy="224536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       if (c&lt;5)  goto L3;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Arial Narrow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goto</a:t>
            </a:r>
            <a:r>
              <a:rPr lang="zh-CN" altLang="en-US" sz="2800" b="1" dirty="0">
                <a:latin typeface="Arial Narrow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L4;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L3: 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       goto  S.next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L4: 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609600" y="1981200"/>
            <a:ext cx="43434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charset="0"/>
              <a:buChar char="ü"/>
            </a:pPr>
            <a:r>
              <a:rPr lang="zh-CN" altLang="en-US" sz="2800" b="1" dirty="0">
                <a:solidFill>
                  <a:schemeClr val="tx2"/>
                </a:solidFill>
              </a:rPr>
              <a:t>属性设置（继承）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语句 </a:t>
            </a:r>
            <a:r>
              <a:rPr lang="en-US" altLang="zh-CN" sz="2800" b="1" dirty="0">
                <a:solidFill>
                  <a:schemeClr val="tx2"/>
                </a:solidFill>
              </a:rPr>
              <a:t>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>
              <a:buFont typeface="Verdana" panose="020B0604030504040204" pitchFamily="34" charset="0"/>
              <a:buChar char="◦"/>
            </a:pPr>
            <a:r>
              <a:rPr lang="zh-CN" altLang="en-US" b="1" dirty="0">
                <a:solidFill>
                  <a:schemeClr val="tx2"/>
                </a:solidFill>
              </a:rPr>
              <a:t>代码段的入口 </a:t>
            </a:r>
            <a:r>
              <a:rPr lang="en-US" altLang="zh-CN" b="1" dirty="0">
                <a:solidFill>
                  <a:schemeClr val="tx2"/>
                </a:solidFill>
              </a:rPr>
              <a:t>begin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>
              <a:buFont typeface="Verdana" panose="020B0604030504040204" pitchFamily="34" charset="0"/>
              <a:buChar char="◦"/>
            </a:pPr>
            <a:r>
              <a:rPr lang="zh-CN" altLang="en-US" b="1" dirty="0">
                <a:solidFill>
                  <a:schemeClr val="tx2"/>
                </a:solidFill>
              </a:rPr>
              <a:t>后续段入口 </a:t>
            </a:r>
            <a:r>
              <a:rPr lang="en-US" altLang="zh-CN" b="1" dirty="0">
                <a:solidFill>
                  <a:schemeClr val="tx2"/>
                </a:solidFill>
              </a:rPr>
              <a:t>next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布尔式 </a:t>
            </a:r>
            <a:r>
              <a:rPr lang="en-US" altLang="zh-CN" sz="2800" b="1" dirty="0">
                <a:solidFill>
                  <a:schemeClr val="tx2"/>
                </a:solidFill>
              </a:rPr>
              <a:t>E 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lvl="1" eaLnBrk="1" hangingPunct="1">
              <a:buFont typeface="Verdana" panose="020B0604030504040204" pitchFamily="34" charset="0"/>
              <a:buChar char="◦"/>
            </a:pPr>
            <a:r>
              <a:rPr lang="zh-CN" altLang="en-US" b="1" dirty="0">
                <a:solidFill>
                  <a:schemeClr val="tx2"/>
                </a:solidFill>
              </a:rPr>
              <a:t>代码段真出口 </a:t>
            </a:r>
            <a:r>
              <a:rPr lang="en-US" altLang="zh-CN" b="1" dirty="0">
                <a:solidFill>
                  <a:schemeClr val="tx2"/>
                </a:solidFill>
              </a:rPr>
              <a:t>true 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>
              <a:buFont typeface="Verdana" panose="020B0604030504040204" pitchFamily="34" charset="0"/>
              <a:buChar char="◦"/>
            </a:pPr>
            <a:r>
              <a:rPr lang="zh-CN" altLang="en-US" b="1" dirty="0">
                <a:solidFill>
                  <a:schemeClr val="tx2"/>
                </a:solidFill>
              </a:rPr>
              <a:t>代码段假出口 </a:t>
            </a:r>
            <a:r>
              <a:rPr lang="en-US" altLang="zh-CN" b="1" dirty="0">
                <a:solidFill>
                  <a:schemeClr val="tx2"/>
                </a:solidFill>
              </a:rPr>
              <a:t>false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它们的值都是语句标号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40963" name="Object 4"/>
          <p:cNvGraphicFramePr>
            <a:graphicFrameLocks noChangeAspect="1"/>
          </p:cNvGraphicFramePr>
          <p:nvPr/>
        </p:nvGraphicFramePr>
        <p:xfrm>
          <a:off x="4572000" y="381000"/>
          <a:ext cx="45720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251200" imgH="3324860" progId="">
                  <p:embed/>
                </p:oleObj>
              </mc:Choice>
              <mc:Fallback>
                <p:oleObj name="" r:id="rId1" imgW="3251200" imgH="332486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381000"/>
                        <a:ext cx="4572000" cy="617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525" name="Rectangle 5"/>
          <p:cNvSpPr>
            <a:spLocks noChangeArrowheads="1"/>
          </p:cNvSpPr>
          <p:nvPr/>
        </p:nvSpPr>
        <p:spPr bwMode="auto">
          <a:xfrm>
            <a:off x="685800" y="838200"/>
            <a:ext cx="3743325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 Narrow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while  E  do 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b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b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的翻译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686800" cy="3581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S → while E do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E.false := S.next;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				   E.true := newlabel;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				   S.begin :=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.next := newlabel;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                  S.code := gen( S.begin':' ) ||      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                      E.code || gen( E.true':' ) ||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</a:rPr>
              <a:t>.code ||                                     		                           gen( 'goto'S.begin )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</a:endParaRPr>
          </a:p>
        </p:txBody>
      </p:sp>
      <p:sp>
        <p:nvSpPr>
          <p:cNvPr id="41987" name="Rectangle 6"/>
          <p:cNvSpPr/>
          <p:nvPr/>
        </p:nvSpPr>
        <p:spPr>
          <a:xfrm>
            <a:off x="6019800" y="457200"/>
            <a:ext cx="27400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u="sng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产生一个新的语句标号</a:t>
            </a:r>
            <a:endParaRPr lang="zh-CN" altLang="en-US" sz="2000" b="1" u="sng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988" name="Line 7"/>
          <p:cNvSpPr/>
          <p:nvPr/>
        </p:nvSpPr>
        <p:spPr>
          <a:xfrm flipV="1">
            <a:off x="5715000" y="838200"/>
            <a:ext cx="1828800" cy="838200"/>
          </a:xfrm>
          <a:prstGeom prst="line">
            <a:avLst/>
          </a:prstGeom>
          <a:ln w="158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89" name="Text Box 8"/>
          <p:cNvSpPr txBox="1"/>
          <p:nvPr/>
        </p:nvSpPr>
        <p:spPr>
          <a:xfrm>
            <a:off x="143510" y="2060575"/>
            <a:ext cx="28194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此时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是一个布尔表达式，对其进行处理并判断如何跳转的中间代码序列在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E.code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990" name="Group 12"/>
          <p:cNvGrpSpPr/>
          <p:nvPr/>
        </p:nvGrpSpPr>
        <p:grpSpPr>
          <a:xfrm>
            <a:off x="326390" y="4572000"/>
            <a:ext cx="8672830" cy="1605927"/>
            <a:chOff x="499" y="2880"/>
            <a:chExt cx="4973" cy="1137"/>
          </a:xfrm>
        </p:grpSpPr>
        <p:sp>
          <p:nvSpPr>
            <p:cNvPr id="620553" name="Rectangle 9"/>
            <p:cNvSpPr>
              <a:spLocks noChangeArrowheads="1"/>
            </p:cNvSpPr>
            <p:nvPr/>
          </p:nvSpPr>
          <p:spPr bwMode="auto">
            <a:xfrm>
              <a:off x="499" y="2880"/>
              <a:ext cx="2233" cy="3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  while  a &lt; b  do S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2" name="Rectangle 10"/>
            <p:cNvSpPr/>
            <p:nvPr/>
          </p:nvSpPr>
          <p:spPr>
            <a:xfrm>
              <a:off x="3072" y="2976"/>
              <a:ext cx="2400" cy="104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L1:   E.code     //E</a:t>
              </a:r>
              <a:r>
                <a:rPr lang="zh-CN" altLang="en-US" sz="2800" b="1" dirty="0">
                  <a:latin typeface="Arial Narrow" pitchFamily="34" charset="0"/>
                  <a:ea typeface="宋体" panose="02010600030101010101" pitchFamily="2" charset="-122"/>
                </a:rPr>
                <a:t>为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a&lt;b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L2: 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 goto L1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1993" name="AutoShape 11"/>
            <p:cNvCxnSpPr>
              <a:stCxn id="620553" idx="2"/>
              <a:endCxn id="41992" idx="1"/>
            </p:cNvCxnSpPr>
            <p:nvPr/>
          </p:nvCxnSpPr>
          <p:spPr>
            <a:xfrm rot="5400000" flipV="1">
              <a:off x="2221" y="2645"/>
              <a:ext cx="247" cy="1456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010" name="Group 12"/>
          <p:cNvGrpSpPr/>
          <p:nvPr/>
        </p:nvGrpSpPr>
        <p:grpSpPr>
          <a:xfrm>
            <a:off x="1577975" y="1000125"/>
            <a:ext cx="7315835" cy="3116007"/>
            <a:chOff x="994" y="2880"/>
            <a:chExt cx="4061" cy="1319"/>
          </a:xfrm>
        </p:grpSpPr>
        <p:sp>
          <p:nvSpPr>
            <p:cNvPr id="620553" name="Rectangle 9"/>
            <p:cNvSpPr>
              <a:spLocks noChangeArrowheads="1"/>
            </p:cNvSpPr>
            <p:nvPr/>
          </p:nvSpPr>
          <p:spPr bwMode="auto">
            <a:xfrm>
              <a:off x="994" y="2880"/>
              <a:ext cx="2021" cy="40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  while  (a &lt; b)  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13" name="Rectangle 10"/>
            <p:cNvSpPr/>
            <p:nvPr/>
          </p:nvSpPr>
          <p:spPr>
            <a:xfrm>
              <a:off x="2655" y="3394"/>
              <a:ext cx="2400" cy="80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L1:   E.code     //E</a:t>
              </a:r>
              <a:r>
                <a:rPr lang="zh-CN" altLang="en-US" sz="2800" b="1" dirty="0">
                  <a:latin typeface="Arial Narrow" pitchFamily="34" charset="0"/>
                  <a:ea typeface="宋体" panose="02010600030101010101" pitchFamily="2" charset="-122"/>
                </a:rPr>
                <a:t>为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a&lt;b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L2:   S</a:t>
              </a:r>
              <a:r>
                <a:rPr lang="en-US" altLang="zh-CN" sz="2900" b="1" baseline="-25000" dirty="0">
                  <a:latin typeface="Arial Narrow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.code 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Arial Narrow" pitchFamily="34" charset="0"/>
                  <a:ea typeface="宋体" panose="02010600030101010101" pitchFamily="2" charset="-122"/>
                </a:rPr>
                <a:t>         goto L1</a:t>
              </a:r>
              <a:endParaRPr lang="en-US" altLang="zh-CN" sz="2800" b="1" dirty="0">
                <a:latin typeface="Arial Narrow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3014" name="AutoShape 11"/>
            <p:cNvCxnSpPr>
              <a:stCxn id="620553" idx="2"/>
              <a:endCxn id="43013" idx="1"/>
            </p:cNvCxnSpPr>
            <p:nvPr/>
          </p:nvCxnSpPr>
          <p:spPr>
            <a:xfrm rot="5400000" flipV="1">
              <a:off x="2073" y="3215"/>
              <a:ext cx="514" cy="650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  <p:sp>
        <p:nvSpPr>
          <p:cNvPr id="43011" name="Rectangle 10"/>
          <p:cNvSpPr/>
          <p:nvPr/>
        </p:nvSpPr>
        <p:spPr>
          <a:xfrm>
            <a:off x="1214438" y="4071938"/>
            <a:ext cx="7358062" cy="19446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L1: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 a&lt;b goto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goto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(while a&lt;b).next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L2: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goto L1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3"/>
          <p:cNvSpPr/>
          <p:nvPr/>
        </p:nvSpPr>
        <p:spPr>
          <a:xfrm>
            <a:off x="533400" y="1246188"/>
            <a:ext cx="4267200" cy="2868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 a &lt; b  do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 c &lt; 5  then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while x &gt; y do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      z := x + 1;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else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x := y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AutoShape 4"/>
          <p:cNvSpPr/>
          <p:nvPr/>
        </p:nvSpPr>
        <p:spPr>
          <a:xfrm>
            <a:off x="3810000" y="1905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1749" name="Rectangle 5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Rectangle 6"/>
          <p:cNvSpPr/>
          <p:nvPr/>
        </p:nvSpPr>
        <p:spPr>
          <a:xfrm>
            <a:off x="4554220" y="4065905"/>
            <a:ext cx="3935095" cy="23698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gen( 'if' T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.place                 relop.op T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.place 'goto'E.true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|| gen( 'goto'E.false )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7"/>
          <p:cNvSpPr/>
          <p:nvPr/>
        </p:nvSpPr>
        <p:spPr>
          <a:xfrm>
            <a:off x="4800600" y="1106805"/>
            <a:ext cx="3352800" cy="989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if a&lt;b goto (a&lt;b).true</a:t>
            </a:r>
            <a:endParaRPr lang="en-US" altLang="zh-CN" sz="2800" b="1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goto (a&lt;b).false</a:t>
            </a:r>
            <a:r>
              <a:rPr lang="en-US" altLang="zh-CN" sz="2800" b="1" u="sng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u="sng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AutoShape 9"/>
          <p:cNvSpPr/>
          <p:nvPr/>
        </p:nvSpPr>
        <p:spPr>
          <a:xfrm>
            <a:off x="3505200" y="4572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4" name="AutoShape 12"/>
          <p:cNvSpPr/>
          <p:nvPr/>
        </p:nvSpPr>
        <p:spPr>
          <a:xfrm rot="5400000">
            <a:off x="1598613" y="1231900"/>
            <a:ext cx="255587" cy="152400"/>
          </a:xfrm>
          <a:prstGeom prst="leftBrace">
            <a:avLst>
              <a:gd name="adj1" fmla="val 19675"/>
              <a:gd name="adj2" fmla="val 48611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5" name="Rectangle 13"/>
          <p:cNvSpPr/>
          <p:nvPr/>
        </p:nvSpPr>
        <p:spPr>
          <a:xfrm>
            <a:off x="1524000" y="762000"/>
            <a:ext cx="4714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endParaRPr lang="en-US" altLang="zh-CN" sz="2800" b="1" baseline="-25000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671758" name="Text Box 14"/>
          <p:cNvSpPr txBox="1">
            <a:spLocks noChangeArrowheads="1"/>
          </p:cNvSpPr>
          <p:nvPr/>
        </p:nvSpPr>
        <p:spPr bwMode="auto">
          <a:xfrm>
            <a:off x="8077200" y="457200"/>
            <a:ext cx="549275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第一步</a:t>
            </a:r>
            <a:endParaRPr kumimoji="1" lang="zh-CN" altLang="en-US" sz="24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5067" name="Rectangle 15"/>
          <p:cNvSpPr/>
          <p:nvPr/>
        </p:nvSpPr>
        <p:spPr>
          <a:xfrm>
            <a:off x="748030" y="4648200"/>
            <a:ext cx="2757170" cy="52197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E →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 relop T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2</a:t>
            </a:r>
            <a:endParaRPr lang="en-US" altLang="zh-CN" sz="2900" b="1" baseline="-25000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5068" name="AutoShape 16"/>
          <p:cNvSpPr/>
          <p:nvPr/>
        </p:nvSpPr>
        <p:spPr>
          <a:xfrm rot="5400000">
            <a:off x="2132013" y="1231900"/>
            <a:ext cx="255587" cy="152400"/>
          </a:xfrm>
          <a:prstGeom prst="leftBrace">
            <a:avLst>
              <a:gd name="adj1" fmla="val 19675"/>
              <a:gd name="adj2" fmla="val 48611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9" name="Rectangle 17"/>
          <p:cNvSpPr/>
          <p:nvPr/>
        </p:nvSpPr>
        <p:spPr>
          <a:xfrm>
            <a:off x="2057400" y="762000"/>
            <a:ext cx="4714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2</a:t>
            </a:r>
            <a:endParaRPr lang="en-US" altLang="zh-CN" sz="2800" b="1" baseline="-25000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671764" name="Rectangle 20"/>
          <p:cNvSpPr>
            <a:spLocks noChangeArrowheads="1"/>
          </p:cNvSpPr>
          <p:nvPr/>
        </p:nvSpPr>
        <p:spPr bwMode="auto">
          <a:xfrm>
            <a:off x="304800" y="304800"/>
            <a:ext cx="77724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6.2.4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、例：翻译下列语句为三地址代码序列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71" name="Text Box 21"/>
          <p:cNvSpPr txBox="1"/>
          <p:nvPr/>
        </p:nvSpPr>
        <p:spPr>
          <a:xfrm>
            <a:off x="4724400" y="2743200"/>
            <a:ext cx="3810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按自下而上分析，最早识别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，因此先生成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的中间代码序列。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3"/>
          <p:cNvSpPr/>
          <p:nvPr/>
        </p:nvSpPr>
        <p:spPr>
          <a:xfrm>
            <a:off x="533400" y="1398588"/>
            <a:ext cx="4267200" cy="2868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 a &lt; b  do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 c &lt; 5  then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while x &gt; y do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     z := x + 1;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else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x := y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AutoShape 5"/>
          <p:cNvSpPr/>
          <p:nvPr/>
        </p:nvSpPr>
        <p:spPr>
          <a:xfrm>
            <a:off x="3657600" y="16002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9702" name="Rectangle 6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5" name="Rectangle 7"/>
          <p:cNvSpPr/>
          <p:nvPr/>
        </p:nvSpPr>
        <p:spPr>
          <a:xfrm>
            <a:off x="3977005" y="2895600"/>
            <a:ext cx="5146675" cy="396938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E.false := S.next;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E.true := newlabel;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S.begin :=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.next :=newlabel;                     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S.code := gen( S.begin':'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|| E.code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|| gen( E.true':'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||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|| gen( 'goto'S.begin )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6086" name="Rectangle 8"/>
          <p:cNvSpPr/>
          <p:nvPr/>
        </p:nvSpPr>
        <p:spPr>
          <a:xfrm>
            <a:off x="4495800" y="1157288"/>
            <a:ext cx="5029200" cy="1681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L2: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 x&gt;y goto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//L1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为回填得来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goto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(while x&gt;y).next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L1:  z:=x+1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goto L2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7" name="Rectangle 9"/>
          <p:cNvSpPr/>
          <p:nvPr/>
        </p:nvSpPr>
        <p:spPr>
          <a:xfrm>
            <a:off x="-30480" y="4648200"/>
            <a:ext cx="3334385" cy="52197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 → while E do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6088" name="AutoShape 10"/>
          <p:cNvSpPr/>
          <p:nvPr/>
        </p:nvSpPr>
        <p:spPr>
          <a:xfrm>
            <a:off x="3298825" y="4572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9" name="AutoShape 11"/>
          <p:cNvSpPr/>
          <p:nvPr/>
        </p:nvSpPr>
        <p:spPr>
          <a:xfrm>
            <a:off x="1524000" y="3048000"/>
            <a:ext cx="381000" cy="228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0" name="Text Box 13"/>
          <p:cNvSpPr txBox="1"/>
          <p:nvPr/>
        </p:nvSpPr>
        <p:spPr>
          <a:xfrm>
            <a:off x="999490" y="2895600"/>
            <a:ext cx="7620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endParaRPr lang="en-US" altLang="zh-CN" sz="2900" b="1" baseline="-25000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6091" name="AutoShape 14"/>
          <p:cNvSpPr/>
          <p:nvPr/>
        </p:nvSpPr>
        <p:spPr>
          <a:xfrm rot="5400000">
            <a:off x="2500313" y="2119313"/>
            <a:ext cx="255587" cy="685800"/>
          </a:xfrm>
          <a:prstGeom prst="leftBrace">
            <a:avLst>
              <a:gd name="adj1" fmla="val 52795"/>
              <a:gd name="adj2" fmla="val 48611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2" name="Rectangle 15"/>
          <p:cNvSpPr/>
          <p:nvPr/>
        </p:nvSpPr>
        <p:spPr>
          <a:xfrm>
            <a:off x="2967355" y="1837690"/>
            <a:ext cx="3794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E</a:t>
            </a:r>
            <a:endParaRPr lang="en-US" altLang="zh-CN" sz="2800" b="1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669712" name="Text Box 16"/>
          <p:cNvSpPr txBox="1">
            <a:spLocks noChangeArrowheads="1"/>
          </p:cNvSpPr>
          <p:nvPr/>
        </p:nvSpPr>
        <p:spPr bwMode="auto">
          <a:xfrm>
            <a:off x="8229600" y="76200"/>
            <a:ext cx="549275" cy="1295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第二步</a:t>
            </a:r>
            <a:endParaRPr kumimoji="1" lang="zh-CN" altLang="en-US" sz="24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6094" name="Text Box 17"/>
          <p:cNvSpPr txBox="1"/>
          <p:nvPr/>
        </p:nvSpPr>
        <p:spPr>
          <a:xfrm>
            <a:off x="7010400" y="3413125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L1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5" name="Text Box 18"/>
          <p:cNvSpPr txBox="1"/>
          <p:nvPr/>
        </p:nvSpPr>
        <p:spPr>
          <a:xfrm>
            <a:off x="8153400" y="4114800"/>
            <a:ext cx="1143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6" name="Text Box 19"/>
          <p:cNvSpPr txBox="1"/>
          <p:nvPr/>
        </p:nvSpPr>
        <p:spPr>
          <a:xfrm>
            <a:off x="381000" y="260350"/>
            <a:ext cx="7772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此时生成内层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语句的中间代码序列，之前已生成完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c&lt;5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x&gt;y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z:=x+1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的中间代码序列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参考第一步自己做一下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2770" name="Rectangle 2"/>
          <p:cNvSpPr>
            <a:spLocks noChangeArrowheads="1"/>
          </p:cNvSpPr>
          <p:nvPr/>
        </p:nvSpPr>
        <p:spPr bwMode="auto">
          <a:xfrm>
            <a:off x="533400" y="381000"/>
            <a:ext cx="3505200" cy="2492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while  a &lt; b  do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if  c &lt; 5  then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while x &gt; y do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z := x + 1;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else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x := y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AutoShape 3"/>
          <p:cNvSpPr/>
          <p:nvPr/>
        </p:nvSpPr>
        <p:spPr>
          <a:xfrm rot="5400000">
            <a:off x="2628900" y="2400300"/>
            <a:ext cx="3810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2772" name="Rectangle 4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9" name="Rectangle 5"/>
          <p:cNvSpPr/>
          <p:nvPr/>
        </p:nvSpPr>
        <p:spPr>
          <a:xfrm>
            <a:off x="4267200" y="2608580"/>
            <a:ext cx="4824095" cy="439991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E.true := newlabel;     </a:t>
            </a:r>
            <a:r>
              <a:rPr lang="en-US" altLang="zh-CN" sz="2000" b="1" dirty="0">
                <a:latin typeface="Arial Narrow" pitchFamily="34" charset="0"/>
                <a:ea typeface="宋体" panose="02010600030101010101" pitchFamily="2" charset="-122"/>
              </a:rPr>
              <a:t>//</a:t>
            </a:r>
            <a:r>
              <a:rPr lang="zh-CN" altLang="en-US" sz="2000" b="1" dirty="0">
                <a:latin typeface="Arial Narrow" pitchFamily="34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Arial Narrow" pitchFamily="34" charset="0"/>
                <a:ea typeface="宋体" panose="02010600030101010101" pitchFamily="2" charset="-122"/>
              </a:rPr>
              <a:t>L3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E.false := newlabel;   </a:t>
            </a:r>
            <a:r>
              <a:rPr lang="en-US" altLang="zh-CN" sz="2000" b="1" dirty="0">
                <a:latin typeface="Arial Narrow" pitchFamily="34" charset="0"/>
                <a:ea typeface="宋体" panose="02010600030101010101" pitchFamily="2" charset="-122"/>
              </a:rPr>
              <a:t>//</a:t>
            </a:r>
            <a:r>
              <a:rPr lang="zh-CN" altLang="en-US" sz="2000" b="1" dirty="0">
                <a:latin typeface="Arial Narrow" pitchFamily="34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Arial Narrow" pitchFamily="34" charset="0"/>
                <a:ea typeface="宋体" panose="02010600030101010101" pitchFamily="2" charset="-122"/>
              </a:rPr>
              <a:t>L4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.next :=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.next := S.next;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S.code :=  E.code 	  	 	    || gen( E.true':'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 ||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 || gen( 'goto' S.next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 || gen( E.false':' ) 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	    ||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.code</a:t>
            </a:r>
            <a:endParaRPr lang="en-US" altLang="zh-CN" sz="2800" b="1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Rectangle 6"/>
          <p:cNvSpPr/>
          <p:nvPr/>
        </p:nvSpPr>
        <p:spPr>
          <a:xfrm>
            <a:off x="381000" y="2971800"/>
            <a:ext cx="3810000" cy="3773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c&lt;5 goto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L3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L4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L3:  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L2:  if  x&gt;y goto L1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(if c&lt;5).next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L1:  z:=x+1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L2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(if c&lt;5).next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L4:  x:=y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1" name="AutoShape 7"/>
          <p:cNvSpPr/>
          <p:nvPr/>
        </p:nvSpPr>
        <p:spPr>
          <a:xfrm rot="5400000">
            <a:off x="6134100" y="2019300"/>
            <a:ext cx="3810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2" name="AutoShape 8"/>
          <p:cNvSpPr/>
          <p:nvPr/>
        </p:nvSpPr>
        <p:spPr>
          <a:xfrm>
            <a:off x="838200" y="1371600"/>
            <a:ext cx="381000" cy="598488"/>
          </a:xfrm>
          <a:prstGeom prst="leftBrace">
            <a:avLst>
              <a:gd name="adj1" fmla="val 1309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3" name="Text Box 9"/>
          <p:cNvSpPr txBox="1"/>
          <p:nvPr/>
        </p:nvSpPr>
        <p:spPr>
          <a:xfrm>
            <a:off x="314960" y="1371600"/>
            <a:ext cx="6756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endParaRPr lang="en-US" altLang="zh-CN" sz="2900" b="1" baseline="-25000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7114" name="AutoShape 10"/>
          <p:cNvSpPr/>
          <p:nvPr/>
        </p:nvSpPr>
        <p:spPr>
          <a:xfrm rot="5400000">
            <a:off x="1485900" y="495300"/>
            <a:ext cx="228600" cy="609600"/>
          </a:xfrm>
          <a:prstGeom prst="leftBrace">
            <a:avLst>
              <a:gd name="adj1" fmla="val 52469"/>
              <a:gd name="adj2" fmla="val 48611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5" name="Rectangle 11"/>
          <p:cNvSpPr/>
          <p:nvPr/>
        </p:nvSpPr>
        <p:spPr>
          <a:xfrm>
            <a:off x="1549400" y="533400"/>
            <a:ext cx="379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E</a:t>
            </a:r>
            <a:endParaRPr lang="en-US" altLang="zh-CN" sz="2800" b="1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672780" name="Text Box 12"/>
          <p:cNvSpPr txBox="1">
            <a:spLocks noChangeArrowheads="1"/>
          </p:cNvSpPr>
          <p:nvPr/>
        </p:nvSpPr>
        <p:spPr bwMode="auto">
          <a:xfrm>
            <a:off x="8289925" y="304800"/>
            <a:ext cx="549275" cy="1447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第三步</a:t>
            </a:r>
            <a:endParaRPr kumimoji="1" lang="zh-CN" altLang="en-US" sz="24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7117" name="Rectangle 13"/>
          <p:cNvSpPr/>
          <p:nvPr/>
        </p:nvSpPr>
        <p:spPr>
          <a:xfrm>
            <a:off x="4419600" y="1165225"/>
            <a:ext cx="37338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S → if E then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Arial Narrow" pitchFamily="34" charset="0"/>
                <a:ea typeface="宋体" panose="02010600030101010101" pitchFamily="2" charset="-122"/>
              </a:rPr>
              <a:t>  else S</a:t>
            </a:r>
            <a:r>
              <a:rPr lang="en-US" altLang="zh-CN" sz="2900" b="1" baseline="-25000" dirty="0">
                <a:latin typeface="Arial Narrow" pitchFamily="34" charset="0"/>
                <a:ea typeface="宋体" panose="02010600030101010101" pitchFamily="2" charset="-122"/>
              </a:rPr>
              <a:t>2</a:t>
            </a:r>
            <a:endParaRPr lang="en-US" altLang="zh-CN" sz="2900" b="1" baseline="-25000" dirty="0"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7118" name="AutoShape 16"/>
          <p:cNvSpPr/>
          <p:nvPr/>
        </p:nvSpPr>
        <p:spPr>
          <a:xfrm>
            <a:off x="838200" y="2503488"/>
            <a:ext cx="381000" cy="355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9" name="Text Box 17"/>
          <p:cNvSpPr txBox="1"/>
          <p:nvPr/>
        </p:nvSpPr>
        <p:spPr>
          <a:xfrm>
            <a:off x="381000" y="2362200"/>
            <a:ext cx="6096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solidFill>
                  <a:srgbClr val="FF0000"/>
                </a:solidFill>
                <a:latin typeface="Arial Narrow" pitchFamily="34" charset="0"/>
                <a:ea typeface="宋体" panose="02010600030101010101" pitchFamily="2" charset="-122"/>
              </a:rPr>
              <a:t>2</a:t>
            </a:r>
            <a:endParaRPr lang="en-US" altLang="zh-CN" sz="2900" b="1" baseline="-25000" dirty="0">
              <a:solidFill>
                <a:srgbClr val="FF0000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7120" name="Text Box 18"/>
          <p:cNvSpPr txBox="1"/>
          <p:nvPr/>
        </p:nvSpPr>
        <p:spPr>
          <a:xfrm>
            <a:off x="3276600" y="5334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此时生成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语句的中间代码序列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AutoShape 8"/>
          <p:cNvSpPr/>
          <p:nvPr/>
        </p:nvSpPr>
        <p:spPr>
          <a:xfrm>
            <a:off x="3581400" y="1322388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3802" name="Text Box 10"/>
          <p:cNvSpPr txBox="1">
            <a:spLocks noChangeArrowheads="1"/>
          </p:cNvSpPr>
          <p:nvPr/>
        </p:nvSpPr>
        <p:spPr bwMode="auto">
          <a:xfrm>
            <a:off x="8592820" y="152400"/>
            <a:ext cx="549275" cy="1447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第四步</a:t>
            </a:r>
            <a:endParaRPr kumimoji="1" lang="zh-CN" altLang="en-US" sz="24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673804" name="Rectangle 12"/>
          <p:cNvSpPr>
            <a:spLocks noChangeArrowheads="1"/>
          </p:cNvSpPr>
          <p:nvPr/>
        </p:nvSpPr>
        <p:spPr bwMode="auto">
          <a:xfrm>
            <a:off x="762000" y="533400"/>
            <a:ext cx="3505200" cy="24653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while  a &lt; b  do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if  c &lt; 5  then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while x &gt; y do 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z := x + 1;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else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x := y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AutoShape 14"/>
          <p:cNvSpPr/>
          <p:nvPr/>
        </p:nvSpPr>
        <p:spPr>
          <a:xfrm>
            <a:off x="762000" y="1143000"/>
            <a:ext cx="381000" cy="1676400"/>
          </a:xfrm>
          <a:prstGeom prst="leftBrace">
            <a:avLst>
              <a:gd name="adj1" fmla="val 36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4" name="Text Box 15"/>
          <p:cNvSpPr txBox="1"/>
          <p:nvPr/>
        </p:nvSpPr>
        <p:spPr>
          <a:xfrm>
            <a:off x="381000" y="1752600"/>
            <a:ext cx="6096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rPr>
              <a:t>S</a:t>
            </a:r>
            <a:r>
              <a:rPr lang="en-US" altLang="zh-CN" sz="2900" b="1" baseline="-25000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endParaRPr lang="en-US" altLang="zh-CN" sz="2900" b="1" baseline="-25000" dirty="0">
              <a:solidFill>
                <a:schemeClr val="hlink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8135" name="AutoShape 16"/>
          <p:cNvSpPr/>
          <p:nvPr/>
        </p:nvSpPr>
        <p:spPr>
          <a:xfrm rot="5400000">
            <a:off x="1943100" y="266700"/>
            <a:ext cx="228600" cy="609600"/>
          </a:xfrm>
          <a:prstGeom prst="leftBrace">
            <a:avLst>
              <a:gd name="adj1" fmla="val 52469"/>
              <a:gd name="adj2" fmla="val 48611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6" name="Rectangle 17"/>
          <p:cNvSpPr/>
          <p:nvPr/>
        </p:nvSpPr>
        <p:spPr>
          <a:xfrm>
            <a:off x="1846580" y="80645"/>
            <a:ext cx="379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 Narrow" pitchFamily="34" charset="0"/>
                <a:ea typeface="宋体" panose="02010600030101010101" pitchFamily="2" charset="-122"/>
              </a:rPr>
              <a:t>E</a:t>
            </a:r>
            <a:endParaRPr lang="en-US" altLang="zh-CN" sz="2800" b="1" dirty="0">
              <a:solidFill>
                <a:schemeClr val="hlink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8137" name="Rectangle 20"/>
          <p:cNvSpPr/>
          <p:nvPr/>
        </p:nvSpPr>
        <p:spPr>
          <a:xfrm>
            <a:off x="635" y="2904490"/>
            <a:ext cx="4952365" cy="396938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E.false := S.next;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E.true := newlabel;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S.begin :=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.next := newlabel;                      S.code := gen( S.begin':' )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	   || E.code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	   || gen( E.true':' )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	   ||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.code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	   || gen( 'goto'S.begin )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8138" name="Rectangle 21"/>
          <p:cNvSpPr/>
          <p:nvPr/>
        </p:nvSpPr>
        <p:spPr>
          <a:xfrm>
            <a:off x="5715000" y="5486400"/>
            <a:ext cx="3312795" cy="52197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S → while E do S</a:t>
            </a:r>
            <a:r>
              <a:rPr lang="en-US" altLang="zh-CN" sz="2900" b="1" baseline="-25000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Arial Narrow" pitchFamily="34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tx2"/>
              </a:solidFill>
              <a:latin typeface="Arial Narrow" pitchFamily="34" charset="0"/>
              <a:ea typeface="宋体" panose="02010600030101010101" pitchFamily="2" charset="-122"/>
            </a:endParaRPr>
          </a:p>
        </p:txBody>
      </p:sp>
      <p:sp>
        <p:nvSpPr>
          <p:cNvPr id="48139" name="AutoShape 22"/>
          <p:cNvSpPr/>
          <p:nvPr/>
        </p:nvSpPr>
        <p:spPr>
          <a:xfrm flipH="1">
            <a:off x="5029200" y="5410200"/>
            <a:ext cx="4572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0" name="Text Box 23"/>
          <p:cNvSpPr txBox="1"/>
          <p:nvPr/>
        </p:nvSpPr>
        <p:spPr>
          <a:xfrm>
            <a:off x="3124200" y="3581400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L5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1" name="Text Box 24"/>
          <p:cNvSpPr txBox="1"/>
          <p:nvPr/>
        </p:nvSpPr>
        <p:spPr>
          <a:xfrm>
            <a:off x="4038600" y="4267200"/>
            <a:ext cx="1143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生成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L6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2" name="Rectangle 25"/>
          <p:cNvSpPr/>
          <p:nvPr/>
        </p:nvSpPr>
        <p:spPr>
          <a:xfrm>
            <a:off x="5096510" y="381000"/>
            <a:ext cx="3810000" cy="4875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L6: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if a&lt;b goto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L5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(while a&lt;b).next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L5: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if c&lt;5 goto L3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L4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L3: 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L2:  if  x&gt;y goto L1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L6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L1:  z:=x+1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L2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L6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L4:  x:=y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goto L6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5029200" y="1219200"/>
            <a:ext cx="3429000" cy="5181600"/>
          </a:xfrm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L1:  if a &lt; b  goto L2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goto 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Ln</a:t>
            </a:r>
            <a:endParaRPr lang="en-US" altLang="zh-CN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L2:  if c &lt; 5  goto L3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goto L4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L3:  if x &gt; y  goto L5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goto L1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L5:  z := x + 1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goto L3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L4:  x := y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goto L1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Ln:</a:t>
            </a:r>
            <a:endParaRPr lang="en-US" altLang="zh-CN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AutoShape 16"/>
          <p:cNvSpPr/>
          <p:nvPr/>
        </p:nvSpPr>
        <p:spPr>
          <a:xfrm>
            <a:off x="4572000" y="3048000"/>
            <a:ext cx="381000" cy="533400"/>
          </a:xfrm>
          <a:prstGeom prst="rightArrow">
            <a:avLst>
              <a:gd name="adj1" fmla="val 40472"/>
              <a:gd name="adj2" fmla="val 4201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6" name="Text Box 21"/>
          <p:cNvSpPr txBox="1"/>
          <p:nvPr/>
        </p:nvSpPr>
        <p:spPr>
          <a:xfrm>
            <a:off x="457200" y="38100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经调整标号次序，该语句段的中间代码序列如下：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7" name="Rectangle 22"/>
          <p:cNvSpPr/>
          <p:nvPr/>
        </p:nvSpPr>
        <p:spPr>
          <a:xfrm>
            <a:off x="457200" y="1485900"/>
            <a:ext cx="4038600" cy="4848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L6:  if a&lt;b goto L5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(while a&lt;b).next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L5:  if c&lt;5 goto L3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L4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L3: 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L2:  if  x&gt;y goto L1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L6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L1:  z:=x+1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L2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goto  L6 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执行不到，去掉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L4:  x:=y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goto  L6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4191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涉及循环语句、条件语句、布尔表达式、转移标号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转移目标（程序中的位置）的先引用后定义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使用回填技术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772400" cy="4572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控制结构翻译中的问题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2"/>
          <p:cNvSpPr txBox="1"/>
          <p:nvPr/>
        </p:nvSpPr>
        <p:spPr>
          <a:xfrm>
            <a:off x="457200" y="3352800"/>
            <a:ext cx="8382000" cy="2673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作业：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按讲义所示翻译下列语句为三地址码序列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 x&gt;0  do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while  y&gt;x do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    if  y &gt; 0  then   y := 0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	       else    y := 1;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3" name="Rectangle 4"/>
          <p:cNvSpPr/>
          <p:nvPr/>
        </p:nvSpPr>
        <p:spPr>
          <a:xfrm>
            <a:off x="533400" y="533400"/>
            <a:ext cx="8153400" cy="2454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练习：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翻译语句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x&gt;0 do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while x&gt;10 do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lvl="3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x:=x+1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的分析过程和最终生成的三地址码序列。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941cfb88-b58c-45ae-b7ce-d6df6df4aaa7"/>
  <p:tag name="COMMONDATA" val="eyJoZGlkIjoiYWZhMDYyMDkyNmI0MzgzZTQ1NzlkOWQ4NjlhNmM1ZGUifQ=="/>
  <p:tag name="commondata" val="eyJoZGlkIjoiMTFmMjNjNDI4OTgyMDU5N2Q3MzM5MmVjOWIyZjc2NTY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5925</Words>
  <Application>WPS 演示</Application>
  <PresentationFormat>全屏显示(4:3)</PresentationFormat>
  <Paragraphs>435</Paragraphs>
  <Slides>42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42</vt:i4>
      </vt:variant>
      <vt:variant>
        <vt:lpstr>自定义放映</vt:lpstr>
      </vt:variant>
      <vt:variant>
        <vt:i4>2</vt:i4>
      </vt:variant>
    </vt:vector>
  </HeadingPairs>
  <TitlesOfParts>
    <vt:vector size="61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Wingdings 2</vt:lpstr>
      <vt:lpstr>微软雅黑</vt:lpstr>
      <vt:lpstr>Arial Unicode MS</vt:lpstr>
      <vt:lpstr>Arial Narrow</vt:lpstr>
      <vt:lpstr>Tahoma</vt:lpstr>
      <vt:lpstr>聚合</vt:lpstr>
      <vt:lpstr>第6章 中间代码生成</vt:lpstr>
      <vt:lpstr>常见的中间语言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6.2.2、控制结构的翻译</vt:lpstr>
      <vt:lpstr>6.2.3、简单布尔表达式的翻译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控制结构翻译中的问题</vt:lpstr>
      <vt:lpstr>PowerPoint 演示文稿</vt:lpstr>
      <vt:lpstr>自定义放映1</vt:lpstr>
      <vt:lpstr>自定义放映2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823</cp:revision>
  <dcterms:created xsi:type="dcterms:W3CDTF">2001-08-16T12:48:00Z</dcterms:created>
  <dcterms:modified xsi:type="dcterms:W3CDTF">2024-05-11T08:11:01Z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FFD519A41C524985B5A45F2C25AA1A67_12</vt:lpwstr>
  </property>
  <property fmtid="{D5CDD505-2E9C-101B-9397-08002B2CF9AE}" pid="3" name="KSOProductBuildVer">
    <vt:lpwstr>2052-12.1.0.15374</vt:lpwstr>
  </property>
</Properties>
</file>