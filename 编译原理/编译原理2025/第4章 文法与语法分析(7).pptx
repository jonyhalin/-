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6"/>
  </p:notesMasterIdLst>
  <p:handoutMasterIdLst>
    <p:handoutMasterId r:id="rId47"/>
  </p:handoutMasterIdLst>
  <p:sldIdLst>
    <p:sldId id="487" r:id="rId4"/>
    <p:sldId id="392" r:id="rId5"/>
    <p:sldId id="488" r:id="rId7"/>
    <p:sldId id="489" r:id="rId8"/>
    <p:sldId id="490" r:id="rId9"/>
    <p:sldId id="491" r:id="rId10"/>
    <p:sldId id="492" r:id="rId11"/>
    <p:sldId id="493" r:id="rId12"/>
    <p:sldId id="393" r:id="rId13"/>
    <p:sldId id="532" r:id="rId14"/>
    <p:sldId id="483" r:id="rId15"/>
    <p:sldId id="484" r:id="rId16"/>
    <p:sldId id="502" r:id="rId17"/>
    <p:sldId id="466" r:id="rId18"/>
    <p:sldId id="494" r:id="rId19"/>
    <p:sldId id="495" r:id="rId20"/>
    <p:sldId id="503" r:id="rId21"/>
    <p:sldId id="504" r:id="rId22"/>
    <p:sldId id="496" r:id="rId23"/>
    <p:sldId id="478" r:id="rId24"/>
    <p:sldId id="507" r:id="rId25"/>
    <p:sldId id="508" r:id="rId26"/>
    <p:sldId id="505" r:id="rId27"/>
    <p:sldId id="506" r:id="rId28"/>
    <p:sldId id="485" r:id="rId29"/>
    <p:sldId id="399" r:id="rId30"/>
    <p:sldId id="509" r:id="rId31"/>
    <p:sldId id="439" r:id="rId32"/>
    <p:sldId id="400" r:id="rId33"/>
    <p:sldId id="479" r:id="rId34"/>
    <p:sldId id="469" r:id="rId35"/>
    <p:sldId id="472" r:id="rId36"/>
    <p:sldId id="473" r:id="rId37"/>
    <p:sldId id="497" r:id="rId38"/>
    <p:sldId id="498" r:id="rId39"/>
    <p:sldId id="499" r:id="rId40"/>
    <p:sldId id="500" r:id="rId41"/>
    <p:sldId id="501" r:id="rId42"/>
    <p:sldId id="480" r:id="rId43"/>
    <p:sldId id="510" r:id="rId44"/>
    <p:sldId id="481" r:id="rId45"/>
    <p:sldId id="482" r:id="rId46"/>
  </p:sldIdLst>
  <p:sldSz cx="9144000" cy="6858000" type="screen4x3"/>
  <p:notesSz cx="6858000" cy="9144000"/>
  <p:custShowLst>
    <p:custShow name="自定义放映1" id="0">
      <p:sldLst/>
    </p:custShow>
    <p:custShow name="自定义放映2" id="1">
      <p:sldLst/>
    </p:custShow>
    <p:custShow name="自定义放映3" id="2">
      <p:sldLst>
        <p:sld r:id="rId5"/>
        <p:sld r:id="rId13"/>
        <p:sld r:id="rId18"/>
        <p:sld r:id="rId24"/>
        <p:sld r:id="rId30"/>
        <p:sld r:id="rId32"/>
        <p:sld r:id="rId33"/>
        <p:sld r:id="rId34"/>
        <p:sld r:id="rId35"/>
        <p:sld r:id="rId36"/>
        <p:sld r:id="rId37"/>
        <p:sld r:id="rId45"/>
        <p:sld r:id="rId46"/>
        <p:sld r:id="rId43"/>
      </p:sldLst>
    </p:custShow>
  </p:custShowLst>
  <p:custDataLst>
    <p:tags r:id="rId51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Times New Roman" panose="0202060305040502030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Times New Roman" panose="0202060305040502030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Times New Roman" panose="0202060305040502030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Times New Roman" panose="0202060305040502030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Times New Roman" panose="0202060305040502030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Times New Roman" panose="0202060305040502030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Times New Roman" panose="0202060305040502030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Times New Roman" panose="0202060305040502030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Times New Roman" panose="0202060305040502030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2FDB2607-1784-4EEB-B798-7EB5836EED8A}">
        <p14:showMediaCtrls xmlns:p14="http://schemas.microsoft.com/office/powerpoint/2010/main" val="1"/>
      </p:ext>
    </p:extLst>
  </p:showPr>
  <p:clrMru>
    <a:srgbClr val="003366"/>
    <a:srgbClr val="CC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620"/>
    <p:restoredTop sz="94660"/>
  </p:normalViewPr>
  <p:slideViewPr>
    <p:cSldViewPr showGuides="1">
      <p:cViewPr>
        <p:scale>
          <a:sx n="90" d="100"/>
          <a:sy n="90" d="100"/>
        </p:scale>
        <p:origin x="-102" y="-3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notesMaster" Target="notesMasters/notesMaster1.xml"/><Relationship Id="rId51" Type="http://schemas.openxmlformats.org/officeDocument/2006/relationships/tags" Target="tags/tag17.xml"/><Relationship Id="rId50" Type="http://schemas.openxmlformats.org/officeDocument/2006/relationships/tableStyles" Target="tableStyles.xml"/><Relationship Id="rId5" Type="http://schemas.openxmlformats.org/officeDocument/2006/relationships/slide" Target="slides/slide2.xml"/><Relationship Id="rId49" Type="http://schemas.openxmlformats.org/officeDocument/2006/relationships/viewProps" Target="viewProps.xml"/><Relationship Id="rId48" Type="http://schemas.openxmlformats.org/officeDocument/2006/relationships/presProps" Target="presProps.xml"/><Relationship Id="rId47" Type="http://schemas.openxmlformats.org/officeDocument/2006/relationships/handoutMaster" Target="handoutMasters/handoutMaster1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200" b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 b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42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 b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42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p>
            <a:pPr lvl="0" algn="r" eaLnBrk="1" hangingPunct="1">
              <a:buNone/>
            </a:pPr>
            <a:fld id="{9A0DB2DC-4C9A-4742-B13C-FB6460FD3503}" type="slidenum">
              <a:rPr lang="en-US" altLang="zh-CN" sz="1200" b="0" dirty="0"/>
            </a:fld>
            <a:endParaRPr lang="en-US" altLang="zh-CN" sz="1200" b="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71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200" b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 b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204" name="Rectangle 4"/>
          <p:cNvSpPr>
            <a:spLocks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4710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单击此处编辑母版文本样式</a:t>
            </a:r>
            <a:endParaRPr kumimoji="1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第二级</a:t>
            </a:r>
            <a:endParaRPr kumimoji="1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第三级</a:t>
            </a:r>
            <a:endParaRPr kumimoji="1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第四级</a:t>
            </a:r>
            <a:endParaRPr kumimoji="1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第五级</a:t>
            </a:r>
            <a:endParaRPr kumimoji="1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711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 b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711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p>
            <a:pPr lvl="0" algn="r" eaLnBrk="1" hangingPunct="1">
              <a:buNone/>
            </a:pPr>
            <a:fld id="{9A0DB2DC-4C9A-4742-B13C-FB6460FD3503}" type="slidenum">
              <a:rPr lang="en-US" altLang="zh-CN" sz="1200" b="0" dirty="0"/>
            </a:fld>
            <a:endParaRPr lang="en-US" altLang="zh-CN" sz="1200" b="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52227" name="Rectangle 2"/>
          <p:cNvSpPr>
            <a:spLocks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325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53251" name="Rectangle 2"/>
          <p:cNvSpPr>
            <a:spLocks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427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54275" name="Rectangle 2"/>
          <p:cNvSpPr>
            <a:spLocks noTextEdit="1"/>
          </p:cNvSpPr>
          <p:nvPr>
            <p:ph type="sldImg"/>
          </p:nvPr>
        </p:nvSpPr>
        <p:spPr>
          <a:ln/>
        </p:spPr>
      </p:sp>
      <p:sp>
        <p:nvSpPr>
          <p:cNvPr id="54276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427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54275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54276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529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55299" name="Rectangle 2"/>
          <p:cNvSpPr>
            <a:spLocks noTextEdit="1"/>
          </p:cNvSpPr>
          <p:nvPr>
            <p:ph type="sldImg"/>
          </p:nvPr>
        </p:nvSpPr>
        <p:spPr>
          <a:ln/>
        </p:spPr>
      </p:sp>
      <p:sp>
        <p:nvSpPr>
          <p:cNvPr id="55300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632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56323" name="Rectangle 2"/>
          <p:cNvSpPr>
            <a:spLocks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734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57347" name="Rectangle 2"/>
          <p:cNvSpPr>
            <a:spLocks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837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58371" name="Rectangle 2"/>
          <p:cNvSpPr>
            <a:spLocks noTextEdit="1"/>
          </p:cNvSpPr>
          <p:nvPr>
            <p:ph type="sldImg"/>
          </p:nvPr>
        </p:nvSpPr>
        <p:spPr>
          <a:ln/>
        </p:spPr>
      </p:sp>
      <p:sp>
        <p:nvSpPr>
          <p:cNvPr id="58372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39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59395" name="Rectangle 2"/>
          <p:cNvSpPr>
            <a:spLocks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041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60419" name="Rectangle 2"/>
          <p:cNvSpPr>
            <a:spLocks noTextEdit="1"/>
          </p:cNvSpPr>
          <p:nvPr>
            <p:ph type="sldImg"/>
          </p:nvPr>
        </p:nvSpPr>
        <p:spPr>
          <a:ln/>
        </p:spPr>
      </p:sp>
      <p:sp>
        <p:nvSpPr>
          <p:cNvPr id="60420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4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61443" name="Rectangle 2"/>
          <p:cNvSpPr>
            <a:spLocks noTextEdit="1"/>
          </p:cNvSpPr>
          <p:nvPr>
            <p:ph type="sldImg"/>
          </p:nvPr>
        </p:nvSpPr>
        <p:spPr>
          <a:ln/>
        </p:spPr>
      </p:sp>
      <p:sp>
        <p:nvSpPr>
          <p:cNvPr id="61444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246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62467" name="Rectangle 2"/>
          <p:cNvSpPr>
            <a:spLocks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349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63491" name="Rectangle 2"/>
          <p:cNvSpPr>
            <a:spLocks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451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64515" name="Rectangle 2"/>
          <p:cNvSpPr>
            <a:spLocks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553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65539" name="Rectangle 2"/>
          <p:cNvSpPr>
            <a:spLocks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656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66563" name="Rectangle 2"/>
          <p:cNvSpPr>
            <a:spLocks noTextEdit="1"/>
          </p:cNvSpPr>
          <p:nvPr>
            <p:ph type="sldImg"/>
          </p:nvPr>
        </p:nvSpPr>
        <p:spPr>
          <a:ln/>
        </p:spPr>
      </p:sp>
      <p:sp>
        <p:nvSpPr>
          <p:cNvPr id="66564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758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67587" name="Rectangle 2"/>
          <p:cNvSpPr>
            <a:spLocks noTextEdit="1"/>
          </p:cNvSpPr>
          <p:nvPr>
            <p:ph type="sldImg"/>
          </p:nvPr>
        </p:nvSpPr>
        <p:spPr>
          <a:ln/>
        </p:spPr>
      </p:sp>
      <p:sp>
        <p:nvSpPr>
          <p:cNvPr id="67588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861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68611" name="Rectangle 2"/>
          <p:cNvSpPr>
            <a:spLocks noTextEdit="1"/>
          </p:cNvSpPr>
          <p:nvPr>
            <p:ph type="sldImg"/>
          </p:nvPr>
        </p:nvSpPr>
        <p:spPr>
          <a:ln/>
        </p:spPr>
      </p:sp>
      <p:sp>
        <p:nvSpPr>
          <p:cNvPr id="68612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963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69635" name="Rectangle 2"/>
          <p:cNvSpPr>
            <a:spLocks noTextEdit="1"/>
          </p:cNvSpPr>
          <p:nvPr>
            <p:ph type="sldImg"/>
          </p:nvPr>
        </p:nvSpPr>
        <p:spPr>
          <a:ln/>
        </p:spPr>
      </p:sp>
      <p:sp>
        <p:nvSpPr>
          <p:cNvPr id="69636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直角三角形 10"/>
          <p:cNvSpPr/>
          <p:nvPr/>
        </p:nvSpPr>
        <p:spPr>
          <a:xfrm>
            <a:off x="0" y="4664075"/>
            <a:ext cx="9150350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2051" name="组合 15"/>
          <p:cNvGrpSpPr/>
          <p:nvPr/>
        </p:nvGrpSpPr>
        <p:grpSpPr>
          <a:xfrm>
            <a:off x="-3175" y="4953000"/>
            <a:ext cx="9147175" cy="1911350"/>
            <a:chOff x="-3765" y="4832896"/>
            <a:chExt cx="9147765" cy="2032192"/>
          </a:xfrm>
        </p:grpSpPr>
        <p:sp>
          <p:nvSpPr>
            <p:cNvPr id="16" name="任意多边形 15"/>
            <p:cNvSpPr/>
            <p:nvPr/>
          </p:nvSpPr>
          <p:spPr bwMode="auto">
            <a:xfrm>
              <a:off x="1687032" y="4832896"/>
              <a:ext cx="7456968" cy="51817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58" name="任意多边形 18"/>
            <p:cNvSpPr/>
            <p:nvPr/>
          </p:nvSpPr>
          <p:spPr>
            <a:xfrm>
              <a:off x="35926" y="5135025"/>
              <a:ext cx="9108074" cy="838869"/>
            </a:xfrm>
            <a:custGeom>
              <a:avLst/>
              <a:gdLst>
                <a:gd name="txL" fmla="*/ 0 w 5760"/>
                <a:gd name="txT" fmla="*/ 0 h 528"/>
                <a:gd name="txR" fmla="*/ 5760 w 5760"/>
                <a:gd name="txB" fmla="*/ 528 h 528"/>
              </a:gdLst>
              <a:ahLst/>
              <a:cxnLst>
                <a:cxn ang="0">
                  <a:pos x="0" y="0"/>
                </a:cxn>
                <a:cxn ang="0">
                  <a:pos x="9108074" y="0"/>
                </a:cxn>
                <a:cxn ang="0">
                  <a:pos x="9108074" y="838869"/>
                </a:cxn>
                <a:cxn ang="0">
                  <a:pos x="75901" y="0"/>
                </a:cxn>
              </a:cxnLst>
              <a:rect l="txL" t="txT" r="txR" b="txB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9" name="任意多边形 18"/>
            <p:cNvSpPr/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cxnSp>
          <p:nvCxnSpPr>
            <p:cNvPr id="20" name="直接连接符 19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标题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anchor="b"/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17" name="副标题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135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zh-CN" altLang="en-US" smtClean="0"/>
              <a:t>单击此处编辑母版副标题样式</a:t>
            </a:r>
            <a:endParaRPr lang="en-US"/>
          </a:p>
        </p:txBody>
      </p:sp>
      <p:sp>
        <p:nvSpPr>
          <p:cNvPr id="21" name="日期占位符 29"/>
          <p:cNvSpPr>
            <a:spLocks noGrp="1"/>
          </p:cNvSpPr>
          <p:nvPr>
            <p:ph type="dt" sz="half" idx="2"/>
          </p:nvPr>
        </p:nvSpPr>
        <p:spPr>
          <a:xfrm>
            <a:off x="6727825" y="6408738"/>
            <a:ext cx="1919288" cy="365125"/>
          </a:xfrm>
          <a:prstGeom prst="rect">
            <a:avLst/>
          </a:prstGeom>
        </p:spPr>
        <p:txBody>
          <a:bodyPr vert="horz" anchor="b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3" name="页脚占位符 18"/>
          <p:cNvSpPr>
            <a:spLocks noGrp="1"/>
          </p:cNvSpPr>
          <p:nvPr>
            <p:ph type="ftr" sz="quarter" idx="3"/>
          </p:nvPr>
        </p:nvSpPr>
        <p:spPr>
          <a:xfrm>
            <a:off x="4379913" y="6408738"/>
            <a:ext cx="2351088" cy="365125"/>
          </a:xfrm>
          <a:prstGeom prst="rect">
            <a:avLst/>
          </a:prstGeom>
        </p:spPr>
        <p:txBody>
          <a:bodyPr vert="horz" anchor="b"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chemeClr val="accent1">
                  <a:tint val="20000"/>
                </a:schemeClr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" name="灯片编号占位符 26"/>
          <p:cNvSpPr>
            <a:spLocks noGrp="1"/>
          </p:cNvSpPr>
          <p:nvPr>
            <p:ph type="sldNum" sz="quarter" idx="4"/>
          </p:nvPr>
        </p:nvSpPr>
        <p:spPr>
          <a:xfrm>
            <a:off x="8647113" y="6408738"/>
            <a:ext cx="366713" cy="365125"/>
          </a:xfrm>
          <a:prstGeom prst="rect">
            <a:avLst/>
          </a:prstGeom>
        </p:spPr>
        <p:txBody>
          <a:bodyPr vert="horz" anchor="b"/>
          <a:p>
            <a:pPr algn="r">
              <a:buNone/>
            </a:pPr>
            <a:fld id="{9A0DB2DC-4C9A-4742-B13C-FB6460FD3503}" type="slidenum">
              <a:rPr lang="en-US" altLang="zh-CN" dirty="0">
                <a:solidFill>
                  <a:srgbClr val="FFFFFF"/>
                </a:solidFill>
              </a:rPr>
            </a:fld>
            <a:endParaRPr lang="en-US" altLang="zh-CN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charset="0"/>
              </a:rPr>
            </a:fld>
            <a:endParaRPr lang="en-US" altLang="zh-CN" dirty="0">
              <a:latin typeface="Times New Roman" panose="0202060305040502030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燕尾形 10"/>
          <p:cNvSpPr/>
          <p:nvPr/>
        </p:nvSpPr>
        <p:spPr>
          <a:xfrm>
            <a:off x="3636963" y="3005138"/>
            <a:ext cx="182563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燕尾形 11"/>
          <p:cNvSpPr/>
          <p:nvPr/>
        </p:nvSpPr>
        <p:spPr>
          <a:xfrm>
            <a:off x="3449638" y="3005138"/>
            <a:ext cx="18415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anchor="b"/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6" name="日期占位符 3"/>
          <p:cNvSpPr>
            <a:spLocks noGrp="1"/>
          </p:cNvSpPr>
          <p:nvPr>
            <p:ph type="dt" sz="half" idx="2"/>
          </p:nvPr>
        </p:nvSpPr>
        <p:spPr>
          <a:xfrm>
            <a:off x="6727825" y="6408738"/>
            <a:ext cx="1919288" cy="365125"/>
          </a:xfrm>
          <a:prstGeom prst="rect">
            <a:avLst/>
          </a:prstGeom>
        </p:spPr>
        <p:txBody>
          <a:bodyPr vert="horz" anchor="b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页脚占位符 4"/>
          <p:cNvSpPr>
            <a:spLocks noGrp="1"/>
          </p:cNvSpPr>
          <p:nvPr>
            <p:ph type="ftr" sz="quarter" idx="3"/>
          </p:nvPr>
        </p:nvSpPr>
        <p:spPr>
          <a:xfrm>
            <a:off x="4379913" y="6408738"/>
            <a:ext cx="2351088" cy="365125"/>
          </a:xfrm>
          <a:prstGeom prst="rect">
            <a:avLst/>
          </a:prstGeom>
        </p:spPr>
        <p:txBody>
          <a:bodyPr vert="horz" anchor="b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47113" y="6408738"/>
            <a:ext cx="366713" cy="365125"/>
          </a:xfrm>
          <a:prstGeom prst="rect">
            <a:avLst/>
          </a:prstGeom>
        </p:spPr>
        <p:txBody>
          <a:bodyPr vert="horz" anchor="b"/>
          <a:p>
            <a:pPr algn="r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11" name="日期占位符 4"/>
          <p:cNvSpPr>
            <a:spLocks noGrp="1"/>
          </p:cNvSpPr>
          <p:nvPr>
            <p:ph type="dt" sz="half" idx="12"/>
          </p:nvPr>
        </p:nvSpPr>
        <p:spPr>
          <a:xfrm>
            <a:off x="6727825" y="6408738"/>
            <a:ext cx="1919288" cy="365125"/>
          </a:xfrm>
          <a:prstGeom prst="rect">
            <a:avLst/>
          </a:prstGeom>
        </p:spPr>
        <p:txBody>
          <a:bodyPr vert="horz" anchor="b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页脚占位符 5"/>
          <p:cNvSpPr>
            <a:spLocks noGrp="1"/>
          </p:cNvSpPr>
          <p:nvPr>
            <p:ph type="ftr" sz="quarter" idx="3"/>
          </p:nvPr>
        </p:nvSpPr>
        <p:spPr>
          <a:xfrm>
            <a:off x="4379913" y="6408738"/>
            <a:ext cx="2351088" cy="365125"/>
          </a:xfrm>
          <a:prstGeom prst="rect">
            <a:avLst/>
          </a:prstGeom>
        </p:spPr>
        <p:txBody>
          <a:bodyPr vert="horz" anchor="b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8647113" y="6408738"/>
            <a:ext cx="366713" cy="365125"/>
          </a:xfrm>
          <a:prstGeom prst="rect">
            <a:avLst/>
          </a:prstGeom>
        </p:spPr>
        <p:txBody>
          <a:bodyPr vert="horz" anchor="b"/>
          <a:p>
            <a:pPr algn="r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比较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内容占位符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1" name="日期占位符 6"/>
          <p:cNvSpPr>
            <a:spLocks noGrp="1"/>
          </p:cNvSpPr>
          <p:nvPr>
            <p:ph type="dt" sz="half" idx="12"/>
          </p:nvPr>
        </p:nvSpPr>
        <p:spPr>
          <a:xfrm>
            <a:off x="6727825" y="6408738"/>
            <a:ext cx="1919288" cy="365125"/>
          </a:xfrm>
          <a:prstGeom prst="rect">
            <a:avLst/>
          </a:prstGeom>
        </p:spPr>
        <p:txBody>
          <a:bodyPr vert="horz" anchor="b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页脚占位符 7"/>
          <p:cNvSpPr>
            <a:spLocks noGrp="1"/>
          </p:cNvSpPr>
          <p:nvPr>
            <p:ph type="ftr" sz="quarter" idx="13"/>
          </p:nvPr>
        </p:nvSpPr>
        <p:spPr>
          <a:xfrm>
            <a:off x="4379913" y="6408738"/>
            <a:ext cx="2351088" cy="365125"/>
          </a:xfrm>
          <a:prstGeom prst="rect">
            <a:avLst/>
          </a:prstGeom>
        </p:spPr>
        <p:txBody>
          <a:bodyPr vert="horz" anchor="b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灯片编号占位符 8"/>
          <p:cNvSpPr>
            <a:spLocks noGrp="1"/>
          </p:cNvSpPr>
          <p:nvPr>
            <p:ph type="sldNum" sz="quarter" idx="14"/>
          </p:nvPr>
        </p:nvSpPr>
        <p:spPr>
          <a:xfrm>
            <a:off x="8647113" y="6408738"/>
            <a:ext cx="366713" cy="365125"/>
          </a:xfrm>
          <a:prstGeom prst="rect">
            <a:avLst/>
          </a:prstGeom>
        </p:spPr>
        <p:txBody>
          <a:bodyPr vert="horz" anchor="b"/>
          <a:p>
            <a:pPr algn="r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11" name="日期占位符 2"/>
          <p:cNvSpPr>
            <a:spLocks noGrp="1"/>
          </p:cNvSpPr>
          <p:nvPr>
            <p:ph type="dt" sz="half" idx="2"/>
          </p:nvPr>
        </p:nvSpPr>
        <p:spPr>
          <a:xfrm>
            <a:off x="6727825" y="6408738"/>
            <a:ext cx="1919288" cy="365125"/>
          </a:xfrm>
          <a:prstGeom prst="rect">
            <a:avLst/>
          </a:prstGeom>
        </p:spPr>
        <p:txBody>
          <a:bodyPr vert="horz" anchor="b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页脚占位符 3"/>
          <p:cNvSpPr>
            <a:spLocks noGrp="1"/>
          </p:cNvSpPr>
          <p:nvPr>
            <p:ph type="ftr" sz="quarter" idx="3"/>
          </p:nvPr>
        </p:nvSpPr>
        <p:spPr>
          <a:xfrm>
            <a:off x="4379913" y="6408738"/>
            <a:ext cx="2351088" cy="365125"/>
          </a:xfrm>
          <a:prstGeom prst="rect">
            <a:avLst/>
          </a:prstGeom>
        </p:spPr>
        <p:txBody>
          <a:bodyPr vert="horz" anchor="b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灯片编号占位符 4"/>
          <p:cNvSpPr>
            <a:spLocks noGrp="1"/>
          </p:cNvSpPr>
          <p:nvPr>
            <p:ph type="sldNum" sz="quarter" idx="4"/>
          </p:nvPr>
        </p:nvSpPr>
        <p:spPr>
          <a:xfrm>
            <a:off x="8647113" y="6408738"/>
            <a:ext cx="366713" cy="365125"/>
          </a:xfrm>
          <a:prstGeom prst="rect">
            <a:avLst/>
          </a:prstGeom>
        </p:spPr>
        <p:txBody>
          <a:bodyPr vert="horz" anchor="b"/>
          <a:p>
            <a:pPr algn="r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charset="0"/>
              </a:rPr>
            </a:fld>
            <a:endParaRPr lang="en-US" altLang="zh-CN" dirty="0">
              <a:latin typeface="Times New Roman" panose="0202060305040502030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内容与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1" name="日期占位符 4"/>
          <p:cNvSpPr>
            <a:spLocks noGrp="1"/>
          </p:cNvSpPr>
          <p:nvPr>
            <p:ph type="dt" sz="half" idx="12"/>
          </p:nvPr>
        </p:nvSpPr>
        <p:spPr>
          <a:xfrm>
            <a:off x="6727825" y="6408738"/>
            <a:ext cx="1919288" cy="365125"/>
          </a:xfrm>
          <a:prstGeom prst="rect">
            <a:avLst/>
          </a:prstGeom>
        </p:spPr>
        <p:txBody>
          <a:bodyPr vert="horz" anchor="b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页脚占位符 5"/>
          <p:cNvSpPr>
            <a:spLocks noGrp="1"/>
          </p:cNvSpPr>
          <p:nvPr>
            <p:ph type="ftr" sz="quarter" idx="3"/>
          </p:nvPr>
        </p:nvSpPr>
        <p:spPr>
          <a:xfrm>
            <a:off x="4379913" y="6408738"/>
            <a:ext cx="2351088" cy="365125"/>
          </a:xfrm>
          <a:prstGeom prst="rect">
            <a:avLst/>
          </a:prstGeom>
        </p:spPr>
        <p:txBody>
          <a:bodyPr vert="horz" anchor="b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8647113" y="6408738"/>
            <a:ext cx="366713" cy="365125"/>
          </a:xfrm>
          <a:prstGeom prst="rect">
            <a:avLst/>
          </a:prstGeom>
        </p:spPr>
        <p:txBody>
          <a:bodyPr vert="horz" anchor="b"/>
          <a:p>
            <a:pPr algn="r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图片与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任意多边形 10"/>
          <p:cNvSpPr/>
          <p:nvPr/>
        </p:nvSpPr>
        <p:spPr bwMode="auto">
          <a:xfrm>
            <a:off x="715963" y="5002213"/>
            <a:ext cx="3802063" cy="1443038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195" name="任意多边形 15"/>
          <p:cNvSpPr/>
          <p:nvPr/>
        </p:nvSpPr>
        <p:spPr>
          <a:xfrm>
            <a:off x="-53975" y="5784850"/>
            <a:ext cx="3802063" cy="838200"/>
          </a:xfrm>
          <a:custGeom>
            <a:avLst/>
            <a:gdLst>
              <a:gd name="txL" fmla="*/ 0 w 5760"/>
              <a:gd name="txT" fmla="*/ 0 h 528"/>
              <a:gd name="txR" fmla="*/ 5760 w 5760"/>
              <a:gd name="txB" fmla="*/ 528 h 528"/>
            </a:gdLst>
            <a:ahLst/>
            <a:cxnLst>
              <a:cxn ang="0">
                <a:pos x="0" y="0"/>
              </a:cxn>
              <a:cxn ang="0">
                <a:pos x="3802063" y="0"/>
              </a:cxn>
              <a:cxn ang="0">
                <a:pos x="3802063" y="838200"/>
              </a:cxn>
              <a:cxn ang="0">
                <a:pos x="31684" y="0"/>
              </a:cxn>
            </a:cxnLst>
            <a:rect l="txL" t="txT" r="txR" b="txB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16" name="直角三角形 15"/>
          <p:cNvSpPr/>
          <p:nvPr/>
        </p:nvSpPr>
        <p:spPr bwMode="auto">
          <a:xfrm>
            <a:off x="-6042" y="5791253"/>
            <a:ext cx="3402313" cy="1080868"/>
          </a:xfrm>
          <a:prstGeom prst="rtTriangle">
            <a:avLst/>
          </a:prstGeom>
          <a:blipFill>
            <a:blip r:embed="rId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17" name="直接连接符 16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燕尾形 18"/>
          <p:cNvSpPr/>
          <p:nvPr/>
        </p:nvSpPr>
        <p:spPr>
          <a:xfrm>
            <a:off x="8664575" y="4987925"/>
            <a:ext cx="182563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0" name="燕尾形 19"/>
          <p:cNvSpPr/>
          <p:nvPr/>
        </p:nvSpPr>
        <p:spPr>
          <a:xfrm>
            <a:off x="8477250" y="4987925"/>
            <a:ext cx="182563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tIns="0"/>
          <a:lstStyle>
            <a:lvl1pPr marL="0" marR="18415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 vert="horz" wrap="square" lIns="91440" tIns="45720" rIns="91440" bIns="45720" numCol="1" anchor="t" anchorCtr="0" compatLnSpc="1">
            <a:normAutofit/>
          </a:bodyPr>
          <a:lstStyle>
            <a:lvl1pPr marL="0" indent="0">
              <a:buNone/>
              <a:defRPr sz="320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None/>
              <a:defRPr/>
            </a:pPr>
            <a:r>
              <a:rPr kumimoji="0" lang="zh-CN" altLang="en-US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单击图标添加图片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21" name="日期占位符 4"/>
          <p:cNvSpPr>
            <a:spLocks noGrp="1"/>
          </p:cNvSpPr>
          <p:nvPr>
            <p:ph type="dt" sz="half" idx="12"/>
          </p:nvPr>
        </p:nvSpPr>
        <p:spPr>
          <a:xfrm>
            <a:off x="6727825" y="6408738"/>
            <a:ext cx="1919288" cy="365125"/>
          </a:xfrm>
          <a:prstGeom prst="rect">
            <a:avLst/>
          </a:prstGeom>
        </p:spPr>
        <p:txBody>
          <a:bodyPr vert="horz"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3" name="页脚占位符 5"/>
          <p:cNvSpPr>
            <a:spLocks noGrp="1"/>
          </p:cNvSpPr>
          <p:nvPr>
            <p:ph type="ftr" sz="quarter" idx="3"/>
          </p:nvPr>
        </p:nvSpPr>
        <p:spPr>
          <a:xfrm>
            <a:off x="4379913" y="6408738"/>
            <a:ext cx="2351088" cy="365125"/>
          </a:xfrm>
          <a:prstGeom prst="rect">
            <a:avLst/>
          </a:prstGeom>
        </p:spPr>
        <p:txBody>
          <a:bodyPr vert="horz"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8647113" y="6408738"/>
            <a:ext cx="366713" cy="365125"/>
          </a:xfrm>
          <a:prstGeom prst="rect">
            <a:avLst/>
          </a:prstGeom>
        </p:spPr>
        <p:txBody>
          <a:bodyPr vert="horz" anchor="b"/>
          <a:p>
            <a:pPr algn="r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charset="0"/>
              </a:rPr>
            </a:fld>
            <a:endParaRPr lang="en-US" altLang="zh-CN" dirty="0">
              <a:latin typeface="Times New Roman" panose="0202060305040502030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charset="0"/>
              </a:rPr>
            </a:fld>
            <a:endParaRPr lang="en-US" altLang="zh-CN" dirty="0">
              <a:latin typeface="Times New Roman" panose="02020603050405020304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直角三角形 10"/>
          <p:cNvSpPr/>
          <p:nvPr/>
        </p:nvSpPr>
        <p:spPr>
          <a:xfrm>
            <a:off x="0" y="4664075"/>
            <a:ext cx="9150350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2051" name="组合 15"/>
          <p:cNvGrpSpPr/>
          <p:nvPr/>
        </p:nvGrpSpPr>
        <p:grpSpPr>
          <a:xfrm>
            <a:off x="-3175" y="4953000"/>
            <a:ext cx="9147175" cy="1911350"/>
            <a:chOff x="-3765" y="4832896"/>
            <a:chExt cx="9147765" cy="2032192"/>
          </a:xfrm>
        </p:grpSpPr>
        <p:sp>
          <p:nvSpPr>
            <p:cNvPr id="16" name="任意多边形 15"/>
            <p:cNvSpPr/>
            <p:nvPr/>
          </p:nvSpPr>
          <p:spPr bwMode="auto">
            <a:xfrm>
              <a:off x="1687032" y="4832896"/>
              <a:ext cx="7456968" cy="51817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58" name="任意多边形 18"/>
            <p:cNvSpPr/>
            <p:nvPr/>
          </p:nvSpPr>
          <p:spPr>
            <a:xfrm>
              <a:off x="35926" y="5135025"/>
              <a:ext cx="9108074" cy="838869"/>
            </a:xfrm>
            <a:custGeom>
              <a:avLst/>
              <a:gdLst>
                <a:gd name="txL" fmla="*/ 0 w 5760"/>
                <a:gd name="txT" fmla="*/ 0 h 528"/>
                <a:gd name="txR" fmla="*/ 5760 w 5760"/>
                <a:gd name="txB" fmla="*/ 528 h 528"/>
              </a:gdLst>
              <a:ahLst/>
              <a:cxnLst>
                <a:cxn ang="0">
                  <a:pos x="0" y="0"/>
                </a:cxn>
                <a:cxn ang="0">
                  <a:pos x="9108074" y="0"/>
                </a:cxn>
                <a:cxn ang="0">
                  <a:pos x="9108074" y="838869"/>
                </a:cxn>
                <a:cxn ang="0">
                  <a:pos x="75901" y="0"/>
                </a:cxn>
              </a:cxnLst>
              <a:rect l="txL" t="txT" r="txR" b="txB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9" name="任意多边形 18"/>
            <p:cNvSpPr/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cxnSp>
          <p:nvCxnSpPr>
            <p:cNvPr id="20" name="直接连接符 19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标题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anchor="b"/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17" name="副标题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135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zh-CN" altLang="en-US" smtClean="0"/>
              <a:t>单击此处编辑母版副标题样式</a:t>
            </a:r>
            <a:endParaRPr lang="en-US"/>
          </a:p>
        </p:txBody>
      </p:sp>
      <p:sp>
        <p:nvSpPr>
          <p:cNvPr id="21" name="日期占位符 29"/>
          <p:cNvSpPr>
            <a:spLocks noGrp="1"/>
          </p:cNvSpPr>
          <p:nvPr>
            <p:ph type="dt" sz="half" idx="2"/>
          </p:nvPr>
        </p:nvSpPr>
        <p:spPr>
          <a:xfrm>
            <a:off x="6727825" y="6408738"/>
            <a:ext cx="1919288" cy="365125"/>
          </a:xfrm>
          <a:prstGeom prst="rect">
            <a:avLst/>
          </a:prstGeom>
        </p:spPr>
        <p:txBody>
          <a:bodyPr vert="horz" anchor="b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3" name="页脚占位符 18"/>
          <p:cNvSpPr>
            <a:spLocks noGrp="1"/>
          </p:cNvSpPr>
          <p:nvPr>
            <p:ph type="ftr" sz="quarter" idx="3"/>
          </p:nvPr>
        </p:nvSpPr>
        <p:spPr>
          <a:xfrm>
            <a:off x="4379913" y="6408738"/>
            <a:ext cx="2351088" cy="365125"/>
          </a:xfrm>
          <a:prstGeom prst="rect">
            <a:avLst/>
          </a:prstGeom>
        </p:spPr>
        <p:txBody>
          <a:bodyPr vert="horz" anchor="b"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chemeClr val="accent1">
                  <a:tint val="20000"/>
                </a:schemeClr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" name="灯片编号占位符 26"/>
          <p:cNvSpPr>
            <a:spLocks noGrp="1"/>
          </p:cNvSpPr>
          <p:nvPr>
            <p:ph type="sldNum" sz="quarter" idx="4"/>
          </p:nvPr>
        </p:nvSpPr>
        <p:spPr>
          <a:xfrm>
            <a:off x="8647113" y="6408738"/>
            <a:ext cx="366713" cy="365125"/>
          </a:xfrm>
          <a:prstGeom prst="rect">
            <a:avLst/>
          </a:prstGeom>
        </p:spPr>
        <p:txBody>
          <a:bodyPr vert="horz" anchor="b"/>
          <a:p>
            <a:pPr algn="r">
              <a:buNone/>
            </a:pPr>
            <a:fld id="{9A0DB2DC-4C9A-4742-B13C-FB6460FD3503}" type="slidenum">
              <a:rPr lang="en-US" altLang="zh-CN" dirty="0">
                <a:solidFill>
                  <a:srgbClr val="FFFFFF"/>
                </a:solidFill>
              </a:rPr>
            </a:fld>
            <a:endParaRPr lang="en-US" altLang="zh-CN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charset="0"/>
              </a:rPr>
            </a:fld>
            <a:endParaRPr lang="en-US" altLang="zh-CN" dirty="0">
              <a:latin typeface="Times New Roman" panose="02020603050405020304" charset="0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燕尾形 10"/>
          <p:cNvSpPr/>
          <p:nvPr/>
        </p:nvSpPr>
        <p:spPr>
          <a:xfrm>
            <a:off x="3636963" y="3005138"/>
            <a:ext cx="182563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燕尾形 11"/>
          <p:cNvSpPr/>
          <p:nvPr/>
        </p:nvSpPr>
        <p:spPr>
          <a:xfrm>
            <a:off x="3449638" y="3005138"/>
            <a:ext cx="18415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anchor="b"/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6" name="日期占位符 3"/>
          <p:cNvSpPr>
            <a:spLocks noGrp="1"/>
          </p:cNvSpPr>
          <p:nvPr>
            <p:ph type="dt" sz="half" idx="2"/>
          </p:nvPr>
        </p:nvSpPr>
        <p:spPr>
          <a:xfrm>
            <a:off x="6727825" y="6408738"/>
            <a:ext cx="1919288" cy="365125"/>
          </a:xfrm>
          <a:prstGeom prst="rect">
            <a:avLst/>
          </a:prstGeom>
        </p:spPr>
        <p:txBody>
          <a:bodyPr vert="horz" anchor="b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页脚占位符 4"/>
          <p:cNvSpPr>
            <a:spLocks noGrp="1"/>
          </p:cNvSpPr>
          <p:nvPr>
            <p:ph type="ftr" sz="quarter" idx="3"/>
          </p:nvPr>
        </p:nvSpPr>
        <p:spPr>
          <a:xfrm>
            <a:off x="4379913" y="6408738"/>
            <a:ext cx="2351088" cy="365125"/>
          </a:xfrm>
          <a:prstGeom prst="rect">
            <a:avLst/>
          </a:prstGeom>
        </p:spPr>
        <p:txBody>
          <a:bodyPr vert="horz" anchor="b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47113" y="6408738"/>
            <a:ext cx="366713" cy="365125"/>
          </a:xfrm>
          <a:prstGeom prst="rect">
            <a:avLst/>
          </a:prstGeom>
        </p:spPr>
        <p:txBody>
          <a:bodyPr vert="horz" anchor="b"/>
          <a:p>
            <a:pPr algn="r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11" name="日期占位符 4"/>
          <p:cNvSpPr>
            <a:spLocks noGrp="1"/>
          </p:cNvSpPr>
          <p:nvPr>
            <p:ph type="dt" sz="half" idx="12"/>
          </p:nvPr>
        </p:nvSpPr>
        <p:spPr>
          <a:xfrm>
            <a:off x="6727825" y="6408738"/>
            <a:ext cx="1919288" cy="365125"/>
          </a:xfrm>
          <a:prstGeom prst="rect">
            <a:avLst/>
          </a:prstGeom>
        </p:spPr>
        <p:txBody>
          <a:bodyPr vert="horz" anchor="b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页脚占位符 5"/>
          <p:cNvSpPr>
            <a:spLocks noGrp="1"/>
          </p:cNvSpPr>
          <p:nvPr>
            <p:ph type="ftr" sz="quarter" idx="3"/>
          </p:nvPr>
        </p:nvSpPr>
        <p:spPr>
          <a:xfrm>
            <a:off x="4379913" y="6408738"/>
            <a:ext cx="2351088" cy="365125"/>
          </a:xfrm>
          <a:prstGeom prst="rect">
            <a:avLst/>
          </a:prstGeom>
        </p:spPr>
        <p:txBody>
          <a:bodyPr vert="horz" anchor="b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8647113" y="6408738"/>
            <a:ext cx="366713" cy="365125"/>
          </a:xfrm>
          <a:prstGeom prst="rect">
            <a:avLst/>
          </a:prstGeom>
        </p:spPr>
        <p:txBody>
          <a:bodyPr vert="horz" anchor="b"/>
          <a:p>
            <a:pPr algn="r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比较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内容占位符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1" name="日期占位符 6"/>
          <p:cNvSpPr>
            <a:spLocks noGrp="1"/>
          </p:cNvSpPr>
          <p:nvPr>
            <p:ph type="dt" sz="half" idx="12"/>
          </p:nvPr>
        </p:nvSpPr>
        <p:spPr>
          <a:xfrm>
            <a:off x="6727825" y="6408738"/>
            <a:ext cx="1919288" cy="365125"/>
          </a:xfrm>
          <a:prstGeom prst="rect">
            <a:avLst/>
          </a:prstGeom>
        </p:spPr>
        <p:txBody>
          <a:bodyPr vert="horz" anchor="b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页脚占位符 7"/>
          <p:cNvSpPr>
            <a:spLocks noGrp="1"/>
          </p:cNvSpPr>
          <p:nvPr>
            <p:ph type="ftr" sz="quarter" idx="13"/>
          </p:nvPr>
        </p:nvSpPr>
        <p:spPr>
          <a:xfrm>
            <a:off x="4379913" y="6408738"/>
            <a:ext cx="2351088" cy="365125"/>
          </a:xfrm>
          <a:prstGeom prst="rect">
            <a:avLst/>
          </a:prstGeom>
        </p:spPr>
        <p:txBody>
          <a:bodyPr vert="horz" anchor="b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灯片编号占位符 8"/>
          <p:cNvSpPr>
            <a:spLocks noGrp="1"/>
          </p:cNvSpPr>
          <p:nvPr>
            <p:ph type="sldNum" sz="quarter" idx="14"/>
          </p:nvPr>
        </p:nvSpPr>
        <p:spPr>
          <a:xfrm>
            <a:off x="8647113" y="6408738"/>
            <a:ext cx="366713" cy="365125"/>
          </a:xfrm>
          <a:prstGeom prst="rect">
            <a:avLst/>
          </a:prstGeom>
        </p:spPr>
        <p:txBody>
          <a:bodyPr vert="horz" anchor="b"/>
          <a:p>
            <a:pPr algn="r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11" name="日期占位符 2"/>
          <p:cNvSpPr>
            <a:spLocks noGrp="1"/>
          </p:cNvSpPr>
          <p:nvPr>
            <p:ph type="dt" sz="half" idx="2"/>
          </p:nvPr>
        </p:nvSpPr>
        <p:spPr>
          <a:xfrm>
            <a:off x="6727825" y="6408738"/>
            <a:ext cx="1919288" cy="365125"/>
          </a:xfrm>
          <a:prstGeom prst="rect">
            <a:avLst/>
          </a:prstGeom>
        </p:spPr>
        <p:txBody>
          <a:bodyPr vert="horz" anchor="b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页脚占位符 3"/>
          <p:cNvSpPr>
            <a:spLocks noGrp="1"/>
          </p:cNvSpPr>
          <p:nvPr>
            <p:ph type="ftr" sz="quarter" idx="3"/>
          </p:nvPr>
        </p:nvSpPr>
        <p:spPr>
          <a:xfrm>
            <a:off x="4379913" y="6408738"/>
            <a:ext cx="2351088" cy="365125"/>
          </a:xfrm>
          <a:prstGeom prst="rect">
            <a:avLst/>
          </a:prstGeom>
        </p:spPr>
        <p:txBody>
          <a:bodyPr vert="horz" anchor="b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灯片编号占位符 4"/>
          <p:cNvSpPr>
            <a:spLocks noGrp="1"/>
          </p:cNvSpPr>
          <p:nvPr>
            <p:ph type="sldNum" sz="quarter" idx="4"/>
          </p:nvPr>
        </p:nvSpPr>
        <p:spPr>
          <a:xfrm>
            <a:off x="8647113" y="6408738"/>
            <a:ext cx="366713" cy="365125"/>
          </a:xfrm>
          <a:prstGeom prst="rect">
            <a:avLst/>
          </a:prstGeom>
        </p:spPr>
        <p:txBody>
          <a:bodyPr vert="horz" anchor="b"/>
          <a:p>
            <a:pPr algn="r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charset="0"/>
              </a:rPr>
            </a:fld>
            <a:endParaRPr lang="en-US" altLang="zh-CN" dirty="0">
              <a:latin typeface="Times New Roman" panose="02020603050405020304" charset="0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内容与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1" name="日期占位符 4"/>
          <p:cNvSpPr>
            <a:spLocks noGrp="1"/>
          </p:cNvSpPr>
          <p:nvPr>
            <p:ph type="dt" sz="half" idx="12"/>
          </p:nvPr>
        </p:nvSpPr>
        <p:spPr>
          <a:xfrm>
            <a:off x="6727825" y="6408738"/>
            <a:ext cx="1919288" cy="365125"/>
          </a:xfrm>
          <a:prstGeom prst="rect">
            <a:avLst/>
          </a:prstGeom>
        </p:spPr>
        <p:txBody>
          <a:bodyPr vert="horz" anchor="b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页脚占位符 5"/>
          <p:cNvSpPr>
            <a:spLocks noGrp="1"/>
          </p:cNvSpPr>
          <p:nvPr>
            <p:ph type="ftr" sz="quarter" idx="3"/>
          </p:nvPr>
        </p:nvSpPr>
        <p:spPr>
          <a:xfrm>
            <a:off x="4379913" y="6408738"/>
            <a:ext cx="2351088" cy="365125"/>
          </a:xfrm>
          <a:prstGeom prst="rect">
            <a:avLst/>
          </a:prstGeom>
        </p:spPr>
        <p:txBody>
          <a:bodyPr vert="horz" anchor="b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8647113" y="6408738"/>
            <a:ext cx="366713" cy="365125"/>
          </a:xfrm>
          <a:prstGeom prst="rect">
            <a:avLst/>
          </a:prstGeom>
        </p:spPr>
        <p:txBody>
          <a:bodyPr vert="horz" anchor="b"/>
          <a:p>
            <a:pPr algn="r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图片与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任意多边形 10"/>
          <p:cNvSpPr/>
          <p:nvPr/>
        </p:nvSpPr>
        <p:spPr bwMode="auto">
          <a:xfrm>
            <a:off x="715963" y="5002213"/>
            <a:ext cx="3802063" cy="1443038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195" name="任意多边形 15"/>
          <p:cNvSpPr/>
          <p:nvPr/>
        </p:nvSpPr>
        <p:spPr>
          <a:xfrm>
            <a:off x="-53975" y="5784850"/>
            <a:ext cx="3802063" cy="838200"/>
          </a:xfrm>
          <a:custGeom>
            <a:avLst/>
            <a:gdLst>
              <a:gd name="txL" fmla="*/ 0 w 5760"/>
              <a:gd name="txT" fmla="*/ 0 h 528"/>
              <a:gd name="txR" fmla="*/ 5760 w 5760"/>
              <a:gd name="txB" fmla="*/ 528 h 528"/>
            </a:gdLst>
            <a:ahLst/>
            <a:cxnLst>
              <a:cxn ang="0">
                <a:pos x="0" y="0"/>
              </a:cxn>
              <a:cxn ang="0">
                <a:pos x="3802063" y="0"/>
              </a:cxn>
              <a:cxn ang="0">
                <a:pos x="3802063" y="838200"/>
              </a:cxn>
              <a:cxn ang="0">
                <a:pos x="31684" y="0"/>
              </a:cxn>
            </a:cxnLst>
            <a:rect l="txL" t="txT" r="txR" b="txB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16" name="直角三角形 15"/>
          <p:cNvSpPr/>
          <p:nvPr/>
        </p:nvSpPr>
        <p:spPr bwMode="auto">
          <a:xfrm>
            <a:off x="-6042" y="5791253"/>
            <a:ext cx="3402313" cy="1080868"/>
          </a:xfrm>
          <a:prstGeom prst="rtTriangle">
            <a:avLst/>
          </a:prstGeom>
          <a:blipFill>
            <a:blip r:embed="rId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17" name="直接连接符 16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燕尾形 18"/>
          <p:cNvSpPr/>
          <p:nvPr/>
        </p:nvSpPr>
        <p:spPr>
          <a:xfrm>
            <a:off x="8664575" y="4987925"/>
            <a:ext cx="182563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0" name="燕尾形 19"/>
          <p:cNvSpPr/>
          <p:nvPr/>
        </p:nvSpPr>
        <p:spPr>
          <a:xfrm>
            <a:off x="8477250" y="4987925"/>
            <a:ext cx="182563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tIns="0"/>
          <a:lstStyle>
            <a:lvl1pPr marL="0" marR="18415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 vert="horz" wrap="square" lIns="91440" tIns="45720" rIns="91440" bIns="45720" numCol="1" anchor="t" anchorCtr="0" compatLnSpc="1">
            <a:normAutofit/>
          </a:bodyPr>
          <a:lstStyle>
            <a:lvl1pPr marL="0" indent="0">
              <a:buNone/>
              <a:defRPr sz="320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None/>
              <a:defRPr/>
            </a:pPr>
            <a:r>
              <a:rPr kumimoji="0" lang="zh-CN" altLang="en-US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单击图标添加图片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21" name="日期占位符 4"/>
          <p:cNvSpPr>
            <a:spLocks noGrp="1"/>
          </p:cNvSpPr>
          <p:nvPr>
            <p:ph type="dt" sz="half" idx="12"/>
          </p:nvPr>
        </p:nvSpPr>
        <p:spPr>
          <a:xfrm>
            <a:off x="6727825" y="6408738"/>
            <a:ext cx="1919288" cy="365125"/>
          </a:xfrm>
          <a:prstGeom prst="rect">
            <a:avLst/>
          </a:prstGeom>
        </p:spPr>
        <p:txBody>
          <a:bodyPr vert="horz"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3" name="页脚占位符 5"/>
          <p:cNvSpPr>
            <a:spLocks noGrp="1"/>
          </p:cNvSpPr>
          <p:nvPr>
            <p:ph type="ftr" sz="quarter" idx="3"/>
          </p:nvPr>
        </p:nvSpPr>
        <p:spPr>
          <a:xfrm>
            <a:off x="4379913" y="6408738"/>
            <a:ext cx="2351088" cy="365125"/>
          </a:xfrm>
          <a:prstGeom prst="rect">
            <a:avLst/>
          </a:prstGeom>
        </p:spPr>
        <p:txBody>
          <a:bodyPr vert="horz"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8647113" y="6408738"/>
            <a:ext cx="366713" cy="365125"/>
          </a:xfrm>
          <a:prstGeom prst="rect">
            <a:avLst/>
          </a:prstGeom>
        </p:spPr>
        <p:txBody>
          <a:bodyPr vert="horz" anchor="b"/>
          <a:p>
            <a:pPr algn="r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charset="0"/>
              </a:rPr>
            </a:fld>
            <a:endParaRPr lang="en-US" altLang="zh-CN" dirty="0">
              <a:latin typeface="Times New Roman" panose="02020603050405020304" charset="0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charset="0"/>
              </a:rPr>
            </a:fld>
            <a:endParaRPr lang="en-US" altLang="zh-CN" dirty="0">
              <a:latin typeface="Times New Roman" panose="0202060305040502030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tags" Target="../tags/tag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3" Type="http://schemas.openxmlformats.org/officeDocument/2006/relationships/theme" Target="../theme/theme2.xml"/><Relationship Id="rId12" Type="http://schemas.openxmlformats.org/officeDocument/2006/relationships/tags" Target="../tags/tag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" name="任意多边形 12"/>
          <p:cNvSpPr/>
          <p:nvPr userDrawn="1"/>
        </p:nvSpPr>
        <p:spPr bwMode="auto">
          <a:xfrm>
            <a:off x="715963" y="5002213"/>
            <a:ext cx="3802063" cy="1443038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7" name="任意多边形 11"/>
          <p:cNvSpPr/>
          <p:nvPr userDrawn="1"/>
        </p:nvSpPr>
        <p:spPr>
          <a:xfrm>
            <a:off x="-53975" y="5784850"/>
            <a:ext cx="3802063" cy="838200"/>
          </a:xfrm>
          <a:custGeom>
            <a:avLst/>
            <a:gdLst>
              <a:gd name="txL" fmla="*/ 0 w 5760"/>
              <a:gd name="txT" fmla="*/ 0 h 528"/>
              <a:gd name="txR" fmla="*/ 5760 w 5760"/>
              <a:gd name="txB" fmla="*/ 528 h 528"/>
            </a:gdLst>
            <a:ahLst/>
            <a:cxnLst>
              <a:cxn ang="0">
                <a:pos x="0" y="0"/>
              </a:cxn>
              <a:cxn ang="0">
                <a:pos x="3802063" y="0"/>
              </a:cxn>
              <a:cxn ang="0">
                <a:pos x="3802063" y="838200"/>
              </a:cxn>
              <a:cxn ang="0">
                <a:pos x="31684" y="0"/>
              </a:cxn>
            </a:cxnLst>
            <a:rect l="txL" t="txT" r="txR" b="txB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标题占位符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1033" name="文本占位符 29"/>
          <p:cNvSpPr>
            <a:spLocks noGrp="1"/>
          </p:cNvSpPr>
          <p:nvPr>
            <p:ph type="body" idx="1"/>
          </p:nvPr>
        </p:nvSpPr>
        <p:spPr>
          <a:xfrm>
            <a:off x="457200" y="1481138"/>
            <a:ext cx="8229600" cy="4525962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2"/>
          </p:nvPr>
        </p:nvSpPr>
        <p:spPr>
          <a:xfrm>
            <a:off x="6727825" y="6408738"/>
            <a:ext cx="1919288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" name="页脚占位符 21"/>
          <p:cNvSpPr>
            <a:spLocks noGrp="1"/>
          </p:cNvSpPr>
          <p:nvPr>
            <p:ph type="ftr" sz="quarter" idx="3"/>
          </p:nvPr>
        </p:nvSpPr>
        <p:spPr>
          <a:xfrm>
            <a:off x="4379913" y="6408738"/>
            <a:ext cx="2351088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4"/>
          </p:nvPr>
        </p:nvSpPr>
        <p:spPr>
          <a:xfrm>
            <a:off x="8647113" y="6408738"/>
            <a:ext cx="366713" cy="365125"/>
          </a:xfrm>
          <a:prstGeom prst="rect">
            <a:avLst/>
          </a:prstGeom>
        </p:spPr>
        <p:txBody>
          <a:bodyPr vert="horz" anchor="b"/>
          <a:lstStyle>
            <a:lvl1pPr algn="r">
              <a:defRPr sz="1000" b="0"/>
            </a:lvl1pPr>
          </a:lstStyle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charset="0"/>
              </a:rPr>
            </a:fld>
            <a:endParaRPr lang="en-US" altLang="zh-CN" dirty="0">
              <a:latin typeface="Times New Roman" panose="02020603050405020304" charset="0"/>
            </a:endParaRPr>
          </a:p>
        </p:txBody>
      </p:sp>
      <p:sp>
        <p:nvSpPr>
          <p:cNvPr id="3" name="直角三角形 2"/>
          <p:cNvSpPr/>
          <p:nvPr userDrawn="1">
            <p:custDataLst>
              <p:tags r:id="rId12"/>
            </p:custDataLst>
          </p:nvPr>
        </p:nvSpPr>
        <p:spPr bwMode="auto">
          <a:xfrm>
            <a:off x="-6350" y="5791200"/>
            <a:ext cx="3402013" cy="1081088"/>
          </a:xfrm>
          <a:prstGeom prst="rtTriangle">
            <a:avLst/>
          </a:prstGeom>
          <a:solidFill>
            <a:schemeClr val="accent1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  <a:ea typeface="黑体" panose="02010609060101010101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  <a:ea typeface="黑体" panose="02010609060101010101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  <a:ea typeface="黑体" panose="02010609060101010101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  <a:ea typeface="黑体" panose="02010609060101010101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  <a:ea typeface="黑体" panose="02010609060101010101" pitchFamily="49" charset="-122"/>
        </a:defRPr>
      </a:lvl9pPr>
    </p:titleStyle>
    <p:bodyStyle>
      <a:lvl1pPr marL="365125" indent="-255905" algn="l" rtl="0" eaLnBrk="0" fontAlgn="base" hangingPunct="0">
        <a:spcBef>
          <a:spcPts val="400"/>
        </a:spcBef>
        <a:spcAft>
          <a:spcPct val="0"/>
        </a:spcAft>
        <a:buClr>
          <a:schemeClr val="accent1"/>
        </a:buClr>
        <a:buSzPct val="68000"/>
        <a:buFont typeface="Wingdings 3" pitchFamily="18" charset="2"/>
        <a:buChar char=""/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030" indent="-228600" algn="l" rtl="0" eaLnBrk="0" fontAlgn="base" hangingPunct="0">
        <a:spcBef>
          <a:spcPts val="325"/>
        </a:spcBef>
        <a:spcAft>
          <a:spcPct val="0"/>
        </a:spcAft>
        <a:buClr>
          <a:schemeClr val="accent1"/>
        </a:buClr>
        <a:buFont typeface="Verdana" panose="020B0604030504040204" pitchFamily="34" charset="0"/>
        <a:buChar char="◦"/>
        <a:defRPr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155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SzPct val="100000"/>
        <a:buFont typeface="Wingdings 2" pitchFamily="18" charset="2"/>
        <a:buChar char="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Font typeface="Wingdings 2" pitchFamily="18" charset="2"/>
        <a:buChar char="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" name="任意多边形 12"/>
          <p:cNvSpPr/>
          <p:nvPr userDrawn="1"/>
        </p:nvSpPr>
        <p:spPr bwMode="auto">
          <a:xfrm>
            <a:off x="715963" y="5002213"/>
            <a:ext cx="3802063" cy="1443038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7" name="任意多边形 11"/>
          <p:cNvSpPr/>
          <p:nvPr userDrawn="1"/>
        </p:nvSpPr>
        <p:spPr>
          <a:xfrm>
            <a:off x="-53975" y="5784850"/>
            <a:ext cx="3802063" cy="838200"/>
          </a:xfrm>
          <a:custGeom>
            <a:avLst/>
            <a:gdLst>
              <a:gd name="txL" fmla="*/ 0 w 5760"/>
              <a:gd name="txT" fmla="*/ 0 h 528"/>
              <a:gd name="txR" fmla="*/ 5760 w 5760"/>
              <a:gd name="txB" fmla="*/ 528 h 528"/>
            </a:gdLst>
            <a:ahLst/>
            <a:cxnLst>
              <a:cxn ang="0">
                <a:pos x="0" y="0"/>
              </a:cxn>
              <a:cxn ang="0">
                <a:pos x="3802063" y="0"/>
              </a:cxn>
              <a:cxn ang="0">
                <a:pos x="3802063" y="838200"/>
              </a:cxn>
              <a:cxn ang="0">
                <a:pos x="31684" y="0"/>
              </a:cxn>
            </a:cxnLst>
            <a:rect l="txL" t="txT" r="txR" b="txB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标题占位符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1033" name="文本占位符 29"/>
          <p:cNvSpPr>
            <a:spLocks noGrp="1"/>
          </p:cNvSpPr>
          <p:nvPr>
            <p:ph type="body" idx="1"/>
          </p:nvPr>
        </p:nvSpPr>
        <p:spPr>
          <a:xfrm>
            <a:off x="457200" y="1481138"/>
            <a:ext cx="8229600" cy="4525962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2"/>
          </p:nvPr>
        </p:nvSpPr>
        <p:spPr>
          <a:xfrm>
            <a:off x="6727825" y="6408738"/>
            <a:ext cx="1919288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" name="页脚占位符 21"/>
          <p:cNvSpPr>
            <a:spLocks noGrp="1"/>
          </p:cNvSpPr>
          <p:nvPr>
            <p:ph type="ftr" sz="quarter" idx="3"/>
          </p:nvPr>
        </p:nvSpPr>
        <p:spPr>
          <a:xfrm>
            <a:off x="4379913" y="6408738"/>
            <a:ext cx="2351088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4"/>
          </p:nvPr>
        </p:nvSpPr>
        <p:spPr>
          <a:xfrm>
            <a:off x="8647113" y="6408738"/>
            <a:ext cx="366713" cy="365125"/>
          </a:xfrm>
          <a:prstGeom prst="rect">
            <a:avLst/>
          </a:prstGeom>
        </p:spPr>
        <p:txBody>
          <a:bodyPr vert="horz" anchor="b"/>
          <a:lstStyle>
            <a:lvl1pPr algn="r">
              <a:defRPr sz="1000" b="0"/>
            </a:lvl1pPr>
          </a:lstStyle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charset="0"/>
              </a:rPr>
            </a:fld>
            <a:endParaRPr lang="en-US" altLang="zh-CN" dirty="0">
              <a:latin typeface="Times New Roman" panose="02020603050405020304" charset="0"/>
            </a:endParaRPr>
          </a:p>
        </p:txBody>
      </p:sp>
      <p:sp>
        <p:nvSpPr>
          <p:cNvPr id="3" name="直角三角形 2"/>
          <p:cNvSpPr/>
          <p:nvPr userDrawn="1">
            <p:custDataLst>
              <p:tags r:id="rId12"/>
            </p:custDataLst>
          </p:nvPr>
        </p:nvSpPr>
        <p:spPr bwMode="auto">
          <a:xfrm>
            <a:off x="-6350" y="5791200"/>
            <a:ext cx="3402013" cy="1081088"/>
          </a:xfrm>
          <a:prstGeom prst="rtTriangle">
            <a:avLst/>
          </a:prstGeom>
          <a:solidFill>
            <a:schemeClr val="accent1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  <a:ea typeface="黑体" panose="02010609060101010101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  <a:ea typeface="黑体" panose="02010609060101010101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  <a:ea typeface="黑体" panose="02010609060101010101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  <a:ea typeface="黑体" panose="02010609060101010101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  <a:ea typeface="黑体" panose="02010609060101010101" pitchFamily="49" charset="-122"/>
        </a:defRPr>
      </a:lvl9pPr>
    </p:titleStyle>
    <p:bodyStyle>
      <a:lvl1pPr marL="365125" indent="-255905" algn="l" rtl="0" eaLnBrk="0" fontAlgn="base" hangingPunct="0">
        <a:spcBef>
          <a:spcPts val="400"/>
        </a:spcBef>
        <a:spcAft>
          <a:spcPct val="0"/>
        </a:spcAft>
        <a:buClr>
          <a:schemeClr val="accent1"/>
        </a:buClr>
        <a:buSzPct val="68000"/>
        <a:buFont typeface="Wingdings 3" pitchFamily="18" charset="2"/>
        <a:buChar char=""/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030" indent="-228600" algn="l" rtl="0" eaLnBrk="0" fontAlgn="base" hangingPunct="0">
        <a:spcBef>
          <a:spcPts val="325"/>
        </a:spcBef>
        <a:spcAft>
          <a:spcPct val="0"/>
        </a:spcAft>
        <a:buClr>
          <a:schemeClr val="accent1"/>
        </a:buClr>
        <a:buFont typeface="Verdana" panose="020B0604030504040204" pitchFamily="34" charset="0"/>
        <a:buChar char="◦"/>
        <a:defRPr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155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SzPct val="100000"/>
        <a:buFont typeface="Wingdings 2" pitchFamily="18" charset="2"/>
        <a:buChar char="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Font typeface="Wingdings 2" pitchFamily="18" charset="2"/>
        <a:buChar char="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6.xml"/><Relationship Id="rId4" Type="http://schemas.openxmlformats.org/officeDocument/2006/relationships/tags" Target="../tags/tag5.xml"/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8.xml"/><Relationship Id="rId1" Type="http://schemas.openxmlformats.org/officeDocument/2006/relationships/tags" Target="../tags/tag7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7.xml"/><Relationship Id="rId7" Type="http://schemas.openxmlformats.org/officeDocument/2006/relationships/slideLayout" Target="../slideLayouts/slideLayout7.xml"/><Relationship Id="rId6" Type="http://schemas.openxmlformats.org/officeDocument/2006/relationships/tags" Target="../tags/tag14.xml"/><Relationship Id="rId5" Type="http://schemas.openxmlformats.org/officeDocument/2006/relationships/tags" Target="../tags/tag13.xml"/><Relationship Id="rId4" Type="http://schemas.openxmlformats.org/officeDocument/2006/relationships/tags" Target="../tags/tag12.xml"/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tags" Target="../tags/tag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5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6.xml"/><Relationship Id="rId1" Type="http://schemas.openxmlformats.org/officeDocument/2006/relationships/image" Target="../media/image21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4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5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6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8.jpeg"/><Relationship Id="rId1" Type="http://schemas.openxmlformats.org/officeDocument/2006/relationships/image" Target="../media/image27.jpe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8" name="内容占位符 1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/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41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9220" name="Picture 2"/>
          <p:cNvPicPr>
            <a:picLocks noChangeAspect="1"/>
          </p:cNvPicPr>
          <p:nvPr/>
        </p:nvPicPr>
        <p:blipFill>
          <a:blip r:embed="rId1"/>
          <a:srcRect l="5714" t="31010" r="11427" b="19951"/>
          <a:stretch>
            <a:fillRect/>
          </a:stretch>
        </p:blipFill>
        <p:spPr>
          <a:xfrm>
            <a:off x="357188" y="428625"/>
            <a:ext cx="8286750" cy="4857750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7" name="直接连接符 6"/>
          <p:cNvCxnSpPr/>
          <p:nvPr/>
        </p:nvCxnSpPr>
        <p:spPr>
          <a:xfrm>
            <a:off x="571500" y="4643438"/>
            <a:ext cx="3071813" cy="1588"/>
          </a:xfrm>
          <a:prstGeom prst="lin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8215313" y="4143375"/>
            <a:ext cx="357188" cy="1588"/>
          </a:xfrm>
          <a:prstGeom prst="lin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2" name="Rectangle 3"/>
          <p:cNvSpPr>
            <a:spLocks noGrp="1"/>
          </p:cNvSpPr>
          <p:nvPr>
            <p:ph idx="1"/>
          </p:nvPr>
        </p:nvSpPr>
        <p:spPr>
          <a:xfrm>
            <a:off x="428625" y="1085850"/>
            <a:ext cx="8305800" cy="43434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50000"/>
              </a:lnSpc>
              <a:buFontTx/>
              <a:buNone/>
            </a:pPr>
            <a:r>
              <a:rPr lang="en-US" altLang="zh-CN" sz="2800" b="1" dirty="0">
                <a:solidFill>
                  <a:schemeClr val="tx2"/>
                </a:solidFill>
                <a:latin typeface="宋体" panose="02010600030101010101" pitchFamily="2" charset="-122"/>
              </a:rPr>
              <a:t>LR(0)</a:t>
            </a:r>
            <a:r>
              <a:rPr lang="zh-CN" altLang="en-US" sz="2800" b="1" dirty="0">
                <a:solidFill>
                  <a:schemeClr val="tx2"/>
                </a:solidFill>
                <a:latin typeface="宋体" panose="02010600030101010101" pitchFamily="2" charset="-122"/>
              </a:rPr>
              <a:t>方法由于只看状态栈的内容，而不看输入符，因此容易出现冲突状态</a:t>
            </a:r>
            <a:r>
              <a:rPr lang="en-US" altLang="zh-CN" sz="2800" b="1" dirty="0">
                <a:solidFill>
                  <a:schemeClr val="tx2"/>
                </a:solidFill>
                <a:latin typeface="宋体" panose="02010600030101010101" pitchFamily="2" charset="-122"/>
              </a:rPr>
              <a:t>(</a:t>
            </a:r>
            <a:r>
              <a:rPr lang="zh-CN" altLang="en-US" sz="2800" b="1" dirty="0">
                <a:solidFill>
                  <a:schemeClr val="tx2"/>
                </a:solidFill>
                <a:latin typeface="宋体" panose="02010600030101010101" pitchFamily="2" charset="-122"/>
              </a:rPr>
              <a:t>如表达式文法</a:t>
            </a:r>
            <a:r>
              <a:rPr lang="en-US" altLang="zh-CN" sz="2800" b="1" dirty="0">
                <a:solidFill>
                  <a:schemeClr val="tx2"/>
                </a:solidFill>
                <a:latin typeface="宋体" panose="02010600030101010101" pitchFamily="2" charset="-122"/>
              </a:rPr>
              <a:t>)</a:t>
            </a:r>
            <a:r>
              <a:rPr lang="zh-CN" altLang="en-US" sz="2800" b="1" dirty="0">
                <a:solidFill>
                  <a:schemeClr val="tx2"/>
                </a:solidFill>
                <a:latin typeface="宋体" panose="02010600030101010101" pitchFamily="2" charset="-122"/>
              </a:rPr>
              <a:t>。如果不仅看状态栈的内容，还看当前输入符，则因为多用了信息自然会减少冲突状态。依据这样的原则的</a:t>
            </a:r>
            <a:r>
              <a:rPr lang="en-US" altLang="zh-CN" sz="2800" b="1" dirty="0">
                <a:solidFill>
                  <a:schemeClr val="tx2"/>
                </a:solidFill>
                <a:latin typeface="宋体" panose="02010600030101010101" pitchFamily="2" charset="-122"/>
              </a:rPr>
              <a:t>LR</a:t>
            </a:r>
            <a:r>
              <a:rPr lang="zh-CN" altLang="en-US" sz="2800" b="1" dirty="0">
                <a:solidFill>
                  <a:schemeClr val="tx2"/>
                </a:solidFill>
                <a:latin typeface="宋体" panose="02010600030101010101" pitchFamily="2" charset="-122"/>
              </a:rPr>
              <a:t>分析技术称为</a:t>
            </a:r>
            <a:r>
              <a:rPr lang="en-US" altLang="zh-CN" sz="2800" b="1" dirty="0">
                <a:solidFill>
                  <a:schemeClr val="tx2"/>
                </a:solidFill>
                <a:latin typeface="宋体" panose="02010600030101010101" pitchFamily="2" charset="-122"/>
              </a:rPr>
              <a:t>SLR(1)</a:t>
            </a:r>
            <a:r>
              <a:rPr lang="zh-CN" altLang="en-US" sz="2800" b="1" dirty="0">
                <a:solidFill>
                  <a:schemeClr val="tx2"/>
                </a:solidFill>
                <a:latin typeface="宋体" panose="02010600030101010101" pitchFamily="2" charset="-122"/>
              </a:rPr>
              <a:t>分析技术</a:t>
            </a:r>
            <a:r>
              <a:rPr lang="en-US" altLang="zh-CN" sz="2800" b="1" dirty="0">
                <a:solidFill>
                  <a:schemeClr val="tx2"/>
                </a:solidFill>
                <a:latin typeface="宋体" panose="02010600030101010101" pitchFamily="2" charset="-122"/>
              </a:rPr>
              <a:t>.</a:t>
            </a:r>
            <a:endParaRPr lang="zh-CN" altLang="en-US" sz="2800" b="1" dirty="0">
              <a:solidFill>
                <a:schemeClr val="tx2"/>
              </a:solidFill>
              <a:latin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  <a:buFontTx/>
              <a:buNone/>
            </a:pPr>
            <a:endParaRPr lang="zh-CN" altLang="en-US" sz="2800" b="1" dirty="0">
              <a:solidFill>
                <a:schemeClr val="tx2"/>
              </a:solidFill>
              <a:latin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  <a:buFontTx/>
              <a:buNone/>
            </a:pPr>
            <a:endParaRPr lang="zh-CN" altLang="zh-CN" sz="2800" b="1" dirty="0">
              <a:solidFill>
                <a:schemeClr val="tx2"/>
              </a:solidFill>
              <a:latin typeface="宋体" panose="02010600030101010101" pitchFamily="2" charset="-122"/>
            </a:endParaRPr>
          </a:p>
        </p:txBody>
      </p:sp>
      <p:sp>
        <p:nvSpPr>
          <p:cNvPr id="21094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266700"/>
            <a:ext cx="7772400" cy="533400"/>
          </a:xfrm>
          <a:noFill/>
          <a:ln>
            <a:noFill/>
          </a:ln>
          <a:effectLst/>
          <a:sp3d prstMaterial="plastic"/>
        </p:spPr>
        <p:txBody>
          <a:bodyPr vert="horz" rtlCol="0" anchor="ctr">
            <a:normAutofit fontScale="90000"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宋体" panose="02010600030101010101" pitchFamily="2" charset="-122"/>
                <a:ea typeface="+mj-ea"/>
                <a:cs typeface="+mj-cs"/>
              </a:rPr>
              <a:t>4.6.4</a:t>
            </a:r>
            <a:r>
              <a: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宋体" panose="02010600030101010101" pitchFamily="2" charset="-122"/>
                <a:ea typeface="+mj-ea"/>
                <a:cs typeface="+mj-cs"/>
              </a:rPr>
              <a:t>、</a:t>
            </a:r>
            <a:r>
              <a:rPr kumimoji="0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宋体" panose="02010600030101010101" pitchFamily="2" charset="-122"/>
                <a:ea typeface="+mj-ea"/>
                <a:cs typeface="+mj-cs"/>
              </a:rPr>
              <a:t>SLR(1)</a:t>
            </a:r>
            <a:r>
              <a: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宋体" panose="02010600030101010101" pitchFamily="2" charset="-122"/>
                <a:ea typeface="+mj-ea"/>
                <a:cs typeface="+mj-cs"/>
              </a:rPr>
              <a:t>技术</a:t>
            </a:r>
            <a:endParaRPr kumimoji="0" lang="zh-CN" altLang="en-US" sz="3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宋体" panose="02010600030101010101" pitchFamily="2" charset="-122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0947" name="Rectangle 3"/>
          <p:cNvSpPr>
            <a:spLocks noGrp="1" noChangeArrowheads="1"/>
          </p:cNvSpPr>
          <p:nvPr>
            <p:ph idx="1"/>
          </p:nvPr>
        </p:nvSpPr>
        <p:spPr>
          <a:xfrm>
            <a:off x="0" y="1047750"/>
            <a:ext cx="9144000" cy="5524500"/>
          </a:xfrm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marL="365760" marR="0" lvl="0" indent="-255905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若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LR(0)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项目集规范族中有项目集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I</a:t>
            </a:r>
            <a:r>
              <a:rPr kumimoji="0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K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：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宋体" panose="02010600030101010101" pitchFamily="2" charset="-122"/>
              <a:ea typeface="+mn-ea"/>
              <a:cs typeface="+mn-cs"/>
            </a:endParaRPr>
          </a:p>
          <a:p>
            <a:pPr marL="365760" marR="0" lvl="0" indent="-255905" algn="ctr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I</a:t>
            </a:r>
            <a:r>
              <a:rPr kumimoji="0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K  :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{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+mn-cs"/>
                <a:sym typeface="Symbol" panose="05050102010706020507" pitchFamily="18" charset="2"/>
              </a:rPr>
              <a:t>…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A→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  <a:sym typeface="Symbol" panose="05050102010706020507" pitchFamily="18" charset="2"/>
              </a:rPr>
              <a:t>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.b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  <a:sym typeface="Symbol" panose="05050102010706020507" pitchFamily="18" charset="2"/>
              </a:rPr>
              <a:t>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, P→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  <a:sym typeface="Symbol" panose="05050102010706020507" pitchFamily="18" charset="2"/>
              </a:rPr>
              <a:t>.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,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  <a:sym typeface="Symbol" panose="05050102010706020507" pitchFamily="18" charset="2"/>
              </a:rPr>
              <a:t> Q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→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  <a:sym typeface="Symbol" panose="05050102010706020507" pitchFamily="18" charset="2"/>
              </a:rPr>
              <a:t>.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,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+mn-cs"/>
                <a:sym typeface="Symbol" panose="05050102010706020507" pitchFamily="18" charset="2"/>
              </a:rPr>
              <a:t>…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  <a:sym typeface="Symbol" panose="05050102010706020507" pitchFamily="18" charset="2"/>
              </a:rPr>
              <a:t>}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宋体" panose="02010600030101010101" pitchFamily="2" charset="-122"/>
              <a:ea typeface="+mn-ea"/>
              <a:cs typeface="+mn-cs"/>
              <a:sym typeface="Symbol" panose="05050102010706020507" pitchFamily="18" charset="2"/>
            </a:endParaRPr>
          </a:p>
          <a:p>
            <a:pPr marL="365760" marR="0" lvl="0" indent="-255905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  <a:sym typeface="Symbol" panose="05050102010706020507" pitchFamily="18" charset="2"/>
              </a:rPr>
              <a:t>则</a:t>
            </a: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  <a:sym typeface="Symbol" panose="05050102010706020507" pitchFamily="18" charset="2"/>
              </a:rPr>
              <a:t>SLR(1)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  <a:sym typeface="Symbol" panose="05050102010706020507" pitchFamily="18" charset="2"/>
              </a:rPr>
              <a:t>技术解决冲突的依据为：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宋体" panose="02010600030101010101" pitchFamily="2" charset="-122"/>
              <a:ea typeface="+mn-ea"/>
              <a:cs typeface="+mn-cs"/>
              <a:sym typeface="Symbol" panose="05050102010706020507" pitchFamily="18" charset="2"/>
            </a:endParaRPr>
          </a:p>
          <a:p>
            <a:pPr marL="621665" marR="0" lvl="1" indent="-228600" algn="l" defTabSz="914400" rtl="0" eaLnBrk="1" fontAlgn="auto" latinLnBrk="0" hangingPunct="1">
              <a:lnSpc>
                <a:spcPct val="90000"/>
              </a:lnSpc>
              <a:spcBef>
                <a:spcPts val="325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defRPr/>
            </a:pPr>
            <a:r>
              <a:rPr kumimoji="0" lang="zh-CN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  <a:sym typeface="Symbol" panose="05050102010706020507" pitchFamily="18" charset="2"/>
              </a:rPr>
              <a:t>对</a:t>
            </a:r>
            <a:r>
              <a:rPr kumimoji="0" lang="zh-CN" altLang="zh-CN" sz="2400" b="1" i="0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+mn-ea"/>
                <a:cs typeface="+mn-cs"/>
                <a:sym typeface="Symbol" panose="05050102010706020507" pitchFamily="18" charset="2"/>
              </a:rPr>
              <a:t>当前输入字符</a:t>
            </a:r>
            <a:r>
              <a:rPr kumimoji="0" lang="en-US" altLang="zh-CN" sz="2400" b="1" i="0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+mn-ea"/>
                <a:cs typeface="+mn-cs"/>
                <a:sym typeface="Symbol" panose="05050102010706020507" pitchFamily="18" charset="2"/>
              </a:rPr>
              <a:t>a</a:t>
            </a:r>
            <a:r>
              <a:rPr kumimoji="0" lang="zh-CN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  <a:sym typeface="Symbol" panose="05050102010706020507" pitchFamily="18" charset="2"/>
              </a:rPr>
              <a:t> </a:t>
            </a:r>
            <a:r>
              <a:rPr kumimoji="0" lang="zh-CN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  <a:sym typeface="Symbol" panose="05050102010706020507" pitchFamily="18" charset="2"/>
              </a:rPr>
              <a:t>，如果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  <a:sym typeface="Symbol" panose="05050102010706020507" pitchFamily="18" charset="2"/>
              </a:rPr>
              <a:t>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  <a:sym typeface="Symbol" panose="05050102010706020507" pitchFamily="18" charset="2"/>
              </a:rPr>
              <a:t>a=b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  <a:sym typeface="Symbol" panose="05050102010706020507" pitchFamily="18" charset="2"/>
              </a:rPr>
              <a:t>则</a:t>
            </a: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  <a:sym typeface="Symbol" panose="05050102010706020507" pitchFamily="18" charset="2"/>
              </a:rPr>
              <a:t>action [ </a:t>
            </a:r>
            <a:r>
              <a:rPr kumimoji="0" lang="en-US" alt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  <a:sym typeface="Symbol" panose="05050102010706020507" pitchFamily="18" charset="2"/>
              </a:rPr>
              <a:t>k,b</a:t>
            </a: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  <a:sym typeface="Symbol" panose="05050102010706020507" pitchFamily="18" charset="2"/>
              </a:rPr>
              <a:t> ] =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  <a:sym typeface="Symbol" panose="05050102010706020507" pitchFamily="18" charset="2"/>
              </a:rPr>
              <a:t>移进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宋体" panose="02010600030101010101" pitchFamily="2" charset="-122"/>
              <a:ea typeface="+mn-ea"/>
              <a:cs typeface="+mn-cs"/>
              <a:sym typeface="Symbol" panose="05050102010706020507" pitchFamily="18" charset="2"/>
            </a:endParaRPr>
          </a:p>
          <a:p>
            <a:pPr marL="621665" marR="0" lvl="1" indent="-228600" algn="l" defTabSz="914400" rtl="0" eaLnBrk="1" fontAlgn="auto" latinLnBrk="0" hangingPunct="1">
              <a:lnSpc>
                <a:spcPct val="90000"/>
              </a:lnSpc>
              <a:spcBef>
                <a:spcPts val="325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  <a:sym typeface="Symbol" panose="05050102010706020507" pitchFamily="18" charset="2"/>
              </a:rPr>
              <a:t>对于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  <a:sym typeface="Symbol" panose="05050102010706020507" pitchFamily="18" charset="2"/>
              </a:rPr>
              <a:t>a≠b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  <a:sym typeface="Symbol" panose="05050102010706020507" pitchFamily="18" charset="2"/>
              </a:rPr>
              <a:t> 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  <a:sym typeface="Symbol" panose="05050102010706020507" pitchFamily="18" charset="2"/>
              </a:rPr>
              <a:t>如果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  <a:sym typeface="Symbol" panose="05050102010706020507" pitchFamily="18" charset="2"/>
              </a:rPr>
              <a:t>aFOLLOW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  <a:sym typeface="Symbol" panose="05050102010706020507" pitchFamily="18" charset="2"/>
              </a:rPr>
              <a:t> (P)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  <a:sym typeface="Symbol" panose="05050102010706020507" pitchFamily="18" charset="2"/>
              </a:rPr>
              <a:t>则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  <a:sym typeface="Symbol" panose="05050102010706020507" pitchFamily="18" charset="2"/>
              </a:rPr>
              <a:t>action[ 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  <a:sym typeface="Symbol" panose="05050102010706020507" pitchFamily="18" charset="2"/>
              </a:rPr>
              <a:t>k,a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  <a:sym typeface="Symbol" panose="05050102010706020507" pitchFamily="18" charset="2"/>
              </a:rPr>
              <a:t> ] =</a:t>
            </a:r>
            <a:r>
              <a:rPr kumimoji="0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  <a:sym typeface="Symbol" panose="05050102010706020507" pitchFamily="18" charset="2"/>
              </a:rPr>
              <a:t>用</a:t>
            </a: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P</a:t>
            </a: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  <a:sym typeface="Symbol" panose="05050102010706020507" pitchFamily="18" charset="2"/>
              </a:rPr>
              <a:t></a:t>
            </a:r>
            <a:r>
              <a:rPr kumimoji="0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  <a:sym typeface="Symbol" panose="05050102010706020507" pitchFamily="18" charset="2"/>
              </a:rPr>
              <a:t>归约</a:t>
            </a:r>
            <a:r>
              <a:rPr kumimoji="0" lang="zh-CN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  <a:sym typeface="Symbol" panose="05050102010706020507" pitchFamily="18" charset="2"/>
              </a:rPr>
              <a:t> 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宋体" panose="02010600030101010101" pitchFamily="2" charset="-122"/>
              <a:ea typeface="+mn-ea"/>
              <a:cs typeface="+mn-cs"/>
              <a:sym typeface="Symbol" panose="05050102010706020507" pitchFamily="18" charset="2"/>
            </a:endParaRPr>
          </a:p>
          <a:p>
            <a:pPr marL="621665" marR="0" lvl="1" indent="-228600" algn="l" defTabSz="914400" rtl="0" eaLnBrk="1" fontAlgn="auto" latinLnBrk="0" hangingPunct="1">
              <a:lnSpc>
                <a:spcPct val="90000"/>
              </a:lnSpc>
              <a:spcBef>
                <a:spcPts val="325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  <a:sym typeface="Symbol" panose="05050102010706020507" pitchFamily="18" charset="2"/>
              </a:rPr>
              <a:t>              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  <a:sym typeface="Symbol" panose="05050102010706020507" pitchFamily="18" charset="2"/>
              </a:rPr>
              <a:t>aFOLLOW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  <a:sym typeface="Symbol" panose="05050102010706020507" pitchFamily="18" charset="2"/>
              </a:rPr>
              <a:t> (Q)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  <a:sym typeface="Symbol" panose="05050102010706020507" pitchFamily="18" charset="2"/>
              </a:rPr>
              <a:t>则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  <a:sym typeface="Symbol" panose="05050102010706020507" pitchFamily="18" charset="2"/>
              </a:rPr>
              <a:t>action[ 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  <a:sym typeface="Symbol" panose="05050102010706020507" pitchFamily="18" charset="2"/>
              </a:rPr>
              <a:t>k,a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  <a:sym typeface="Symbol" panose="05050102010706020507" pitchFamily="18" charset="2"/>
              </a:rPr>
              <a:t> ] =</a:t>
            </a:r>
            <a:r>
              <a:rPr kumimoji="0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  <a:sym typeface="Symbol" panose="05050102010706020507" pitchFamily="18" charset="2"/>
              </a:rPr>
              <a:t>用</a:t>
            </a: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  <a:sym typeface="Symbol" panose="05050102010706020507" pitchFamily="18" charset="2"/>
              </a:rPr>
              <a:t>Q</a:t>
            </a:r>
            <a:r>
              <a:rPr kumimoji="0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  <a:sym typeface="Symbol" panose="05050102010706020507" pitchFamily="18" charset="2"/>
              </a:rPr>
              <a:t>归约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宋体" panose="02010600030101010101" pitchFamily="2" charset="-122"/>
              <a:ea typeface="+mn-ea"/>
              <a:cs typeface="+mn-cs"/>
              <a:sym typeface="Symbol" panose="05050102010706020507" pitchFamily="18" charset="2"/>
            </a:endParaRPr>
          </a:p>
          <a:p>
            <a:pPr marL="365760" marR="0" lvl="0" indent="-255905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Tx/>
              <a:buNone/>
              <a:defRPr/>
            </a:pPr>
            <a:endParaRPr kumimoji="0" lang="en-US" altLang="zh-CN" sz="2400" b="1" i="0" u="none" strike="noStrike" kern="120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宋体" panose="02010600030101010101" pitchFamily="2" charset="-122"/>
              <a:ea typeface="+mn-ea"/>
              <a:cs typeface="+mn-cs"/>
              <a:sym typeface="Symbol" panose="05050102010706020507" pitchFamily="18" charset="2"/>
            </a:endParaRPr>
          </a:p>
          <a:p>
            <a:pPr marL="365760" marR="0" lvl="0" indent="-255905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  <a:sym typeface="Symbol" panose="05050102010706020507" pitchFamily="18" charset="2"/>
              </a:rPr>
              <a:t>这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  <a:sym typeface="Symbol" panose="05050102010706020507" pitchFamily="18" charset="2"/>
              </a:rPr>
              <a:t>里面认定的前提有：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宋体" panose="02010600030101010101" pitchFamily="2" charset="-122"/>
              <a:ea typeface="+mn-ea"/>
              <a:cs typeface="+mn-cs"/>
              <a:sym typeface="Symbol" panose="05050102010706020507" pitchFamily="18" charset="2"/>
            </a:endParaRPr>
          </a:p>
          <a:p>
            <a:pPr marL="365760" marR="0" lvl="0" indent="-255905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Tx/>
              <a:buNone/>
              <a:defRPr/>
            </a:pP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  <a:sym typeface="Symbol" panose="05050102010706020507" pitchFamily="18" charset="2"/>
              </a:rPr>
              <a:t>  b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  <a:sym typeface="Symbol" panose="05050102010706020507" pitchFamily="18" charset="2"/>
              </a:rPr>
              <a:t></a:t>
            </a: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  <a:sym typeface="Symbol" panose="05050102010706020507" pitchFamily="18" charset="2"/>
              </a:rPr>
              <a:t> FOLLOW(P)   </a:t>
            </a:r>
            <a:r>
              <a:rPr kumimoji="0" lang="en-US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  <a:sym typeface="Symbol" panose="05050102010706020507" pitchFamily="18" charset="2"/>
              </a:rPr>
              <a:t>//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  <a:sym typeface="Symbol" panose="05050102010706020507" pitchFamily="18" charset="2"/>
              </a:rPr>
              <a:t>不会产生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P→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  <a:sym typeface="Symbol" panose="05050102010706020507" pitchFamily="18" charset="2"/>
              </a:rPr>
              <a:t>.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,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  <a:sym typeface="Symbol" panose="05050102010706020507" pitchFamily="18" charset="2"/>
              </a:rPr>
              <a:t>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  <a:sym typeface="Symbol" panose="05050102010706020507" pitchFamily="18" charset="2"/>
              </a:rPr>
              <a:t>移入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  <a:sym typeface="Symbol" panose="05050102010706020507" pitchFamily="18" charset="2"/>
              </a:rPr>
              <a:t>b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  <a:sym typeface="Symbol" panose="05050102010706020507" pitchFamily="18" charset="2"/>
              </a:rPr>
              <a:t>的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移进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/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归约冲突</a:t>
            </a:r>
            <a:endParaRPr kumimoji="0" lang="en-US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宋体" panose="02010600030101010101" pitchFamily="2" charset="-122"/>
              <a:ea typeface="+mn-ea"/>
              <a:cs typeface="+mn-cs"/>
              <a:sym typeface="Symbol" panose="05050102010706020507" pitchFamily="18" charset="2"/>
            </a:endParaRPr>
          </a:p>
          <a:p>
            <a:pPr marL="365760" marR="0" lvl="0" indent="-255905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Tx/>
              <a:buNone/>
              <a:defRPr/>
            </a:pP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  <a:sym typeface="Symbol" panose="05050102010706020507" pitchFamily="18" charset="2"/>
              </a:rPr>
              <a:t>  b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  <a:sym typeface="Symbol" panose="05050102010706020507" pitchFamily="18" charset="2"/>
              </a:rPr>
              <a:t></a:t>
            </a: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  <a:sym typeface="Symbol" panose="05050102010706020507" pitchFamily="18" charset="2"/>
              </a:rPr>
              <a:t> FOLLOW(Q)   </a:t>
            </a:r>
            <a:r>
              <a:rPr kumimoji="0" lang="en-US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  <a:sym typeface="Symbol" panose="05050102010706020507" pitchFamily="18" charset="2"/>
              </a:rPr>
              <a:t>//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  <a:sym typeface="Symbol" panose="05050102010706020507" pitchFamily="18" charset="2"/>
              </a:rPr>
              <a:t>不会产生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  <a:sym typeface="Symbol" panose="05050102010706020507" pitchFamily="18" charset="2"/>
              </a:rPr>
              <a:t>Q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→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  <a:sym typeface="Symbol" panose="05050102010706020507" pitchFamily="18" charset="2"/>
              </a:rPr>
              <a:t>.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,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  <a:sym typeface="Symbol" panose="05050102010706020507" pitchFamily="18" charset="2"/>
              </a:rPr>
              <a:t>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  <a:sym typeface="Symbol" panose="05050102010706020507" pitchFamily="18" charset="2"/>
              </a:rPr>
              <a:t>移入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  <a:sym typeface="Symbol" panose="05050102010706020507" pitchFamily="18" charset="2"/>
              </a:rPr>
              <a:t>b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  <a:sym typeface="Symbol" panose="05050102010706020507" pitchFamily="18" charset="2"/>
              </a:rPr>
              <a:t>的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移进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/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归约冲突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宋体" panose="02010600030101010101" pitchFamily="2" charset="-122"/>
              <a:ea typeface="+mn-ea"/>
              <a:cs typeface="+mn-cs"/>
            </a:endParaRPr>
          </a:p>
          <a:p>
            <a:pPr marL="365760" marR="0" lvl="0" indent="-255905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  </a:t>
            </a: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  <a:sym typeface="Symbol" panose="05050102010706020507" pitchFamily="18" charset="2"/>
              </a:rPr>
              <a:t>FOLLOW(P)  FOLLOW(Q) =  </a:t>
            </a: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  <a:sym typeface="Symbol" panose="05050102010706020507" pitchFamily="18" charset="2"/>
              </a:rPr>
              <a:t>//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  <a:sym typeface="Symbol" panose="05050102010706020507" pitchFamily="18" charset="2"/>
              </a:rPr>
              <a:t>不会产生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P→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  <a:sym typeface="Symbol" panose="05050102010706020507" pitchFamily="18" charset="2"/>
              </a:rPr>
              <a:t>. Q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→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  <a:sym typeface="Symbol" panose="05050102010706020507" pitchFamily="18" charset="2"/>
              </a:rPr>
              <a:t>.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归约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/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归约冲突</a:t>
            </a: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  <a:sym typeface="Symbol" panose="05050102010706020507" pitchFamily="18" charset="2"/>
              </a:rPr>
              <a:t>  </a:t>
            </a:r>
            <a:endParaRPr kumimoji="0" lang="en-US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宋体" panose="02010600030101010101" pitchFamily="2" charset="-122"/>
              <a:ea typeface="+mn-ea"/>
              <a:cs typeface="+mn-cs"/>
              <a:sym typeface="Symbol" panose="05050102010706020507" pitchFamily="18" charset="2"/>
            </a:endParaRPr>
          </a:p>
          <a:p>
            <a:pPr marL="365760" marR="0" lvl="0" indent="-255905" algn="l" defTabSz="914400" rtl="0" eaLnBrk="1" fontAlgn="auto" latinLnBrk="0" hangingPunct="1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buClr>
                <a:schemeClr val="accent1"/>
              </a:buClr>
              <a:buSzPct val="68000"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  <a:sym typeface="Symbol" panose="05050102010706020507" pitchFamily="18" charset="2"/>
              </a:rPr>
              <a:t>能用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  <a:sym typeface="Symbol" panose="05050102010706020507" pitchFamily="18" charset="2"/>
              </a:rPr>
              <a:t>SLR(1)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  <a:sym typeface="Symbol" panose="05050102010706020507" pitchFamily="18" charset="2"/>
              </a:rPr>
              <a:t>技术解决冲突的文法称为</a:t>
            </a: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  <a:sym typeface="Symbol" panose="05050102010706020507" pitchFamily="18" charset="2"/>
              </a:rPr>
              <a:t>SLR(1)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  <a:sym typeface="Symbol" panose="05050102010706020507" pitchFamily="18" charset="2"/>
              </a:rPr>
              <a:t>文法。该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文法无二义。</a:t>
            </a:r>
            <a:endParaRPr kumimoji="0" lang="zh-CN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宋体" panose="02010600030101010101" pitchFamily="2" charset="-122"/>
              <a:ea typeface="+mn-ea"/>
              <a:cs typeface="+mn-cs"/>
            </a:endParaRPr>
          </a:p>
        </p:txBody>
      </p:sp>
      <p:sp>
        <p:nvSpPr>
          <p:cNvPr id="21094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266700"/>
            <a:ext cx="7772400" cy="533400"/>
          </a:xfrm>
          <a:noFill/>
          <a:ln>
            <a:noFill/>
          </a:ln>
          <a:effectLst/>
          <a:sp3d prstMaterial="plastic"/>
        </p:spPr>
        <p:txBody>
          <a:bodyPr vert="horz" rtlCol="0" anchor="ctr">
            <a:normAutofit fontScale="90000"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宋体" panose="02010600030101010101" pitchFamily="2" charset="-122"/>
                <a:ea typeface="+mj-ea"/>
                <a:cs typeface="+mj-cs"/>
              </a:rPr>
              <a:t>4.6.4</a:t>
            </a:r>
            <a:r>
              <a: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宋体" panose="02010600030101010101" pitchFamily="2" charset="-122"/>
                <a:ea typeface="+mj-ea"/>
                <a:cs typeface="+mj-cs"/>
              </a:rPr>
              <a:t>、</a:t>
            </a:r>
            <a:r>
              <a:rPr kumimoji="0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宋体" panose="02010600030101010101" pitchFamily="2" charset="-122"/>
                <a:ea typeface="+mj-ea"/>
                <a:cs typeface="+mj-cs"/>
              </a:rPr>
              <a:t>SLR(1)</a:t>
            </a:r>
            <a:r>
              <a: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宋体" panose="02010600030101010101" pitchFamily="2" charset="-122"/>
                <a:ea typeface="+mj-ea"/>
                <a:cs typeface="+mj-cs"/>
              </a:rPr>
              <a:t>技术</a:t>
            </a:r>
            <a:endParaRPr kumimoji="0" lang="zh-CN" altLang="en-US" sz="3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宋体" panose="02010600030101010101" pitchFamily="2" charset="-122"/>
              <a:ea typeface="+mj-ea"/>
              <a:cs typeface="+mj-cs"/>
            </a:endParaRPr>
          </a:p>
        </p:txBody>
      </p:sp>
      <p:sp>
        <p:nvSpPr>
          <p:cNvPr id="11268" name="Line 4"/>
          <p:cNvSpPr/>
          <p:nvPr/>
        </p:nvSpPr>
        <p:spPr>
          <a:xfrm flipH="1">
            <a:off x="893763" y="4143375"/>
            <a:ext cx="76200" cy="228600"/>
          </a:xfrm>
          <a:prstGeom prst="line">
            <a:avLst/>
          </a:prstGeom>
          <a:ln w="9525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269" name="Line 5"/>
          <p:cNvSpPr/>
          <p:nvPr/>
        </p:nvSpPr>
        <p:spPr>
          <a:xfrm flipH="1">
            <a:off x="887413" y="4572000"/>
            <a:ext cx="76200" cy="228600"/>
          </a:xfrm>
          <a:prstGeom prst="line">
            <a:avLst/>
          </a:prstGeom>
          <a:ln w="9525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90" name="内容占位符 1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/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1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12292" name="Picture 2"/>
          <p:cNvPicPr>
            <a:picLocks noChangeAspect="1"/>
          </p:cNvPicPr>
          <p:nvPr/>
        </p:nvPicPr>
        <p:blipFill>
          <a:blip r:embed="rId1"/>
          <a:srcRect l="3571" t="22356" r="12143" b="15625"/>
          <a:stretch>
            <a:fillRect/>
          </a:stretch>
        </p:blipFill>
        <p:spPr>
          <a:xfrm>
            <a:off x="357188" y="214313"/>
            <a:ext cx="8429625" cy="6143625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6" name="直接连接符 5"/>
          <p:cNvCxnSpPr/>
          <p:nvPr>
            <p:custDataLst>
              <p:tags r:id="rId2"/>
            </p:custDataLst>
          </p:nvPr>
        </p:nvCxnSpPr>
        <p:spPr>
          <a:xfrm>
            <a:off x="2123123" y="4220528"/>
            <a:ext cx="5544820" cy="3175"/>
          </a:xfrm>
          <a:prstGeom prst="lin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直接连接符 1"/>
          <p:cNvCxnSpPr/>
          <p:nvPr>
            <p:custDataLst>
              <p:tags r:id="rId3"/>
            </p:custDataLst>
          </p:nvPr>
        </p:nvCxnSpPr>
        <p:spPr>
          <a:xfrm flipV="1">
            <a:off x="682943" y="4764723"/>
            <a:ext cx="7849235" cy="6985"/>
          </a:xfrm>
          <a:prstGeom prst="lin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>
            <p:custDataLst>
              <p:tags r:id="rId4"/>
            </p:custDataLst>
          </p:nvPr>
        </p:nvCxnSpPr>
        <p:spPr>
          <a:xfrm flipV="1">
            <a:off x="682943" y="5299393"/>
            <a:ext cx="1224280" cy="1270"/>
          </a:xfrm>
          <a:prstGeom prst="lin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>
            <p:custDataLst>
              <p:tags r:id="rId5"/>
            </p:custDataLst>
          </p:nvPr>
        </p:nvCxnSpPr>
        <p:spPr>
          <a:xfrm>
            <a:off x="6596063" y="759778"/>
            <a:ext cx="1871980" cy="1270"/>
          </a:xfrm>
          <a:prstGeom prst="lin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内容占位符 1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/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1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13316" name="Picture 2"/>
          <p:cNvPicPr>
            <a:picLocks noChangeAspect="1"/>
          </p:cNvPicPr>
          <p:nvPr/>
        </p:nvPicPr>
        <p:blipFill>
          <a:blip r:embed="rId1"/>
          <a:srcRect l="3571" t="27403" r="11427" b="9856"/>
          <a:stretch>
            <a:fillRect/>
          </a:stretch>
        </p:blipFill>
        <p:spPr>
          <a:xfrm>
            <a:off x="357188" y="214313"/>
            <a:ext cx="8501062" cy="6215062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5" name="直接连接符 4"/>
          <p:cNvCxnSpPr/>
          <p:nvPr/>
        </p:nvCxnSpPr>
        <p:spPr>
          <a:xfrm>
            <a:off x="1643063" y="1285875"/>
            <a:ext cx="2143125" cy="1588"/>
          </a:xfrm>
          <a:prstGeom prst="lin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>
            <a:off x="1643063" y="1855788"/>
            <a:ext cx="2714625" cy="1588"/>
          </a:xfrm>
          <a:prstGeom prst="lin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8" name="内容占位符 1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/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1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14340" name="Picture 2"/>
          <p:cNvPicPr>
            <a:picLocks noChangeAspect="1"/>
          </p:cNvPicPr>
          <p:nvPr/>
        </p:nvPicPr>
        <p:blipFill>
          <a:blip r:embed="rId1"/>
          <a:srcRect l="5000" t="32452" r="12857" b="27884"/>
          <a:stretch>
            <a:fillRect/>
          </a:stretch>
        </p:blipFill>
        <p:spPr>
          <a:xfrm>
            <a:off x="357188" y="857250"/>
            <a:ext cx="8215312" cy="392906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2" name="内容占位符 1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/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1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15364" name="Picture 2"/>
          <p:cNvPicPr>
            <a:picLocks noChangeAspect="1"/>
          </p:cNvPicPr>
          <p:nvPr/>
        </p:nvPicPr>
        <p:blipFill>
          <a:blip r:embed="rId1"/>
          <a:srcRect l="3571" t="25240" r="11427" b="24278"/>
          <a:stretch>
            <a:fillRect/>
          </a:stretch>
        </p:blipFill>
        <p:spPr>
          <a:xfrm>
            <a:off x="285750" y="357188"/>
            <a:ext cx="8501063" cy="50006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6" name="内容占位符 1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/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1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16388" name="Picture 2"/>
          <p:cNvPicPr>
            <a:picLocks noChangeAspect="1"/>
          </p:cNvPicPr>
          <p:nvPr/>
        </p:nvPicPr>
        <p:blipFill>
          <a:blip r:embed="rId1"/>
          <a:srcRect l="6429" t="30289" r="10715" b="15625"/>
          <a:stretch>
            <a:fillRect/>
          </a:stretch>
        </p:blipFill>
        <p:spPr>
          <a:xfrm>
            <a:off x="357188" y="357188"/>
            <a:ext cx="8286750" cy="5357812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5" name="直接连接符 4"/>
          <p:cNvCxnSpPr/>
          <p:nvPr/>
        </p:nvCxnSpPr>
        <p:spPr>
          <a:xfrm>
            <a:off x="928688" y="4572000"/>
            <a:ext cx="7143750" cy="1588"/>
          </a:xfrm>
          <a:prstGeom prst="lin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3071813" y="5072063"/>
            <a:ext cx="4429125" cy="1588"/>
          </a:xfrm>
          <a:prstGeom prst="lin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Rectangle 3"/>
          <p:cNvSpPr>
            <a:spLocks noGrp="1"/>
          </p:cNvSpPr>
          <p:nvPr>
            <p:ph idx="1"/>
          </p:nvPr>
        </p:nvSpPr>
        <p:spPr>
          <a:xfrm>
            <a:off x="457200" y="1066800"/>
            <a:ext cx="8305800" cy="5257800"/>
          </a:xfrm>
          <a:ln/>
        </p:spPr>
        <p:txBody>
          <a:bodyPr vert="horz" wrap="square" lIns="91440" tIns="45720" rIns="91440" bIns="45720" anchor="t" anchorCtr="0"/>
          <a:p>
            <a:pPr algn="just" eaLnBrk="1" latinLnBrk="0" hangingPunct="1">
              <a:lnSpc>
                <a:spcPct val="115000"/>
              </a:lnSpc>
              <a:buFontTx/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类似</a:t>
            </a:r>
            <a:r>
              <a:rPr lang="en-US" altLang="zh-CN" sz="2400" b="1" dirty="0">
                <a:latin typeface="宋体" panose="02010600030101010101" pitchFamily="2" charset="-122"/>
              </a:rPr>
              <a:t>LR(0)</a:t>
            </a:r>
            <a:r>
              <a:rPr lang="zh-CN" altLang="en-US" sz="2400" b="1" dirty="0">
                <a:latin typeface="宋体" panose="02010600030101010101" pitchFamily="2" charset="-122"/>
              </a:rPr>
              <a:t>的分析表构造，假定</a:t>
            </a:r>
            <a:r>
              <a:rPr lang="en-US" altLang="zh-CN" sz="2400" b="1" dirty="0">
                <a:latin typeface="宋体" panose="02010600030101010101" pitchFamily="2" charset="-122"/>
              </a:rPr>
              <a:t>C={I</a:t>
            </a:r>
            <a:r>
              <a:rPr lang="en-US" altLang="zh-CN" sz="2400" b="1" baseline="-25000" dirty="0">
                <a:latin typeface="宋体" panose="02010600030101010101" pitchFamily="2" charset="-122"/>
              </a:rPr>
              <a:t>0</a:t>
            </a:r>
            <a:r>
              <a:rPr lang="en-US" altLang="zh-CN" sz="2400" b="1" dirty="0">
                <a:latin typeface="宋体" panose="02010600030101010101" pitchFamily="2" charset="-122"/>
              </a:rPr>
              <a:t>,I</a:t>
            </a:r>
            <a:r>
              <a:rPr lang="en-US" altLang="zh-CN" sz="2400" b="1" baseline="-25000" dirty="0">
                <a:latin typeface="宋体" panose="02010600030101010101" pitchFamily="2" charset="-122"/>
              </a:rPr>
              <a:t>1</a:t>
            </a:r>
            <a:r>
              <a:rPr lang="en-US" altLang="zh-CN" sz="2400" b="1" dirty="0">
                <a:latin typeface="宋体" panose="02010600030101010101" pitchFamily="2" charset="-122"/>
              </a:rPr>
              <a:t>,</a:t>
            </a:r>
            <a:r>
              <a:rPr lang="en-US" altLang="zh-CN" sz="2400" b="1" dirty="0">
                <a:latin typeface="Times New Roman" panose="02020603050405020304" charset="0"/>
              </a:rPr>
              <a:t>……</a:t>
            </a:r>
            <a:r>
              <a:rPr lang="zh-CN" altLang="en-US" sz="2400" b="1" dirty="0">
                <a:latin typeface="宋体" panose="02010600030101010101" pitchFamily="2" charset="-122"/>
              </a:rPr>
              <a:t>，</a:t>
            </a:r>
            <a:r>
              <a:rPr lang="en-US" altLang="zh-CN" sz="2400" b="1" dirty="0">
                <a:latin typeface="宋体" panose="02010600030101010101" pitchFamily="2" charset="-122"/>
              </a:rPr>
              <a:t>I</a:t>
            </a:r>
            <a:r>
              <a:rPr lang="en-US" altLang="zh-CN" sz="2400" b="1" baseline="-25000" dirty="0">
                <a:latin typeface="宋体" panose="02010600030101010101" pitchFamily="2" charset="-122"/>
              </a:rPr>
              <a:t>n</a:t>
            </a:r>
            <a:r>
              <a:rPr lang="en-US" altLang="zh-CN" sz="2400" b="1" dirty="0">
                <a:latin typeface="宋体" panose="02010600030101010101" pitchFamily="2" charset="-122"/>
              </a:rPr>
              <a:t>}</a:t>
            </a:r>
            <a:r>
              <a:rPr lang="zh-CN" altLang="en-US" sz="2400" b="1" dirty="0">
                <a:latin typeface="宋体" panose="02010600030101010101" pitchFamily="2" charset="-122"/>
              </a:rPr>
              <a:t>，即：</a:t>
            </a:r>
            <a:r>
              <a:rPr lang="en-US" altLang="zh-CN" sz="2400" b="1" dirty="0">
                <a:latin typeface="宋体" panose="02010600030101010101" pitchFamily="2" charset="-122"/>
              </a:rPr>
              <a:t>G′</a:t>
            </a:r>
            <a:r>
              <a:rPr lang="zh-CN" altLang="en-US" sz="2400" b="1" dirty="0">
                <a:latin typeface="宋体" panose="02010600030101010101" pitchFamily="2" charset="-122"/>
              </a:rPr>
              <a:t>的</a:t>
            </a:r>
            <a:r>
              <a:rPr lang="en-US" altLang="zh-CN" sz="2400" b="1" dirty="0">
                <a:latin typeface="宋体" panose="02010600030101010101" pitchFamily="2" charset="-122"/>
              </a:rPr>
              <a:t>SLR</a:t>
            </a:r>
            <a:r>
              <a:rPr lang="zh-CN" altLang="en-US" sz="2400" b="1" dirty="0">
                <a:latin typeface="宋体" panose="02010600030101010101" pitchFamily="2" charset="-122"/>
              </a:rPr>
              <a:t>分析表含有状态</a:t>
            </a:r>
            <a:r>
              <a:rPr lang="en-US" altLang="zh-CN" sz="2400" b="1" dirty="0">
                <a:latin typeface="宋体" panose="02010600030101010101" pitchFamily="2" charset="-122"/>
              </a:rPr>
              <a:t>0</a:t>
            </a:r>
            <a:r>
              <a:rPr lang="zh-CN" altLang="en-US" sz="2400" b="1" dirty="0">
                <a:latin typeface="宋体" panose="02010600030101010101" pitchFamily="2" charset="-122"/>
              </a:rPr>
              <a:t>，</a:t>
            </a:r>
            <a:r>
              <a:rPr lang="en-US" altLang="zh-CN" sz="2400" b="1" dirty="0">
                <a:latin typeface="宋体" panose="02010600030101010101" pitchFamily="2" charset="-122"/>
              </a:rPr>
              <a:t>1</a:t>
            </a:r>
            <a:r>
              <a:rPr lang="zh-CN" altLang="en-US" sz="2400" b="1" dirty="0">
                <a:latin typeface="宋体" panose="02010600030101010101" pitchFamily="2" charset="-122"/>
              </a:rPr>
              <a:t>，</a:t>
            </a:r>
            <a:r>
              <a:rPr lang="en-US" altLang="zh-CN" sz="2400" b="1" dirty="0">
                <a:latin typeface="Times New Roman" panose="02020603050405020304" charset="0"/>
              </a:rPr>
              <a:t>……</a:t>
            </a:r>
            <a:r>
              <a:rPr lang="zh-CN" altLang="en-US" sz="2400" b="1" dirty="0">
                <a:latin typeface="宋体" panose="02010600030101010101" pitchFamily="2" charset="-122"/>
              </a:rPr>
              <a:t>，</a:t>
            </a:r>
            <a:r>
              <a:rPr lang="en-US" altLang="zh-CN" sz="2400" b="1" dirty="0">
                <a:latin typeface="宋体" panose="02010600030101010101" pitchFamily="2" charset="-122"/>
              </a:rPr>
              <a:t>n</a:t>
            </a:r>
            <a:r>
              <a:rPr lang="zh-CN" altLang="en-US" sz="2400" b="1" dirty="0">
                <a:latin typeface="宋体" panose="02010600030101010101" pitchFamily="2" charset="-122"/>
              </a:rPr>
              <a:t>。又因为</a:t>
            </a:r>
            <a:r>
              <a:rPr lang="en-US" altLang="zh-CN" sz="2400" b="1" dirty="0">
                <a:latin typeface="宋体" panose="02010600030101010101" pitchFamily="2" charset="-122"/>
              </a:rPr>
              <a:t>SLR(1)</a:t>
            </a:r>
            <a:r>
              <a:rPr lang="zh-CN" altLang="en-US" sz="2400" b="1" dirty="0">
                <a:latin typeface="宋体" panose="02010600030101010101" pitchFamily="2" charset="-122"/>
              </a:rPr>
              <a:t>文法要向前看一个字符，因此动作不仅应根据当前状态，还应根据输入缓冲区的第一个符号做出。则改一维函数</a:t>
            </a:r>
            <a:r>
              <a:rPr lang="en-US" altLang="zh-CN" sz="2400" b="1" dirty="0">
                <a:latin typeface="宋体" panose="02010600030101010101" pitchFamily="2" charset="-122"/>
              </a:rPr>
              <a:t>ACTION(S)</a:t>
            </a:r>
            <a:r>
              <a:rPr lang="zh-CN" altLang="en-US" sz="2400" b="1" dirty="0">
                <a:latin typeface="宋体" panose="02010600030101010101" pitchFamily="2" charset="-122"/>
              </a:rPr>
              <a:t>为二维函数</a:t>
            </a:r>
            <a:r>
              <a:rPr lang="en-US" altLang="zh-CN" sz="2400" b="1" dirty="0">
                <a:latin typeface="宋体" panose="02010600030101010101" pitchFamily="2" charset="-122"/>
              </a:rPr>
              <a:t>ACTION(S,a)</a:t>
            </a:r>
            <a:r>
              <a:rPr lang="zh-CN" altLang="en-US" sz="2400" b="1" dirty="0">
                <a:latin typeface="宋体" panose="02010600030101010101" pitchFamily="2" charset="-122"/>
              </a:rPr>
              <a:t>：</a:t>
            </a:r>
            <a:endParaRPr lang="zh-CN" altLang="en-US" sz="2400" b="1" dirty="0">
              <a:latin typeface="宋体" panose="02010600030101010101" pitchFamily="2" charset="-122"/>
            </a:endParaRPr>
          </a:p>
          <a:p>
            <a:pPr algn="just" eaLnBrk="1" latinLnBrk="0" hangingPunct="1">
              <a:lnSpc>
                <a:spcPct val="115000"/>
              </a:lnSpc>
              <a:spcBef>
                <a:spcPct val="80000"/>
              </a:spcBef>
              <a:buFontTx/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按上述算法构造的含有</a:t>
            </a:r>
            <a:r>
              <a:rPr lang="en-US" altLang="zh-CN" sz="2400" b="1" dirty="0">
                <a:latin typeface="宋体" panose="02010600030101010101" pitchFamily="2" charset="-122"/>
              </a:rPr>
              <a:t>ACTION</a:t>
            </a:r>
            <a:r>
              <a:rPr lang="zh-CN" altLang="en-US" sz="2400" b="1" dirty="0">
                <a:latin typeface="宋体" panose="02010600030101010101" pitchFamily="2" charset="-122"/>
              </a:rPr>
              <a:t>和</a:t>
            </a:r>
            <a:r>
              <a:rPr lang="en-US" altLang="zh-CN" sz="2400" b="1" dirty="0">
                <a:latin typeface="宋体" panose="02010600030101010101" pitchFamily="2" charset="-122"/>
              </a:rPr>
              <a:t>GOTO</a:t>
            </a:r>
            <a:r>
              <a:rPr lang="zh-CN" altLang="en-US" sz="2400" b="1" dirty="0">
                <a:latin typeface="宋体" panose="02010600030101010101" pitchFamily="2" charset="-122"/>
              </a:rPr>
              <a:t>两部分的分析表，如果每个入口不含多重定义，则称它为文法</a:t>
            </a:r>
            <a:r>
              <a:rPr lang="en-US" altLang="zh-CN" sz="2400" b="1" dirty="0">
                <a:latin typeface="宋体" panose="02010600030101010101" pitchFamily="2" charset="-122"/>
              </a:rPr>
              <a:t>G</a:t>
            </a:r>
            <a:r>
              <a:rPr lang="zh-CN" altLang="en-US" sz="2400" b="1" dirty="0">
                <a:latin typeface="宋体" panose="02010600030101010101" pitchFamily="2" charset="-122"/>
              </a:rPr>
              <a:t>的一张</a:t>
            </a:r>
            <a:r>
              <a:rPr lang="en-US" altLang="zh-CN" sz="2400" b="1" dirty="0">
                <a:latin typeface="宋体" panose="02010600030101010101" pitchFamily="2" charset="-122"/>
              </a:rPr>
              <a:t>SLR</a:t>
            </a:r>
            <a:r>
              <a:rPr lang="zh-CN" altLang="en-US" sz="2400" b="1" dirty="0">
                <a:latin typeface="宋体" panose="02010600030101010101" pitchFamily="2" charset="-122"/>
              </a:rPr>
              <a:t>表。具有</a:t>
            </a:r>
            <a:r>
              <a:rPr lang="en-US" altLang="zh-CN" sz="2400" b="1" dirty="0">
                <a:latin typeface="宋体" panose="02010600030101010101" pitchFamily="2" charset="-122"/>
              </a:rPr>
              <a:t>SLR</a:t>
            </a:r>
            <a:r>
              <a:rPr lang="zh-CN" altLang="en-US" sz="2400" b="1" dirty="0">
                <a:latin typeface="宋体" panose="02010600030101010101" pitchFamily="2" charset="-122"/>
              </a:rPr>
              <a:t>表的文法</a:t>
            </a:r>
            <a:r>
              <a:rPr lang="en-US" altLang="zh-CN" sz="2400" b="1" dirty="0">
                <a:latin typeface="宋体" panose="02010600030101010101" pitchFamily="2" charset="-122"/>
              </a:rPr>
              <a:t>G</a:t>
            </a:r>
            <a:r>
              <a:rPr lang="zh-CN" altLang="en-US" sz="2400" b="1" dirty="0">
                <a:latin typeface="宋体" panose="02010600030101010101" pitchFamily="2" charset="-122"/>
              </a:rPr>
              <a:t>称为一个</a:t>
            </a:r>
            <a:r>
              <a:rPr lang="en-US" altLang="zh-CN" sz="2400" b="1" dirty="0">
                <a:latin typeface="宋体" panose="02010600030101010101" pitchFamily="2" charset="-122"/>
              </a:rPr>
              <a:t>SLR</a:t>
            </a:r>
            <a:r>
              <a:rPr lang="zh-CN" altLang="en-US" sz="2400" b="1" dirty="0">
                <a:latin typeface="宋体" panose="02010600030101010101" pitchFamily="2" charset="-122"/>
              </a:rPr>
              <a:t>（</a:t>
            </a:r>
            <a:r>
              <a:rPr lang="en-US" altLang="zh-CN" sz="2400" b="1" dirty="0">
                <a:latin typeface="宋体" panose="02010600030101010101" pitchFamily="2" charset="-122"/>
              </a:rPr>
              <a:t>1</a:t>
            </a:r>
            <a:r>
              <a:rPr lang="zh-CN" altLang="en-US" sz="2400" b="1" dirty="0">
                <a:latin typeface="宋体" panose="02010600030101010101" pitchFamily="2" charset="-122"/>
              </a:rPr>
              <a:t>）文法。数字</a:t>
            </a:r>
            <a:r>
              <a:rPr lang="en-US" altLang="zh-CN" sz="2400" b="1" dirty="0">
                <a:latin typeface="宋体" panose="02010600030101010101" pitchFamily="2" charset="-122"/>
              </a:rPr>
              <a:t>1</a:t>
            </a:r>
            <a:r>
              <a:rPr lang="zh-CN" altLang="en-US" sz="2400" b="1" dirty="0">
                <a:latin typeface="宋体" panose="02010600030101010101" pitchFamily="2" charset="-122"/>
              </a:rPr>
              <a:t>的意思是，在分析过程中顶多只要向前看一个符号。</a:t>
            </a:r>
            <a:endParaRPr lang="zh-CN" altLang="en-US" sz="2400" b="1" dirty="0">
              <a:latin typeface="宋体" panose="02010600030101010101" pitchFamily="2" charset="-122"/>
            </a:endParaRPr>
          </a:p>
        </p:txBody>
      </p:sp>
      <p:sp>
        <p:nvSpPr>
          <p:cNvPr id="21197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7848600" cy="533400"/>
          </a:xfrm>
          <a:noFill/>
          <a:ln>
            <a:noFill/>
          </a:ln>
          <a:effectLst/>
          <a:sp3d prstMaterial="plastic"/>
        </p:spPr>
        <p:txBody>
          <a:bodyPr vert="horz" rtlCol="0" anchor="ctr">
            <a:normAutofit fontScale="90000"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宋体" panose="02010600030101010101" pitchFamily="2" charset="-122"/>
                <a:ea typeface="+mj-ea"/>
                <a:cs typeface="+mj-cs"/>
              </a:rPr>
              <a:t>SLR(1)</a:t>
            </a:r>
            <a:r>
              <a: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宋体" panose="02010600030101010101" pitchFamily="2" charset="-122"/>
                <a:ea typeface="+mj-ea"/>
                <a:cs typeface="+mj-cs"/>
              </a:rPr>
              <a:t>的</a:t>
            </a:r>
            <a:r>
              <a:rPr kumimoji="0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宋体" panose="02010600030101010101" pitchFamily="2" charset="-122"/>
                <a:ea typeface="+mj-ea"/>
                <a:cs typeface="+mj-cs"/>
              </a:rPr>
              <a:t>ACTION</a:t>
            </a:r>
            <a:r>
              <a: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宋体" panose="02010600030101010101" pitchFamily="2" charset="-122"/>
                <a:ea typeface="+mj-ea"/>
                <a:cs typeface="+mj-cs"/>
              </a:rPr>
              <a:t>和</a:t>
            </a:r>
            <a:r>
              <a:rPr kumimoji="0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宋体" panose="02010600030101010101" pitchFamily="2" charset="-122"/>
                <a:ea typeface="+mj-ea"/>
                <a:cs typeface="+mj-cs"/>
              </a:rPr>
              <a:t>GOTO</a:t>
            </a:r>
            <a:r>
              <a: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宋体" panose="02010600030101010101" pitchFamily="2" charset="-122"/>
                <a:ea typeface="+mj-ea"/>
                <a:cs typeface="+mj-cs"/>
              </a:rPr>
              <a:t>表构造</a:t>
            </a:r>
            <a:endParaRPr kumimoji="0" lang="zh-CN" altLang="en-US" sz="3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宋体" panose="02010600030101010101" pitchFamily="2" charset="-122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Rectangle 3"/>
          <p:cNvSpPr>
            <a:spLocks noGrp="1"/>
          </p:cNvSpPr>
          <p:nvPr>
            <p:ph idx="1"/>
          </p:nvPr>
        </p:nvSpPr>
        <p:spPr>
          <a:xfrm>
            <a:off x="457200" y="1066800"/>
            <a:ext cx="8305800" cy="5257800"/>
          </a:xfrm>
        </p:spPr>
        <p:txBody>
          <a:bodyPr vert="horz" wrap="square" lIns="91440" tIns="45720" rIns="91440" bIns="45720" anchor="t" anchorCtr="0"/>
          <a:p>
            <a:pPr lvl="1" algn="just" eaLnBrk="1" latinLnBrk="0" hangingPunct="1">
              <a:lnSpc>
                <a:spcPct val="110000"/>
              </a:lnSpc>
              <a:spcBef>
                <a:spcPct val="80000"/>
              </a:spcBef>
              <a:buFont typeface="Wingdings" panose="05000000000000000000" charset="0"/>
              <a:buChar char="Ø"/>
            </a:pPr>
            <a:r>
              <a:rPr lang="zh-CN" altLang="en-US" sz="2400" b="1" dirty="0">
                <a:solidFill>
                  <a:schemeClr val="tx2"/>
                </a:solidFill>
                <a:latin typeface="宋体" panose="02010600030101010101" pitchFamily="2" charset="-122"/>
              </a:rPr>
              <a:t>若项目</a:t>
            </a:r>
            <a:r>
              <a:rPr lang="en-US" altLang="zh-CN" sz="2400" b="1" dirty="0">
                <a:solidFill>
                  <a:schemeClr val="tx2"/>
                </a:solidFill>
                <a:latin typeface="宋体" panose="02010600030101010101" pitchFamily="2" charset="-122"/>
              </a:rPr>
              <a:t>A→α</a:t>
            </a:r>
            <a:r>
              <a:rPr lang="zh-CN" altLang="en-US" sz="2400" b="1" dirty="0">
                <a:solidFill>
                  <a:schemeClr val="tx2"/>
                </a:solidFill>
                <a:latin typeface="宋体" panose="02010600030101010101" pitchFamily="2" charset="-122"/>
              </a:rPr>
              <a:t>．</a:t>
            </a:r>
            <a:r>
              <a:rPr lang="en-US" altLang="zh-CN" sz="2400" b="1" dirty="0">
                <a:solidFill>
                  <a:schemeClr val="tx2"/>
                </a:solidFill>
                <a:latin typeface="宋体" panose="02010600030101010101" pitchFamily="2" charset="-122"/>
              </a:rPr>
              <a:t>aβ</a:t>
            </a:r>
            <a:r>
              <a:rPr lang="zh-CN" altLang="en-US" sz="2400" b="1" dirty="0">
                <a:solidFill>
                  <a:schemeClr val="tx2"/>
                </a:solidFill>
                <a:latin typeface="宋体" panose="02010600030101010101" pitchFamily="2" charset="-122"/>
              </a:rPr>
              <a:t>属于</a:t>
            </a:r>
            <a:r>
              <a:rPr lang="en-US" altLang="zh-CN" sz="2400" b="1" dirty="0">
                <a:solidFill>
                  <a:schemeClr val="tx2"/>
                </a:solidFill>
                <a:latin typeface="宋体" panose="02010600030101010101" pitchFamily="2" charset="-122"/>
              </a:rPr>
              <a:t>I</a:t>
            </a:r>
            <a:r>
              <a:rPr lang="en-US" altLang="zh-CN" sz="2400" b="1" baseline="-25000" dirty="0">
                <a:solidFill>
                  <a:schemeClr val="tx2"/>
                </a:solidFill>
                <a:latin typeface="宋体" panose="02010600030101010101" pitchFamily="2" charset="-122"/>
              </a:rPr>
              <a:t>k</a:t>
            </a:r>
            <a:r>
              <a:rPr lang="zh-CN" altLang="en-US" sz="2400" b="1" dirty="0">
                <a:solidFill>
                  <a:schemeClr val="tx2"/>
                </a:solidFill>
                <a:latin typeface="宋体" panose="02010600030101010101" pitchFamily="2" charset="-122"/>
              </a:rPr>
              <a:t>且</a:t>
            </a:r>
            <a:r>
              <a:rPr lang="en-US" altLang="zh-CN" sz="2400" b="1" dirty="0">
                <a:solidFill>
                  <a:schemeClr val="tx2"/>
                </a:solidFill>
                <a:latin typeface="宋体" panose="02010600030101010101" pitchFamily="2" charset="-122"/>
              </a:rPr>
              <a:t>GOTO(I</a:t>
            </a:r>
            <a:r>
              <a:rPr lang="en-US" altLang="zh-CN" sz="2400" b="1" baseline="-25000" dirty="0">
                <a:solidFill>
                  <a:schemeClr val="tx2"/>
                </a:solidFill>
                <a:latin typeface="宋体" panose="02010600030101010101" pitchFamily="2" charset="-122"/>
              </a:rPr>
              <a:t>k</a:t>
            </a:r>
            <a:r>
              <a:rPr lang="en-US" altLang="zh-CN" sz="2400" b="1" dirty="0">
                <a:solidFill>
                  <a:schemeClr val="tx2"/>
                </a:solidFill>
                <a:latin typeface="宋体" panose="02010600030101010101" pitchFamily="2" charset="-122"/>
              </a:rPr>
              <a:t>, a)= I</a:t>
            </a:r>
            <a:r>
              <a:rPr lang="en-US" altLang="zh-CN" sz="2400" b="1" baseline="-25000" dirty="0">
                <a:solidFill>
                  <a:schemeClr val="tx2"/>
                </a:solidFill>
                <a:latin typeface="宋体" panose="02010600030101010101" pitchFamily="2" charset="-122"/>
              </a:rPr>
              <a:t>j</a:t>
            </a:r>
            <a:r>
              <a:rPr lang="en-US" altLang="zh-CN" sz="2400" b="1" dirty="0">
                <a:solidFill>
                  <a:schemeClr val="tx2"/>
                </a:solidFill>
                <a:latin typeface="宋体" panose="02010600030101010101" pitchFamily="2" charset="-122"/>
              </a:rPr>
              <a:t>, a</a:t>
            </a:r>
            <a:r>
              <a:rPr lang="zh-CN" altLang="en-US" sz="2400" b="1" dirty="0">
                <a:solidFill>
                  <a:schemeClr val="tx2"/>
                </a:solidFill>
                <a:latin typeface="宋体" panose="02010600030101010101" pitchFamily="2" charset="-122"/>
              </a:rPr>
              <a:t>为终结符，则置</a:t>
            </a:r>
            <a:r>
              <a:rPr lang="en-US" altLang="zh-CN" sz="2400" b="1" dirty="0">
                <a:solidFill>
                  <a:schemeClr val="tx2"/>
                </a:solidFill>
                <a:latin typeface="宋体" panose="02010600030101010101" pitchFamily="2" charset="-122"/>
              </a:rPr>
              <a:t>ACTION[k, a]</a:t>
            </a:r>
            <a:r>
              <a:rPr lang="zh-CN" altLang="en-US" sz="2400" b="1" dirty="0">
                <a:solidFill>
                  <a:schemeClr val="tx2"/>
                </a:solidFill>
                <a:latin typeface="宋体" panose="02010600030101010101" pitchFamily="2" charset="-122"/>
              </a:rPr>
              <a:t>为</a:t>
            </a:r>
            <a:r>
              <a:rPr lang="zh-CN" altLang="en-US" sz="2400" b="1" dirty="0">
                <a:solidFill>
                  <a:schemeClr val="tx2"/>
                </a:solidFill>
                <a:latin typeface="Times New Roman" panose="02020603050405020304" charset="0"/>
              </a:rPr>
              <a:t>“</a:t>
            </a:r>
            <a:r>
              <a:rPr lang="zh-CN" altLang="en-US" sz="2400" b="1" dirty="0">
                <a:solidFill>
                  <a:schemeClr val="tx1"/>
                </a:solidFill>
                <a:latin typeface="宋体" panose="02010600030101010101" pitchFamily="2" charset="-122"/>
              </a:rPr>
              <a:t>把状态</a:t>
            </a:r>
            <a:r>
              <a:rPr lang="en-US" altLang="zh-CN" sz="2400" b="1" dirty="0">
                <a:solidFill>
                  <a:schemeClr val="tx1"/>
                </a:solidFill>
                <a:latin typeface="宋体" panose="02010600030101010101" pitchFamily="2" charset="-122"/>
              </a:rPr>
              <a:t>j</a:t>
            </a:r>
            <a:r>
              <a:rPr lang="zh-CN" altLang="en-US" sz="2400" b="1" dirty="0">
                <a:solidFill>
                  <a:schemeClr val="tx1"/>
                </a:solidFill>
                <a:latin typeface="宋体" panose="02010600030101010101" pitchFamily="2" charset="-122"/>
              </a:rPr>
              <a:t>和符号</a:t>
            </a:r>
            <a:r>
              <a:rPr lang="en-US" altLang="zh-CN" sz="2400" b="1" dirty="0">
                <a:solidFill>
                  <a:schemeClr val="tx1"/>
                </a:solidFill>
                <a:latin typeface="宋体" panose="02010600030101010101" pitchFamily="2" charset="-122"/>
              </a:rPr>
              <a:t>a</a:t>
            </a:r>
            <a:r>
              <a:rPr lang="zh-CN" altLang="en-US" sz="2400" b="1" dirty="0">
                <a:solidFill>
                  <a:schemeClr val="tx1"/>
                </a:solidFill>
                <a:latin typeface="宋体" panose="02010600030101010101" pitchFamily="2" charset="-122"/>
              </a:rPr>
              <a:t>移进栈</a:t>
            </a:r>
            <a:r>
              <a:rPr lang="zh-CN" altLang="en-US" sz="2400" b="1" dirty="0">
                <a:solidFill>
                  <a:schemeClr val="tx2"/>
                </a:solidFill>
                <a:latin typeface="Times New Roman" panose="02020603050405020304" charset="0"/>
              </a:rPr>
              <a:t>”</a:t>
            </a:r>
            <a:r>
              <a:rPr lang="zh-CN" altLang="en-US" sz="2400" b="1" dirty="0">
                <a:solidFill>
                  <a:schemeClr val="tx2"/>
                </a:solidFill>
                <a:latin typeface="宋体" panose="02010600030101010101" pitchFamily="2" charset="-122"/>
              </a:rPr>
              <a:t>，简记为</a:t>
            </a:r>
            <a:r>
              <a:rPr lang="zh-CN" altLang="en-US" sz="2400" b="1" dirty="0">
                <a:solidFill>
                  <a:schemeClr val="tx2"/>
                </a:solidFill>
                <a:latin typeface="Times New Roman" panose="02020603050405020304" charset="0"/>
              </a:rPr>
              <a:t>“</a:t>
            </a:r>
            <a:r>
              <a:rPr lang="en-US" altLang="zh-CN" sz="2400" b="1" dirty="0">
                <a:solidFill>
                  <a:srgbClr val="FF0000"/>
                </a:solidFill>
                <a:latin typeface="宋体" panose="02010600030101010101" pitchFamily="2" charset="-122"/>
              </a:rPr>
              <a:t>S</a:t>
            </a:r>
            <a:r>
              <a:rPr lang="en-US" altLang="zh-CN" sz="2400" b="1" baseline="-25000" dirty="0">
                <a:solidFill>
                  <a:srgbClr val="FF0000"/>
                </a:solidFill>
                <a:latin typeface="宋体" panose="02010600030101010101" pitchFamily="2" charset="-122"/>
              </a:rPr>
              <a:t>j</a:t>
            </a:r>
            <a:r>
              <a:rPr lang="en-US" altLang="zh-CN" sz="2400" b="1" dirty="0">
                <a:solidFill>
                  <a:schemeClr val="tx2"/>
                </a:solidFill>
                <a:latin typeface="Times New Roman" panose="02020603050405020304" charset="0"/>
              </a:rPr>
              <a:t>”</a:t>
            </a:r>
            <a:r>
              <a:rPr lang="en-US" altLang="zh-CN" sz="2400" b="1" dirty="0">
                <a:solidFill>
                  <a:schemeClr val="tx2"/>
                </a:solidFill>
                <a:latin typeface="宋体" panose="02010600030101010101" pitchFamily="2" charset="-122"/>
              </a:rPr>
              <a:t>;</a:t>
            </a:r>
            <a:endParaRPr lang="en-US" altLang="zh-CN" sz="2400" b="1" dirty="0">
              <a:solidFill>
                <a:schemeClr val="tx2"/>
              </a:solidFill>
              <a:latin typeface="宋体" panose="02010600030101010101" pitchFamily="2" charset="-122"/>
            </a:endParaRPr>
          </a:p>
          <a:p>
            <a:pPr lvl="1" algn="just" eaLnBrk="1" latinLnBrk="0" hangingPunct="1">
              <a:lnSpc>
                <a:spcPct val="110000"/>
              </a:lnSpc>
              <a:buFont typeface="Wingdings" panose="05000000000000000000" charset="0"/>
              <a:buChar char="Ø"/>
            </a:pPr>
            <a:r>
              <a:rPr lang="zh-CN" altLang="en-US" sz="2400" b="1" dirty="0">
                <a:solidFill>
                  <a:schemeClr val="tx2"/>
                </a:solidFill>
                <a:latin typeface="宋体" panose="02010600030101010101" pitchFamily="2" charset="-122"/>
              </a:rPr>
              <a:t>若项目</a:t>
            </a:r>
            <a:r>
              <a:rPr lang="en-US" altLang="zh-CN" sz="2400" b="1" dirty="0">
                <a:solidFill>
                  <a:schemeClr val="tx2"/>
                </a:solidFill>
                <a:latin typeface="宋体" panose="02010600030101010101" pitchFamily="2" charset="-122"/>
              </a:rPr>
              <a:t>A→α</a:t>
            </a:r>
            <a:r>
              <a:rPr lang="zh-CN" altLang="en-US" sz="2400" b="1" dirty="0">
                <a:solidFill>
                  <a:schemeClr val="tx2"/>
                </a:solidFill>
                <a:latin typeface="宋体" panose="02010600030101010101" pitchFamily="2" charset="-122"/>
              </a:rPr>
              <a:t>．属于</a:t>
            </a:r>
            <a:r>
              <a:rPr lang="en-US" altLang="zh-CN" sz="2400" b="1" dirty="0">
                <a:solidFill>
                  <a:schemeClr val="tx2"/>
                </a:solidFill>
                <a:latin typeface="宋体" panose="02010600030101010101" pitchFamily="2" charset="-122"/>
              </a:rPr>
              <a:t>I</a:t>
            </a:r>
            <a:r>
              <a:rPr lang="en-US" altLang="zh-CN" sz="2400" b="1" baseline="-25000" dirty="0">
                <a:solidFill>
                  <a:schemeClr val="tx2"/>
                </a:solidFill>
                <a:latin typeface="宋体" panose="02010600030101010101" pitchFamily="2" charset="-122"/>
              </a:rPr>
              <a:t>k</a:t>
            </a:r>
            <a:r>
              <a:rPr lang="en-US" altLang="zh-CN" sz="2400" b="1" dirty="0">
                <a:solidFill>
                  <a:schemeClr val="tx2"/>
                </a:solidFill>
                <a:latin typeface="宋体" panose="02010600030101010101" pitchFamily="2" charset="-122"/>
              </a:rPr>
              <a:t>, </a:t>
            </a:r>
            <a:r>
              <a:rPr lang="zh-CN" altLang="en-US" sz="2400" b="1" dirty="0">
                <a:solidFill>
                  <a:schemeClr val="tx2"/>
                </a:solidFill>
                <a:latin typeface="宋体" panose="02010600030101010101" pitchFamily="2" charset="-122"/>
              </a:rPr>
              <a:t>那么，对任何输入符号</a:t>
            </a:r>
            <a:r>
              <a:rPr lang="en-US" altLang="zh-CN" sz="2400" b="1" dirty="0">
                <a:solidFill>
                  <a:schemeClr val="tx2"/>
                </a:solidFill>
                <a:latin typeface="宋体" panose="02010600030101010101" pitchFamily="2" charset="-122"/>
              </a:rPr>
              <a:t>a, 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</a:rPr>
              <a:t>如果</a:t>
            </a:r>
            <a:r>
              <a:rPr lang="en-US" altLang="zh-CN" sz="2400" b="1" dirty="0">
                <a:solidFill>
                  <a:srgbClr val="FF0000"/>
                </a:solidFill>
                <a:latin typeface="宋体" panose="02010600030101010101" pitchFamily="2" charset="-122"/>
              </a:rPr>
              <a:t>a∈FOLLOW(A)</a:t>
            </a:r>
            <a:r>
              <a:rPr lang="en-US" altLang="zh-CN" sz="2400" b="1" dirty="0">
                <a:solidFill>
                  <a:schemeClr val="tx2"/>
                </a:solidFill>
                <a:latin typeface="宋体" panose="02010600030101010101" pitchFamily="2" charset="-122"/>
              </a:rPr>
              <a:t>,</a:t>
            </a:r>
            <a:r>
              <a:rPr lang="zh-CN" altLang="en-US" sz="2400" b="1" dirty="0">
                <a:solidFill>
                  <a:schemeClr val="tx2"/>
                </a:solidFill>
                <a:latin typeface="宋体" panose="02010600030101010101" pitchFamily="2" charset="-122"/>
              </a:rPr>
              <a:t>则置</a:t>
            </a:r>
            <a:r>
              <a:rPr lang="en-US" altLang="zh-CN" sz="2400" b="1" dirty="0">
                <a:solidFill>
                  <a:schemeClr val="tx2"/>
                </a:solidFill>
                <a:latin typeface="宋体" panose="02010600030101010101" pitchFamily="2" charset="-122"/>
              </a:rPr>
              <a:t>ACTION[k,a]</a:t>
            </a:r>
            <a:r>
              <a:rPr lang="zh-CN" altLang="en-US" sz="2400" b="1" dirty="0">
                <a:solidFill>
                  <a:schemeClr val="tx2"/>
                </a:solidFill>
                <a:latin typeface="宋体" panose="02010600030101010101" pitchFamily="2" charset="-122"/>
              </a:rPr>
              <a:t>为</a:t>
            </a:r>
            <a:r>
              <a:rPr lang="zh-CN" altLang="en-US" sz="2400" b="1" dirty="0">
                <a:solidFill>
                  <a:schemeClr val="tx2"/>
                </a:solidFill>
                <a:latin typeface="Times New Roman" panose="02020603050405020304" charset="0"/>
              </a:rPr>
              <a:t>“</a:t>
            </a:r>
            <a:r>
              <a:rPr lang="zh-CN" altLang="en-US" sz="2400" b="1" dirty="0">
                <a:solidFill>
                  <a:schemeClr val="tx1"/>
                </a:solidFill>
                <a:latin typeface="宋体" panose="02010600030101010101" pitchFamily="2" charset="-122"/>
              </a:rPr>
              <a:t>用产生式</a:t>
            </a:r>
            <a:r>
              <a:rPr lang="en-US" altLang="zh-CN" sz="2400" b="1" dirty="0">
                <a:solidFill>
                  <a:schemeClr val="tx1"/>
                </a:solidFill>
                <a:latin typeface="宋体" panose="02010600030101010101" pitchFamily="2" charset="-122"/>
              </a:rPr>
              <a:t>A→α</a:t>
            </a:r>
            <a:r>
              <a:rPr lang="zh-CN" altLang="en-US" sz="2400" b="1" dirty="0">
                <a:solidFill>
                  <a:schemeClr val="tx1"/>
                </a:solidFill>
                <a:latin typeface="宋体" panose="02010600030101010101" pitchFamily="2" charset="-122"/>
              </a:rPr>
              <a:t>进行规约</a:t>
            </a:r>
            <a:r>
              <a:rPr lang="zh-CN" altLang="en-US" sz="2400" b="1" dirty="0">
                <a:solidFill>
                  <a:schemeClr val="tx2"/>
                </a:solidFill>
                <a:latin typeface="Times New Roman" panose="02020603050405020304" charset="0"/>
              </a:rPr>
              <a:t>”</a:t>
            </a:r>
            <a:r>
              <a:rPr lang="zh-CN" altLang="en-US" sz="2400" b="1" dirty="0">
                <a:solidFill>
                  <a:schemeClr val="tx2"/>
                </a:solidFill>
                <a:latin typeface="宋体" panose="02010600030101010101" pitchFamily="2" charset="-122"/>
              </a:rPr>
              <a:t>，简记为</a:t>
            </a:r>
            <a:r>
              <a:rPr lang="zh-CN" altLang="en-US" sz="2400" b="1" dirty="0">
                <a:solidFill>
                  <a:schemeClr val="tx2"/>
                </a:solidFill>
                <a:latin typeface="Times New Roman" panose="02020603050405020304" charset="0"/>
              </a:rPr>
              <a:t>“</a:t>
            </a:r>
            <a:r>
              <a:rPr lang="en-US" altLang="zh-CN" sz="2400" b="1" dirty="0">
                <a:solidFill>
                  <a:srgbClr val="FF0000"/>
                </a:solidFill>
                <a:latin typeface="宋体" panose="02010600030101010101" pitchFamily="2" charset="-122"/>
              </a:rPr>
              <a:t>rj</a:t>
            </a:r>
            <a:r>
              <a:rPr lang="en-US" altLang="zh-CN" sz="2400" b="1" dirty="0">
                <a:solidFill>
                  <a:schemeClr val="tx2"/>
                </a:solidFill>
                <a:latin typeface="Times New Roman" panose="02020603050405020304" charset="0"/>
              </a:rPr>
              <a:t>”</a:t>
            </a:r>
            <a:r>
              <a:rPr lang="en-US" altLang="zh-CN" sz="2400" b="1" dirty="0">
                <a:solidFill>
                  <a:schemeClr val="tx2"/>
                </a:solidFill>
                <a:latin typeface="宋体" panose="02010600030101010101" pitchFamily="2" charset="-122"/>
              </a:rPr>
              <a:t>;</a:t>
            </a:r>
            <a:r>
              <a:rPr lang="zh-CN" altLang="en-US" sz="2400" b="1" dirty="0">
                <a:solidFill>
                  <a:schemeClr val="tx2"/>
                </a:solidFill>
                <a:latin typeface="宋体" panose="02010600030101010101" pitchFamily="2" charset="-122"/>
              </a:rPr>
              <a:t>其中，假定</a:t>
            </a:r>
            <a:r>
              <a:rPr lang="en-US" altLang="zh-CN" sz="2400" b="1" dirty="0">
                <a:solidFill>
                  <a:schemeClr val="tx2"/>
                </a:solidFill>
                <a:latin typeface="宋体" panose="02010600030101010101" pitchFamily="2" charset="-122"/>
              </a:rPr>
              <a:t>A→α</a:t>
            </a:r>
            <a:r>
              <a:rPr lang="zh-CN" altLang="en-US" sz="2400" b="1" dirty="0">
                <a:solidFill>
                  <a:schemeClr val="tx2"/>
                </a:solidFill>
                <a:latin typeface="宋体" panose="02010600030101010101" pitchFamily="2" charset="-122"/>
              </a:rPr>
              <a:t>为文法</a:t>
            </a:r>
            <a:r>
              <a:rPr lang="en-US" altLang="zh-CN" sz="2400" b="1" dirty="0">
                <a:solidFill>
                  <a:schemeClr val="tx2"/>
                </a:solidFill>
                <a:latin typeface="宋体" panose="02010600030101010101" pitchFamily="2" charset="-122"/>
              </a:rPr>
              <a:t>G′</a:t>
            </a:r>
            <a:r>
              <a:rPr lang="zh-CN" altLang="en-US" sz="2400" b="1" dirty="0">
                <a:solidFill>
                  <a:schemeClr val="tx2"/>
                </a:solidFill>
                <a:latin typeface="宋体" panose="02010600030101010101" pitchFamily="2" charset="-122"/>
              </a:rPr>
              <a:t>的第</a:t>
            </a:r>
            <a:r>
              <a:rPr lang="en-US" altLang="zh-CN" sz="2400" b="1" dirty="0">
                <a:solidFill>
                  <a:schemeClr val="tx2"/>
                </a:solidFill>
                <a:latin typeface="宋体" panose="02010600030101010101" pitchFamily="2" charset="-122"/>
              </a:rPr>
              <a:t>j</a:t>
            </a:r>
            <a:r>
              <a:rPr lang="zh-CN" altLang="en-US" sz="2400" b="1" dirty="0">
                <a:solidFill>
                  <a:schemeClr val="tx2"/>
                </a:solidFill>
                <a:latin typeface="宋体" panose="02010600030101010101" pitchFamily="2" charset="-122"/>
              </a:rPr>
              <a:t>个产生式；</a:t>
            </a:r>
            <a:endParaRPr lang="zh-CN" altLang="en-US" sz="2400" b="1" dirty="0">
              <a:solidFill>
                <a:schemeClr val="tx2"/>
              </a:solidFill>
              <a:latin typeface="宋体" panose="02010600030101010101" pitchFamily="2" charset="-122"/>
            </a:endParaRPr>
          </a:p>
          <a:p>
            <a:pPr lvl="1" algn="just" eaLnBrk="1" latinLnBrk="0" hangingPunct="1">
              <a:lnSpc>
                <a:spcPct val="110000"/>
              </a:lnSpc>
              <a:buFont typeface="Wingdings" panose="05000000000000000000" charset="0"/>
              <a:buChar char="Ø"/>
            </a:pPr>
            <a:r>
              <a:rPr lang="zh-CN" altLang="en-US" sz="2400" b="1" dirty="0">
                <a:solidFill>
                  <a:schemeClr val="tx2"/>
                </a:solidFill>
                <a:latin typeface="宋体" panose="02010600030101010101" pitchFamily="2" charset="-122"/>
              </a:rPr>
              <a:t>若项目</a:t>
            </a:r>
            <a:r>
              <a:rPr lang="en-US" altLang="zh-CN" sz="2400" b="1" dirty="0">
                <a:solidFill>
                  <a:schemeClr val="tx2"/>
                </a:solidFill>
                <a:latin typeface="宋体" panose="02010600030101010101" pitchFamily="2" charset="-122"/>
              </a:rPr>
              <a:t>S′→S</a:t>
            </a:r>
            <a:r>
              <a:rPr lang="zh-CN" altLang="en-US" sz="2400" b="1" dirty="0">
                <a:solidFill>
                  <a:schemeClr val="tx2"/>
                </a:solidFill>
                <a:latin typeface="宋体" panose="02010600030101010101" pitchFamily="2" charset="-122"/>
              </a:rPr>
              <a:t>．属于</a:t>
            </a:r>
            <a:r>
              <a:rPr lang="en-US" altLang="zh-CN" sz="2400" b="1" dirty="0">
                <a:solidFill>
                  <a:schemeClr val="tx2"/>
                </a:solidFill>
                <a:latin typeface="宋体" panose="02010600030101010101" pitchFamily="2" charset="-122"/>
              </a:rPr>
              <a:t>I</a:t>
            </a:r>
            <a:r>
              <a:rPr lang="en-US" altLang="zh-CN" sz="2400" b="1" baseline="-25000" dirty="0">
                <a:solidFill>
                  <a:schemeClr val="tx2"/>
                </a:solidFill>
                <a:latin typeface="宋体" panose="02010600030101010101" pitchFamily="2" charset="-122"/>
              </a:rPr>
              <a:t>k</a:t>
            </a:r>
            <a:r>
              <a:rPr lang="en-US" altLang="zh-CN" sz="2400" b="1" dirty="0">
                <a:solidFill>
                  <a:schemeClr val="tx2"/>
                </a:solidFill>
                <a:latin typeface="宋体" panose="02010600030101010101" pitchFamily="2" charset="-122"/>
              </a:rPr>
              <a:t>, </a:t>
            </a:r>
            <a:r>
              <a:rPr lang="zh-CN" altLang="en-US" sz="2400" b="1" dirty="0">
                <a:solidFill>
                  <a:schemeClr val="tx2"/>
                </a:solidFill>
                <a:latin typeface="宋体" panose="02010600030101010101" pitchFamily="2" charset="-122"/>
              </a:rPr>
              <a:t>则置</a:t>
            </a:r>
            <a:r>
              <a:rPr lang="en-US" altLang="zh-CN" sz="2400" b="1" dirty="0">
                <a:solidFill>
                  <a:schemeClr val="tx2"/>
                </a:solidFill>
                <a:latin typeface="宋体" panose="02010600030101010101" pitchFamily="2" charset="-122"/>
              </a:rPr>
              <a:t>ACTION[k, #]</a:t>
            </a:r>
            <a:r>
              <a:rPr lang="zh-CN" altLang="en-US" sz="2400" b="1" dirty="0">
                <a:solidFill>
                  <a:schemeClr val="tx2"/>
                </a:solidFill>
                <a:latin typeface="宋体" panose="02010600030101010101" pitchFamily="2" charset="-122"/>
              </a:rPr>
              <a:t>为</a:t>
            </a:r>
            <a:r>
              <a:rPr lang="zh-CN" altLang="en-US" sz="2400" b="1" dirty="0">
                <a:solidFill>
                  <a:schemeClr val="tx2"/>
                </a:solidFill>
                <a:latin typeface="Times New Roman" panose="02020603050405020304" charset="0"/>
              </a:rPr>
              <a:t>“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</a:rPr>
              <a:t>接受</a:t>
            </a:r>
            <a:r>
              <a:rPr lang="zh-CN" altLang="en-US" sz="2400" b="1" dirty="0">
                <a:solidFill>
                  <a:schemeClr val="tx2"/>
                </a:solidFill>
                <a:latin typeface="Times New Roman" panose="02020603050405020304" charset="0"/>
              </a:rPr>
              <a:t>”</a:t>
            </a:r>
            <a:r>
              <a:rPr lang="zh-CN" altLang="en-US" sz="2400" b="1" dirty="0">
                <a:solidFill>
                  <a:schemeClr val="tx2"/>
                </a:solidFill>
                <a:latin typeface="宋体" panose="02010600030101010101" pitchFamily="2" charset="-122"/>
              </a:rPr>
              <a:t>，简记为</a:t>
            </a:r>
            <a:r>
              <a:rPr lang="zh-CN" altLang="en-US" sz="2400" b="1" dirty="0">
                <a:solidFill>
                  <a:schemeClr val="tx2"/>
                </a:solidFill>
                <a:latin typeface="Times New Roman" panose="02020603050405020304" charset="0"/>
              </a:rPr>
              <a:t>“</a:t>
            </a:r>
            <a:r>
              <a:rPr lang="en-US" altLang="zh-CN" sz="2400" b="1" dirty="0">
                <a:solidFill>
                  <a:schemeClr val="tx2"/>
                </a:solidFill>
                <a:latin typeface="宋体" panose="02010600030101010101" pitchFamily="2" charset="-122"/>
              </a:rPr>
              <a:t>acc</a:t>
            </a:r>
            <a:r>
              <a:rPr lang="en-US" altLang="zh-CN" sz="2400" b="1" dirty="0">
                <a:solidFill>
                  <a:schemeClr val="tx2"/>
                </a:solidFill>
                <a:latin typeface="Times New Roman" panose="02020603050405020304" charset="0"/>
              </a:rPr>
              <a:t>”</a:t>
            </a:r>
            <a:r>
              <a:rPr lang="en-US" altLang="zh-CN" sz="2400" b="1" dirty="0">
                <a:solidFill>
                  <a:schemeClr val="tx2"/>
                </a:solidFill>
                <a:latin typeface="宋体" panose="02010600030101010101" pitchFamily="2" charset="-122"/>
              </a:rPr>
              <a:t>;</a:t>
            </a:r>
            <a:endParaRPr lang="en-US" altLang="zh-CN" sz="2400" b="1" dirty="0">
              <a:solidFill>
                <a:schemeClr val="tx2"/>
              </a:solidFill>
              <a:latin typeface="宋体" panose="02010600030101010101" pitchFamily="2" charset="-122"/>
            </a:endParaRPr>
          </a:p>
          <a:p>
            <a:pPr lvl="1" algn="just" eaLnBrk="1" latinLnBrk="0" hangingPunct="1">
              <a:lnSpc>
                <a:spcPct val="110000"/>
              </a:lnSpc>
              <a:buFont typeface="Wingdings" panose="05000000000000000000" charset="0"/>
              <a:buChar char="Ø"/>
            </a:pPr>
            <a:r>
              <a:rPr lang="zh-CN" altLang="en-US" sz="2400" b="1" dirty="0">
                <a:solidFill>
                  <a:schemeClr val="tx2"/>
                </a:solidFill>
                <a:latin typeface="宋体" panose="02010600030101010101" pitchFamily="2" charset="-122"/>
              </a:rPr>
              <a:t>若</a:t>
            </a:r>
            <a:r>
              <a:rPr lang="en-US" altLang="zh-CN" sz="2400" b="1" dirty="0">
                <a:solidFill>
                  <a:schemeClr val="tx2"/>
                </a:solidFill>
                <a:latin typeface="宋体" panose="02010600030101010101" pitchFamily="2" charset="-122"/>
              </a:rPr>
              <a:t>GOTO(I</a:t>
            </a:r>
            <a:r>
              <a:rPr lang="en-US" altLang="zh-CN" sz="2400" b="1" baseline="-25000" dirty="0">
                <a:solidFill>
                  <a:schemeClr val="tx2"/>
                </a:solidFill>
                <a:latin typeface="宋体" panose="02010600030101010101" pitchFamily="2" charset="-122"/>
              </a:rPr>
              <a:t>k</a:t>
            </a:r>
            <a:r>
              <a:rPr lang="en-US" altLang="zh-CN" sz="2400" b="1" dirty="0">
                <a:solidFill>
                  <a:schemeClr val="tx2"/>
                </a:solidFill>
                <a:latin typeface="宋体" panose="02010600030101010101" pitchFamily="2" charset="-122"/>
              </a:rPr>
              <a:t>, A)= I</a:t>
            </a:r>
            <a:r>
              <a:rPr lang="en-US" altLang="zh-CN" sz="2400" b="1" baseline="-25000" dirty="0">
                <a:solidFill>
                  <a:schemeClr val="tx2"/>
                </a:solidFill>
                <a:latin typeface="宋体" panose="02010600030101010101" pitchFamily="2" charset="-122"/>
              </a:rPr>
              <a:t>j</a:t>
            </a:r>
            <a:r>
              <a:rPr lang="en-US" altLang="zh-CN" sz="2400" b="1" dirty="0">
                <a:solidFill>
                  <a:schemeClr val="tx2"/>
                </a:solidFill>
                <a:latin typeface="宋体" panose="02010600030101010101" pitchFamily="2" charset="-122"/>
              </a:rPr>
              <a:t>, A∈</a:t>
            </a:r>
            <a:r>
              <a:rPr lang="zh-CN" altLang="en-US" sz="2400" b="1" dirty="0">
                <a:solidFill>
                  <a:schemeClr val="tx2"/>
                </a:solidFill>
                <a:latin typeface="宋体" panose="02010600030101010101" pitchFamily="2" charset="-122"/>
              </a:rPr>
              <a:t>Ｖ</a:t>
            </a:r>
            <a:r>
              <a:rPr lang="en-US" altLang="zh-CN" sz="2400" b="1" baseline="-25000" dirty="0">
                <a:solidFill>
                  <a:schemeClr val="tx2"/>
                </a:solidFill>
                <a:latin typeface="宋体" panose="02010600030101010101" pitchFamily="2" charset="-122"/>
              </a:rPr>
              <a:t>N</a:t>
            </a:r>
            <a:r>
              <a:rPr lang="en-US" altLang="zh-CN" sz="2400" b="1" dirty="0">
                <a:solidFill>
                  <a:schemeClr val="tx2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400" b="1" dirty="0">
                <a:solidFill>
                  <a:schemeClr val="tx2"/>
                </a:solidFill>
                <a:latin typeface="宋体" panose="02010600030101010101" pitchFamily="2" charset="-122"/>
              </a:rPr>
              <a:t>，则置</a:t>
            </a:r>
            <a:r>
              <a:rPr lang="en-US" altLang="zh-CN" sz="2400" b="1" dirty="0">
                <a:solidFill>
                  <a:schemeClr val="tx2"/>
                </a:solidFill>
                <a:latin typeface="宋体" panose="02010600030101010101" pitchFamily="2" charset="-122"/>
              </a:rPr>
              <a:t>GOTO(k, A)=j;</a:t>
            </a:r>
            <a:endParaRPr lang="en-US" altLang="zh-CN" sz="2400" b="1" dirty="0">
              <a:solidFill>
                <a:schemeClr val="tx2"/>
              </a:solidFill>
              <a:latin typeface="宋体" panose="02010600030101010101" pitchFamily="2" charset="-122"/>
            </a:endParaRPr>
          </a:p>
          <a:p>
            <a:pPr lvl="1" algn="just" eaLnBrk="1" latinLnBrk="0" hangingPunct="1">
              <a:lnSpc>
                <a:spcPct val="110000"/>
              </a:lnSpc>
              <a:buFont typeface="Wingdings" panose="05000000000000000000" charset="0"/>
              <a:buChar char="Ø"/>
            </a:pPr>
            <a:r>
              <a:rPr lang="zh-CN" altLang="en-US" sz="2400" b="1" dirty="0">
                <a:solidFill>
                  <a:schemeClr val="tx2"/>
                </a:solidFill>
                <a:latin typeface="宋体" panose="02010600030101010101" pitchFamily="2" charset="-122"/>
              </a:rPr>
              <a:t>分析表中凡不能用规则</a:t>
            </a:r>
            <a:r>
              <a:rPr lang="en-US" altLang="zh-CN" sz="2400" b="1" dirty="0">
                <a:solidFill>
                  <a:schemeClr val="tx2"/>
                </a:solidFill>
                <a:latin typeface="宋体" panose="02010600030101010101" pitchFamily="2" charset="-122"/>
              </a:rPr>
              <a:t>1</a:t>
            </a:r>
            <a:r>
              <a:rPr lang="zh-CN" altLang="en-US" sz="2400" b="1" dirty="0">
                <a:solidFill>
                  <a:schemeClr val="tx2"/>
                </a:solidFill>
                <a:latin typeface="宋体" panose="02010600030101010101" pitchFamily="2" charset="-122"/>
              </a:rPr>
              <a:t>至</a:t>
            </a:r>
            <a:r>
              <a:rPr lang="en-US" altLang="zh-CN" sz="2400" b="1" dirty="0">
                <a:solidFill>
                  <a:schemeClr val="tx2"/>
                </a:solidFill>
                <a:latin typeface="宋体" panose="02010600030101010101" pitchFamily="2" charset="-122"/>
              </a:rPr>
              <a:t>4</a:t>
            </a:r>
            <a:r>
              <a:rPr lang="zh-CN" altLang="en-US" sz="2400" b="1" dirty="0">
                <a:solidFill>
                  <a:schemeClr val="tx2"/>
                </a:solidFill>
                <a:latin typeface="宋体" panose="02010600030101010101" pitchFamily="2" charset="-122"/>
              </a:rPr>
              <a:t>填入信息的空白格均置上</a:t>
            </a:r>
            <a:r>
              <a:rPr lang="zh-CN" altLang="en-US" sz="2400" b="1" dirty="0">
                <a:solidFill>
                  <a:schemeClr val="tx2"/>
                </a:solidFill>
                <a:latin typeface="Times New Roman" panose="02020603050405020304" charset="0"/>
              </a:rPr>
              <a:t>“</a:t>
            </a:r>
            <a:r>
              <a:rPr lang="en-US" altLang="zh-CN" sz="2400" b="1" dirty="0">
                <a:solidFill>
                  <a:srgbClr val="FF0000"/>
                </a:solidFill>
                <a:latin typeface="宋体" panose="02010600030101010101" pitchFamily="2" charset="-122"/>
              </a:rPr>
              <a:t>error</a:t>
            </a:r>
            <a:r>
              <a:rPr lang="en-US" altLang="zh-CN" sz="2400" b="1" dirty="0">
                <a:solidFill>
                  <a:schemeClr val="tx2"/>
                </a:solidFill>
                <a:latin typeface="Times New Roman" panose="02020603050405020304" charset="0"/>
              </a:rPr>
              <a:t>”</a:t>
            </a:r>
            <a:r>
              <a:rPr lang="en-US" altLang="zh-CN" sz="2400" b="1" dirty="0">
                <a:solidFill>
                  <a:schemeClr val="tx2"/>
                </a:solidFill>
                <a:latin typeface="宋体" panose="02010600030101010101" pitchFamily="2" charset="-122"/>
              </a:rPr>
              <a:t>(</a:t>
            </a:r>
            <a:r>
              <a:rPr lang="zh-CN" altLang="en-US" sz="2400" b="1" dirty="0">
                <a:solidFill>
                  <a:schemeClr val="tx2"/>
                </a:solidFill>
                <a:latin typeface="宋体" panose="02010600030101010101" pitchFamily="2" charset="-122"/>
              </a:rPr>
              <a:t>或空置</a:t>
            </a:r>
            <a:r>
              <a:rPr lang="en-US" altLang="zh-CN" sz="2400" b="1" dirty="0">
                <a:solidFill>
                  <a:schemeClr val="tx2"/>
                </a:solidFill>
                <a:latin typeface="宋体" panose="02010600030101010101" pitchFamily="2" charset="-122"/>
              </a:rPr>
              <a:t>)</a:t>
            </a:r>
            <a:r>
              <a:rPr lang="zh-CN" altLang="en-US" sz="2400" b="1" dirty="0">
                <a:solidFill>
                  <a:schemeClr val="tx2"/>
                </a:solidFill>
                <a:latin typeface="宋体" panose="02010600030101010101" pitchFamily="2" charset="-122"/>
              </a:rPr>
              <a:t>。</a:t>
            </a:r>
            <a:endParaRPr lang="zh-CN" altLang="en-US" sz="2400" b="1" dirty="0">
              <a:latin typeface="宋体" panose="02010600030101010101" pitchFamily="2" charset="-122"/>
            </a:endParaRPr>
          </a:p>
          <a:p>
            <a:pPr algn="just" eaLnBrk="1" hangingPunct="1">
              <a:lnSpc>
                <a:spcPct val="90000"/>
              </a:lnSpc>
              <a:spcBef>
                <a:spcPct val="80000"/>
              </a:spcBef>
              <a:buFontTx/>
              <a:buNone/>
            </a:pPr>
            <a:endParaRPr lang="zh-CN" altLang="en-US" sz="2400" b="1" dirty="0">
              <a:latin typeface="宋体" panose="02010600030101010101" pitchFamily="2" charset="-122"/>
            </a:endParaRPr>
          </a:p>
        </p:txBody>
      </p:sp>
      <p:sp>
        <p:nvSpPr>
          <p:cNvPr id="21197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7848600" cy="533400"/>
          </a:xfrm>
          <a:noFill/>
          <a:ln>
            <a:noFill/>
          </a:ln>
          <a:effectLst/>
          <a:sp3d prstMaterial="plastic"/>
        </p:spPr>
        <p:txBody>
          <a:bodyPr vert="horz" rtlCol="0" anchor="ctr">
            <a:normAutofit fontScale="90000"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宋体" panose="02010600030101010101" pitchFamily="2" charset="-122"/>
                <a:ea typeface="+mj-ea"/>
                <a:cs typeface="+mj-cs"/>
              </a:rPr>
              <a:t>SLR(1)</a:t>
            </a:r>
            <a:r>
              <a: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宋体" panose="02010600030101010101" pitchFamily="2" charset="-122"/>
                <a:ea typeface="+mj-ea"/>
                <a:cs typeface="+mj-cs"/>
              </a:rPr>
              <a:t>的</a:t>
            </a:r>
            <a:r>
              <a:rPr kumimoji="0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宋体" panose="02010600030101010101" pitchFamily="2" charset="-122"/>
                <a:ea typeface="+mj-ea"/>
                <a:cs typeface="+mj-cs"/>
              </a:rPr>
              <a:t>ACTION</a:t>
            </a:r>
            <a:r>
              <a: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宋体" panose="02010600030101010101" pitchFamily="2" charset="-122"/>
                <a:ea typeface="+mj-ea"/>
                <a:cs typeface="+mj-cs"/>
              </a:rPr>
              <a:t>和</a:t>
            </a:r>
            <a:r>
              <a:rPr kumimoji="0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宋体" panose="02010600030101010101" pitchFamily="2" charset="-122"/>
                <a:ea typeface="+mj-ea"/>
                <a:cs typeface="+mj-cs"/>
              </a:rPr>
              <a:t>GOTO</a:t>
            </a:r>
            <a:r>
              <a: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宋体" panose="02010600030101010101" pitchFamily="2" charset="-122"/>
                <a:ea typeface="+mj-ea"/>
                <a:cs typeface="+mj-cs"/>
              </a:rPr>
              <a:t>表构造</a:t>
            </a:r>
            <a:endParaRPr kumimoji="0" lang="zh-CN" altLang="en-US" sz="3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宋体" panose="02010600030101010101" pitchFamily="2" charset="-122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Rectangle 2"/>
          <p:cNvSpPr>
            <a:spLocks noGrp="1"/>
          </p:cNvSpPr>
          <p:nvPr>
            <p:ph idx="1"/>
          </p:nvPr>
        </p:nvSpPr>
        <p:spPr>
          <a:xfrm>
            <a:off x="490538" y="2228850"/>
            <a:ext cx="8153400" cy="4343400"/>
          </a:xfrm>
          <a:ln/>
        </p:spPr>
        <p:txBody>
          <a:bodyPr vert="horz" wrap="square" lIns="92075" tIns="46038" rIns="92075" bIns="46038" anchor="t" anchorCtr="0"/>
          <a:p>
            <a:pPr eaLnBrk="1" hangingPunct="1">
              <a:buFontTx/>
              <a:buNone/>
            </a:pPr>
            <a:r>
              <a:rPr lang="en-US" altLang="zh-CN" sz="2200" b="1" dirty="0">
                <a:solidFill>
                  <a:srgbClr val="FF0000"/>
                </a:solidFill>
                <a:latin typeface="宋体" panose="02010600030101010101" pitchFamily="2" charset="-122"/>
              </a:rPr>
              <a:t>Go(I,X) </a:t>
            </a:r>
            <a:r>
              <a:rPr lang="zh-CN" altLang="en-US" sz="2200" b="1" dirty="0">
                <a:solidFill>
                  <a:srgbClr val="FF0000"/>
                </a:solidFill>
                <a:latin typeface="宋体" panose="02010600030101010101" pitchFamily="2" charset="-122"/>
              </a:rPr>
              <a:t>状态</a:t>
            </a:r>
            <a:r>
              <a:rPr lang="en-US" altLang="zh-CN" sz="2200" b="1" dirty="0">
                <a:solidFill>
                  <a:srgbClr val="FF0000"/>
                </a:solidFill>
                <a:latin typeface="宋体" panose="02010600030101010101" pitchFamily="2" charset="-122"/>
              </a:rPr>
              <a:t>I </a:t>
            </a:r>
            <a:r>
              <a:rPr lang="zh-CN" altLang="en-US" sz="2200" b="1" dirty="0">
                <a:solidFill>
                  <a:srgbClr val="FF0000"/>
                </a:solidFill>
                <a:latin typeface="宋体" panose="02010600030101010101" pitchFamily="2" charset="-122"/>
              </a:rPr>
              <a:t>项目核心</a:t>
            </a:r>
            <a:r>
              <a:rPr lang="en-US" altLang="zh-CN" sz="2200" b="1" dirty="0">
                <a:solidFill>
                  <a:srgbClr val="FF0000"/>
                </a:solidFill>
                <a:latin typeface="宋体" panose="02010600030101010101" pitchFamily="2" charset="-122"/>
              </a:rPr>
              <a:t>J      </a:t>
            </a:r>
            <a:r>
              <a:rPr lang="zh-CN" altLang="en-US" sz="2200" b="1" dirty="0">
                <a:solidFill>
                  <a:srgbClr val="FF0000"/>
                </a:solidFill>
                <a:latin typeface="宋体" panose="02010600030101010101" pitchFamily="2" charset="-122"/>
              </a:rPr>
              <a:t>计算</a:t>
            </a:r>
            <a:r>
              <a:rPr lang="en-US" altLang="zh-CN" sz="2200" b="1" dirty="0">
                <a:solidFill>
                  <a:srgbClr val="FF0000"/>
                </a:solidFill>
                <a:latin typeface="宋体" panose="02010600030101010101" pitchFamily="2" charset="-122"/>
              </a:rPr>
              <a:t>closure(J)</a:t>
            </a:r>
            <a:r>
              <a:rPr lang="zh-CN" altLang="en-US" sz="2200" b="1" dirty="0">
                <a:solidFill>
                  <a:srgbClr val="FF0000"/>
                </a:solidFill>
                <a:latin typeface="宋体" panose="02010600030101010101" pitchFamily="2" charset="-122"/>
              </a:rPr>
              <a:t>后添加的项目</a:t>
            </a:r>
            <a:endParaRPr lang="en-US" altLang="zh-CN" sz="2200" b="1" dirty="0">
              <a:solidFill>
                <a:srgbClr val="FF0000"/>
              </a:solidFill>
              <a:latin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endParaRPr lang="zh-CN" altLang="en-US" sz="600" b="1" dirty="0">
              <a:solidFill>
                <a:schemeClr val="hlink"/>
              </a:solidFill>
              <a:latin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r>
              <a:rPr lang="zh-CN" altLang="en-US" sz="2000" b="1" dirty="0">
                <a:solidFill>
                  <a:schemeClr val="tx2"/>
                </a:solidFill>
                <a:latin typeface="宋体" panose="02010600030101010101" pitchFamily="2" charset="-122"/>
              </a:rPr>
              <a:t>         </a:t>
            </a:r>
            <a:r>
              <a:rPr lang="en-US" altLang="zh-CN" sz="2000" b="1" dirty="0">
                <a:solidFill>
                  <a:srgbClr val="FF0000"/>
                </a:solidFill>
                <a:latin typeface="宋体" panose="02010600030101010101" pitchFamily="2" charset="-122"/>
              </a:rPr>
              <a:t>0 </a:t>
            </a:r>
            <a:r>
              <a:rPr lang="en-US" altLang="zh-CN" sz="2000" b="1" dirty="0">
                <a:solidFill>
                  <a:schemeClr val="tx2"/>
                </a:solidFill>
                <a:latin typeface="宋体" panose="02010600030101010101" pitchFamily="2" charset="-122"/>
              </a:rPr>
              <a:t>  (0,0)       (1,0) (2,0) (3,0</a:t>
            </a:r>
            <a:r>
              <a:rPr lang="zh-CN" altLang="en-US" sz="2000" b="1" dirty="0">
                <a:solidFill>
                  <a:schemeClr val="tx2"/>
                </a:solidFill>
                <a:latin typeface="宋体" panose="02010600030101010101" pitchFamily="2" charset="-122"/>
              </a:rPr>
              <a:t>）</a:t>
            </a:r>
            <a:r>
              <a:rPr lang="en-US" altLang="zh-CN" sz="2000" b="1" dirty="0">
                <a:solidFill>
                  <a:schemeClr val="tx2"/>
                </a:solidFill>
                <a:latin typeface="宋体" panose="02010600030101010101" pitchFamily="2" charset="-122"/>
              </a:rPr>
              <a:t>(4,0) (5,0) (6,0) </a:t>
            </a:r>
            <a:endParaRPr lang="en-US" altLang="zh-CN" sz="2000" b="1" dirty="0">
              <a:solidFill>
                <a:schemeClr val="tx2"/>
              </a:solidFill>
              <a:latin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anose="02010600030101010101" pitchFamily="2" charset="-122"/>
              </a:rPr>
              <a:t>go(0,E)  1   (0,1) (1,1)</a:t>
            </a:r>
            <a:endParaRPr lang="en-US" altLang="zh-CN" sz="2000" b="1" dirty="0">
              <a:solidFill>
                <a:schemeClr val="tx2"/>
              </a:solidFill>
              <a:latin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anose="02010600030101010101" pitchFamily="2" charset="-122"/>
              </a:rPr>
              <a:t>go(0,T)  2   (2,1) (3,1)</a:t>
            </a:r>
            <a:endParaRPr lang="en-US" altLang="zh-CN" sz="2000" b="1" dirty="0">
              <a:solidFill>
                <a:schemeClr val="tx2"/>
              </a:solidFill>
              <a:latin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anose="02010600030101010101" pitchFamily="2" charset="-122"/>
              </a:rPr>
              <a:t>go(0,F)  3   (4,1)</a:t>
            </a:r>
            <a:endParaRPr lang="en-US" altLang="zh-CN" sz="2000" b="1" dirty="0">
              <a:solidFill>
                <a:schemeClr val="tx2"/>
              </a:solidFill>
              <a:latin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anose="02010600030101010101" pitchFamily="2" charset="-122"/>
              </a:rPr>
              <a:t>go(0,( ) 4   (5,1)       (1,0) (2,0) (3,0</a:t>
            </a:r>
            <a:r>
              <a:rPr lang="zh-CN" altLang="en-US" sz="2000" b="1" dirty="0">
                <a:solidFill>
                  <a:schemeClr val="tx2"/>
                </a:solidFill>
                <a:latin typeface="宋体" panose="02010600030101010101" pitchFamily="2" charset="-122"/>
              </a:rPr>
              <a:t>）</a:t>
            </a:r>
            <a:r>
              <a:rPr lang="en-US" altLang="zh-CN" sz="2000" b="1" dirty="0">
                <a:solidFill>
                  <a:schemeClr val="tx2"/>
                </a:solidFill>
                <a:latin typeface="宋体" panose="02010600030101010101" pitchFamily="2" charset="-122"/>
              </a:rPr>
              <a:t>(4,0) (5,0) (6,0) </a:t>
            </a:r>
            <a:endParaRPr lang="en-US" altLang="zh-CN" sz="2000" b="1" dirty="0">
              <a:solidFill>
                <a:schemeClr val="tx2"/>
              </a:solidFill>
              <a:latin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anose="02010600030101010101" pitchFamily="2" charset="-122"/>
              </a:rPr>
              <a:t>go(0,id) 5   (6,1)</a:t>
            </a:r>
            <a:endParaRPr lang="en-US" altLang="zh-CN" sz="2000" b="1" dirty="0">
              <a:solidFill>
                <a:schemeClr val="tx2"/>
              </a:solidFill>
              <a:latin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anose="02010600030101010101" pitchFamily="2" charset="-122"/>
              </a:rPr>
              <a:t>go(1,+)  6   (1,2)       (3,0) (4,0) (5,0) (6,0)</a:t>
            </a:r>
            <a:endParaRPr lang="en-US" altLang="zh-CN" sz="2000" b="1" dirty="0">
              <a:solidFill>
                <a:schemeClr val="tx2"/>
              </a:solidFill>
              <a:latin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anose="02010600030101010101" pitchFamily="2" charset="-122"/>
              </a:rPr>
              <a:t>go(2,*)  7   (3,2)       (5,0) (6,0)</a:t>
            </a:r>
            <a:endParaRPr lang="en-US" altLang="zh-CN" sz="2000" b="1" dirty="0">
              <a:solidFill>
                <a:schemeClr val="tx2"/>
              </a:solidFill>
              <a:latin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anose="02010600030101010101" pitchFamily="2" charset="-122"/>
              </a:rPr>
              <a:t>go(4,E)  8   (5,2) (1,1) 	</a:t>
            </a:r>
            <a:endParaRPr lang="en-US" altLang="zh-CN" sz="2000" b="1" dirty="0">
              <a:solidFill>
                <a:schemeClr val="tx2"/>
              </a:solidFill>
              <a:latin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anose="02010600030101010101" pitchFamily="2" charset="-122"/>
              </a:rPr>
              <a:t>go(4,T)  2   (2,1) (3,1)</a:t>
            </a:r>
            <a:endParaRPr lang="en-US" altLang="zh-CN" sz="2000" b="1" dirty="0">
              <a:solidFill>
                <a:schemeClr val="tx2"/>
              </a:solidFill>
              <a:latin typeface="宋体" panose="02010600030101010101" pitchFamily="2" charset="-122"/>
            </a:endParaRPr>
          </a:p>
        </p:txBody>
      </p:sp>
      <p:sp>
        <p:nvSpPr>
          <p:cNvPr id="18435" name="Line 3"/>
          <p:cNvSpPr/>
          <p:nvPr/>
        </p:nvSpPr>
        <p:spPr>
          <a:xfrm>
            <a:off x="533400" y="2590800"/>
            <a:ext cx="8229600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8436" name="Line 4"/>
          <p:cNvSpPr/>
          <p:nvPr/>
        </p:nvSpPr>
        <p:spPr>
          <a:xfrm>
            <a:off x="3886200" y="2133600"/>
            <a:ext cx="0" cy="441960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8437" name="Line 5"/>
          <p:cNvSpPr/>
          <p:nvPr/>
        </p:nvSpPr>
        <p:spPr>
          <a:xfrm>
            <a:off x="2362200" y="2133600"/>
            <a:ext cx="0" cy="441960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8438" name="Line 6"/>
          <p:cNvSpPr/>
          <p:nvPr/>
        </p:nvSpPr>
        <p:spPr>
          <a:xfrm>
            <a:off x="1714500" y="2133600"/>
            <a:ext cx="0" cy="441960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8439" name="Line 7"/>
          <p:cNvSpPr/>
          <p:nvPr/>
        </p:nvSpPr>
        <p:spPr>
          <a:xfrm>
            <a:off x="533400" y="6553200"/>
            <a:ext cx="8229600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8440" name="Line 8"/>
          <p:cNvSpPr/>
          <p:nvPr/>
        </p:nvSpPr>
        <p:spPr>
          <a:xfrm>
            <a:off x="533400" y="2133600"/>
            <a:ext cx="8229600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8441" name="Line 9"/>
          <p:cNvSpPr/>
          <p:nvPr/>
        </p:nvSpPr>
        <p:spPr>
          <a:xfrm>
            <a:off x="8763000" y="2133600"/>
            <a:ext cx="0" cy="441960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8442" name="Line 10"/>
          <p:cNvSpPr/>
          <p:nvPr/>
        </p:nvSpPr>
        <p:spPr>
          <a:xfrm>
            <a:off x="533400" y="2133600"/>
            <a:ext cx="0" cy="441960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8443" name="Rectangle 11"/>
          <p:cNvSpPr/>
          <p:nvPr/>
        </p:nvSpPr>
        <p:spPr>
          <a:xfrm>
            <a:off x="533400" y="457200"/>
            <a:ext cx="2743200" cy="8382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/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342900" lvl="0" indent="-342900" eaLnBrk="1" hangingPunct="1">
              <a:lnSpc>
                <a:spcPct val="70000"/>
              </a:lnSpc>
              <a:spcBef>
                <a:spcPct val="20000"/>
              </a:spcBef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0)  </a:t>
            </a:r>
            <a:r>
              <a:rPr lang="zh-CN" altLang="en-US" sz="20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Ｅ</a:t>
            </a:r>
            <a:r>
              <a:rPr lang="en-US" altLang="zh-CN" sz="20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′→ </a:t>
            </a:r>
            <a:r>
              <a:rPr lang="zh-CN" altLang="en-US" sz="20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Ｅ</a:t>
            </a:r>
            <a:endParaRPr lang="zh-CN" altLang="en-US" sz="2000" b="1" dirty="0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lvl="0" indent="-342900" eaLnBrk="1" hangingPunct="1">
              <a:lnSpc>
                <a:spcPct val="70000"/>
              </a:lnSpc>
              <a:spcBef>
                <a:spcPct val="20000"/>
              </a:spcBef>
              <a:buSzTx/>
              <a:buFontTx/>
              <a:buNone/>
            </a:pPr>
            <a:r>
              <a:rPr lang="zh-CN" altLang="en-US" sz="20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1)  </a:t>
            </a:r>
            <a:r>
              <a:rPr lang="zh-CN" altLang="en-US" sz="20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Ｅ  → Ｅ</a:t>
            </a:r>
            <a:r>
              <a:rPr lang="en-US" altLang="zh-CN" sz="20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</a:t>
            </a:r>
            <a:r>
              <a:rPr lang="zh-CN" altLang="en-US" sz="20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Ｔ</a:t>
            </a:r>
            <a:endParaRPr lang="zh-CN" altLang="en-US" sz="2000" b="1" dirty="0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lvl="0" indent="-342900" eaLnBrk="1" hangingPunct="1">
              <a:lnSpc>
                <a:spcPct val="70000"/>
              </a:lnSpc>
              <a:spcBef>
                <a:spcPct val="20000"/>
              </a:spcBef>
              <a:buSzTx/>
              <a:buFontTx/>
              <a:buNone/>
            </a:pPr>
            <a:r>
              <a:rPr lang="zh-CN" altLang="en-US" sz="20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2)  </a:t>
            </a:r>
            <a:r>
              <a:rPr lang="zh-CN" altLang="en-US" sz="20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Ｅ  → Ｔ</a:t>
            </a:r>
            <a:endParaRPr lang="zh-CN" altLang="en-US" sz="2000" b="1" dirty="0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8444" name="Rectangle 12"/>
          <p:cNvSpPr/>
          <p:nvPr/>
        </p:nvSpPr>
        <p:spPr>
          <a:xfrm>
            <a:off x="3352800" y="457200"/>
            <a:ext cx="2971800" cy="12795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60000"/>
              </a:lnSpc>
              <a:spcBef>
                <a:spcPct val="50000"/>
              </a:spcBef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3)  </a:t>
            </a:r>
            <a:r>
              <a:rPr lang="zh-CN" altLang="en-US" sz="20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Ｔ  → Ｔ*Ｆ</a:t>
            </a:r>
            <a:endParaRPr lang="zh-CN" altLang="en-US" sz="2000" b="1" dirty="0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lvl="0" indent="0" eaLnBrk="1" hangingPunct="1">
              <a:lnSpc>
                <a:spcPct val="60000"/>
              </a:lnSpc>
              <a:spcBef>
                <a:spcPct val="50000"/>
              </a:spcBef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4)  </a:t>
            </a:r>
            <a:r>
              <a:rPr lang="zh-CN" altLang="en-US" sz="20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Ｔ  → Ｆ</a:t>
            </a:r>
            <a:endParaRPr lang="zh-CN" altLang="en-US" sz="2000" b="1" dirty="0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lvl="0" indent="0" eaLnBrk="1" hangingPunct="1">
              <a:lnSpc>
                <a:spcPct val="60000"/>
              </a:lnSpc>
              <a:spcBef>
                <a:spcPct val="50000"/>
              </a:spcBef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5)  </a:t>
            </a:r>
            <a:r>
              <a:rPr lang="zh-CN" altLang="en-US" sz="20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Ｆ  → </a:t>
            </a:r>
            <a:r>
              <a:rPr lang="en-US" altLang="zh-CN" sz="20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en-US" sz="20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Ｅ</a:t>
            </a:r>
            <a:r>
              <a:rPr lang="en-US" altLang="zh-CN" sz="20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endParaRPr lang="en-US" altLang="zh-CN" sz="2000" b="1" dirty="0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lvl="0" indent="0" eaLnBrk="1" hangingPunct="1">
              <a:lnSpc>
                <a:spcPct val="60000"/>
              </a:lnSpc>
              <a:spcBef>
                <a:spcPct val="50000"/>
              </a:spcBef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6)  </a:t>
            </a:r>
            <a:r>
              <a:rPr lang="zh-CN" altLang="en-US" sz="20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Ｆ  → </a:t>
            </a:r>
            <a:r>
              <a:rPr lang="en-US" altLang="zh-CN" sz="20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id</a:t>
            </a:r>
            <a:endParaRPr lang="en-US" altLang="zh-CN" sz="2000" b="1" dirty="0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8445" name="Line 13"/>
          <p:cNvSpPr/>
          <p:nvPr/>
        </p:nvSpPr>
        <p:spPr>
          <a:xfrm>
            <a:off x="533400" y="3143250"/>
            <a:ext cx="82296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8446" name="Line 14"/>
          <p:cNvSpPr/>
          <p:nvPr/>
        </p:nvSpPr>
        <p:spPr>
          <a:xfrm>
            <a:off x="533400" y="4953000"/>
            <a:ext cx="82296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8447" name="Line 15"/>
          <p:cNvSpPr/>
          <p:nvPr/>
        </p:nvSpPr>
        <p:spPr>
          <a:xfrm>
            <a:off x="533400" y="5334000"/>
            <a:ext cx="82296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8448" name="Line 16"/>
          <p:cNvSpPr/>
          <p:nvPr/>
        </p:nvSpPr>
        <p:spPr>
          <a:xfrm>
            <a:off x="533400" y="5715000"/>
            <a:ext cx="82296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8449" name="Line 17"/>
          <p:cNvSpPr/>
          <p:nvPr/>
        </p:nvSpPr>
        <p:spPr>
          <a:xfrm>
            <a:off x="533400" y="4191000"/>
            <a:ext cx="82296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8450" name="Line 18"/>
          <p:cNvSpPr/>
          <p:nvPr/>
        </p:nvSpPr>
        <p:spPr>
          <a:xfrm>
            <a:off x="533400" y="4572000"/>
            <a:ext cx="82296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8451" name="AutoShape 19">
            <a:hlinkClick r:id="" action="ppaction://noaction"/>
          </p:cNvPr>
          <p:cNvSpPr/>
          <p:nvPr/>
        </p:nvSpPr>
        <p:spPr>
          <a:xfrm>
            <a:off x="7467600" y="1295400"/>
            <a:ext cx="457200" cy="381000"/>
          </a:xfrm>
          <a:prstGeom prst="downArrow">
            <a:avLst>
              <a:gd name="adj1" fmla="val 58333"/>
              <a:gd name="adj2" fmla="val 55902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b="1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8" name="Rectangle 2"/>
          <p:cNvSpPr>
            <a:spLocks noGrp="1"/>
          </p:cNvSpPr>
          <p:nvPr>
            <p:ph idx="1"/>
          </p:nvPr>
        </p:nvSpPr>
        <p:spPr>
          <a:xfrm>
            <a:off x="542925" y="285750"/>
            <a:ext cx="8458200" cy="6324600"/>
          </a:xfrm>
          <a:ln/>
        </p:spPr>
        <p:txBody>
          <a:bodyPr vert="horz" wrap="square" lIns="92075" tIns="46038" rIns="92075" bIns="46038" anchor="t" anchorCtr="0"/>
          <a:p>
            <a:pPr lvl="1" eaLnBrk="1" hangingPunct="1">
              <a:buFontTx/>
              <a:buNone/>
            </a:pPr>
            <a:r>
              <a:rPr lang="en-US" altLang="zh-CN" sz="1900" b="1" dirty="0">
                <a:solidFill>
                  <a:schemeClr val="tx2"/>
                </a:solidFill>
                <a:latin typeface="宋体" panose="02010600030101010101" pitchFamily="2" charset="-122"/>
              </a:rPr>
              <a:t>go(4,F)   3     (4,1)</a:t>
            </a:r>
            <a:endParaRPr lang="en-US" altLang="zh-CN" sz="1900" b="1" dirty="0">
              <a:solidFill>
                <a:schemeClr val="tx2"/>
              </a:solidFill>
              <a:latin typeface="宋体" panose="02010600030101010101" pitchFamily="2" charset="-122"/>
            </a:endParaRPr>
          </a:p>
          <a:p>
            <a:pPr lvl="1" eaLnBrk="1" hangingPunct="1">
              <a:buFontTx/>
              <a:buNone/>
            </a:pPr>
            <a:r>
              <a:rPr lang="en-US" altLang="zh-CN" sz="1900" b="1" dirty="0">
                <a:solidFill>
                  <a:schemeClr val="tx2"/>
                </a:solidFill>
                <a:latin typeface="宋体" panose="02010600030101010101" pitchFamily="2" charset="-122"/>
              </a:rPr>
              <a:t>go(4,()   4     (5,1)      (1,0) (2,0) (3,0</a:t>
            </a:r>
            <a:r>
              <a:rPr lang="zh-CN" altLang="en-US" sz="1900" b="1" dirty="0">
                <a:solidFill>
                  <a:schemeClr val="tx2"/>
                </a:solidFill>
                <a:latin typeface="宋体" panose="02010600030101010101" pitchFamily="2" charset="-122"/>
              </a:rPr>
              <a:t>）</a:t>
            </a:r>
            <a:r>
              <a:rPr lang="en-US" altLang="zh-CN" sz="1900" b="1" dirty="0">
                <a:solidFill>
                  <a:schemeClr val="tx2"/>
                </a:solidFill>
                <a:latin typeface="宋体" panose="02010600030101010101" pitchFamily="2" charset="-122"/>
              </a:rPr>
              <a:t>(4,0) (5,0) (6,0) </a:t>
            </a:r>
            <a:endParaRPr lang="en-US" altLang="zh-CN" sz="1900" b="1" dirty="0">
              <a:solidFill>
                <a:schemeClr val="tx2"/>
              </a:solidFill>
              <a:latin typeface="宋体" panose="02010600030101010101" pitchFamily="2" charset="-122"/>
            </a:endParaRPr>
          </a:p>
          <a:p>
            <a:pPr lvl="1" eaLnBrk="1" hangingPunct="1">
              <a:buFontTx/>
              <a:buNone/>
            </a:pPr>
            <a:r>
              <a:rPr lang="en-US" altLang="zh-CN" sz="1900" b="1" dirty="0">
                <a:solidFill>
                  <a:schemeClr val="tx2"/>
                </a:solidFill>
                <a:latin typeface="宋体" panose="02010600030101010101" pitchFamily="2" charset="-122"/>
              </a:rPr>
              <a:t>go(4,id)  5     (6,1)</a:t>
            </a:r>
            <a:endParaRPr lang="en-US" altLang="zh-CN" sz="1900" b="1" dirty="0">
              <a:solidFill>
                <a:schemeClr val="tx2"/>
              </a:solidFill>
              <a:latin typeface="宋体" panose="02010600030101010101" pitchFamily="2" charset="-122"/>
            </a:endParaRPr>
          </a:p>
          <a:p>
            <a:pPr lvl="1" eaLnBrk="1" hangingPunct="1">
              <a:buFontTx/>
              <a:buNone/>
            </a:pPr>
            <a:r>
              <a:rPr lang="en-US" altLang="zh-CN" sz="1900" b="1" dirty="0">
                <a:solidFill>
                  <a:schemeClr val="tx2"/>
                </a:solidFill>
                <a:latin typeface="宋体" panose="02010600030101010101" pitchFamily="2" charset="-122"/>
              </a:rPr>
              <a:t>go(6,T)   9     (1,3) (3,1)</a:t>
            </a:r>
            <a:endParaRPr lang="en-US" altLang="zh-CN" sz="1900" b="1" dirty="0">
              <a:solidFill>
                <a:schemeClr val="tx2"/>
              </a:solidFill>
              <a:latin typeface="宋体" panose="02010600030101010101" pitchFamily="2" charset="-122"/>
            </a:endParaRPr>
          </a:p>
          <a:p>
            <a:pPr lvl="1" eaLnBrk="1" hangingPunct="1">
              <a:buFontTx/>
              <a:buNone/>
            </a:pPr>
            <a:r>
              <a:rPr lang="en-US" altLang="zh-CN" sz="1900" b="1" dirty="0">
                <a:solidFill>
                  <a:schemeClr val="tx2"/>
                </a:solidFill>
                <a:latin typeface="宋体" panose="02010600030101010101" pitchFamily="2" charset="-122"/>
              </a:rPr>
              <a:t>go(6,F)   3     (4,1)</a:t>
            </a:r>
            <a:endParaRPr lang="en-US" altLang="zh-CN" sz="1900" b="1" dirty="0">
              <a:solidFill>
                <a:schemeClr val="tx2"/>
              </a:solidFill>
              <a:latin typeface="宋体" panose="02010600030101010101" pitchFamily="2" charset="-122"/>
            </a:endParaRPr>
          </a:p>
          <a:p>
            <a:pPr lvl="1" eaLnBrk="1" hangingPunct="1">
              <a:buFontTx/>
              <a:buNone/>
            </a:pPr>
            <a:r>
              <a:rPr lang="en-US" altLang="zh-CN" sz="1900" b="1" dirty="0">
                <a:solidFill>
                  <a:schemeClr val="tx2"/>
                </a:solidFill>
                <a:latin typeface="宋体" panose="02010600030101010101" pitchFamily="2" charset="-122"/>
              </a:rPr>
              <a:t>go(6,()   4     (5,1)      (1,0) (2,0) (3,0</a:t>
            </a:r>
            <a:r>
              <a:rPr lang="zh-CN" altLang="en-US" sz="1900" b="1" dirty="0">
                <a:solidFill>
                  <a:schemeClr val="tx2"/>
                </a:solidFill>
                <a:latin typeface="宋体" panose="02010600030101010101" pitchFamily="2" charset="-122"/>
              </a:rPr>
              <a:t>）</a:t>
            </a:r>
            <a:r>
              <a:rPr lang="en-US" altLang="zh-CN" sz="1900" b="1" dirty="0">
                <a:solidFill>
                  <a:schemeClr val="tx2"/>
                </a:solidFill>
                <a:latin typeface="宋体" panose="02010600030101010101" pitchFamily="2" charset="-122"/>
              </a:rPr>
              <a:t>(4,0) (5,0) (6,0) </a:t>
            </a:r>
            <a:endParaRPr lang="en-US" altLang="zh-CN" sz="1900" b="1" dirty="0">
              <a:solidFill>
                <a:schemeClr val="tx2"/>
              </a:solidFill>
              <a:latin typeface="宋体" panose="02010600030101010101" pitchFamily="2" charset="-122"/>
            </a:endParaRPr>
          </a:p>
          <a:p>
            <a:pPr lvl="1" eaLnBrk="1" hangingPunct="1">
              <a:buFontTx/>
              <a:buNone/>
            </a:pPr>
            <a:r>
              <a:rPr lang="en-US" altLang="zh-CN" sz="1900" b="1" dirty="0">
                <a:solidFill>
                  <a:schemeClr val="tx2"/>
                </a:solidFill>
                <a:latin typeface="宋体" panose="02010600030101010101" pitchFamily="2" charset="-122"/>
              </a:rPr>
              <a:t>go(6,id)  5     (6,1)</a:t>
            </a:r>
            <a:endParaRPr lang="en-US" altLang="zh-CN" sz="1900" b="1" dirty="0">
              <a:solidFill>
                <a:schemeClr val="tx2"/>
              </a:solidFill>
              <a:latin typeface="宋体" panose="02010600030101010101" pitchFamily="2" charset="-122"/>
            </a:endParaRPr>
          </a:p>
          <a:p>
            <a:pPr lvl="1" eaLnBrk="1" hangingPunct="1">
              <a:buFontTx/>
              <a:buNone/>
            </a:pPr>
            <a:r>
              <a:rPr lang="en-US" altLang="zh-CN" sz="1900" b="1" dirty="0">
                <a:solidFill>
                  <a:schemeClr val="tx2"/>
                </a:solidFill>
                <a:latin typeface="宋体" panose="02010600030101010101" pitchFamily="2" charset="-122"/>
              </a:rPr>
              <a:t>go(7,F)   10    (3,3) </a:t>
            </a:r>
            <a:endParaRPr lang="en-US" altLang="zh-CN" sz="1900" b="1" dirty="0">
              <a:solidFill>
                <a:schemeClr val="tx2"/>
              </a:solidFill>
              <a:latin typeface="宋体" panose="02010600030101010101" pitchFamily="2" charset="-122"/>
            </a:endParaRPr>
          </a:p>
          <a:p>
            <a:pPr lvl="1" eaLnBrk="1" hangingPunct="1">
              <a:buFontTx/>
              <a:buNone/>
            </a:pPr>
            <a:r>
              <a:rPr lang="en-US" altLang="zh-CN" sz="1900" b="1" dirty="0">
                <a:solidFill>
                  <a:schemeClr val="tx2"/>
                </a:solidFill>
                <a:latin typeface="宋体" panose="02010600030101010101" pitchFamily="2" charset="-122"/>
              </a:rPr>
              <a:t>go(7,()   4     (5,1)      (1,0) (2,0) (3,0</a:t>
            </a:r>
            <a:r>
              <a:rPr lang="zh-CN" altLang="en-US" sz="1900" b="1" dirty="0">
                <a:solidFill>
                  <a:schemeClr val="tx2"/>
                </a:solidFill>
                <a:latin typeface="宋体" panose="02010600030101010101" pitchFamily="2" charset="-122"/>
              </a:rPr>
              <a:t>）</a:t>
            </a:r>
            <a:r>
              <a:rPr lang="en-US" altLang="zh-CN" sz="1900" b="1" dirty="0">
                <a:solidFill>
                  <a:schemeClr val="tx2"/>
                </a:solidFill>
                <a:latin typeface="宋体" panose="02010600030101010101" pitchFamily="2" charset="-122"/>
              </a:rPr>
              <a:t>(4,0) (5,0) (6,0) </a:t>
            </a:r>
            <a:endParaRPr lang="en-US" altLang="zh-CN" sz="1900" b="1" dirty="0">
              <a:solidFill>
                <a:schemeClr val="tx2"/>
              </a:solidFill>
              <a:latin typeface="宋体" panose="02010600030101010101" pitchFamily="2" charset="-122"/>
            </a:endParaRPr>
          </a:p>
          <a:p>
            <a:pPr lvl="1" eaLnBrk="1" hangingPunct="1">
              <a:buFontTx/>
              <a:buNone/>
            </a:pPr>
            <a:r>
              <a:rPr lang="en-US" altLang="zh-CN" sz="1900" b="1" dirty="0">
                <a:solidFill>
                  <a:schemeClr val="tx2"/>
                </a:solidFill>
                <a:latin typeface="宋体" panose="02010600030101010101" pitchFamily="2" charset="-122"/>
              </a:rPr>
              <a:t>go(7,id)  5     (6,1)</a:t>
            </a:r>
            <a:endParaRPr lang="en-US" altLang="zh-CN" sz="1900" b="1" dirty="0">
              <a:solidFill>
                <a:schemeClr val="tx2"/>
              </a:solidFill>
              <a:latin typeface="宋体" panose="02010600030101010101" pitchFamily="2" charset="-122"/>
            </a:endParaRPr>
          </a:p>
          <a:p>
            <a:pPr lvl="1" eaLnBrk="1" hangingPunct="1">
              <a:buFontTx/>
              <a:buNone/>
            </a:pPr>
            <a:r>
              <a:rPr lang="en-US" altLang="zh-CN" sz="1900" b="1" dirty="0">
                <a:solidFill>
                  <a:schemeClr val="tx2"/>
                </a:solidFill>
                <a:latin typeface="宋体" panose="02010600030101010101" pitchFamily="2" charset="-122"/>
              </a:rPr>
              <a:t>go(8,))   11    (5,3) </a:t>
            </a:r>
            <a:endParaRPr lang="en-US" altLang="zh-CN" sz="1900" b="1" dirty="0">
              <a:solidFill>
                <a:schemeClr val="tx2"/>
              </a:solidFill>
              <a:latin typeface="宋体" panose="02010600030101010101" pitchFamily="2" charset="-122"/>
            </a:endParaRPr>
          </a:p>
          <a:p>
            <a:pPr lvl="1" eaLnBrk="1" hangingPunct="1">
              <a:buFontTx/>
              <a:buNone/>
            </a:pPr>
            <a:r>
              <a:rPr lang="en-US" altLang="zh-CN" sz="1900" b="1" dirty="0">
                <a:solidFill>
                  <a:schemeClr val="tx2"/>
                </a:solidFill>
                <a:latin typeface="宋体" panose="02010600030101010101" pitchFamily="2" charset="-122"/>
              </a:rPr>
              <a:t>go(8,+)   6     (1,2)      (3,0</a:t>
            </a:r>
            <a:r>
              <a:rPr lang="zh-CN" altLang="en-US" sz="1900" b="1" dirty="0">
                <a:solidFill>
                  <a:schemeClr val="tx2"/>
                </a:solidFill>
                <a:latin typeface="宋体" panose="02010600030101010101" pitchFamily="2" charset="-122"/>
              </a:rPr>
              <a:t>）</a:t>
            </a:r>
            <a:r>
              <a:rPr lang="en-US" altLang="zh-CN" sz="1900" b="1" dirty="0">
                <a:solidFill>
                  <a:schemeClr val="tx2"/>
                </a:solidFill>
                <a:latin typeface="宋体" panose="02010600030101010101" pitchFamily="2" charset="-122"/>
              </a:rPr>
              <a:t>(4,0) (5,0) (6,0) </a:t>
            </a:r>
            <a:endParaRPr lang="en-US" altLang="zh-CN" sz="1900" b="1" dirty="0">
              <a:solidFill>
                <a:schemeClr val="tx2"/>
              </a:solidFill>
              <a:latin typeface="宋体" panose="02010600030101010101" pitchFamily="2" charset="-122"/>
            </a:endParaRPr>
          </a:p>
          <a:p>
            <a:pPr lvl="1" eaLnBrk="1" hangingPunct="1">
              <a:buFontTx/>
              <a:buNone/>
            </a:pPr>
            <a:r>
              <a:rPr lang="en-US" altLang="zh-CN" sz="1900" b="1" dirty="0">
                <a:solidFill>
                  <a:schemeClr val="tx2"/>
                </a:solidFill>
                <a:latin typeface="宋体" panose="02010600030101010101" pitchFamily="2" charset="-122"/>
              </a:rPr>
              <a:t>go(9,*)   7     (3,2)      (5,0) (6,0) </a:t>
            </a:r>
            <a:endParaRPr lang="en-US" altLang="zh-CN" sz="1900" b="1" dirty="0">
              <a:solidFill>
                <a:schemeClr val="tx2"/>
              </a:solidFill>
              <a:latin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endParaRPr lang="en-US" altLang="zh-CN" sz="2000" b="1" i="1" dirty="0">
              <a:solidFill>
                <a:schemeClr val="tx2"/>
              </a:solidFill>
              <a:latin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r>
              <a:rPr lang="zh-CN" altLang="en-US" sz="2800" b="1" dirty="0">
                <a:latin typeface="宋体" panose="02010600030101010101" pitchFamily="2" charset="-122"/>
              </a:rPr>
              <a:t>至此，所有状态转移的可能都被考虑到了，不可能再产生新的状态。</a:t>
            </a:r>
            <a:endParaRPr lang="zh-CN" altLang="en-US" sz="2800" b="1" dirty="0">
              <a:latin typeface="宋体" panose="02010600030101010101" pitchFamily="2" charset="-122"/>
            </a:endParaRPr>
          </a:p>
        </p:txBody>
      </p:sp>
      <p:sp>
        <p:nvSpPr>
          <p:cNvPr id="19459" name="Rectangle 3"/>
          <p:cNvSpPr/>
          <p:nvPr/>
        </p:nvSpPr>
        <p:spPr>
          <a:xfrm>
            <a:off x="876300" y="381000"/>
            <a:ext cx="7734300" cy="4191000"/>
          </a:xfrm>
          <a:prstGeom prst="rect">
            <a:avLst/>
          </a:prstGeom>
          <a:noFill/>
          <a:ln w="38100" cap="flat" cmpd="dbl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b="1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19460" name="Line 4"/>
          <p:cNvSpPr/>
          <p:nvPr/>
        </p:nvSpPr>
        <p:spPr>
          <a:xfrm>
            <a:off x="2133600" y="381000"/>
            <a:ext cx="0" cy="419100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9461" name="Line 5"/>
          <p:cNvSpPr/>
          <p:nvPr/>
        </p:nvSpPr>
        <p:spPr>
          <a:xfrm>
            <a:off x="2895600" y="381000"/>
            <a:ext cx="0" cy="411480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9462" name="Line 6"/>
          <p:cNvSpPr/>
          <p:nvPr/>
        </p:nvSpPr>
        <p:spPr>
          <a:xfrm>
            <a:off x="4357688" y="381000"/>
            <a:ext cx="0" cy="419100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9463" name="Line 7"/>
          <p:cNvSpPr/>
          <p:nvPr/>
        </p:nvSpPr>
        <p:spPr>
          <a:xfrm>
            <a:off x="914400" y="665163"/>
            <a:ext cx="7696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9464" name="Line 8"/>
          <p:cNvSpPr/>
          <p:nvPr/>
        </p:nvSpPr>
        <p:spPr>
          <a:xfrm>
            <a:off x="914400" y="1000125"/>
            <a:ext cx="7696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9465" name="Line 9"/>
          <p:cNvSpPr/>
          <p:nvPr/>
        </p:nvSpPr>
        <p:spPr>
          <a:xfrm>
            <a:off x="914400" y="2971800"/>
            <a:ext cx="7696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9466" name="Line 10"/>
          <p:cNvSpPr/>
          <p:nvPr/>
        </p:nvSpPr>
        <p:spPr>
          <a:xfrm>
            <a:off x="914400" y="3276600"/>
            <a:ext cx="7696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9467" name="Line 11"/>
          <p:cNvSpPr/>
          <p:nvPr/>
        </p:nvSpPr>
        <p:spPr>
          <a:xfrm>
            <a:off x="914400" y="2000250"/>
            <a:ext cx="7696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9468" name="Line 12"/>
          <p:cNvSpPr/>
          <p:nvPr/>
        </p:nvSpPr>
        <p:spPr>
          <a:xfrm>
            <a:off x="914400" y="2286000"/>
            <a:ext cx="7696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9469" name="Line 13"/>
          <p:cNvSpPr/>
          <p:nvPr/>
        </p:nvSpPr>
        <p:spPr>
          <a:xfrm>
            <a:off x="914400" y="3886200"/>
            <a:ext cx="7696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9470" name="Line 14"/>
          <p:cNvSpPr/>
          <p:nvPr/>
        </p:nvSpPr>
        <p:spPr>
          <a:xfrm>
            <a:off x="914400" y="4191000"/>
            <a:ext cx="7696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graphicFrame>
        <p:nvGraphicFramePr>
          <p:cNvPr id="285287" name="Group 615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5098415" y="1629410"/>
          <a:ext cx="3973830" cy="4709160"/>
        </p:xfrm>
        <a:graphic>
          <a:graphicData uri="http://schemas.openxmlformats.org/drawingml/2006/table">
            <a:tbl>
              <a:tblPr/>
              <a:tblGrid>
                <a:gridCol w="434340"/>
                <a:gridCol w="791210"/>
                <a:gridCol w="328930"/>
                <a:gridCol w="297180"/>
                <a:gridCol w="332105"/>
                <a:gridCol w="410210"/>
                <a:gridCol w="400050"/>
                <a:gridCol w="280670"/>
                <a:gridCol w="284480"/>
                <a:gridCol w="414655"/>
              </a:tblGrid>
              <a:tr h="320040">
                <a:tc rowSpan="2"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endParaRPr kumimoji="1" lang="zh-CN" altLang="zh-CN" sz="1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5" marB="457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endParaRPr kumimoji="1" lang="en-US" altLang="zh-CN" sz="1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ACTION</a:t>
                      </a:r>
                      <a:endParaRPr kumimoji="1" lang="en-US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8"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GOTO</a:t>
                      </a:r>
                      <a:endParaRPr kumimoji="1" lang="en-US" altLang="zh-CN" sz="1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548640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+</a:t>
                      </a:r>
                      <a:endParaRPr kumimoji="1" lang="en-US" altLang="zh-CN" sz="1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*</a:t>
                      </a:r>
                      <a:endParaRPr kumimoji="1" lang="en-US" altLang="zh-CN" sz="1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(</a:t>
                      </a:r>
                      <a:endParaRPr kumimoji="1" lang="en-US" altLang="zh-CN" sz="1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)</a:t>
                      </a:r>
                      <a:endParaRPr kumimoji="1" lang="en-US" altLang="zh-CN" sz="1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id</a:t>
                      </a:r>
                      <a:endParaRPr kumimoji="1" lang="en-US" altLang="zh-CN" sz="1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E</a:t>
                      </a:r>
                      <a:endParaRPr kumimoji="1" lang="en-US" altLang="zh-CN" sz="1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1" lang="en-US" altLang="zh-CN" sz="1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1" lang="en-US" altLang="zh-CN" sz="1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0040"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5" marB="457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S</a:t>
                      </a:r>
                      <a:endParaRPr kumimoji="1" lang="en-US" altLang="zh-CN" sz="1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endParaRPr kumimoji="1" lang="zh-CN" altLang="zh-CN" sz="1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endParaRPr kumimoji="1" lang="zh-CN" altLang="zh-CN" sz="1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1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endParaRPr kumimoji="1" lang="zh-CN" altLang="zh-CN" sz="1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5</a:t>
                      </a:r>
                      <a:endParaRPr kumimoji="1" lang="en-US" altLang="zh-CN" sz="1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1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1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0040"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5" marB="457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acc</a:t>
                      </a:r>
                      <a:r>
                        <a:rPr kumimoji="1" lang="zh-CN" altLang="en-US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、</a:t>
                      </a:r>
                      <a:r>
                        <a:rPr kumimoji="1" lang="en-US" altLang="zh-CN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S</a:t>
                      </a:r>
                      <a:endParaRPr kumimoji="1" lang="en-US" altLang="zh-CN" sz="1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1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endParaRPr kumimoji="1" lang="zh-CN" altLang="zh-CN" sz="1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endParaRPr kumimoji="1" lang="zh-CN" altLang="zh-CN" sz="1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endParaRPr kumimoji="1" lang="zh-CN" altLang="zh-CN" sz="1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endParaRPr kumimoji="1" lang="zh-CN" altLang="zh-CN" sz="1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endParaRPr kumimoji="1" lang="zh-CN" altLang="zh-CN" sz="1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endParaRPr kumimoji="1" lang="zh-CN" altLang="zh-CN" sz="1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endParaRPr kumimoji="1" lang="zh-CN" altLang="zh-CN" sz="1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0040"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1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5" marB="457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r2</a:t>
                      </a:r>
                      <a:r>
                        <a:rPr kumimoji="1" lang="zh-CN" altLang="en-US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、</a:t>
                      </a:r>
                      <a:r>
                        <a:rPr kumimoji="1" lang="en-US" altLang="zh-CN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S</a:t>
                      </a:r>
                      <a:endParaRPr kumimoji="1" lang="en-US" altLang="zh-CN" sz="1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endParaRPr kumimoji="1" lang="zh-CN" altLang="zh-CN" sz="1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7</a:t>
                      </a:r>
                      <a:endParaRPr kumimoji="1" lang="en-US" altLang="zh-CN" sz="1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endParaRPr kumimoji="1" lang="zh-CN" altLang="zh-CN" sz="1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endParaRPr kumimoji="1" lang="zh-CN" altLang="zh-CN" sz="1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endParaRPr kumimoji="1" lang="zh-CN" altLang="zh-CN" sz="1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endParaRPr kumimoji="1" lang="zh-CN" altLang="zh-CN" sz="1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endParaRPr kumimoji="1" lang="zh-CN" altLang="zh-CN" sz="1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endParaRPr kumimoji="1" lang="zh-CN" altLang="zh-CN" sz="1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0040"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1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5" marB="457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r4</a:t>
                      </a:r>
                      <a:endParaRPr kumimoji="1" lang="en-US" altLang="zh-CN" sz="1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8"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endParaRPr kumimoji="1" lang="zh-CN" altLang="zh-CN" sz="1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320040"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1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5" marB="457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S</a:t>
                      </a:r>
                      <a:endParaRPr kumimoji="1" lang="en-US" altLang="zh-CN" sz="1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endParaRPr kumimoji="1" lang="zh-CN" altLang="zh-CN" sz="1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endParaRPr kumimoji="1" lang="zh-CN" altLang="zh-CN" sz="1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1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endParaRPr kumimoji="1" lang="zh-CN" altLang="zh-CN" sz="1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5</a:t>
                      </a:r>
                      <a:endParaRPr kumimoji="1" lang="en-US" altLang="zh-CN" sz="1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1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1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0040"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5</a:t>
                      </a:r>
                      <a:endParaRPr kumimoji="1" lang="en-US" altLang="zh-CN" sz="1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5" marB="457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r6</a:t>
                      </a:r>
                      <a:endParaRPr kumimoji="1" lang="en-US" altLang="zh-CN" sz="1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8"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endParaRPr kumimoji="1" lang="zh-CN" altLang="zh-CN" sz="1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320040"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1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5" marB="457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S</a:t>
                      </a:r>
                      <a:endParaRPr kumimoji="1" lang="en-US" altLang="zh-CN" sz="1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endParaRPr kumimoji="1" lang="zh-CN" altLang="zh-CN" sz="1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endParaRPr kumimoji="1" lang="zh-CN" altLang="zh-CN" sz="1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1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endParaRPr kumimoji="1" lang="zh-CN" altLang="zh-CN" sz="1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5</a:t>
                      </a:r>
                      <a:endParaRPr kumimoji="1" lang="en-US" altLang="zh-CN" sz="1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endParaRPr kumimoji="1" lang="zh-CN" altLang="zh-CN" sz="1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9</a:t>
                      </a:r>
                      <a:endParaRPr kumimoji="1" lang="en-US" altLang="zh-CN" sz="1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1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6865"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7</a:t>
                      </a:r>
                      <a:endParaRPr kumimoji="1" lang="en-US" altLang="zh-CN" sz="1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5" marB="457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S</a:t>
                      </a:r>
                      <a:endParaRPr kumimoji="1" lang="en-US" altLang="zh-CN" sz="1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endParaRPr kumimoji="1" lang="zh-CN" altLang="zh-CN" sz="1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endParaRPr kumimoji="1" lang="zh-CN" altLang="zh-CN" sz="1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1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endParaRPr kumimoji="1" lang="zh-CN" altLang="zh-CN" sz="1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5</a:t>
                      </a:r>
                      <a:endParaRPr kumimoji="1" lang="en-US" altLang="zh-CN" sz="1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endParaRPr kumimoji="1" lang="zh-CN" altLang="zh-CN" sz="1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endParaRPr kumimoji="1" lang="zh-CN" altLang="zh-CN" sz="1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10</a:t>
                      </a:r>
                      <a:endParaRPr kumimoji="1" lang="en-US" altLang="zh-CN" sz="1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3685"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8</a:t>
                      </a:r>
                      <a:endParaRPr kumimoji="1" lang="en-US" altLang="zh-CN" sz="1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5" marB="457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S</a:t>
                      </a:r>
                      <a:endParaRPr kumimoji="1" lang="en-US" altLang="zh-CN" sz="1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1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endParaRPr kumimoji="1" lang="zh-CN" altLang="zh-CN" sz="1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endParaRPr kumimoji="1" lang="zh-CN" altLang="zh-CN" sz="1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11</a:t>
                      </a:r>
                      <a:endParaRPr kumimoji="1" lang="en-US" altLang="zh-CN" sz="1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endParaRPr kumimoji="1" lang="zh-CN" altLang="zh-CN" sz="1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endParaRPr kumimoji="1" lang="zh-CN" altLang="zh-CN" sz="1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endParaRPr kumimoji="1" lang="zh-CN" altLang="zh-CN" sz="1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endParaRPr kumimoji="1" lang="zh-CN" altLang="zh-CN" sz="1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0040"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9</a:t>
                      </a:r>
                      <a:endParaRPr kumimoji="1" lang="en-US" altLang="zh-CN" sz="1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5" marB="457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S</a:t>
                      </a:r>
                      <a:r>
                        <a:rPr kumimoji="1" lang="zh-CN" altLang="en-US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、</a:t>
                      </a:r>
                      <a:r>
                        <a:rPr kumimoji="1" lang="en-US" altLang="zh-CN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r1</a:t>
                      </a:r>
                      <a:endParaRPr kumimoji="1" lang="en-US" altLang="zh-CN" sz="1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endParaRPr kumimoji="1" lang="zh-CN" altLang="zh-CN" sz="1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7</a:t>
                      </a:r>
                      <a:endParaRPr kumimoji="1" lang="en-US" altLang="zh-CN" sz="1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endParaRPr kumimoji="1" lang="zh-CN" altLang="zh-CN" sz="1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endParaRPr kumimoji="1" lang="zh-CN" altLang="zh-CN" sz="1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endParaRPr kumimoji="1" lang="zh-CN" altLang="zh-CN" sz="1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endParaRPr kumimoji="1" lang="zh-CN" altLang="zh-CN" sz="1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endParaRPr kumimoji="1" lang="zh-CN" altLang="zh-CN" sz="1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endParaRPr kumimoji="1" lang="zh-CN" altLang="zh-CN" sz="1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0040"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10</a:t>
                      </a:r>
                      <a:endParaRPr kumimoji="1" lang="en-US" altLang="zh-CN" sz="1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5" marB="457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r3</a:t>
                      </a:r>
                      <a:endParaRPr kumimoji="1" lang="en-US" altLang="zh-CN" sz="1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8"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endParaRPr kumimoji="1" lang="zh-CN" altLang="zh-CN" sz="1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320040"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11</a:t>
                      </a:r>
                      <a:endParaRPr kumimoji="1" lang="en-US" altLang="zh-CN" sz="1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5" marB="457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r5</a:t>
                      </a:r>
                      <a:endParaRPr kumimoji="1" lang="en-US" altLang="zh-CN" sz="1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8"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endParaRPr kumimoji="1" lang="zh-CN" altLang="zh-CN" sz="1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20627" name="Rectangle 3"/>
          <p:cNvSpPr/>
          <p:nvPr/>
        </p:nvSpPr>
        <p:spPr>
          <a:xfrm>
            <a:off x="-70802" y="125095"/>
            <a:ext cx="2133600" cy="8382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/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342900" lvl="0" indent="-342900" eaLnBrk="1" hangingPunct="1">
              <a:lnSpc>
                <a:spcPct val="70000"/>
              </a:lnSpc>
              <a:spcBef>
                <a:spcPct val="20000"/>
              </a:spcBef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0)</a:t>
            </a:r>
            <a:r>
              <a:rPr lang="zh-CN" altLang="en-US" sz="20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Ｅ</a:t>
            </a:r>
            <a:r>
              <a:rPr lang="en-US" altLang="zh-CN" sz="20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′→ </a:t>
            </a:r>
            <a:r>
              <a:rPr lang="zh-CN" altLang="en-US" sz="20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Ｅ</a:t>
            </a:r>
            <a:endParaRPr lang="zh-CN" altLang="en-US" sz="2000" b="1" dirty="0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lvl="0" indent="-342900" eaLnBrk="1" hangingPunct="1">
              <a:lnSpc>
                <a:spcPct val="70000"/>
              </a:lnSpc>
              <a:spcBef>
                <a:spcPct val="20000"/>
              </a:spcBef>
              <a:buSzTx/>
              <a:buFontTx/>
              <a:buNone/>
            </a:pPr>
            <a:r>
              <a:rPr lang="zh-CN" altLang="en-US" sz="20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1)</a:t>
            </a:r>
            <a:r>
              <a:rPr lang="zh-CN" altLang="en-US" sz="20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Ｅ  → Ｅ</a:t>
            </a:r>
            <a:r>
              <a:rPr lang="en-US" altLang="zh-CN" sz="20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</a:t>
            </a:r>
            <a:r>
              <a:rPr lang="zh-CN" altLang="en-US" sz="20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Ｔ</a:t>
            </a:r>
            <a:endParaRPr lang="zh-CN" altLang="en-US" sz="2000" b="1" dirty="0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lvl="0" indent="-342900" eaLnBrk="1" hangingPunct="1">
              <a:lnSpc>
                <a:spcPct val="70000"/>
              </a:lnSpc>
              <a:spcBef>
                <a:spcPct val="20000"/>
              </a:spcBef>
              <a:buSzTx/>
              <a:buFontTx/>
              <a:buNone/>
            </a:pPr>
            <a:r>
              <a:rPr lang="zh-CN" altLang="en-US" sz="20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2)</a:t>
            </a:r>
            <a:r>
              <a:rPr lang="zh-CN" altLang="en-US" sz="20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Ｅ  → Ｔ</a:t>
            </a:r>
            <a:endParaRPr lang="zh-CN" altLang="en-US" sz="2000" b="1" dirty="0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0628" name="Rectangle 4"/>
          <p:cNvSpPr/>
          <p:nvPr/>
        </p:nvSpPr>
        <p:spPr>
          <a:xfrm>
            <a:off x="1907858" y="112713"/>
            <a:ext cx="2057400" cy="12795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60000"/>
              </a:lnSpc>
              <a:spcBef>
                <a:spcPct val="50000"/>
              </a:spcBef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3)</a:t>
            </a:r>
            <a:r>
              <a:rPr lang="zh-CN" altLang="en-US" sz="20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Ｔ  → Ｔ*Ｆ</a:t>
            </a:r>
            <a:endParaRPr lang="zh-CN" altLang="en-US" sz="2000" b="1" dirty="0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lvl="0" indent="0" eaLnBrk="1" hangingPunct="1">
              <a:lnSpc>
                <a:spcPct val="60000"/>
              </a:lnSpc>
              <a:spcBef>
                <a:spcPct val="50000"/>
              </a:spcBef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4)</a:t>
            </a:r>
            <a:r>
              <a:rPr lang="zh-CN" altLang="en-US" sz="20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Ｔ  → Ｆ</a:t>
            </a:r>
            <a:endParaRPr lang="zh-CN" altLang="en-US" sz="2000" b="1" dirty="0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lvl="0" indent="0" eaLnBrk="1" hangingPunct="1">
              <a:lnSpc>
                <a:spcPct val="60000"/>
              </a:lnSpc>
              <a:spcBef>
                <a:spcPct val="50000"/>
              </a:spcBef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5)</a:t>
            </a:r>
            <a:r>
              <a:rPr lang="zh-CN" altLang="en-US" sz="20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Ｆ  → </a:t>
            </a:r>
            <a:r>
              <a:rPr lang="en-US" altLang="zh-CN" sz="20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en-US" sz="20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Ｅ</a:t>
            </a:r>
            <a:r>
              <a:rPr lang="en-US" altLang="zh-CN" sz="20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endParaRPr lang="en-US" altLang="zh-CN" sz="2000" b="1" dirty="0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lvl="0" indent="0" eaLnBrk="1" hangingPunct="1">
              <a:lnSpc>
                <a:spcPct val="60000"/>
              </a:lnSpc>
              <a:spcBef>
                <a:spcPct val="50000"/>
              </a:spcBef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6)</a:t>
            </a:r>
            <a:r>
              <a:rPr lang="zh-CN" altLang="en-US" sz="20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Ｆ  → </a:t>
            </a:r>
            <a:r>
              <a:rPr lang="en-US" altLang="zh-CN" sz="20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id</a:t>
            </a:r>
            <a:endParaRPr lang="en-US" altLang="zh-CN" sz="2000" b="1" dirty="0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0629" name="Rectangle 5"/>
          <p:cNvSpPr/>
          <p:nvPr/>
        </p:nvSpPr>
        <p:spPr>
          <a:xfrm>
            <a:off x="4177348" y="66040"/>
            <a:ext cx="5029200" cy="13350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50000"/>
              </a:lnSpc>
              <a:spcBef>
                <a:spcPct val="50000"/>
              </a:spcBef>
              <a:buSzTx/>
              <a:buFontTx/>
              <a:buNone/>
            </a:pPr>
            <a:r>
              <a:rPr lang="en-US" altLang="zh-CN" sz="1800" b="1" dirty="0">
                <a:solidFill>
                  <a:srgbClr val="CC00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Follow(E′)=</a:t>
            </a:r>
            <a:r>
              <a:rPr lang="zh-CN" altLang="en-US" sz="1800" b="1" dirty="0">
                <a:solidFill>
                  <a:srgbClr val="CC00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｛</a:t>
            </a:r>
            <a:r>
              <a:rPr lang="zh-CN" altLang="en-US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＃</a:t>
            </a:r>
            <a:r>
              <a:rPr lang="zh-CN" altLang="en-US" sz="1800" b="1" dirty="0">
                <a:solidFill>
                  <a:srgbClr val="CC00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｝</a:t>
            </a:r>
            <a:endParaRPr lang="zh-CN" altLang="en-US" sz="1800" b="1" dirty="0">
              <a:solidFill>
                <a:srgbClr val="CC0066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lvl="0" indent="0" eaLnBrk="1" hangingPunct="1">
              <a:lnSpc>
                <a:spcPct val="50000"/>
              </a:lnSpc>
              <a:spcBef>
                <a:spcPct val="50000"/>
              </a:spcBef>
              <a:buSzTx/>
              <a:buFontTx/>
              <a:buNone/>
            </a:pPr>
            <a:r>
              <a:rPr lang="en-US" altLang="zh-CN" sz="1800" b="1" dirty="0">
                <a:solidFill>
                  <a:srgbClr val="CC00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Follow(E)= Follow(E′)∪{+,)}</a:t>
            </a:r>
            <a:endParaRPr lang="en-US" altLang="zh-CN" sz="1800" b="1" dirty="0">
              <a:solidFill>
                <a:srgbClr val="CC0066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lvl="0" indent="0" eaLnBrk="1" hangingPunct="1">
              <a:lnSpc>
                <a:spcPct val="50000"/>
              </a:lnSpc>
              <a:spcBef>
                <a:spcPct val="50000"/>
              </a:spcBef>
              <a:buSzTx/>
              <a:buFontTx/>
              <a:buNone/>
            </a:pPr>
            <a:r>
              <a:rPr lang="en-US" altLang="zh-CN" sz="1800" b="1" dirty="0">
                <a:solidFill>
                  <a:srgbClr val="CC00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=</a:t>
            </a:r>
            <a:r>
              <a:rPr lang="zh-CN" altLang="en-US" sz="1800" b="1" dirty="0">
                <a:solidFill>
                  <a:srgbClr val="CC00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｛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+,)</a:t>
            </a:r>
            <a:r>
              <a:rPr lang="zh-CN" altLang="en-US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，＃</a:t>
            </a:r>
            <a:r>
              <a:rPr lang="zh-CN" altLang="en-US" sz="1800" b="1" dirty="0">
                <a:solidFill>
                  <a:srgbClr val="CC00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｝</a:t>
            </a:r>
            <a:endParaRPr lang="zh-CN" altLang="en-US" sz="1800" b="1" dirty="0">
              <a:solidFill>
                <a:srgbClr val="CC0066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lvl="0" indent="0" eaLnBrk="1" hangingPunct="1">
              <a:lnSpc>
                <a:spcPct val="50000"/>
              </a:lnSpc>
              <a:spcBef>
                <a:spcPct val="50000"/>
              </a:spcBef>
              <a:buSzTx/>
              <a:buFontTx/>
              <a:buNone/>
            </a:pPr>
            <a:r>
              <a:rPr lang="en-US" altLang="zh-CN" sz="1800" b="1" dirty="0">
                <a:solidFill>
                  <a:srgbClr val="CC00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Follow(T)= Follow(E)∪{*} =</a:t>
            </a:r>
            <a:r>
              <a:rPr lang="zh-CN" altLang="en-US" sz="1800" b="1" dirty="0">
                <a:solidFill>
                  <a:srgbClr val="CC00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｛</a:t>
            </a:r>
            <a:r>
              <a:rPr lang="zh-CN" altLang="en-US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＋，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zh-CN" altLang="en-US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，＃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,*</a:t>
            </a:r>
            <a:r>
              <a:rPr lang="zh-CN" altLang="en-US" sz="1800" b="1" dirty="0">
                <a:solidFill>
                  <a:srgbClr val="CC00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｝</a:t>
            </a:r>
            <a:endParaRPr lang="zh-CN" altLang="en-US" sz="1800" b="1" dirty="0">
              <a:solidFill>
                <a:srgbClr val="CC0066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lvl="0" indent="0" eaLnBrk="1" hangingPunct="1">
              <a:lnSpc>
                <a:spcPct val="50000"/>
              </a:lnSpc>
              <a:spcBef>
                <a:spcPct val="50000"/>
              </a:spcBef>
              <a:buSzTx/>
              <a:buFontTx/>
              <a:buNone/>
            </a:pPr>
            <a:r>
              <a:rPr lang="en-US" altLang="zh-CN" sz="1800" b="1" dirty="0">
                <a:solidFill>
                  <a:srgbClr val="CC00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Follow(F)= Follow(T) =</a:t>
            </a:r>
            <a:r>
              <a:rPr lang="zh-CN" altLang="en-US" sz="1800" b="1" dirty="0">
                <a:solidFill>
                  <a:srgbClr val="CC00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｛</a:t>
            </a:r>
            <a:r>
              <a:rPr lang="zh-CN" altLang="en-US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＋，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), # ,*</a:t>
            </a:r>
            <a:r>
              <a:rPr lang="en-US" altLang="zh-CN" sz="1800" b="1" dirty="0">
                <a:solidFill>
                  <a:srgbClr val="CC00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lang="en-US" altLang="zh-CN" sz="1800" b="1" dirty="0">
              <a:solidFill>
                <a:srgbClr val="CC0066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Rectangle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-179070" y="1482090"/>
            <a:ext cx="5254625" cy="360045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2075" tIns="46038" rIns="92075" bIns="46038" anchor="t" anchorCtr="0"/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buFontTx/>
              <a:buNone/>
            </a:pPr>
            <a:r>
              <a:rPr lang="zh-CN" altLang="en-US" sz="1600" b="1" dirty="0">
                <a:solidFill>
                  <a:schemeClr val="tx2"/>
                </a:solidFill>
                <a:latin typeface="宋体" panose="02010600030101010101" pitchFamily="2" charset="-122"/>
              </a:rPr>
              <a:t>         </a:t>
            </a:r>
            <a:r>
              <a:rPr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0 </a:t>
            </a:r>
            <a:r>
              <a:rPr lang="en-US" altLang="zh-CN" sz="1600" b="1" dirty="0">
                <a:solidFill>
                  <a:schemeClr val="tx2"/>
                </a:solidFill>
                <a:latin typeface="宋体" panose="02010600030101010101" pitchFamily="2" charset="-122"/>
              </a:rPr>
              <a:t>  (0,0)(1,0)(2,0)(3,0</a:t>
            </a:r>
            <a:r>
              <a:rPr lang="zh-CN" altLang="en-US" sz="1600" b="1" dirty="0">
                <a:solidFill>
                  <a:schemeClr val="tx2"/>
                </a:solidFill>
                <a:latin typeface="宋体" panose="02010600030101010101" pitchFamily="2" charset="-122"/>
              </a:rPr>
              <a:t>）</a:t>
            </a:r>
            <a:r>
              <a:rPr lang="en-US" altLang="zh-CN" sz="1600" b="1" dirty="0">
                <a:solidFill>
                  <a:schemeClr val="tx2"/>
                </a:solidFill>
                <a:latin typeface="宋体" panose="02010600030101010101" pitchFamily="2" charset="-122"/>
              </a:rPr>
              <a:t>(4,0)(5,0)(6,0) </a:t>
            </a:r>
            <a:endParaRPr lang="en-US" altLang="zh-CN" sz="1600" b="1" dirty="0">
              <a:solidFill>
                <a:schemeClr val="tx2"/>
              </a:solidFill>
              <a:latin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r>
              <a:rPr lang="en-US" altLang="zh-CN" sz="1600" b="1" dirty="0">
                <a:solidFill>
                  <a:schemeClr val="tx2"/>
                </a:solidFill>
                <a:latin typeface="宋体" panose="02010600030101010101" pitchFamily="2" charset="-122"/>
              </a:rPr>
              <a:t>go(0,E)  1   (0,1)(1,1)</a:t>
            </a:r>
            <a:endParaRPr lang="en-US" altLang="zh-CN" sz="1600" b="1" dirty="0">
              <a:solidFill>
                <a:schemeClr val="tx2"/>
              </a:solidFill>
              <a:latin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r>
              <a:rPr lang="en-US" altLang="zh-CN" sz="1600" b="1" dirty="0">
                <a:solidFill>
                  <a:schemeClr val="tx2"/>
                </a:solidFill>
                <a:latin typeface="宋体" panose="02010600030101010101" pitchFamily="2" charset="-122"/>
              </a:rPr>
              <a:t>go(0,T)  2   (2,1)(3,1)</a:t>
            </a:r>
            <a:endParaRPr lang="en-US" altLang="zh-CN" sz="1600" b="1" dirty="0">
              <a:solidFill>
                <a:schemeClr val="tx2"/>
              </a:solidFill>
              <a:latin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r>
              <a:rPr lang="en-US" altLang="zh-CN" sz="1600" b="1" dirty="0">
                <a:solidFill>
                  <a:schemeClr val="tx2"/>
                </a:solidFill>
                <a:latin typeface="宋体" panose="02010600030101010101" pitchFamily="2" charset="-122"/>
              </a:rPr>
              <a:t>go(0,F)  3   (4,1)</a:t>
            </a:r>
            <a:endParaRPr lang="en-US" altLang="zh-CN" sz="1600" b="1" dirty="0">
              <a:solidFill>
                <a:schemeClr val="tx2"/>
              </a:solidFill>
              <a:latin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r>
              <a:rPr lang="en-US" altLang="zh-CN" sz="1600" b="1" dirty="0">
                <a:solidFill>
                  <a:schemeClr val="tx2"/>
                </a:solidFill>
                <a:latin typeface="宋体" panose="02010600030101010101" pitchFamily="2" charset="-122"/>
              </a:rPr>
              <a:t>go(0,( ) 4   (5,1)(1,0)(2,0)(3,0</a:t>
            </a:r>
            <a:r>
              <a:rPr lang="en-US" altLang="zh-CN" sz="1600" dirty="0">
                <a:solidFill>
                  <a:schemeClr val="tx2"/>
                </a:solidFill>
                <a:latin typeface="宋体" panose="02010600030101010101" pitchFamily="2" charset="-122"/>
                <a:sym typeface="+mn-ea"/>
              </a:rPr>
              <a:t>)</a:t>
            </a:r>
            <a:r>
              <a:rPr lang="en-US" altLang="zh-CN" sz="1600" b="1" dirty="0">
                <a:solidFill>
                  <a:schemeClr val="tx2"/>
                </a:solidFill>
                <a:latin typeface="宋体" panose="02010600030101010101" pitchFamily="2" charset="-122"/>
              </a:rPr>
              <a:t>(4,0)(5,0)(6,0) </a:t>
            </a:r>
            <a:endParaRPr lang="en-US" altLang="zh-CN" sz="1600" b="1" dirty="0">
              <a:solidFill>
                <a:schemeClr val="tx2"/>
              </a:solidFill>
              <a:latin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r>
              <a:rPr lang="en-US" altLang="zh-CN" sz="1600" b="1" dirty="0">
                <a:solidFill>
                  <a:schemeClr val="tx2"/>
                </a:solidFill>
                <a:latin typeface="宋体" panose="02010600030101010101" pitchFamily="2" charset="-122"/>
              </a:rPr>
              <a:t>go(0,id) 5   (6,1)</a:t>
            </a:r>
            <a:endParaRPr lang="en-US" altLang="zh-CN" sz="1600" b="1" dirty="0">
              <a:solidFill>
                <a:schemeClr val="tx2"/>
              </a:solidFill>
              <a:latin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r>
              <a:rPr lang="en-US" altLang="zh-CN" sz="1600" b="1" dirty="0">
                <a:solidFill>
                  <a:schemeClr val="tx2"/>
                </a:solidFill>
                <a:latin typeface="宋体" panose="02010600030101010101" pitchFamily="2" charset="-122"/>
              </a:rPr>
              <a:t>go(1,+)  6   (1,2)(3,0)(4,0)(5,0)(6,0)</a:t>
            </a:r>
            <a:endParaRPr lang="en-US" altLang="zh-CN" sz="1600" b="1" dirty="0">
              <a:solidFill>
                <a:schemeClr val="tx2"/>
              </a:solidFill>
              <a:latin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r>
              <a:rPr lang="en-US" altLang="zh-CN" sz="1600" b="1" dirty="0">
                <a:solidFill>
                  <a:schemeClr val="tx2"/>
                </a:solidFill>
                <a:latin typeface="宋体" panose="02010600030101010101" pitchFamily="2" charset="-122"/>
              </a:rPr>
              <a:t>go(2,*)  7   (3,2)(5,0)(6,0)</a:t>
            </a:r>
            <a:endParaRPr lang="en-US" altLang="zh-CN" sz="1600" b="1" dirty="0">
              <a:solidFill>
                <a:schemeClr val="tx2"/>
              </a:solidFill>
              <a:latin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r>
              <a:rPr lang="en-US" altLang="zh-CN" sz="1600" b="1" dirty="0">
                <a:solidFill>
                  <a:schemeClr val="tx2"/>
                </a:solidFill>
                <a:latin typeface="宋体" panose="02010600030101010101" pitchFamily="2" charset="-122"/>
              </a:rPr>
              <a:t>go(4,E)  8   (5,2)(1,1) 	</a:t>
            </a:r>
            <a:endParaRPr lang="en-US" altLang="zh-CN" sz="1600" b="1" dirty="0">
              <a:solidFill>
                <a:schemeClr val="tx2"/>
              </a:solidFill>
              <a:latin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r>
              <a:rPr lang="en-US" altLang="zh-CN" sz="1600" b="1" dirty="0">
                <a:solidFill>
                  <a:schemeClr val="tx2"/>
                </a:solidFill>
                <a:latin typeface="宋体" panose="02010600030101010101" pitchFamily="2" charset="-122"/>
              </a:rPr>
              <a:t>go(4,T)  2   (2,1)(3,1)</a:t>
            </a:r>
            <a:endParaRPr lang="en-US" altLang="zh-CN" sz="1600" b="1" dirty="0">
              <a:solidFill>
                <a:schemeClr val="tx2"/>
              </a:solidFill>
              <a:latin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r>
              <a:rPr lang="en-US" altLang="zh-CN" sz="1600" dirty="0">
                <a:solidFill>
                  <a:schemeClr val="tx2"/>
                </a:solidFill>
                <a:latin typeface="宋体" panose="02010600030101010101" pitchFamily="2" charset="-122"/>
                <a:sym typeface="+mn-ea"/>
              </a:rPr>
              <a:t>go(4,F)  3   (4,1)</a:t>
            </a:r>
            <a:endParaRPr lang="en-US" altLang="zh-CN" sz="1600" dirty="0">
              <a:solidFill>
                <a:schemeClr val="tx2"/>
              </a:solidFill>
              <a:latin typeface="宋体" panose="02010600030101010101" pitchFamily="2" charset="-122"/>
              <a:sym typeface="+mn-ea"/>
            </a:endParaRPr>
          </a:p>
          <a:p>
            <a:pPr eaLnBrk="1" hangingPunct="1">
              <a:buFontTx/>
              <a:buNone/>
            </a:pPr>
            <a:r>
              <a:rPr lang="en-US" altLang="zh-CN" sz="1600" dirty="0">
                <a:solidFill>
                  <a:schemeClr val="tx2"/>
                </a:solidFill>
                <a:latin typeface="宋体" panose="02010600030101010101" pitchFamily="2" charset="-122"/>
                <a:sym typeface="+mn-ea"/>
              </a:rPr>
              <a:t>go(4,()  4   (5,1)(1,0)(2,0)(3,0</a:t>
            </a:r>
            <a:r>
              <a:rPr lang="en-US" altLang="zh-CN" sz="1600" dirty="0">
                <a:solidFill>
                  <a:schemeClr val="tx2"/>
                </a:solidFill>
                <a:latin typeface="宋体" panose="02010600030101010101" pitchFamily="2" charset="-122"/>
                <a:sym typeface="+mn-ea"/>
              </a:rPr>
              <a:t>)</a:t>
            </a:r>
            <a:r>
              <a:rPr lang="en-US" altLang="zh-CN" sz="1600" dirty="0">
                <a:solidFill>
                  <a:schemeClr val="tx2"/>
                </a:solidFill>
                <a:latin typeface="宋体" panose="02010600030101010101" pitchFamily="2" charset="-122"/>
                <a:sym typeface="+mn-ea"/>
              </a:rPr>
              <a:t>(4,0)(5,0)(6,0) </a:t>
            </a:r>
            <a:endParaRPr lang="en-US" altLang="zh-CN" sz="1600" dirty="0">
              <a:solidFill>
                <a:schemeClr val="tx2"/>
              </a:solidFill>
              <a:latin typeface="宋体" panose="02010600030101010101" pitchFamily="2" charset="-122"/>
              <a:sym typeface="+mn-ea"/>
            </a:endParaRPr>
          </a:p>
          <a:p>
            <a:pPr eaLnBrk="1" hangingPunct="1">
              <a:buFontTx/>
              <a:buNone/>
            </a:pPr>
            <a:r>
              <a:rPr lang="en-US" altLang="zh-CN" sz="1600" dirty="0">
                <a:solidFill>
                  <a:schemeClr val="tx2"/>
                </a:solidFill>
                <a:latin typeface="宋体" panose="02010600030101010101" pitchFamily="2" charset="-122"/>
                <a:sym typeface="+mn-ea"/>
              </a:rPr>
              <a:t>go(4,id) 5   (6,1)</a:t>
            </a:r>
            <a:endParaRPr lang="en-US" altLang="zh-CN" sz="1600" dirty="0">
              <a:solidFill>
                <a:schemeClr val="tx2"/>
              </a:solidFill>
              <a:latin typeface="宋体" panose="02010600030101010101" pitchFamily="2" charset="-122"/>
              <a:sym typeface="+mn-ea"/>
            </a:endParaRPr>
          </a:p>
          <a:p>
            <a:pPr eaLnBrk="1" hangingPunct="1">
              <a:buFontTx/>
              <a:buNone/>
            </a:pPr>
            <a:r>
              <a:rPr lang="en-US" altLang="zh-CN" sz="1600" dirty="0">
                <a:solidFill>
                  <a:schemeClr val="tx2"/>
                </a:solidFill>
                <a:latin typeface="宋体" panose="02010600030101010101" pitchFamily="2" charset="-122"/>
                <a:sym typeface="+mn-ea"/>
              </a:rPr>
              <a:t>go(6,T)  9   (1,3)(3,1)</a:t>
            </a:r>
            <a:endParaRPr lang="en-US" altLang="zh-CN" sz="1600" dirty="0">
              <a:solidFill>
                <a:schemeClr val="tx2"/>
              </a:solidFill>
              <a:latin typeface="宋体" panose="02010600030101010101" pitchFamily="2" charset="-122"/>
              <a:sym typeface="+mn-ea"/>
            </a:endParaRPr>
          </a:p>
          <a:p>
            <a:pPr eaLnBrk="1" hangingPunct="1">
              <a:buFontTx/>
              <a:buNone/>
            </a:pPr>
            <a:r>
              <a:rPr lang="en-US" altLang="zh-CN" sz="1600" dirty="0">
                <a:solidFill>
                  <a:schemeClr val="tx2"/>
                </a:solidFill>
                <a:latin typeface="宋体" panose="02010600030101010101" pitchFamily="2" charset="-122"/>
                <a:sym typeface="+mn-ea"/>
              </a:rPr>
              <a:t>go(6,F)  3   (4,1)</a:t>
            </a:r>
            <a:endParaRPr lang="en-US" altLang="zh-CN" sz="1600" dirty="0">
              <a:solidFill>
                <a:schemeClr val="tx2"/>
              </a:solidFill>
              <a:latin typeface="宋体" panose="02010600030101010101" pitchFamily="2" charset="-122"/>
              <a:sym typeface="+mn-ea"/>
            </a:endParaRPr>
          </a:p>
          <a:p>
            <a:pPr eaLnBrk="1" hangingPunct="1">
              <a:buFontTx/>
              <a:buNone/>
            </a:pPr>
            <a:r>
              <a:rPr lang="en-US" altLang="zh-CN" sz="1600" dirty="0">
                <a:solidFill>
                  <a:schemeClr val="tx2"/>
                </a:solidFill>
                <a:latin typeface="宋体" panose="02010600030101010101" pitchFamily="2" charset="-122"/>
                <a:sym typeface="+mn-ea"/>
              </a:rPr>
              <a:t>go(6,()  4   (5,1)(1,0)(2,0)(3,0)(4,0)(5,0)(6,0)</a:t>
            </a:r>
            <a:endParaRPr lang="en-US" altLang="zh-CN" sz="1600" dirty="0">
              <a:solidFill>
                <a:schemeClr val="tx2"/>
              </a:solidFill>
              <a:latin typeface="宋体" panose="02010600030101010101" pitchFamily="2" charset="-122"/>
              <a:sym typeface="+mn-ea"/>
            </a:endParaRPr>
          </a:p>
          <a:p>
            <a:pPr eaLnBrk="1" hangingPunct="1">
              <a:buFontTx/>
              <a:buNone/>
            </a:pPr>
            <a:r>
              <a:rPr lang="en-US" altLang="zh-CN" sz="1600" dirty="0">
                <a:solidFill>
                  <a:schemeClr val="tx2"/>
                </a:solidFill>
                <a:latin typeface="宋体" panose="02010600030101010101" pitchFamily="2" charset="-122"/>
                <a:sym typeface="+mn-ea"/>
              </a:rPr>
              <a:t>go(6,id) 5   (6,1)</a:t>
            </a:r>
            <a:endParaRPr lang="en-US" altLang="zh-CN" sz="1600" dirty="0">
              <a:solidFill>
                <a:schemeClr val="tx2"/>
              </a:solidFill>
              <a:latin typeface="宋体" panose="02010600030101010101" pitchFamily="2" charset="-122"/>
              <a:sym typeface="+mn-ea"/>
            </a:endParaRPr>
          </a:p>
          <a:p>
            <a:pPr eaLnBrk="1" hangingPunct="1">
              <a:buFontTx/>
              <a:buNone/>
            </a:pPr>
            <a:r>
              <a:rPr lang="en-US" altLang="zh-CN" sz="1600" dirty="0">
                <a:solidFill>
                  <a:schemeClr val="tx2"/>
                </a:solidFill>
                <a:latin typeface="宋体" panose="02010600030101010101" pitchFamily="2" charset="-122"/>
                <a:sym typeface="+mn-ea"/>
              </a:rPr>
              <a:t>go(7,F)  10  (3,3)</a:t>
            </a:r>
            <a:endParaRPr lang="en-US" altLang="zh-CN" sz="1600" dirty="0">
              <a:solidFill>
                <a:schemeClr val="tx2"/>
              </a:solidFill>
              <a:latin typeface="宋体" panose="02010600030101010101" pitchFamily="2" charset="-122"/>
              <a:sym typeface="+mn-ea"/>
            </a:endParaRPr>
          </a:p>
          <a:p>
            <a:pPr eaLnBrk="1" hangingPunct="1">
              <a:buFontTx/>
              <a:buNone/>
            </a:pPr>
            <a:r>
              <a:rPr lang="en-US" altLang="zh-CN" sz="1600" dirty="0">
                <a:solidFill>
                  <a:schemeClr val="tx2"/>
                </a:solidFill>
                <a:latin typeface="宋体" panose="02010600030101010101" pitchFamily="2" charset="-122"/>
                <a:sym typeface="+mn-ea"/>
              </a:rPr>
              <a:t>go(7,()  4   (5,1)(1,0)(2,0)(3,0</a:t>
            </a:r>
            <a:r>
              <a:rPr lang="en-US" altLang="zh-CN" sz="1600" dirty="0">
                <a:solidFill>
                  <a:schemeClr val="tx2"/>
                </a:solidFill>
                <a:latin typeface="宋体" panose="02010600030101010101" pitchFamily="2" charset="-122"/>
                <a:sym typeface="+mn-ea"/>
              </a:rPr>
              <a:t>)</a:t>
            </a:r>
            <a:r>
              <a:rPr lang="en-US" altLang="zh-CN" sz="1600" dirty="0">
                <a:solidFill>
                  <a:schemeClr val="tx2"/>
                </a:solidFill>
                <a:latin typeface="宋体" panose="02010600030101010101" pitchFamily="2" charset="-122"/>
                <a:sym typeface="+mn-ea"/>
              </a:rPr>
              <a:t>(4,0)(5,0) (6,0) </a:t>
            </a:r>
            <a:endParaRPr lang="en-US" altLang="zh-CN" sz="1600" dirty="0">
              <a:solidFill>
                <a:schemeClr val="tx2"/>
              </a:solidFill>
              <a:latin typeface="宋体" panose="02010600030101010101" pitchFamily="2" charset="-122"/>
              <a:sym typeface="+mn-ea"/>
            </a:endParaRPr>
          </a:p>
          <a:p>
            <a:pPr eaLnBrk="1" hangingPunct="1">
              <a:buFontTx/>
              <a:buNone/>
            </a:pPr>
            <a:r>
              <a:rPr lang="en-US" altLang="zh-CN" sz="1600" dirty="0">
                <a:solidFill>
                  <a:schemeClr val="tx2"/>
                </a:solidFill>
                <a:latin typeface="宋体" panose="02010600030101010101" pitchFamily="2" charset="-122"/>
                <a:sym typeface="+mn-ea"/>
              </a:rPr>
              <a:t>go(7,id) 5   (6,1)</a:t>
            </a:r>
            <a:endParaRPr lang="en-US" altLang="zh-CN" sz="1600" dirty="0">
              <a:solidFill>
                <a:schemeClr val="tx2"/>
              </a:solidFill>
              <a:latin typeface="宋体" panose="02010600030101010101" pitchFamily="2" charset="-122"/>
              <a:sym typeface="+mn-ea"/>
            </a:endParaRPr>
          </a:p>
          <a:p>
            <a:pPr eaLnBrk="1" hangingPunct="1">
              <a:buFontTx/>
              <a:buNone/>
            </a:pPr>
            <a:r>
              <a:rPr lang="en-US" altLang="zh-CN" sz="1600" dirty="0">
                <a:solidFill>
                  <a:schemeClr val="tx2"/>
                </a:solidFill>
                <a:latin typeface="宋体" panose="02010600030101010101" pitchFamily="2" charset="-122"/>
                <a:sym typeface="+mn-ea"/>
              </a:rPr>
              <a:t>go(8,))  11  (5,3) </a:t>
            </a:r>
            <a:endParaRPr lang="en-US" altLang="zh-CN" sz="1600" dirty="0">
              <a:solidFill>
                <a:schemeClr val="tx2"/>
              </a:solidFill>
              <a:latin typeface="宋体" panose="02010600030101010101" pitchFamily="2" charset="-122"/>
              <a:sym typeface="+mn-ea"/>
            </a:endParaRPr>
          </a:p>
          <a:p>
            <a:pPr eaLnBrk="1" hangingPunct="1">
              <a:buFontTx/>
              <a:buNone/>
            </a:pPr>
            <a:r>
              <a:rPr lang="en-US" altLang="zh-CN" sz="1600" dirty="0">
                <a:solidFill>
                  <a:schemeClr val="tx2"/>
                </a:solidFill>
                <a:latin typeface="宋体" panose="02010600030101010101" pitchFamily="2" charset="-122"/>
                <a:sym typeface="+mn-ea"/>
              </a:rPr>
              <a:t>go(8,+)  6   (1,2)(3,0</a:t>
            </a:r>
            <a:r>
              <a:rPr lang="en-US" altLang="zh-CN" sz="1600" dirty="0">
                <a:solidFill>
                  <a:schemeClr val="tx2"/>
                </a:solidFill>
                <a:latin typeface="宋体" panose="02010600030101010101" pitchFamily="2" charset="-122"/>
                <a:sym typeface="+mn-ea"/>
              </a:rPr>
              <a:t>)</a:t>
            </a:r>
            <a:r>
              <a:rPr lang="en-US" altLang="zh-CN" sz="1600" dirty="0">
                <a:solidFill>
                  <a:schemeClr val="tx2"/>
                </a:solidFill>
                <a:latin typeface="宋体" panose="02010600030101010101" pitchFamily="2" charset="-122"/>
                <a:sym typeface="+mn-ea"/>
              </a:rPr>
              <a:t>(4,0)(5,0)(6,0) </a:t>
            </a:r>
            <a:endParaRPr lang="en-US" altLang="zh-CN" sz="1600" dirty="0">
              <a:solidFill>
                <a:schemeClr val="tx2"/>
              </a:solidFill>
              <a:latin typeface="宋体" panose="02010600030101010101" pitchFamily="2" charset="-122"/>
              <a:sym typeface="+mn-ea"/>
            </a:endParaRPr>
          </a:p>
          <a:p>
            <a:pPr eaLnBrk="1" hangingPunct="1">
              <a:buFontTx/>
              <a:buNone/>
            </a:pPr>
            <a:r>
              <a:rPr lang="en-US" altLang="zh-CN" sz="1600" dirty="0">
                <a:solidFill>
                  <a:schemeClr val="tx2"/>
                </a:solidFill>
                <a:latin typeface="宋体" panose="02010600030101010101" pitchFamily="2" charset="-122"/>
                <a:sym typeface="+mn-ea"/>
              </a:rPr>
              <a:t>go(9,*)  7   (3,2)(5,0)(6,0)</a:t>
            </a:r>
            <a:r>
              <a:rPr lang="en-US" altLang="zh-CN" sz="1600" dirty="0">
                <a:solidFill>
                  <a:schemeClr val="tx2"/>
                </a:solidFill>
                <a:latin typeface="宋体" panose="02010600030101010101" pitchFamily="2" charset="-122"/>
                <a:sym typeface="+mn-ea"/>
              </a:rPr>
              <a:t> </a:t>
            </a:r>
            <a:endParaRPr lang="en-US" altLang="zh-CN" sz="1600" b="1" dirty="0">
              <a:solidFill>
                <a:schemeClr val="tx2"/>
              </a:solidFill>
              <a:latin typeface="宋体" panose="02010600030101010101" pitchFamily="2" charset="-122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-6350" y="1465580"/>
            <a:ext cx="914336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/>
        </p:nvCxnSpPr>
        <p:spPr>
          <a:xfrm>
            <a:off x="4109085" y="8255"/>
            <a:ext cx="0" cy="1400810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graphicFrame>
        <p:nvGraphicFramePr>
          <p:cNvPr id="288106" name="Group 362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457200" y="1609090"/>
          <a:ext cx="8153400" cy="5151438"/>
        </p:xfrm>
        <a:graphic>
          <a:graphicData uri="http://schemas.openxmlformats.org/drawingml/2006/table">
            <a:tbl>
              <a:tblPr/>
              <a:tblGrid>
                <a:gridCol w="630238"/>
                <a:gridCol w="209550"/>
                <a:gridCol w="738187"/>
                <a:gridCol w="876300"/>
                <a:gridCol w="877888"/>
                <a:gridCol w="876300"/>
                <a:gridCol w="820737"/>
                <a:gridCol w="757238"/>
                <a:gridCol w="876300"/>
                <a:gridCol w="788987"/>
                <a:gridCol w="701675"/>
              </a:tblGrid>
              <a:tr h="365760">
                <a:tc rowSpan="2"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6"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ACTION</a:t>
                      </a:r>
                      <a:endParaRPr kumimoji="1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GOTO</a:t>
                      </a:r>
                      <a:endParaRPr kumimoji="1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 hMerge="1">
                  <a:tcPr/>
                </a:tc>
              </a:tr>
              <a:tr h="396851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+</a:t>
                      </a:r>
                      <a:endParaRPr kumimoji="1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*</a:t>
                      </a:r>
                      <a:endParaRPr kumimoji="1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(</a:t>
                      </a:r>
                      <a:endParaRPr kumimoji="1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)</a:t>
                      </a:r>
                      <a:endParaRPr kumimoji="1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id</a:t>
                      </a:r>
                      <a:endParaRPr kumimoji="1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#</a:t>
                      </a:r>
                      <a:endParaRPr kumimoji="1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E</a:t>
                      </a:r>
                      <a:endParaRPr kumimoji="1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1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1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37"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S</a:t>
                      </a:r>
                      <a:r>
                        <a:rPr kumimoji="1" lang="en-US" altLang="zh-CN" sz="18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1800" b="1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S</a:t>
                      </a:r>
                      <a:r>
                        <a:rPr kumimoji="1" lang="en-US" altLang="zh-CN" sz="18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5</a:t>
                      </a:r>
                      <a:endParaRPr kumimoji="1" lang="en-US" altLang="zh-CN" sz="1800" b="1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37"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S</a:t>
                      </a:r>
                      <a:r>
                        <a:rPr kumimoji="1" lang="en-US" altLang="zh-CN" sz="18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1800" b="1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acc</a:t>
                      </a:r>
                      <a:endParaRPr kumimoji="1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37"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r2</a:t>
                      </a:r>
                      <a:endParaRPr kumimoji="1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S</a:t>
                      </a:r>
                      <a:r>
                        <a:rPr kumimoji="1" lang="en-US" altLang="zh-CN" sz="18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7</a:t>
                      </a:r>
                      <a:endParaRPr kumimoji="1" lang="en-US" altLang="zh-CN" sz="1800" b="1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r2</a:t>
                      </a:r>
                      <a:endParaRPr kumimoji="1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r2</a:t>
                      </a:r>
                      <a:endParaRPr kumimoji="1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37"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r4</a:t>
                      </a:r>
                      <a:endParaRPr kumimoji="1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r4</a:t>
                      </a:r>
                      <a:endParaRPr kumimoji="1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r4</a:t>
                      </a:r>
                      <a:endParaRPr kumimoji="1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r4</a:t>
                      </a:r>
                      <a:endParaRPr kumimoji="1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37"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S</a:t>
                      </a:r>
                      <a:r>
                        <a:rPr kumimoji="1" lang="en-US" altLang="zh-CN" sz="18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1800" b="1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S</a:t>
                      </a:r>
                      <a:r>
                        <a:rPr kumimoji="1" lang="en-US" altLang="zh-CN" sz="18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5</a:t>
                      </a:r>
                      <a:endParaRPr kumimoji="1" lang="en-US" altLang="zh-CN" sz="1800" b="1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37"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5</a:t>
                      </a:r>
                      <a:endParaRPr kumimoji="1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r6</a:t>
                      </a:r>
                      <a:endParaRPr kumimoji="1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r6</a:t>
                      </a:r>
                      <a:endParaRPr kumimoji="1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r6</a:t>
                      </a:r>
                      <a:endParaRPr kumimoji="1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r6</a:t>
                      </a:r>
                      <a:endParaRPr kumimoji="1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37"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S</a:t>
                      </a:r>
                      <a:r>
                        <a:rPr kumimoji="1" lang="en-US" altLang="zh-CN" sz="18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1800" b="1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S</a:t>
                      </a:r>
                      <a:r>
                        <a:rPr kumimoji="1" lang="en-US" altLang="zh-CN" sz="18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5</a:t>
                      </a:r>
                      <a:endParaRPr kumimoji="1" lang="en-US" altLang="zh-CN" sz="1800" b="1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9</a:t>
                      </a:r>
                      <a:endParaRPr kumimoji="1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37"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7</a:t>
                      </a:r>
                      <a:endParaRPr kumimoji="1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S</a:t>
                      </a:r>
                      <a:r>
                        <a:rPr kumimoji="1" lang="en-US" altLang="zh-CN" sz="18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1800" b="1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S</a:t>
                      </a:r>
                      <a:r>
                        <a:rPr kumimoji="1" lang="en-US" altLang="zh-CN" sz="18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5</a:t>
                      </a:r>
                      <a:endParaRPr kumimoji="1" lang="en-US" altLang="zh-CN" sz="1800" b="1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10</a:t>
                      </a:r>
                      <a:endParaRPr kumimoji="1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37"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8</a:t>
                      </a:r>
                      <a:endParaRPr kumimoji="1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S</a:t>
                      </a:r>
                      <a:r>
                        <a:rPr kumimoji="1" lang="en-US" altLang="zh-CN" sz="18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1800" b="1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S</a:t>
                      </a:r>
                      <a:r>
                        <a:rPr kumimoji="1" lang="en-US" altLang="zh-CN" sz="18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11</a:t>
                      </a:r>
                      <a:endParaRPr kumimoji="1" lang="en-US" altLang="zh-CN" sz="1800" b="1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37"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9</a:t>
                      </a:r>
                      <a:endParaRPr kumimoji="1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r1</a:t>
                      </a:r>
                      <a:endParaRPr kumimoji="1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S</a:t>
                      </a:r>
                      <a:r>
                        <a:rPr kumimoji="1" lang="en-US" altLang="zh-CN" sz="18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7</a:t>
                      </a:r>
                      <a:endParaRPr kumimoji="1" lang="en-US" altLang="zh-CN" sz="1800" b="1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r1</a:t>
                      </a:r>
                      <a:endParaRPr kumimoji="1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r1</a:t>
                      </a:r>
                      <a:endParaRPr kumimoji="1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37"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10</a:t>
                      </a:r>
                      <a:endParaRPr kumimoji="1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r3</a:t>
                      </a:r>
                      <a:endParaRPr kumimoji="1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r3</a:t>
                      </a:r>
                      <a:endParaRPr kumimoji="1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r3</a:t>
                      </a:r>
                      <a:endParaRPr kumimoji="1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r3</a:t>
                      </a:r>
                      <a:endParaRPr kumimoji="1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37"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11</a:t>
                      </a:r>
                      <a:endParaRPr kumimoji="1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r5</a:t>
                      </a:r>
                      <a:endParaRPr kumimoji="1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r5</a:t>
                      </a:r>
                      <a:endParaRPr kumimoji="1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r5</a:t>
                      </a:r>
                      <a:endParaRPr kumimoji="1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r5</a:t>
                      </a:r>
                      <a:endParaRPr kumimoji="1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0627" name="Rectangle 3"/>
          <p:cNvSpPr/>
          <p:nvPr>
            <p:custDataLst>
              <p:tags r:id="rId2"/>
            </p:custDataLst>
          </p:nvPr>
        </p:nvSpPr>
        <p:spPr>
          <a:xfrm>
            <a:off x="-70802" y="125095"/>
            <a:ext cx="2133600" cy="8382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/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342900" lvl="0" indent="-342900" eaLnBrk="1" hangingPunct="1">
              <a:lnSpc>
                <a:spcPct val="70000"/>
              </a:lnSpc>
              <a:spcBef>
                <a:spcPct val="20000"/>
              </a:spcBef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0)</a:t>
            </a:r>
            <a:r>
              <a:rPr lang="zh-CN" altLang="en-US" sz="20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Ｅ</a:t>
            </a:r>
            <a:r>
              <a:rPr lang="en-US" altLang="zh-CN" sz="20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′→ </a:t>
            </a:r>
            <a:r>
              <a:rPr lang="zh-CN" altLang="en-US" sz="20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Ｅ</a:t>
            </a:r>
            <a:endParaRPr lang="zh-CN" altLang="en-US" sz="2000" b="1" dirty="0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lvl="0" indent="-342900" eaLnBrk="1" hangingPunct="1">
              <a:lnSpc>
                <a:spcPct val="70000"/>
              </a:lnSpc>
              <a:spcBef>
                <a:spcPct val="20000"/>
              </a:spcBef>
              <a:buSzTx/>
              <a:buFontTx/>
              <a:buNone/>
            </a:pPr>
            <a:r>
              <a:rPr lang="zh-CN" altLang="en-US" sz="20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1)</a:t>
            </a:r>
            <a:r>
              <a:rPr lang="zh-CN" altLang="en-US" sz="20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Ｅ  → Ｅ</a:t>
            </a:r>
            <a:r>
              <a:rPr lang="en-US" altLang="zh-CN" sz="20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</a:t>
            </a:r>
            <a:r>
              <a:rPr lang="zh-CN" altLang="en-US" sz="20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Ｔ</a:t>
            </a:r>
            <a:endParaRPr lang="zh-CN" altLang="en-US" sz="2000" b="1" dirty="0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lvl="0" indent="-342900" eaLnBrk="1" hangingPunct="1">
              <a:lnSpc>
                <a:spcPct val="70000"/>
              </a:lnSpc>
              <a:spcBef>
                <a:spcPct val="20000"/>
              </a:spcBef>
              <a:buSzTx/>
              <a:buFontTx/>
              <a:buNone/>
            </a:pPr>
            <a:r>
              <a:rPr lang="zh-CN" altLang="en-US" sz="20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2)</a:t>
            </a:r>
            <a:r>
              <a:rPr lang="zh-CN" altLang="en-US" sz="20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Ｅ  → Ｔ</a:t>
            </a:r>
            <a:endParaRPr lang="zh-CN" altLang="en-US" sz="2000" b="1" dirty="0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0628" name="Rectangle 4"/>
          <p:cNvSpPr/>
          <p:nvPr>
            <p:custDataLst>
              <p:tags r:id="rId3"/>
            </p:custDataLst>
          </p:nvPr>
        </p:nvSpPr>
        <p:spPr>
          <a:xfrm>
            <a:off x="1907858" y="112713"/>
            <a:ext cx="2057400" cy="12795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60000"/>
              </a:lnSpc>
              <a:spcBef>
                <a:spcPct val="50000"/>
              </a:spcBef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3)</a:t>
            </a:r>
            <a:r>
              <a:rPr lang="zh-CN" altLang="en-US" sz="20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Ｔ  → Ｔ*Ｆ</a:t>
            </a:r>
            <a:endParaRPr lang="zh-CN" altLang="en-US" sz="2000" b="1" dirty="0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lvl="0" indent="0" eaLnBrk="1" hangingPunct="1">
              <a:lnSpc>
                <a:spcPct val="60000"/>
              </a:lnSpc>
              <a:spcBef>
                <a:spcPct val="50000"/>
              </a:spcBef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4)</a:t>
            </a:r>
            <a:r>
              <a:rPr lang="zh-CN" altLang="en-US" sz="20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Ｔ  → Ｆ</a:t>
            </a:r>
            <a:endParaRPr lang="zh-CN" altLang="en-US" sz="2000" b="1" dirty="0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lvl="0" indent="0" eaLnBrk="1" hangingPunct="1">
              <a:lnSpc>
                <a:spcPct val="60000"/>
              </a:lnSpc>
              <a:spcBef>
                <a:spcPct val="50000"/>
              </a:spcBef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5)</a:t>
            </a:r>
            <a:r>
              <a:rPr lang="zh-CN" altLang="en-US" sz="20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Ｆ  → </a:t>
            </a:r>
            <a:r>
              <a:rPr lang="en-US" altLang="zh-CN" sz="20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en-US" sz="20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Ｅ</a:t>
            </a:r>
            <a:r>
              <a:rPr lang="en-US" altLang="zh-CN" sz="20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endParaRPr lang="en-US" altLang="zh-CN" sz="2000" b="1" dirty="0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lvl="0" indent="0" eaLnBrk="1" hangingPunct="1">
              <a:lnSpc>
                <a:spcPct val="60000"/>
              </a:lnSpc>
              <a:spcBef>
                <a:spcPct val="50000"/>
              </a:spcBef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6)</a:t>
            </a:r>
            <a:r>
              <a:rPr lang="zh-CN" altLang="en-US" sz="20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Ｆ  → </a:t>
            </a:r>
            <a:r>
              <a:rPr lang="en-US" altLang="zh-CN" sz="20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id</a:t>
            </a:r>
            <a:endParaRPr lang="en-US" altLang="zh-CN" sz="2000" b="1" dirty="0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3" name="直接连接符 2"/>
          <p:cNvCxnSpPr/>
          <p:nvPr>
            <p:custDataLst>
              <p:tags r:id="rId4"/>
            </p:custDataLst>
          </p:nvPr>
        </p:nvCxnSpPr>
        <p:spPr>
          <a:xfrm>
            <a:off x="-6350" y="1465580"/>
            <a:ext cx="914336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>
            <p:custDataLst>
              <p:tags r:id="rId5"/>
            </p:custDataLst>
          </p:nvPr>
        </p:nvCxnSpPr>
        <p:spPr>
          <a:xfrm>
            <a:off x="4109085" y="8255"/>
            <a:ext cx="0" cy="1400810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20629" name="Rectangle 5"/>
          <p:cNvSpPr/>
          <p:nvPr>
            <p:custDataLst>
              <p:tags r:id="rId6"/>
            </p:custDataLst>
          </p:nvPr>
        </p:nvSpPr>
        <p:spPr>
          <a:xfrm>
            <a:off x="4177348" y="66040"/>
            <a:ext cx="5029200" cy="13350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50000"/>
              </a:lnSpc>
              <a:spcBef>
                <a:spcPct val="50000"/>
              </a:spcBef>
              <a:buSzTx/>
              <a:buFontTx/>
              <a:buNone/>
            </a:pPr>
            <a:r>
              <a:rPr lang="en-US" altLang="zh-CN" sz="1800" b="1" dirty="0">
                <a:solidFill>
                  <a:srgbClr val="CC00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Follow(E′)=</a:t>
            </a:r>
            <a:r>
              <a:rPr lang="zh-CN" altLang="en-US" sz="1800" b="1" dirty="0">
                <a:solidFill>
                  <a:srgbClr val="CC00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｛</a:t>
            </a:r>
            <a:r>
              <a:rPr lang="zh-CN" altLang="en-US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＃</a:t>
            </a:r>
            <a:r>
              <a:rPr lang="zh-CN" altLang="en-US" sz="1800" b="1" dirty="0">
                <a:solidFill>
                  <a:srgbClr val="CC00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｝</a:t>
            </a:r>
            <a:endParaRPr lang="zh-CN" altLang="en-US" sz="1800" b="1" dirty="0">
              <a:solidFill>
                <a:srgbClr val="CC0066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lvl="0" indent="0" eaLnBrk="1" hangingPunct="1">
              <a:lnSpc>
                <a:spcPct val="50000"/>
              </a:lnSpc>
              <a:spcBef>
                <a:spcPct val="50000"/>
              </a:spcBef>
              <a:buSzTx/>
              <a:buFontTx/>
              <a:buNone/>
            </a:pPr>
            <a:r>
              <a:rPr lang="en-US" altLang="zh-CN" sz="1800" b="1" dirty="0">
                <a:solidFill>
                  <a:srgbClr val="CC00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Follow(E)= Follow(E′)∪{+,)}</a:t>
            </a:r>
            <a:endParaRPr lang="en-US" altLang="zh-CN" sz="1800" b="1" dirty="0">
              <a:solidFill>
                <a:srgbClr val="CC0066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lvl="0" indent="0" eaLnBrk="1" hangingPunct="1">
              <a:lnSpc>
                <a:spcPct val="50000"/>
              </a:lnSpc>
              <a:spcBef>
                <a:spcPct val="50000"/>
              </a:spcBef>
              <a:buSzTx/>
              <a:buFontTx/>
              <a:buNone/>
            </a:pPr>
            <a:r>
              <a:rPr lang="en-US" altLang="zh-CN" sz="1800" b="1" dirty="0">
                <a:solidFill>
                  <a:srgbClr val="CC00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=</a:t>
            </a:r>
            <a:r>
              <a:rPr lang="zh-CN" altLang="en-US" sz="1800" b="1" dirty="0">
                <a:solidFill>
                  <a:srgbClr val="CC00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｛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+,)</a:t>
            </a:r>
            <a:r>
              <a:rPr lang="zh-CN" altLang="en-US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，＃</a:t>
            </a:r>
            <a:r>
              <a:rPr lang="zh-CN" altLang="en-US" sz="1800" b="1" dirty="0">
                <a:solidFill>
                  <a:srgbClr val="CC00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｝</a:t>
            </a:r>
            <a:endParaRPr lang="zh-CN" altLang="en-US" sz="1800" b="1" dirty="0">
              <a:solidFill>
                <a:srgbClr val="CC0066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lvl="0" indent="0" eaLnBrk="1" hangingPunct="1">
              <a:lnSpc>
                <a:spcPct val="50000"/>
              </a:lnSpc>
              <a:spcBef>
                <a:spcPct val="50000"/>
              </a:spcBef>
              <a:buSzTx/>
              <a:buFontTx/>
              <a:buNone/>
            </a:pPr>
            <a:r>
              <a:rPr lang="en-US" altLang="zh-CN" sz="1800" b="1" dirty="0">
                <a:solidFill>
                  <a:srgbClr val="CC00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Follow(T)= Follow(E)∪{*} =</a:t>
            </a:r>
            <a:r>
              <a:rPr lang="zh-CN" altLang="en-US" sz="1800" b="1" dirty="0">
                <a:solidFill>
                  <a:srgbClr val="CC00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｛</a:t>
            </a:r>
            <a:r>
              <a:rPr lang="zh-CN" altLang="en-US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＋，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zh-CN" altLang="en-US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，＃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,*</a:t>
            </a:r>
            <a:r>
              <a:rPr lang="zh-CN" altLang="en-US" sz="1800" b="1" dirty="0">
                <a:solidFill>
                  <a:srgbClr val="CC00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｝</a:t>
            </a:r>
            <a:endParaRPr lang="zh-CN" altLang="en-US" sz="1800" b="1" dirty="0">
              <a:solidFill>
                <a:srgbClr val="CC0066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lvl="0" indent="0" eaLnBrk="1" hangingPunct="1">
              <a:lnSpc>
                <a:spcPct val="50000"/>
              </a:lnSpc>
              <a:spcBef>
                <a:spcPct val="50000"/>
              </a:spcBef>
              <a:buSzTx/>
              <a:buFontTx/>
              <a:buNone/>
            </a:pPr>
            <a:r>
              <a:rPr lang="en-US" altLang="zh-CN" sz="1800" b="1" dirty="0">
                <a:solidFill>
                  <a:srgbClr val="CC00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Follow(F)= Follow(T) =</a:t>
            </a:r>
            <a:r>
              <a:rPr lang="zh-CN" altLang="en-US" sz="1800" b="1" dirty="0">
                <a:solidFill>
                  <a:srgbClr val="CC00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｛</a:t>
            </a:r>
            <a:r>
              <a:rPr lang="zh-CN" altLang="en-US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＋，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), # ,*</a:t>
            </a:r>
            <a:r>
              <a:rPr lang="en-US" altLang="zh-CN" sz="1800" b="1" dirty="0">
                <a:solidFill>
                  <a:srgbClr val="CC00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lang="en-US" altLang="zh-CN" sz="1800" b="1" dirty="0">
              <a:solidFill>
                <a:srgbClr val="CC0066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2530" name="Picture 2"/>
          <p:cNvPicPr>
            <a:picLocks noChangeAspect="1"/>
          </p:cNvPicPr>
          <p:nvPr/>
        </p:nvPicPr>
        <p:blipFill>
          <a:blip r:embed="rId1"/>
          <a:srcRect l="2856" t="36058" r="11427" b="22836"/>
          <a:stretch>
            <a:fillRect/>
          </a:stretch>
        </p:blipFill>
        <p:spPr>
          <a:xfrm>
            <a:off x="500063" y="2143125"/>
            <a:ext cx="8121650" cy="38576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2531" name="TextBox 2"/>
          <p:cNvSpPr txBox="1"/>
          <p:nvPr/>
        </p:nvSpPr>
        <p:spPr>
          <a:xfrm>
            <a:off x="3643313" y="171450"/>
            <a:ext cx="1571625" cy="1828800"/>
          </a:xfrm>
          <a:prstGeom prst="rect">
            <a:avLst/>
          </a:prstGeom>
          <a:noFill/>
          <a:ln w="635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2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Times New Roman" panose="02020603050405020304" charset="0"/>
                <a:ea typeface="宋体" panose="02010600030101010101" pitchFamily="2" charset="-122"/>
              </a:rPr>
              <a:t>G[S]:</a:t>
            </a:r>
            <a:endParaRPr lang="en-US" altLang="zh-CN" sz="2400" b="1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marL="0" lvl="2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Times New Roman" panose="02020603050405020304" charset="0"/>
                <a:ea typeface="宋体" panose="02010600030101010101" pitchFamily="2" charset="-122"/>
              </a:rPr>
              <a:t>S → BB</a:t>
            </a:r>
            <a:endParaRPr lang="en-US" altLang="zh-CN" sz="2400" b="1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marL="0" lvl="2" indent="0" eaLnBrk="1" hangingPunct="1">
              <a:spcBef>
                <a:spcPct val="1000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Times New Roman" panose="02020603050405020304" charset="0"/>
                <a:ea typeface="宋体" panose="02010600030101010101" pitchFamily="2" charset="-122"/>
              </a:rPr>
              <a:t>B → aB</a:t>
            </a:r>
            <a:endParaRPr lang="en-US" altLang="zh-CN" sz="2400" b="1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marL="0" lvl="2" indent="0" eaLnBrk="1" hangingPunct="1">
              <a:spcBef>
                <a:spcPct val="1000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Times New Roman" panose="02020603050405020304" charset="0"/>
                <a:ea typeface="宋体" panose="02010600030101010101" pitchFamily="2" charset="-122"/>
              </a:rPr>
              <a:t>B → b</a:t>
            </a:r>
            <a:endParaRPr lang="en-US" altLang="zh-CN" sz="2400" b="1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3554" name="Picture 2"/>
          <p:cNvPicPr>
            <a:picLocks noChangeAspect="1"/>
          </p:cNvPicPr>
          <p:nvPr/>
        </p:nvPicPr>
        <p:blipFill>
          <a:blip r:embed="rId1"/>
          <a:srcRect l="3571" t="46153" r="63571" b="48798"/>
          <a:stretch>
            <a:fillRect/>
          </a:stretch>
        </p:blipFill>
        <p:spPr>
          <a:xfrm>
            <a:off x="785813" y="1357313"/>
            <a:ext cx="3286125" cy="50006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3555" name="Picture 2"/>
          <p:cNvPicPr>
            <a:picLocks noChangeAspect="1"/>
          </p:cNvPicPr>
          <p:nvPr/>
        </p:nvPicPr>
        <p:blipFill>
          <a:blip r:embed="rId1"/>
          <a:srcRect l="52856" t="51106" r="25714" b="43846"/>
          <a:stretch>
            <a:fillRect/>
          </a:stretch>
        </p:blipFill>
        <p:spPr>
          <a:xfrm>
            <a:off x="1214438" y="2000250"/>
            <a:ext cx="2143125" cy="5000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3556" name="Picture 2"/>
          <p:cNvPicPr>
            <a:picLocks noChangeAspect="1"/>
          </p:cNvPicPr>
          <p:nvPr/>
        </p:nvPicPr>
        <p:blipFill>
          <a:blip r:embed="rId1"/>
          <a:srcRect l="3571" t="62740" r="12143" b="27164"/>
          <a:stretch>
            <a:fillRect/>
          </a:stretch>
        </p:blipFill>
        <p:spPr>
          <a:xfrm>
            <a:off x="571500" y="2928938"/>
            <a:ext cx="8429625" cy="10001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3557" name="Picture 2"/>
          <p:cNvPicPr>
            <a:picLocks noChangeAspect="1"/>
          </p:cNvPicPr>
          <p:nvPr/>
        </p:nvPicPr>
        <p:blipFill>
          <a:blip r:embed="rId1"/>
          <a:srcRect l="7857" t="56876" r="79288" b="38799"/>
          <a:stretch>
            <a:fillRect/>
          </a:stretch>
        </p:blipFill>
        <p:spPr>
          <a:xfrm>
            <a:off x="3143250" y="2071688"/>
            <a:ext cx="1285875" cy="4286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8" name="内容占位符 1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1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24580" name="Picture 2"/>
          <p:cNvPicPr>
            <a:picLocks noChangeAspect="1"/>
          </p:cNvPicPr>
          <p:nvPr/>
        </p:nvPicPr>
        <p:blipFill>
          <a:blip r:embed="rId1"/>
          <a:srcRect l="5270" t="28847" r="3613" b="13461"/>
          <a:stretch>
            <a:fillRect/>
          </a:stretch>
        </p:blipFill>
        <p:spPr>
          <a:xfrm>
            <a:off x="357188" y="214313"/>
            <a:ext cx="8643937" cy="57150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2" name="内容占位符 1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1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25604" name="Picture 2"/>
          <p:cNvPicPr>
            <a:picLocks noChangeAspect="1"/>
          </p:cNvPicPr>
          <p:nvPr/>
        </p:nvPicPr>
        <p:blipFill>
          <a:blip r:embed="rId1"/>
          <a:srcRect l="5270" t="31010" r="6625" b="6250"/>
          <a:stretch>
            <a:fillRect/>
          </a:stretch>
        </p:blipFill>
        <p:spPr>
          <a:xfrm>
            <a:off x="428625" y="214313"/>
            <a:ext cx="8215313" cy="61087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6626" name="Picture 2"/>
          <p:cNvPicPr>
            <a:picLocks noChangeAspect="1"/>
          </p:cNvPicPr>
          <p:nvPr/>
        </p:nvPicPr>
        <p:blipFill>
          <a:blip r:embed="rId1"/>
          <a:srcRect l="4285" t="22356" r="12143" b="18509"/>
          <a:stretch>
            <a:fillRect/>
          </a:stretch>
        </p:blipFill>
        <p:spPr>
          <a:xfrm>
            <a:off x="357188" y="285750"/>
            <a:ext cx="8358187" cy="58578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0" name="Text Box 2"/>
          <p:cNvSpPr txBox="1"/>
          <p:nvPr/>
        </p:nvSpPr>
        <p:spPr>
          <a:xfrm>
            <a:off x="457200" y="533400"/>
            <a:ext cx="8382000" cy="2600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>
                <a:latin typeface="Times New Roman" panose="02020603050405020304" charset="0"/>
                <a:ea typeface="宋体" panose="02010600030101010101" pitchFamily="2" charset="-122"/>
              </a:rPr>
              <a:t>练习：文法</a:t>
            </a:r>
            <a:r>
              <a:rPr lang="en-US" altLang="zh-CN" sz="2400" b="1" dirty="0">
                <a:latin typeface="Times New Roman" panose="02020603050405020304" charset="0"/>
                <a:ea typeface="宋体" panose="02010600030101010101" pitchFamily="2" charset="-122"/>
              </a:rPr>
              <a:t>G[S]   </a:t>
            </a:r>
            <a:endParaRPr lang="en-US" altLang="zh-CN" sz="2400" b="1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marL="914400" lvl="2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Times New Roman" panose="02020603050405020304" charset="0"/>
                <a:ea typeface="宋体" panose="02010600030101010101" pitchFamily="2" charset="-122"/>
              </a:rPr>
              <a:t>S → A</a:t>
            </a:r>
            <a:endParaRPr lang="en-US" altLang="zh-CN" sz="2400" b="1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marL="914400" lvl="2" indent="0" eaLnBrk="1" hangingPunct="1">
              <a:spcBef>
                <a:spcPct val="1000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Times New Roman" panose="02020603050405020304" charset="0"/>
                <a:ea typeface="宋体" panose="02010600030101010101" pitchFamily="2" charset="-122"/>
              </a:rPr>
              <a:t>A → Ab | bBa</a:t>
            </a:r>
            <a:endParaRPr lang="en-US" altLang="zh-CN" sz="2400" b="1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marL="914400" lvl="2" indent="0" eaLnBrk="1" hangingPunct="1">
              <a:spcBef>
                <a:spcPct val="1000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Times New Roman" panose="02020603050405020304" charset="0"/>
                <a:ea typeface="宋体" panose="02010600030101010101" pitchFamily="2" charset="-122"/>
              </a:rPr>
              <a:t>B → aAc | a | aAb</a:t>
            </a:r>
            <a:endParaRPr lang="en-US" altLang="zh-CN" sz="2400" b="1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 b="1" dirty="0">
                <a:latin typeface="Times New Roman" panose="02020603050405020304" charset="0"/>
                <a:ea typeface="宋体" panose="02010600030101010101" pitchFamily="2" charset="-122"/>
              </a:rPr>
              <a:t>（</a:t>
            </a:r>
            <a:r>
              <a:rPr lang="en-US" altLang="zh-CN" sz="2000" b="1" dirty="0">
                <a:latin typeface="Times New Roman" panose="02020603050405020304" charset="0"/>
                <a:ea typeface="宋体" panose="02010600030101010101" pitchFamily="2" charset="-122"/>
              </a:rPr>
              <a:t>1</a:t>
            </a:r>
            <a:r>
              <a:rPr lang="zh-CN" altLang="en-US" sz="2000" b="1" dirty="0">
                <a:latin typeface="Times New Roman" panose="02020603050405020304" charset="0"/>
                <a:ea typeface="宋体" panose="02010600030101010101" pitchFamily="2" charset="-122"/>
              </a:rPr>
              <a:t>）构造</a:t>
            </a:r>
            <a:r>
              <a:rPr lang="en-US" altLang="zh-CN" sz="2000" b="1" dirty="0">
                <a:latin typeface="Times New Roman" panose="02020603050405020304" charset="0"/>
                <a:ea typeface="宋体" panose="02010600030101010101" pitchFamily="2" charset="-122"/>
              </a:rPr>
              <a:t>SLR(1)</a:t>
            </a:r>
            <a:r>
              <a:rPr lang="zh-CN" altLang="en-US" sz="2000" b="1" dirty="0">
                <a:latin typeface="Times New Roman" panose="02020603050405020304" charset="0"/>
                <a:ea typeface="宋体" panose="02010600030101010101" pitchFamily="2" charset="-122"/>
              </a:rPr>
              <a:t>分析表（</a:t>
            </a:r>
            <a:r>
              <a:rPr lang="en-US" altLang="zh-CN" sz="2000" b="1" dirty="0">
                <a:latin typeface="Times New Roman" panose="02020603050405020304" charset="0"/>
                <a:ea typeface="宋体" panose="02010600030101010101" pitchFamily="2" charset="-122"/>
              </a:rPr>
              <a:t>ACTION</a:t>
            </a:r>
            <a:r>
              <a:rPr lang="zh-CN" altLang="en-US" sz="2000" b="1" dirty="0">
                <a:latin typeface="Times New Roman" panose="02020603050405020304" charset="0"/>
                <a:ea typeface="宋体" panose="02010600030101010101" pitchFamily="2" charset="-122"/>
              </a:rPr>
              <a:t>及</a:t>
            </a:r>
            <a:r>
              <a:rPr lang="en-US" altLang="zh-CN" sz="2000" b="1" dirty="0">
                <a:latin typeface="Times New Roman" panose="02020603050405020304" charset="0"/>
                <a:ea typeface="宋体" panose="02010600030101010101" pitchFamily="2" charset="-122"/>
              </a:rPr>
              <a:t>GOTO</a:t>
            </a:r>
            <a:r>
              <a:rPr lang="zh-CN" altLang="en-US" sz="2000" b="1" dirty="0">
                <a:latin typeface="Times New Roman" panose="02020603050405020304" charset="0"/>
                <a:ea typeface="宋体" panose="02010600030101010101" pitchFamily="2" charset="-122"/>
              </a:rPr>
              <a:t>表）</a:t>
            </a:r>
            <a:endParaRPr lang="zh-CN" altLang="en-US" sz="2000" b="1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10000"/>
              </a:spcBef>
              <a:buClrTx/>
              <a:buSzTx/>
              <a:buFontTx/>
              <a:buNone/>
            </a:pPr>
            <a:r>
              <a:rPr lang="zh-CN" altLang="en-US" sz="2000" b="1" dirty="0">
                <a:latin typeface="Times New Roman" panose="02020603050405020304" charset="0"/>
                <a:ea typeface="宋体" panose="02010600030101010101" pitchFamily="2" charset="-122"/>
              </a:rPr>
              <a:t>（</a:t>
            </a:r>
            <a:r>
              <a:rPr lang="en-US" altLang="zh-CN" sz="2000" b="1" dirty="0">
                <a:latin typeface="Times New Roman" panose="02020603050405020304" charset="0"/>
                <a:ea typeface="宋体" panose="02010600030101010101" pitchFamily="2" charset="-122"/>
              </a:rPr>
              <a:t>2</a:t>
            </a:r>
            <a:r>
              <a:rPr lang="zh-CN" altLang="en-US" sz="2000" b="1" dirty="0">
                <a:latin typeface="Times New Roman" panose="02020603050405020304" charset="0"/>
                <a:ea typeface="宋体" panose="02010600030101010101" pitchFamily="2" charset="-122"/>
              </a:rPr>
              <a:t>）该文法是否</a:t>
            </a:r>
            <a:r>
              <a:rPr lang="en-US" altLang="zh-CN" sz="2000" b="1" dirty="0">
                <a:latin typeface="Times New Roman" panose="02020603050405020304" charset="0"/>
                <a:ea typeface="宋体" panose="02010600030101010101" pitchFamily="2" charset="-122"/>
              </a:rPr>
              <a:t>SLR(1)</a:t>
            </a:r>
            <a:r>
              <a:rPr lang="zh-CN" altLang="en-US" sz="2000" b="1" dirty="0">
                <a:latin typeface="Times New Roman" panose="02020603050405020304" charset="0"/>
                <a:ea typeface="宋体" panose="02010600030101010101" pitchFamily="2" charset="-122"/>
              </a:rPr>
              <a:t>文法？</a:t>
            </a:r>
            <a:endParaRPr lang="zh-CN" altLang="en-US" sz="2000" b="1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27651" name="Rectangle 3"/>
          <p:cNvSpPr/>
          <p:nvPr/>
        </p:nvSpPr>
        <p:spPr>
          <a:xfrm>
            <a:off x="685800" y="4267200"/>
            <a:ext cx="81534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latin typeface="Times New Roman" panose="02020603050405020304" charset="0"/>
                <a:ea typeface="宋体" panose="02010600030101010101" pitchFamily="2" charset="-122"/>
              </a:rPr>
              <a:t>SLR(1)</a:t>
            </a:r>
            <a:r>
              <a:rPr lang="zh-CN" altLang="en-US" sz="2000" b="1" dirty="0">
                <a:latin typeface="Times New Roman" panose="02020603050405020304" charset="0"/>
                <a:ea typeface="宋体" panose="02010600030101010101" pitchFamily="2" charset="-122"/>
              </a:rPr>
              <a:t>文法对句子的分析过程与</a:t>
            </a:r>
            <a:r>
              <a:rPr lang="en-US" altLang="zh-CN" sz="2000" b="1" dirty="0">
                <a:latin typeface="Times New Roman" panose="02020603050405020304" charset="0"/>
                <a:ea typeface="宋体" panose="02010600030101010101" pitchFamily="2" charset="-122"/>
              </a:rPr>
              <a:t>LR(0)</a:t>
            </a:r>
            <a:r>
              <a:rPr lang="zh-CN" altLang="en-US" sz="2000" b="1" dirty="0">
                <a:latin typeface="Times New Roman" panose="02020603050405020304" charset="0"/>
                <a:ea typeface="宋体" panose="02010600030101010101" pitchFamily="2" charset="-122"/>
              </a:rPr>
              <a:t>一样，试用其分析句子</a:t>
            </a:r>
            <a:r>
              <a:rPr lang="en-US" altLang="zh-CN" sz="2000" b="1" dirty="0">
                <a:latin typeface="Times New Roman" panose="02020603050405020304" charset="0"/>
                <a:ea typeface="宋体" panose="02010600030101010101" pitchFamily="2" charset="-122"/>
              </a:rPr>
              <a:t>babaacab</a:t>
            </a:r>
            <a:endParaRPr lang="en-US" altLang="zh-CN" sz="2000" b="1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8674" name="Picture 2" descr="C:\Users\Lenovo\Desktop\1.jpg"/>
          <p:cNvPicPr>
            <a:picLocks noChangeAspect="1"/>
          </p:cNvPicPr>
          <p:nvPr/>
        </p:nvPicPr>
        <p:blipFill>
          <a:blip r:embed="rId1">
            <a:grayscl/>
          </a:blip>
          <a:srcRect l="4297" t="4990" r="1382" b="17931"/>
          <a:stretch>
            <a:fillRect/>
          </a:stretch>
        </p:blipFill>
        <p:spPr>
          <a:xfrm>
            <a:off x="250825" y="620713"/>
            <a:ext cx="8694738" cy="532923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9698" name="Picture 2" descr="C:\Users\Lenovo\Desktop\2.jpg"/>
          <p:cNvPicPr>
            <a:picLocks noChangeAspect="1"/>
          </p:cNvPicPr>
          <p:nvPr/>
        </p:nvPicPr>
        <p:blipFill>
          <a:blip r:embed="rId1"/>
          <a:srcRect l="6555" t="9647" r="2480" b="1689"/>
          <a:stretch>
            <a:fillRect/>
          </a:stretch>
        </p:blipFill>
        <p:spPr>
          <a:xfrm>
            <a:off x="468313" y="203200"/>
            <a:ext cx="8351837" cy="61055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0722" name="Picture 3" descr="C:\Users\Lenovo\Desktop\3.jpg"/>
          <p:cNvPicPr>
            <a:picLocks noChangeAspect="1"/>
          </p:cNvPicPr>
          <p:nvPr/>
        </p:nvPicPr>
        <p:blipFill>
          <a:blip r:embed="rId1"/>
          <a:srcRect l="28088" t="26112" r="1122" b="12000"/>
          <a:stretch>
            <a:fillRect/>
          </a:stretch>
        </p:blipFill>
        <p:spPr>
          <a:xfrm>
            <a:off x="755650" y="1773238"/>
            <a:ext cx="7358063" cy="482441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723" name="Picture 3" descr="C:\Users\Lenovo\Desktop\3.jpg"/>
          <p:cNvPicPr>
            <a:picLocks noChangeAspect="1"/>
          </p:cNvPicPr>
          <p:nvPr/>
        </p:nvPicPr>
        <p:blipFill>
          <a:blip r:embed="rId2"/>
          <a:srcRect t="33424" r="72775" b="42480"/>
          <a:stretch>
            <a:fillRect/>
          </a:stretch>
        </p:blipFill>
        <p:spPr>
          <a:xfrm>
            <a:off x="3402013" y="0"/>
            <a:ext cx="2459037" cy="16319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1746" name="Picture 2" descr="C:\Users\Lenovo\Desktop\4.jpg"/>
          <p:cNvPicPr>
            <a:picLocks noChangeAspect="1"/>
          </p:cNvPicPr>
          <p:nvPr/>
        </p:nvPicPr>
        <p:blipFill>
          <a:blip r:embed="rId1"/>
          <a:srcRect t="38770" r="72304" b="36861"/>
          <a:stretch>
            <a:fillRect/>
          </a:stretch>
        </p:blipFill>
        <p:spPr>
          <a:xfrm>
            <a:off x="3324225" y="44450"/>
            <a:ext cx="2400300" cy="15843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1747" name="Picture 2" descr="C:\Users\Lenovo\Desktop\4.jpg"/>
          <p:cNvPicPr>
            <a:picLocks noChangeAspect="1"/>
          </p:cNvPicPr>
          <p:nvPr/>
        </p:nvPicPr>
        <p:blipFill>
          <a:blip r:embed="rId2"/>
          <a:srcRect l="28040" t="31081" r="2971" b="7787"/>
          <a:stretch>
            <a:fillRect/>
          </a:stretch>
        </p:blipFill>
        <p:spPr>
          <a:xfrm>
            <a:off x="900113" y="1700213"/>
            <a:ext cx="7343775" cy="488156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70" name="Rectangle 3"/>
          <p:cNvSpPr>
            <a:spLocks noGrp="1"/>
          </p:cNvSpPr>
          <p:nvPr>
            <p:ph idx="1"/>
          </p:nvPr>
        </p:nvSpPr>
        <p:spPr>
          <a:xfrm>
            <a:off x="609600" y="1066800"/>
            <a:ext cx="8077200" cy="54102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</a:pPr>
            <a:r>
              <a:rPr lang="zh-CN" altLang="en-US" sz="2000" b="1" dirty="0">
                <a:latin typeface="宋体" panose="02010600030101010101" pitchFamily="2" charset="-122"/>
              </a:rPr>
              <a:t>置</a:t>
            </a:r>
            <a:r>
              <a:rPr lang="en-US" altLang="en-US" sz="2000" b="1" dirty="0">
                <a:latin typeface="宋体" panose="02010600030101010101" pitchFamily="2" charset="-122"/>
              </a:rPr>
              <a:t>ip</a:t>
            </a:r>
            <a:r>
              <a:rPr lang="zh-CN" altLang="en-US" sz="2000" b="1" dirty="0">
                <a:latin typeface="宋体" panose="02010600030101010101" pitchFamily="2" charset="-122"/>
              </a:rPr>
              <a:t>指向输入串</a:t>
            </a:r>
            <a:r>
              <a:rPr lang="en-US" altLang="zh-CN" sz="2000" b="1" dirty="0">
                <a:latin typeface="宋体" panose="02010600030101010101" pitchFamily="2" charset="-122"/>
              </a:rPr>
              <a:t>w</a:t>
            </a:r>
            <a:r>
              <a:rPr lang="zh-CN" altLang="en-US" sz="2000" b="1" dirty="0">
                <a:latin typeface="宋体" panose="02010600030101010101" pitchFamily="2" charset="-122"/>
              </a:rPr>
              <a:t>的第一个符号，初始状态入状态栈，</a:t>
            </a:r>
            <a:r>
              <a:rPr lang="en-US" altLang="zh-CN" sz="2000" b="1" dirty="0">
                <a:latin typeface="宋体" panose="02010600030101010101" pitchFamily="2" charset="-122"/>
              </a:rPr>
              <a:t>#</a:t>
            </a:r>
            <a:r>
              <a:rPr lang="zh-CN" altLang="en-US" sz="2000" b="1" dirty="0">
                <a:latin typeface="宋体" panose="02010600030101010101" pitchFamily="2" charset="-122"/>
              </a:rPr>
              <a:t>入符号栈</a:t>
            </a:r>
            <a:endParaRPr lang="zh-CN" altLang="en-US" sz="2000" b="1" dirty="0">
              <a:latin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zh-CN" altLang="en-US" sz="1600" b="1" dirty="0">
                <a:latin typeface="宋体" panose="02010600030101010101" pitchFamily="2" charset="-122"/>
              </a:rPr>
              <a:t>令</a:t>
            </a:r>
            <a:r>
              <a:rPr lang="en-US" altLang="zh-CN" sz="1600" b="1" dirty="0">
                <a:latin typeface="宋体" panose="02010600030101010101" pitchFamily="2" charset="-122"/>
              </a:rPr>
              <a:t>St</a:t>
            </a:r>
            <a:r>
              <a:rPr lang="zh-CN" altLang="en-US" sz="1600" b="1" dirty="0">
                <a:latin typeface="宋体" panose="02010600030101010101" pitchFamily="2" charset="-122"/>
              </a:rPr>
              <a:t>为栈顶状态，</a:t>
            </a:r>
            <a:r>
              <a:rPr lang="en-US" altLang="zh-CN" sz="1600" b="1" dirty="0">
                <a:latin typeface="宋体" panose="02010600030101010101" pitchFamily="2" charset="-122"/>
              </a:rPr>
              <a:t>a</a:t>
            </a:r>
            <a:r>
              <a:rPr lang="zh-CN" altLang="en-US" sz="1600" b="1" dirty="0">
                <a:latin typeface="宋体" panose="02010600030101010101" pitchFamily="2" charset="-122"/>
              </a:rPr>
              <a:t>是</a:t>
            </a:r>
            <a:r>
              <a:rPr lang="en-US" altLang="zh-CN" sz="1600" b="1" dirty="0">
                <a:latin typeface="宋体" panose="02010600030101010101" pitchFamily="2" charset="-122"/>
              </a:rPr>
              <a:t>ip</a:t>
            </a:r>
            <a:r>
              <a:rPr lang="zh-CN" altLang="en-US" sz="1600" b="1" dirty="0">
                <a:latin typeface="宋体" panose="02010600030101010101" pitchFamily="2" charset="-122"/>
              </a:rPr>
              <a:t>指向的符号</a:t>
            </a:r>
            <a:endParaRPr lang="zh-CN" altLang="en-US" sz="1600" b="1" dirty="0">
              <a:latin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1800" b="1" dirty="0">
                <a:latin typeface="宋体" panose="02010600030101010101" pitchFamily="2" charset="-122"/>
              </a:rPr>
              <a:t>LOOP </a:t>
            </a:r>
            <a:endParaRPr lang="en-US" altLang="zh-CN" sz="1800" b="1" dirty="0">
              <a:latin typeface="宋体" panose="02010600030101010101" pitchFamily="2" charset="-122"/>
            </a:endParaRPr>
          </a:p>
          <a:p>
            <a:pPr lvl="2" eaLnBrk="1" hangingPunct="1">
              <a:lnSpc>
                <a:spcPct val="90000"/>
              </a:lnSpc>
              <a:buFontTx/>
              <a:buNone/>
            </a:pPr>
            <a:r>
              <a:rPr lang="en-US" altLang="zh-CN" sz="1800" b="1" dirty="0">
                <a:latin typeface="宋体" panose="02010600030101010101" pitchFamily="2" charset="-122"/>
              </a:rPr>
              <a:t>begin</a:t>
            </a:r>
            <a:endParaRPr lang="en-US" altLang="zh-CN" sz="1800" b="1" dirty="0">
              <a:latin typeface="宋体" panose="02010600030101010101" pitchFamily="2" charset="-122"/>
            </a:endParaRPr>
          </a:p>
          <a:p>
            <a:pPr lvl="3" eaLnBrk="1" hangingPunct="1">
              <a:lnSpc>
                <a:spcPct val="90000"/>
              </a:lnSpc>
              <a:buFontTx/>
              <a:buNone/>
            </a:pPr>
            <a:r>
              <a:rPr lang="en-US" altLang="zh-CN" sz="1800" b="1" dirty="0">
                <a:latin typeface="宋体" panose="02010600030101010101" pitchFamily="2" charset="-122"/>
              </a:rPr>
              <a:t>if  S∈ACTION[St]</a:t>
            </a:r>
            <a:endParaRPr lang="en-US" altLang="zh-CN" sz="1800" b="1" baseline="-25000" dirty="0">
              <a:latin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zh-CN" sz="1800" b="1" dirty="0">
                <a:latin typeface="宋体" panose="02010600030101010101" pitchFamily="2" charset="-122"/>
              </a:rPr>
              <a:t>        then  begin  PUSH GOTO(St,a),a(</a:t>
            </a:r>
            <a:r>
              <a:rPr lang="zh-CN" altLang="en-US" sz="1800" b="1" dirty="0">
                <a:latin typeface="宋体" panose="02010600030101010101" pitchFamily="2" charset="-122"/>
              </a:rPr>
              <a:t>进栈</a:t>
            </a:r>
            <a:r>
              <a:rPr lang="en-US" altLang="zh-CN" sz="1800" b="1" dirty="0">
                <a:latin typeface="Times New Roman" panose="02020603050405020304" charset="0"/>
              </a:rPr>
              <a:t>——</a:t>
            </a:r>
            <a:r>
              <a:rPr lang="zh-CN" altLang="en-US" sz="1800" b="1" dirty="0">
                <a:latin typeface="宋体" panose="02010600030101010101" pitchFamily="2" charset="-122"/>
              </a:rPr>
              <a:t>状态栈和符号栈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endParaRPr lang="en-US" altLang="zh-CN" sz="1800" b="1" dirty="0">
              <a:latin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zh-CN" sz="1800" b="1" dirty="0">
                <a:latin typeface="宋体" panose="02010600030101010101" pitchFamily="2" charset="-122"/>
              </a:rPr>
              <a:t>                          ip </a:t>
            </a:r>
            <a:r>
              <a:rPr lang="zh-CN" altLang="en-US" sz="1800" b="1" dirty="0">
                <a:latin typeface="宋体" panose="02010600030101010101" pitchFamily="2" charset="-122"/>
              </a:rPr>
              <a:t>前进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指向下一输入符号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endParaRPr lang="en-US" altLang="zh-CN" sz="1800" b="1" dirty="0">
              <a:latin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zh-CN" sz="1800" b="1" dirty="0">
                <a:latin typeface="宋体" panose="02010600030101010101" pitchFamily="2" charset="-122"/>
              </a:rPr>
              <a:t>              end</a:t>
            </a:r>
            <a:endParaRPr lang="en-US" altLang="zh-CN" sz="1800" b="1" dirty="0">
              <a:latin typeface="宋体" panose="02010600030101010101" pitchFamily="2" charset="-122"/>
            </a:endParaRPr>
          </a:p>
          <a:p>
            <a:pPr lvl="3" eaLnBrk="1" hangingPunct="1">
              <a:lnSpc>
                <a:spcPct val="90000"/>
              </a:lnSpc>
              <a:buFontTx/>
              <a:buNone/>
            </a:pPr>
            <a:r>
              <a:rPr lang="en-US" altLang="zh-CN" sz="1800" b="1" dirty="0">
                <a:latin typeface="宋体" panose="02010600030101010101" pitchFamily="2" charset="-122"/>
              </a:rPr>
              <a:t>else if rj∈ACTION[St]     (</a:t>
            </a:r>
            <a:r>
              <a:rPr lang="zh-CN" altLang="en-US" sz="1800" b="1" dirty="0">
                <a:solidFill>
                  <a:schemeClr val="hlink"/>
                </a:solidFill>
                <a:latin typeface="宋体" panose="02010600030101010101" pitchFamily="2" charset="-122"/>
              </a:rPr>
              <a:t>第</a:t>
            </a:r>
            <a:r>
              <a:rPr lang="en-US" altLang="zh-CN" sz="1800" b="1" dirty="0">
                <a:solidFill>
                  <a:schemeClr val="hlink"/>
                </a:solidFill>
                <a:latin typeface="宋体" panose="02010600030101010101" pitchFamily="2" charset="-122"/>
              </a:rPr>
              <a:t>j</a:t>
            </a:r>
            <a:r>
              <a:rPr lang="zh-CN" altLang="en-US" sz="1800" b="1" dirty="0">
                <a:solidFill>
                  <a:schemeClr val="hlink"/>
                </a:solidFill>
                <a:latin typeface="宋体" panose="02010600030101010101" pitchFamily="2" charset="-122"/>
              </a:rPr>
              <a:t>条产生式为</a:t>
            </a:r>
            <a:r>
              <a:rPr lang="en-US" altLang="zh-CN" sz="1800" b="1" dirty="0">
                <a:solidFill>
                  <a:schemeClr val="hlink"/>
                </a:solidFill>
                <a:latin typeface="宋体" panose="02010600030101010101" pitchFamily="2" charset="-122"/>
              </a:rPr>
              <a:t>A</a:t>
            </a:r>
            <a:r>
              <a:rPr lang="en-US" altLang="zh-CN" sz="1800" b="1" dirty="0">
                <a:solidFill>
                  <a:schemeClr val="hlink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</a:t>
            </a:r>
            <a:r>
              <a:rPr lang="en-US" altLang="zh-CN" sz="1800" b="1" dirty="0">
                <a:latin typeface="宋体" panose="02010600030101010101" pitchFamily="2" charset="-122"/>
                <a:sym typeface="Symbol" panose="05050102010706020507" pitchFamily="18" charset="2"/>
              </a:rPr>
              <a:t>)</a:t>
            </a:r>
            <a:endParaRPr lang="en-US" altLang="zh-CN" sz="1800" b="1" dirty="0">
              <a:latin typeface="宋体" panose="02010600030101010101" pitchFamily="2" charset="-122"/>
              <a:sym typeface="Symbol" panose="05050102010706020507" pitchFamily="18" charset="2"/>
            </a:endParaRPr>
          </a:p>
          <a:p>
            <a:pPr lvl="3" eaLnBrk="1" hangingPunct="1">
              <a:lnSpc>
                <a:spcPct val="90000"/>
              </a:lnSpc>
              <a:buFontTx/>
              <a:buNone/>
            </a:pPr>
            <a:r>
              <a:rPr lang="en-US" altLang="zh-CN" sz="1800" b="1" dirty="0">
                <a:latin typeface="宋体" panose="02010600030101010101" pitchFamily="2" charset="-122"/>
              </a:rPr>
              <a:t>     then  begin    </a:t>
            </a:r>
            <a:r>
              <a:rPr lang="zh-CN" altLang="en-US" sz="1800" b="1" dirty="0">
                <a:latin typeface="宋体" panose="02010600030101010101" pitchFamily="2" charset="-122"/>
              </a:rPr>
              <a:t>两个栈各  </a:t>
            </a:r>
            <a:r>
              <a:rPr lang="en-US" altLang="zh-CN" sz="1800" b="1" dirty="0">
                <a:latin typeface="宋体" panose="02010600030101010101" pitchFamily="2" charset="-122"/>
              </a:rPr>
              <a:t>pop  |</a:t>
            </a:r>
            <a:r>
              <a:rPr lang="en-US" altLang="zh-CN" sz="1800" b="1" dirty="0">
                <a:latin typeface="宋体" panose="02010600030101010101" pitchFamily="2" charset="-122"/>
                <a:sym typeface="Symbol" panose="05050102010706020507" pitchFamily="18" charset="2"/>
              </a:rPr>
              <a:t>|  </a:t>
            </a:r>
            <a:r>
              <a:rPr lang="zh-CN" altLang="en-US" sz="1800" b="1" dirty="0">
                <a:latin typeface="宋体" panose="02010600030101010101" pitchFamily="2" charset="-122"/>
                <a:sym typeface="Symbol" panose="05050102010706020507" pitchFamily="18" charset="2"/>
              </a:rPr>
              <a:t>项</a:t>
            </a:r>
            <a:endParaRPr lang="zh-CN" altLang="en-US" sz="1800" b="1" dirty="0">
              <a:latin typeface="宋体" panose="02010600030101010101" pitchFamily="2" charset="-122"/>
              <a:sym typeface="Symbol" panose="05050102010706020507" pitchFamily="18" charset="2"/>
            </a:endParaRPr>
          </a:p>
          <a:p>
            <a:pPr lvl="4" eaLnBrk="1" hangingPunct="1">
              <a:lnSpc>
                <a:spcPct val="90000"/>
              </a:lnSpc>
              <a:buFontTx/>
              <a:buNone/>
            </a:pPr>
            <a:r>
              <a:rPr lang="zh-CN" altLang="en-US" sz="1800" b="1" dirty="0">
                <a:latin typeface="宋体" panose="02010600030101010101" pitchFamily="2" charset="-122"/>
                <a:sym typeface="Symbol" panose="05050102010706020507" pitchFamily="18" charset="2"/>
              </a:rPr>
              <a:t>                假设当前状态栈顶状态为</a:t>
            </a:r>
            <a:r>
              <a:rPr lang="en-US" altLang="zh-CN" sz="1800" b="1" dirty="0">
                <a:latin typeface="宋体" panose="02010600030101010101" pitchFamily="2" charset="-122"/>
                <a:sym typeface="Symbol" panose="05050102010706020507" pitchFamily="18" charset="2"/>
              </a:rPr>
              <a:t>St′</a:t>
            </a:r>
            <a:r>
              <a:rPr lang="zh-CN" altLang="en-US" sz="1800" b="1" dirty="0">
                <a:latin typeface="宋体" panose="02010600030101010101" pitchFamily="2" charset="-122"/>
                <a:sym typeface="Symbol" panose="05050102010706020507" pitchFamily="18" charset="2"/>
              </a:rPr>
              <a:t>，则</a:t>
            </a:r>
            <a:endParaRPr lang="zh-CN" altLang="en-US" sz="1800" b="1" dirty="0">
              <a:latin typeface="宋体" panose="02010600030101010101" pitchFamily="2" charset="-122"/>
              <a:sym typeface="Symbol" panose="05050102010706020507" pitchFamily="18" charset="2"/>
            </a:endParaRPr>
          </a:p>
          <a:p>
            <a:pPr lvl="4" eaLnBrk="1" hangingPunct="1">
              <a:lnSpc>
                <a:spcPct val="90000"/>
              </a:lnSpc>
              <a:buFontTx/>
              <a:buNone/>
            </a:pPr>
            <a:r>
              <a:rPr lang="zh-CN" altLang="en-US" sz="1800" b="1" dirty="0">
                <a:latin typeface="宋体" panose="02010600030101010101" pitchFamily="2" charset="-122"/>
                <a:sym typeface="Symbol" panose="05050102010706020507" pitchFamily="18" charset="2"/>
              </a:rPr>
              <a:t>                </a:t>
            </a:r>
            <a:r>
              <a:rPr lang="en-US" altLang="zh-CN" sz="1800" b="1" dirty="0">
                <a:latin typeface="宋体" panose="02010600030101010101" pitchFamily="2" charset="-122"/>
                <a:sym typeface="Symbol" panose="05050102010706020507" pitchFamily="18" charset="2"/>
              </a:rPr>
              <a:t>push GOTO[St′,A]</a:t>
            </a:r>
            <a:r>
              <a:rPr lang="zh-CN" altLang="en-US" sz="1800" b="1" dirty="0">
                <a:latin typeface="宋体" panose="02010600030101010101" pitchFamily="2" charset="-122"/>
                <a:sym typeface="Symbol" panose="05050102010706020507" pitchFamily="18" charset="2"/>
              </a:rPr>
              <a:t>和</a:t>
            </a:r>
            <a:r>
              <a:rPr lang="en-US" altLang="zh-CN" sz="1800" b="1" dirty="0">
                <a:latin typeface="宋体" panose="02010600030101010101" pitchFamily="2" charset="-122"/>
                <a:sym typeface="Symbol" panose="05050102010706020507" pitchFamily="18" charset="2"/>
              </a:rPr>
              <a:t>A</a:t>
            </a:r>
            <a:endParaRPr lang="en-US" altLang="zh-CN" sz="1800" b="1" dirty="0">
              <a:latin typeface="宋体" panose="02010600030101010101" pitchFamily="2" charset="-122"/>
              <a:sym typeface="Symbol" panose="05050102010706020507" pitchFamily="18" charset="2"/>
            </a:endParaRPr>
          </a:p>
          <a:p>
            <a:pPr lvl="3" eaLnBrk="1" hangingPunct="1">
              <a:lnSpc>
                <a:spcPct val="90000"/>
              </a:lnSpc>
              <a:buFontTx/>
              <a:buNone/>
            </a:pPr>
            <a:r>
              <a:rPr lang="en-US" altLang="zh-CN" sz="1800" b="1" dirty="0">
                <a:latin typeface="宋体" panose="02010600030101010101" pitchFamily="2" charset="-122"/>
              </a:rPr>
              <a:t>           end</a:t>
            </a:r>
            <a:endParaRPr lang="en-US" altLang="zh-CN" sz="1800" b="1" dirty="0">
              <a:latin typeface="宋体" panose="02010600030101010101" pitchFamily="2" charset="-122"/>
            </a:endParaRPr>
          </a:p>
          <a:p>
            <a:pPr lvl="3" eaLnBrk="1" hangingPunct="1">
              <a:lnSpc>
                <a:spcPct val="90000"/>
              </a:lnSpc>
              <a:buFontTx/>
              <a:buNone/>
            </a:pPr>
            <a:r>
              <a:rPr lang="en-US" altLang="zh-CN" sz="1800" b="1" dirty="0">
                <a:latin typeface="宋体" panose="02010600030101010101" pitchFamily="2" charset="-122"/>
              </a:rPr>
              <a:t>else if acc∈ACTION[St]</a:t>
            </a:r>
            <a:endParaRPr lang="en-US" altLang="zh-CN" sz="1800" b="1" dirty="0">
              <a:latin typeface="宋体" panose="02010600030101010101" pitchFamily="2" charset="-122"/>
            </a:endParaRPr>
          </a:p>
          <a:p>
            <a:pPr lvl="4" eaLnBrk="1" hangingPunct="1">
              <a:lnSpc>
                <a:spcPct val="90000"/>
              </a:lnSpc>
              <a:buFontTx/>
              <a:buNone/>
            </a:pPr>
            <a:r>
              <a:rPr lang="en-US" altLang="zh-CN" sz="1800" b="1" dirty="0">
                <a:latin typeface="宋体" panose="02010600030101010101" pitchFamily="2" charset="-122"/>
              </a:rPr>
              <a:t> then return (</a:t>
            </a:r>
            <a:r>
              <a:rPr lang="zh-CN" altLang="zh-CN" sz="1800" b="1" dirty="0">
                <a:latin typeface="宋体" panose="02010600030101010101" pitchFamily="2" charset="-122"/>
              </a:rPr>
              <a:t>成功）</a:t>
            </a:r>
            <a:endParaRPr lang="zh-CN" altLang="en-US" sz="1800" b="1" dirty="0">
              <a:latin typeface="宋体" panose="02010600030101010101" pitchFamily="2" charset="-122"/>
            </a:endParaRPr>
          </a:p>
          <a:p>
            <a:pPr lvl="3" eaLnBrk="1" hangingPunct="1">
              <a:lnSpc>
                <a:spcPct val="90000"/>
              </a:lnSpc>
              <a:buFontTx/>
              <a:buNone/>
            </a:pPr>
            <a:r>
              <a:rPr lang="en-US" altLang="zh-CN" sz="1800" b="1" dirty="0">
                <a:latin typeface="宋体" panose="02010600030101010101" pitchFamily="2" charset="-122"/>
              </a:rPr>
              <a:t>else error</a:t>
            </a:r>
            <a:endParaRPr lang="en-US" altLang="zh-CN" sz="1800" b="1" dirty="0">
              <a:latin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1800" b="1" dirty="0">
                <a:latin typeface="宋体" panose="02010600030101010101" pitchFamily="2" charset="-122"/>
              </a:rPr>
              <a:t>end.  LOOP</a:t>
            </a:r>
            <a:endParaRPr lang="en-US" altLang="zh-CN" sz="1800" b="1" dirty="0">
              <a:latin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endParaRPr lang="en-US" altLang="zh-CN" sz="1800" b="1" dirty="0">
              <a:latin typeface="宋体" panose="02010600030101010101" pitchFamily="2" charset="-122"/>
            </a:endParaRPr>
          </a:p>
        </p:txBody>
      </p:sp>
      <p:sp>
        <p:nvSpPr>
          <p:cNvPr id="309250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7772400" cy="609600"/>
          </a:xfrm>
          <a:noFill/>
          <a:ln>
            <a:noFill/>
          </a:ln>
          <a:effectLst/>
          <a:sp3d prstMaterial="plastic"/>
        </p:spPr>
        <p:txBody>
          <a:bodyPr vert="horz" rtlCol="0" anchor="ctr">
            <a:normAutofit fontScale="90000"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1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LR(0)</a:t>
            </a:r>
            <a:r>
              <a:rPr kumimoji="0" lang="zh-CN" altLang="en-US" sz="41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分析算法</a:t>
            </a:r>
            <a:endParaRPr kumimoji="0" lang="zh-CN" altLang="en-US" sz="3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楷体_GB2312" pitchFamily="49" charset="-122"/>
              <a:ea typeface="楷体_GB2312" pitchFamily="49" charset="-122"/>
              <a:cs typeface="+mj-c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8115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237490"/>
            <a:ext cx="8229600" cy="914400"/>
          </a:xfrm>
        </p:spPr>
        <p:txBody>
          <a:bodyPr vert="horz" wrap="square" lIns="91440" tIns="45720" rIns="91440" bIns="45720" numCol="1" anchor="t" anchorCtr="0" compatLnSpc="1">
            <a:normAutofit fontScale="92500"/>
          </a:bodyPr>
          <a:lstStyle/>
          <a:p>
            <a:pPr marL="365760" marR="0" lvl="0" indent="-255905" algn="just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扩展文法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G[S]:  (0)S′→S    (1)S→L=R      (2)  S→R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+mn-ea"/>
              <a:cs typeface="+mn-cs"/>
            </a:endParaRPr>
          </a:p>
          <a:p>
            <a:pPr marL="365760" marR="0" lvl="0" indent="-255905" algn="just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               (3)L→ *R    (4)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L→i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        (5)  R→L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+mn-ea"/>
              <a:cs typeface="+mn-cs"/>
            </a:endParaRPr>
          </a:p>
        </p:txBody>
      </p:sp>
      <p:sp>
        <p:nvSpPr>
          <p:cNvPr id="218117" name="Rectangle 5"/>
          <p:cNvSpPr>
            <a:spLocks noChangeArrowheads="1"/>
          </p:cNvSpPr>
          <p:nvPr/>
        </p:nvSpPr>
        <p:spPr bwMode="auto">
          <a:xfrm>
            <a:off x="457200" y="1012825"/>
            <a:ext cx="5562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Tx/>
              <a:buNone/>
              <a:defRPr/>
            </a:pP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构造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LR(0)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项目集规范族和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GOTO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函数</a:t>
            </a:r>
            <a:endParaRPr kumimoji="1" lang="zh-CN" altLang="en-US" sz="2400" b="1" i="0" u="none" strike="noStrike" kern="1200" cap="none" spc="0" normalizeH="0" baseline="0" noProof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218567" name="Group 455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609600" y="1516063"/>
          <a:ext cx="8153400" cy="4759325"/>
        </p:xfrm>
        <a:graphic>
          <a:graphicData uri="http://schemas.openxmlformats.org/drawingml/2006/table">
            <a:tbl>
              <a:tblPr/>
              <a:tblGrid>
                <a:gridCol w="1524000"/>
                <a:gridCol w="762000"/>
                <a:gridCol w="1981200"/>
                <a:gridCol w="3886200"/>
              </a:tblGrid>
              <a:tr h="396240"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endParaRPr kumimoji="1" lang="zh-CN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状态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核心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闭包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5302"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endParaRPr kumimoji="1" lang="zh-CN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(0,0)</a:t>
                      </a:r>
                      <a:endParaRPr kumimoji="1" lang="en-US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(1,0),(2,0),(3,0),(4,0),(5,0)</a:t>
                      </a:r>
                      <a:endParaRPr kumimoji="1" lang="en-US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6572"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GOTO(0,S)</a:t>
                      </a:r>
                      <a:endParaRPr kumimoji="1" lang="en-US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(0,1)</a:t>
                      </a:r>
                      <a:endParaRPr kumimoji="1" lang="en-US" altLang="zh-CN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endParaRPr kumimoji="1" lang="zh-CN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5302"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GOTO(0,L)</a:t>
                      </a:r>
                      <a:endParaRPr kumimoji="1" lang="en-US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(1,1),(5,1)</a:t>
                      </a:r>
                      <a:endParaRPr kumimoji="1" lang="en-US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endParaRPr kumimoji="1" lang="zh-CN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5302"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GOTO(0,R)</a:t>
                      </a:r>
                      <a:endParaRPr kumimoji="1" lang="en-US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(2,1)</a:t>
                      </a:r>
                      <a:endParaRPr kumimoji="1" lang="en-US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endParaRPr kumimoji="1" lang="zh-CN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5302"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GOTO(0,*)</a:t>
                      </a:r>
                      <a:endParaRPr kumimoji="1" lang="en-US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(3,1)</a:t>
                      </a:r>
                      <a:endParaRPr kumimoji="1" lang="en-US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(5,0),(3,0),(4,0)</a:t>
                      </a:r>
                      <a:endParaRPr kumimoji="1" lang="en-US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5302"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GOTO(0,id)</a:t>
                      </a:r>
                      <a:endParaRPr kumimoji="1" lang="en-US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</a:t>
                      </a:r>
                      <a:endParaRPr kumimoji="1" lang="en-US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(4,1)</a:t>
                      </a:r>
                      <a:endParaRPr kumimoji="1" lang="en-US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endParaRPr kumimoji="1" lang="zh-CN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5302"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GOTO(2,=)</a:t>
                      </a:r>
                      <a:endParaRPr kumimoji="1" lang="en-US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(1,2)</a:t>
                      </a:r>
                      <a:endParaRPr kumimoji="1" lang="en-US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(5,0),(3,0),(4,0)</a:t>
                      </a:r>
                      <a:endParaRPr kumimoji="1" lang="en-US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5302"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GOTO(4,R)</a:t>
                      </a:r>
                      <a:endParaRPr kumimoji="1" lang="en-US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7</a:t>
                      </a:r>
                      <a:endParaRPr kumimoji="1" lang="en-US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(3,2)</a:t>
                      </a:r>
                      <a:endParaRPr kumimoji="1" lang="en-US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endParaRPr kumimoji="1" lang="zh-CN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5302"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GOTO(4,L)</a:t>
                      </a:r>
                      <a:endParaRPr kumimoji="1" lang="en-US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8</a:t>
                      </a:r>
                      <a:endParaRPr kumimoji="1" lang="en-US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(5,1)</a:t>
                      </a:r>
                      <a:endParaRPr kumimoji="1" lang="en-US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endParaRPr kumimoji="1" lang="zh-CN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5302"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GOTO(6,R)</a:t>
                      </a:r>
                      <a:endParaRPr kumimoji="1" lang="en-US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</a:t>
                      </a:r>
                      <a:endParaRPr kumimoji="1" lang="en-US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(1,3)</a:t>
                      </a:r>
                      <a:endParaRPr kumimoji="1" lang="en-US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endParaRPr kumimoji="1" lang="zh-CN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5302"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GOTO(6,L)</a:t>
                      </a:r>
                      <a:endParaRPr kumimoji="1" lang="en-US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8</a:t>
                      </a:r>
                      <a:endParaRPr kumimoji="1" lang="en-US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(5,1)</a:t>
                      </a:r>
                      <a:endParaRPr kumimoji="1" lang="en-US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endParaRPr kumimoji="1" lang="zh-CN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5302"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GOTO(6,*)</a:t>
                      </a:r>
                      <a:endParaRPr kumimoji="1" lang="en-US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(3,1)</a:t>
                      </a:r>
                      <a:endParaRPr kumimoji="1" lang="en-US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(5,0),(3,0),(4,0)</a:t>
                      </a:r>
                      <a:endParaRPr kumimoji="1" lang="en-US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61"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GOTO(6,i)</a:t>
                      </a:r>
                      <a:endParaRPr kumimoji="1" lang="en-US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</a:t>
                      </a:r>
                      <a:endParaRPr kumimoji="1" lang="en-US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(4,1)</a:t>
                      </a:r>
                      <a:endParaRPr kumimoji="1" lang="en-US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endParaRPr kumimoji="1" lang="zh-CN" altLang="zh-CN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818" name="内容占位符 1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1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34820" name="Picture 2" descr="C:\Users\Lenovo\Desktop\5.jpg"/>
          <p:cNvPicPr>
            <a:picLocks noChangeAspect="1"/>
          </p:cNvPicPr>
          <p:nvPr/>
        </p:nvPicPr>
        <p:blipFill>
          <a:blip r:embed="rId1"/>
          <a:srcRect l="5177" t="11308" r="3951" b="23334"/>
          <a:stretch>
            <a:fillRect/>
          </a:stretch>
        </p:blipFill>
        <p:spPr>
          <a:xfrm>
            <a:off x="250825" y="836613"/>
            <a:ext cx="8677275" cy="46799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弧形 4"/>
          <p:cNvSpPr/>
          <p:nvPr/>
        </p:nvSpPr>
        <p:spPr>
          <a:xfrm>
            <a:off x="2627630" y="4076700"/>
            <a:ext cx="763905" cy="455295"/>
          </a:xfrm>
          <a:prstGeom prst="arc">
            <a:avLst>
              <a:gd name="adj1" fmla="val 5339644"/>
              <a:gd name="adj2" fmla="val 16230348"/>
            </a:avLst>
          </a:prstGeom>
          <a:ln>
            <a:solidFill>
              <a:schemeClr val="tx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2406015" y="4004945"/>
            <a:ext cx="335915" cy="4191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*</a:t>
            </a:r>
            <a:endParaRPr lang="en-US" altLang="zh-CN"/>
          </a:p>
        </p:txBody>
      </p:sp>
      <p:cxnSp>
        <p:nvCxnSpPr>
          <p:cNvPr id="7" name="直接箭头连接符 6"/>
          <p:cNvCxnSpPr/>
          <p:nvPr/>
        </p:nvCxnSpPr>
        <p:spPr>
          <a:xfrm flipH="1">
            <a:off x="2177415" y="4743450"/>
            <a:ext cx="87693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>
            <p:custDataLst>
              <p:tags r:id="rId2"/>
            </p:custDataLst>
          </p:nvPr>
        </p:nvSpPr>
        <p:spPr>
          <a:xfrm>
            <a:off x="2496820" y="4427220"/>
            <a:ext cx="335915" cy="4191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000"/>
              <a:t>i</a:t>
            </a:r>
            <a:endParaRPr lang="en-US" altLang="zh-CN" sz="20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842" name="Rectangle 2"/>
          <p:cNvSpPr/>
          <p:nvPr/>
        </p:nvSpPr>
        <p:spPr>
          <a:xfrm>
            <a:off x="457200" y="381000"/>
            <a:ext cx="8305800" cy="45720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342900" lvl="0" indent="-342900" algn="just" eaLnBrk="1" hangingPunct="1">
              <a:lnSpc>
                <a:spcPct val="90000"/>
              </a:lnSpc>
              <a:spcBef>
                <a:spcPct val="20000"/>
              </a:spcBef>
              <a:buSzTx/>
              <a:buFontTx/>
              <a:buNone/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则该文法的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LR(0)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项目集规范族为：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lvl="0" indent="-342900" algn="just" eaLnBrk="1" hangingPunct="1">
              <a:lnSpc>
                <a:spcPct val="90000"/>
              </a:lnSpc>
              <a:spcBef>
                <a:spcPct val="20000"/>
              </a:spcBef>
              <a:buSzTx/>
              <a:buFontTx/>
              <a:buNone/>
            </a:pP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lvl="0" indent="-342900" algn="just" eaLnBrk="1" hangingPunct="1">
              <a:lnSpc>
                <a:spcPct val="90000"/>
              </a:lnSpc>
              <a:spcBef>
                <a:spcPct val="20000"/>
              </a:spcBef>
              <a:buSzTx/>
              <a:buFontTx/>
              <a:buNone/>
            </a:pPr>
            <a:r>
              <a:rPr lang="en-US" altLang="zh-CN" sz="2000" b="1" dirty="0">
                <a:solidFill>
                  <a:schemeClr val="hlin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en-US" altLang="zh-CN" sz="2000" b="1" baseline="-25000" dirty="0">
                <a:solidFill>
                  <a:schemeClr val="hlin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 </a:t>
            </a:r>
            <a:r>
              <a:rPr lang="zh-CN" altLang="en-US" sz="2000" b="1" dirty="0">
                <a:solidFill>
                  <a:schemeClr val="hlin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en-US" altLang="zh-CN" sz="20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</a:t>
            </a:r>
            <a:r>
              <a:rPr lang="en-US" altLang="zh-CN" sz="2000" b="1" dirty="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’</a:t>
            </a:r>
            <a:r>
              <a:rPr lang="en-US" altLang="zh-CN" sz="20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→</a:t>
            </a:r>
            <a:r>
              <a:rPr lang="zh-CN" altLang="en-US" sz="20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．</a:t>
            </a:r>
            <a:r>
              <a:rPr lang="en-US" altLang="zh-CN" sz="20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    S→</a:t>
            </a:r>
            <a:r>
              <a:rPr lang="zh-CN" altLang="en-US" sz="20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．</a:t>
            </a:r>
            <a:r>
              <a:rPr lang="en-US" altLang="zh-CN" sz="20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L=R    S→</a:t>
            </a:r>
            <a:r>
              <a:rPr lang="zh-CN" altLang="en-US" sz="20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．</a:t>
            </a:r>
            <a:r>
              <a:rPr lang="en-US" altLang="zh-CN" sz="20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    L→</a:t>
            </a:r>
            <a:r>
              <a:rPr lang="zh-CN" altLang="en-US" sz="20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．*</a:t>
            </a:r>
            <a:r>
              <a:rPr lang="en-US" altLang="zh-CN" sz="20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    L→</a:t>
            </a:r>
            <a:r>
              <a:rPr lang="zh-CN" altLang="en-US" sz="20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．</a:t>
            </a:r>
            <a:r>
              <a:rPr lang="en-US" altLang="zh-CN" sz="20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   R→</a:t>
            </a:r>
            <a:r>
              <a:rPr lang="zh-CN" altLang="en-US" sz="20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．</a:t>
            </a:r>
            <a:r>
              <a:rPr lang="en-US" altLang="zh-CN" sz="20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L    </a:t>
            </a:r>
            <a:endParaRPr lang="en-US" altLang="zh-CN" sz="2000" b="1" dirty="0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lvl="0" indent="-342900" algn="just" eaLnBrk="1" hangingPunct="1">
              <a:lnSpc>
                <a:spcPct val="90000"/>
              </a:lnSpc>
              <a:spcBef>
                <a:spcPct val="20000"/>
              </a:spcBef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</a:t>
            </a:r>
            <a:endParaRPr lang="en-US" altLang="zh-CN" sz="2000" b="1" dirty="0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lvl="0" indent="-342900" algn="just" eaLnBrk="1" hangingPunct="1">
              <a:lnSpc>
                <a:spcPct val="90000"/>
              </a:lnSpc>
              <a:spcBef>
                <a:spcPct val="20000"/>
              </a:spcBef>
              <a:buSzTx/>
              <a:buFontTx/>
              <a:buNone/>
            </a:pPr>
            <a:r>
              <a:rPr lang="en-US" altLang="zh-CN" sz="2000" b="1" dirty="0">
                <a:solidFill>
                  <a:schemeClr val="hlin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en-US" altLang="zh-CN" sz="2000" b="1" baseline="-25000" dirty="0">
                <a:solidFill>
                  <a:schemeClr val="hlin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000" b="1" dirty="0">
                <a:solidFill>
                  <a:schemeClr val="hlin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en-US" altLang="zh-CN" sz="20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</a:t>
            </a:r>
            <a:r>
              <a:rPr lang="en-US" altLang="zh-CN" sz="2000" b="1" dirty="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’</a:t>
            </a:r>
            <a:r>
              <a:rPr lang="en-US" altLang="zh-CN" sz="20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→S</a:t>
            </a:r>
            <a:r>
              <a:rPr lang="zh-CN" altLang="en-US" sz="20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．    </a:t>
            </a:r>
            <a:r>
              <a:rPr lang="en-US" altLang="zh-CN" sz="2000" b="1" dirty="0">
                <a:solidFill>
                  <a:schemeClr val="hlin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en-US" altLang="zh-CN" sz="2000" b="1" baseline="-25000" dirty="0">
                <a:solidFill>
                  <a:schemeClr val="hlin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000" b="1" dirty="0">
                <a:solidFill>
                  <a:schemeClr val="hlin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 </a:t>
            </a:r>
            <a:r>
              <a:rPr lang="en-US" altLang="zh-CN" sz="20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S→L</a:t>
            </a:r>
            <a:r>
              <a:rPr lang="zh-CN" altLang="en-US" sz="20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．</a:t>
            </a:r>
            <a:r>
              <a:rPr lang="en-US" altLang="zh-CN" sz="20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=R           </a:t>
            </a:r>
            <a:r>
              <a:rPr lang="en-US" altLang="zh-CN" sz="2000" b="1" dirty="0">
                <a:solidFill>
                  <a:schemeClr val="hlin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en-US" altLang="zh-CN" sz="2000" b="1" baseline="-25000" dirty="0">
                <a:solidFill>
                  <a:schemeClr val="hlin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2000" b="1" dirty="0">
                <a:solidFill>
                  <a:schemeClr val="hlin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en-US" altLang="zh-CN" sz="20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S→R</a:t>
            </a:r>
            <a:r>
              <a:rPr lang="zh-CN" altLang="en-US" sz="20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． </a:t>
            </a:r>
            <a:endParaRPr lang="zh-CN" altLang="en-US" sz="2000" b="1" dirty="0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lvl="0" indent="-342900" algn="just" eaLnBrk="1" hangingPunct="1">
              <a:lnSpc>
                <a:spcPct val="90000"/>
              </a:lnSpc>
              <a:spcBef>
                <a:spcPct val="20000"/>
              </a:spcBef>
              <a:buSzTx/>
              <a:buFontTx/>
              <a:buNone/>
            </a:pPr>
            <a:r>
              <a:rPr lang="zh-CN" altLang="en-US" sz="20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     </a:t>
            </a:r>
            <a:r>
              <a:rPr lang="en-US" altLang="zh-CN" sz="20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R→L.</a:t>
            </a:r>
            <a:endParaRPr lang="en-US" altLang="zh-CN" sz="2000" b="1" dirty="0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lvl="0" indent="-342900" algn="just" eaLnBrk="1" hangingPunct="1">
              <a:lnSpc>
                <a:spcPct val="90000"/>
              </a:lnSpc>
              <a:spcBef>
                <a:spcPct val="20000"/>
              </a:spcBef>
              <a:buSzTx/>
              <a:buFontTx/>
              <a:buNone/>
            </a:pPr>
            <a:endParaRPr lang="en-US" altLang="zh-CN" sz="2000" b="1" dirty="0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lvl="0" indent="-342900" algn="just" eaLnBrk="1" hangingPunct="1">
              <a:lnSpc>
                <a:spcPct val="90000"/>
              </a:lnSpc>
              <a:spcBef>
                <a:spcPct val="20000"/>
              </a:spcBef>
              <a:buSzTx/>
              <a:buFontTx/>
              <a:buNone/>
            </a:pPr>
            <a:r>
              <a:rPr lang="en-US" altLang="zh-CN" sz="2000" b="1" dirty="0">
                <a:solidFill>
                  <a:schemeClr val="hlin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en-US" altLang="zh-CN" sz="2000" b="1" baseline="-25000" dirty="0">
                <a:solidFill>
                  <a:schemeClr val="hlin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lang="zh-CN" altLang="en-US" sz="2000" b="1" dirty="0">
                <a:solidFill>
                  <a:schemeClr val="hlin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en-US" altLang="zh-CN" sz="20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L→*</a:t>
            </a:r>
            <a:r>
              <a:rPr lang="zh-CN" altLang="en-US" sz="20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．</a:t>
            </a:r>
            <a:r>
              <a:rPr lang="en-US" altLang="zh-CN" sz="20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     </a:t>
            </a:r>
            <a:r>
              <a:rPr lang="en-US" altLang="zh-CN" sz="2000" b="1" dirty="0">
                <a:solidFill>
                  <a:schemeClr val="hlin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en-US" altLang="zh-CN" sz="2000" b="1" baseline="-25000" dirty="0">
                <a:solidFill>
                  <a:schemeClr val="hlin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5</a:t>
            </a:r>
            <a:r>
              <a:rPr lang="zh-CN" altLang="en-US" sz="2000" b="1" dirty="0">
                <a:solidFill>
                  <a:schemeClr val="hlin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 </a:t>
            </a:r>
            <a:r>
              <a:rPr lang="en-US" altLang="zh-CN" sz="20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L→i</a:t>
            </a:r>
            <a:r>
              <a:rPr lang="zh-CN" altLang="en-US" sz="20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．             </a:t>
            </a:r>
            <a:r>
              <a:rPr lang="en-US" altLang="zh-CN" sz="2000" b="1" dirty="0">
                <a:solidFill>
                  <a:schemeClr val="hlin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en-US" altLang="zh-CN" sz="2000" b="1" baseline="-25000" dirty="0">
                <a:solidFill>
                  <a:schemeClr val="hlin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6</a:t>
            </a:r>
            <a:r>
              <a:rPr lang="zh-CN" altLang="en-US" sz="2000" b="1" dirty="0">
                <a:solidFill>
                  <a:schemeClr val="hlin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en-US" altLang="zh-CN" sz="20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 →L=.R </a:t>
            </a:r>
            <a:endParaRPr lang="en-US" altLang="zh-CN" sz="2000" b="1" dirty="0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lvl="0" indent="-342900" algn="just" eaLnBrk="1" hangingPunct="1">
              <a:lnSpc>
                <a:spcPct val="90000"/>
              </a:lnSpc>
              <a:spcBef>
                <a:spcPct val="20000"/>
              </a:spcBef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R→</a:t>
            </a:r>
            <a:r>
              <a:rPr lang="zh-CN" altLang="en-US" sz="20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．</a:t>
            </a:r>
            <a:r>
              <a:rPr lang="en-US" altLang="zh-CN" sz="20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L                                 R→</a:t>
            </a:r>
            <a:r>
              <a:rPr lang="zh-CN" altLang="en-US" sz="20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．</a:t>
            </a:r>
            <a:r>
              <a:rPr lang="en-US" altLang="zh-CN" sz="20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L </a:t>
            </a:r>
            <a:endParaRPr lang="en-US" altLang="zh-CN" sz="2000" b="1" dirty="0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lvl="0" indent="-342900" algn="just" eaLnBrk="1" hangingPunct="1">
              <a:lnSpc>
                <a:spcPct val="90000"/>
              </a:lnSpc>
              <a:spcBef>
                <a:spcPct val="20000"/>
              </a:spcBef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L→</a:t>
            </a:r>
            <a:r>
              <a:rPr lang="zh-CN" altLang="en-US" sz="20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．*</a:t>
            </a:r>
            <a:r>
              <a:rPr lang="en-US" altLang="zh-CN" sz="20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                                L→</a:t>
            </a:r>
            <a:r>
              <a:rPr lang="zh-CN" altLang="en-US" sz="20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．*</a:t>
            </a:r>
            <a:r>
              <a:rPr lang="en-US" altLang="zh-CN" sz="20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     </a:t>
            </a:r>
            <a:endParaRPr lang="en-US" altLang="zh-CN" sz="2000" b="1" dirty="0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lvl="0" indent="-342900" algn="just" eaLnBrk="1" hangingPunct="1">
              <a:lnSpc>
                <a:spcPct val="90000"/>
              </a:lnSpc>
              <a:spcBef>
                <a:spcPct val="20000"/>
              </a:spcBef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L→</a:t>
            </a:r>
            <a:r>
              <a:rPr lang="zh-CN" altLang="en-US" sz="20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．</a:t>
            </a:r>
            <a:r>
              <a:rPr lang="en-US" altLang="zh-CN" sz="20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                                 L→</a:t>
            </a:r>
            <a:r>
              <a:rPr lang="zh-CN" altLang="en-US" sz="20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．</a:t>
            </a:r>
            <a:r>
              <a:rPr lang="en-US" altLang="zh-CN" sz="20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 </a:t>
            </a:r>
            <a:endParaRPr lang="en-US" altLang="zh-CN" sz="2000" b="1" dirty="0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lvl="0" indent="-342900" algn="just" eaLnBrk="1" hangingPunct="1">
              <a:lnSpc>
                <a:spcPct val="90000"/>
              </a:lnSpc>
              <a:spcBef>
                <a:spcPct val="20000"/>
              </a:spcBef>
              <a:buSzTx/>
              <a:buFontTx/>
              <a:buNone/>
            </a:pPr>
            <a:endParaRPr lang="en-US" altLang="zh-CN" sz="2000" b="1" dirty="0">
              <a:solidFill>
                <a:schemeClr val="hlin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lvl="0" indent="-342900" algn="just" eaLnBrk="1" hangingPunct="1">
              <a:lnSpc>
                <a:spcPct val="90000"/>
              </a:lnSpc>
              <a:spcBef>
                <a:spcPct val="20000"/>
              </a:spcBef>
              <a:buSzTx/>
              <a:buFontTx/>
              <a:buNone/>
            </a:pPr>
            <a:r>
              <a:rPr lang="en-US" altLang="zh-CN" sz="2000" b="1" dirty="0">
                <a:solidFill>
                  <a:schemeClr val="hlin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en-US" altLang="zh-CN" sz="2000" b="1" baseline="-25000" dirty="0">
                <a:solidFill>
                  <a:schemeClr val="hlin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7</a:t>
            </a:r>
            <a:r>
              <a:rPr lang="zh-CN" altLang="en-US" sz="2000" b="1" dirty="0">
                <a:solidFill>
                  <a:schemeClr val="hlin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en-US" altLang="zh-CN" sz="20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L→*R</a:t>
            </a:r>
            <a:r>
              <a:rPr lang="zh-CN" altLang="en-US" sz="20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．     </a:t>
            </a:r>
            <a:r>
              <a:rPr lang="en-US" altLang="zh-CN" sz="2000" b="1" dirty="0">
                <a:solidFill>
                  <a:schemeClr val="hlin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en-US" altLang="zh-CN" sz="2000" b="1" baseline="-25000" dirty="0">
                <a:solidFill>
                  <a:schemeClr val="hlin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8 </a:t>
            </a:r>
            <a:r>
              <a:rPr lang="zh-CN" altLang="en-US" sz="2000" b="1" dirty="0">
                <a:solidFill>
                  <a:schemeClr val="hlin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en-US" altLang="zh-CN" sz="20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R→L</a:t>
            </a:r>
            <a:r>
              <a:rPr lang="zh-CN" altLang="en-US" sz="20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．             </a:t>
            </a:r>
            <a:r>
              <a:rPr lang="en-US" altLang="zh-CN" sz="2000" b="1" dirty="0">
                <a:solidFill>
                  <a:schemeClr val="hlin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en-US" altLang="zh-CN" sz="2000" b="1" baseline="-25000" dirty="0">
                <a:solidFill>
                  <a:schemeClr val="hlin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9 </a:t>
            </a:r>
            <a:r>
              <a:rPr lang="zh-CN" altLang="en-US" sz="2000" b="1" dirty="0">
                <a:solidFill>
                  <a:schemeClr val="hlin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en-US" altLang="zh-CN" sz="20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S→L=R.</a:t>
            </a:r>
            <a:endParaRPr lang="en-US" altLang="zh-CN" sz="2000" b="1" dirty="0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lvl="0" indent="-342900" algn="just" eaLnBrk="1" hangingPunct="1">
              <a:lnSpc>
                <a:spcPct val="90000"/>
              </a:lnSpc>
              <a:spcBef>
                <a:spcPct val="20000"/>
              </a:spcBef>
              <a:buSzTx/>
              <a:buFontTx/>
              <a:buNone/>
            </a:pPr>
            <a:endParaRPr lang="en-US" altLang="zh-CN" sz="2000" b="1" dirty="0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60110" name="Rectangle 14"/>
          <p:cNvSpPr>
            <a:spLocks noChangeArrowheads="1"/>
          </p:cNvSpPr>
          <p:nvPr/>
        </p:nvSpPr>
        <p:spPr bwMode="auto">
          <a:xfrm>
            <a:off x="609600" y="5334000"/>
            <a:ext cx="8001000" cy="9144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SzTx/>
              <a:buFontTx/>
              <a:buNone/>
              <a:defRPr/>
            </a:pP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结论</a:t>
            </a:r>
            <a:r>
              <a:rPr kumimoji="1" lang="zh-CN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：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不是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LR(0)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文法</a:t>
            </a:r>
            <a:endParaRPr kumimoji="1" lang="zh-CN" altLang="en-US" sz="2400" b="1" i="0" u="none" strike="noStrike" kern="1200" cap="none" spc="0" normalizeH="0" baseline="0" noProof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SzTx/>
              <a:buFontTx/>
              <a:buNone/>
              <a:defRPr/>
            </a:pPr>
            <a:r>
              <a: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∵</a:t>
            </a:r>
            <a:r>
              <a:rPr kumimoji="1" lang="zh-CN" altLang="en-US" sz="2000" b="1" i="0" u="none" strike="noStrike" kern="1200" cap="none" spc="0" normalizeH="0" baseline="-2500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</a:t>
            </a:r>
            <a:r>
              <a: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I</a:t>
            </a:r>
            <a:r>
              <a:rPr kumimoji="1" lang="en-US" altLang="zh-CN" sz="2000" b="1" i="0" u="none" strike="noStrike" kern="1200" cap="none" spc="0" normalizeH="0" baseline="-2500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2</a:t>
            </a:r>
            <a:r>
              <a: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项目集中，</a:t>
            </a:r>
            <a:r>
              <a: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S→L</a:t>
            </a:r>
            <a:r>
              <a: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．</a:t>
            </a:r>
            <a:r>
              <a: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=R  R→L.</a:t>
            </a:r>
            <a:r>
              <a: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存在移进</a:t>
            </a:r>
            <a:r>
              <a: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/</a:t>
            </a:r>
            <a:r>
              <a: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归约冲突</a:t>
            </a: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0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0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0110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913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457200"/>
            <a:ext cx="8382000" cy="2209800"/>
          </a:xfrm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marL="365760" marR="0" lvl="0" indent="-255905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SLR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能否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解决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I</a:t>
            </a:r>
            <a:r>
              <a:rPr kumimoji="0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2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中的冲</a:t>
            </a:r>
            <a:r>
              <a:rPr kumimoji="0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突</a:t>
            </a:r>
            <a:endParaRPr kumimoji="0" lang="en-US" altLang="zh-CN" sz="2400" b="1" i="0" u="none" strike="noStrike" kern="1200" cap="none" spc="0" normalizeH="0" baseline="0" noProof="0" dirty="0" smtClean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宋体" panose="02010600030101010101" pitchFamily="2" charset="-122"/>
              <a:ea typeface="+mn-ea"/>
              <a:cs typeface="+mn-cs"/>
            </a:endParaRPr>
          </a:p>
          <a:p>
            <a:pPr marL="365760" marR="0" lvl="0" indent="-255905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Tx/>
              <a:buNone/>
              <a:defRPr/>
            </a:pP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宋体" panose="02010600030101010101" pitchFamily="2" charset="-122"/>
              <a:ea typeface="+mn-ea"/>
              <a:cs typeface="+mn-cs"/>
            </a:endParaRPr>
          </a:p>
          <a:p>
            <a:pPr marL="365760" marR="0" lvl="0" indent="-255905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∵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Follow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（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R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）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={#,=}</a:t>
            </a:r>
            <a:r>
              <a:rPr kumimoji="0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与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Follow</a:t>
            </a:r>
            <a:r>
              <a:rPr kumimoji="0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（</a:t>
            </a: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L</a:t>
            </a:r>
            <a:r>
              <a:rPr kumimoji="0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）</a:t>
            </a: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={=}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的交不为空，所以也不是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SLR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（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1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）文</a:t>
            </a:r>
            <a:r>
              <a:rPr kumimoji="0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法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宋体" panose="02010600030101010101" pitchFamily="2" charset="-122"/>
              <a:ea typeface="+mn-ea"/>
              <a:cs typeface="+mn-cs"/>
            </a:endParaRPr>
          </a:p>
          <a:p>
            <a:pPr marL="365760" marR="0" lvl="0" indent="-255905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I</a:t>
            </a:r>
            <a:r>
              <a:rPr kumimoji="0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2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状态的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S→L.=R  R→L.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，当下一输入符为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+mn-cs"/>
              </a:rPr>
              <a:t>‘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=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+mn-cs"/>
              </a:rPr>
              <a:t>’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时，若用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R→L</a:t>
            </a:r>
            <a:r>
              <a:rPr kumimoji="0" lang="zh-CN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归约则</a:t>
            </a:r>
            <a:r>
              <a:rPr kumimoji="0" lang="zh-CN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形成</a:t>
            </a:r>
            <a:r>
              <a:rPr kumimoji="0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+mn-cs"/>
              </a:rPr>
              <a:t>“</a:t>
            </a: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R=</a:t>
            </a: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+mn-cs"/>
              </a:rPr>
              <a:t>…”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，而观察文法得知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+mn-cs"/>
              </a:rPr>
              <a:t>“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R=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+mn-cs"/>
              </a:rPr>
              <a:t>”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 </a:t>
            </a:r>
            <a:r>
              <a:rPr kumimoji="0" lang="zh-CN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不是活前缀。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 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宋体" panose="02010600030101010101" pitchFamily="2" charset="-122"/>
              <a:ea typeface="+mn-ea"/>
              <a:cs typeface="+mn-cs"/>
            </a:endParaRPr>
          </a:p>
        </p:txBody>
      </p:sp>
      <p:sp>
        <p:nvSpPr>
          <p:cNvPr id="219142" name="Text Box 6"/>
          <p:cNvSpPr txBox="1"/>
          <p:nvPr/>
        </p:nvSpPr>
        <p:spPr>
          <a:xfrm>
            <a:off x="438150" y="3157538"/>
            <a:ext cx="8382000" cy="31369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>
                <a:latin typeface="Times New Roman" panose="02020603050405020304" charset="0"/>
                <a:ea typeface="宋体" panose="02010600030101010101" pitchFamily="2" charset="-122"/>
              </a:rPr>
              <a:t>不同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LR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方法</a:t>
            </a:r>
            <a:r>
              <a:rPr lang="zh-CN" altLang="en-US" sz="2400" b="1" dirty="0">
                <a:latin typeface="Times New Roman" panose="02020603050405020304" charset="0"/>
                <a:ea typeface="宋体" panose="02010600030101010101" pitchFamily="2" charset="-122"/>
              </a:rPr>
              <a:t>之间的主要区别就在于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归约的判定方法</a:t>
            </a:r>
            <a:r>
              <a:rPr lang="zh-CN" altLang="en-US" sz="2400" b="1" dirty="0">
                <a:latin typeface="Times New Roman" panose="02020603050405020304" charset="0"/>
                <a:ea typeface="宋体" panose="02010600030101010101" pitchFamily="2" charset="-122"/>
              </a:rPr>
              <a:t>上：</a:t>
            </a:r>
            <a:endParaRPr lang="zh-CN" altLang="en-US" sz="2400" b="1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marL="457200" lvl="1" indent="0" eaLnBrk="1" hangingPunct="1">
              <a:spcBef>
                <a:spcPct val="50000"/>
              </a:spcBef>
              <a:buClrTx/>
              <a:buFont typeface="Wingdings" panose="05000000000000000000" pitchFamily="2" charset="2"/>
              <a:buChar char="ü"/>
            </a:pPr>
            <a:r>
              <a:rPr lang="zh-CN" altLang="en-US" sz="2200" b="1" dirty="0">
                <a:solidFill>
                  <a:schemeClr val="tx2"/>
                </a:solidFill>
                <a:latin typeface="Times New Roman" panose="02020603050405020304" charset="0"/>
                <a:ea typeface="宋体" panose="02010600030101010101" pitchFamily="2" charset="-122"/>
              </a:rPr>
              <a:t>  </a:t>
            </a:r>
            <a:r>
              <a:rPr lang="en-US" altLang="zh-CN" sz="2200" b="1" dirty="0">
                <a:solidFill>
                  <a:schemeClr val="tx2"/>
                </a:solidFill>
                <a:latin typeface="Times New Roman" panose="02020603050405020304" charset="0"/>
                <a:ea typeface="宋体" panose="02010600030101010101" pitchFamily="2" charset="-122"/>
              </a:rPr>
              <a:t>LR(0)</a:t>
            </a:r>
            <a:r>
              <a:rPr lang="zh-CN" altLang="en-US" sz="2200" b="1" dirty="0">
                <a:solidFill>
                  <a:schemeClr val="tx2"/>
                </a:solidFill>
                <a:latin typeface="Times New Roman" panose="02020603050405020304" charset="0"/>
                <a:ea typeface="宋体" panose="02010600030101010101" pitchFamily="2" charset="-122"/>
              </a:rPr>
              <a:t>不展望当前输入</a:t>
            </a:r>
            <a:endParaRPr lang="zh-CN" altLang="en-US" sz="2200" b="1" dirty="0">
              <a:solidFill>
                <a:schemeClr val="tx2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  <a:p>
            <a:pPr marL="457200" lvl="1" indent="0" eaLnBrk="1" hangingPunct="1">
              <a:spcBef>
                <a:spcPct val="70000"/>
              </a:spcBef>
              <a:buClrTx/>
              <a:buFont typeface="Wingdings" panose="05000000000000000000" pitchFamily="2" charset="2"/>
              <a:buChar char="ü"/>
            </a:pPr>
            <a:r>
              <a:rPr lang="zh-CN" altLang="en-US" sz="2200" b="1" dirty="0">
                <a:solidFill>
                  <a:schemeClr val="tx2"/>
                </a:solidFill>
                <a:latin typeface="Times New Roman" panose="02020603050405020304" charset="0"/>
                <a:ea typeface="宋体" panose="02010600030101010101" pitchFamily="2" charset="-122"/>
              </a:rPr>
              <a:t>  在需要用产生式 </a:t>
            </a:r>
            <a:r>
              <a:rPr lang="en-US" altLang="zh-CN" sz="2200" b="1" dirty="0">
                <a:solidFill>
                  <a:schemeClr val="tx2"/>
                </a:solidFill>
                <a:latin typeface="Times New Roman" panose="02020603050405020304" charset="0"/>
                <a:ea typeface="宋体" panose="02010600030101010101" pitchFamily="2" charset="-122"/>
              </a:rPr>
              <a:t>B</a:t>
            </a:r>
            <a:r>
              <a:rPr lang="en-US" altLang="zh-CN" sz="22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→γ. </a:t>
            </a:r>
            <a:r>
              <a:rPr lang="zh-CN" altLang="en-US" sz="22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进行归约时， </a:t>
            </a:r>
            <a:r>
              <a:rPr lang="en-US" altLang="zh-CN" sz="2200" b="1" dirty="0">
                <a:solidFill>
                  <a:schemeClr val="tx2"/>
                </a:solidFill>
                <a:latin typeface="Times New Roman" panose="02020603050405020304" charset="0"/>
                <a:ea typeface="宋体" panose="02010600030101010101" pitchFamily="2" charset="-122"/>
              </a:rPr>
              <a:t>SLR(1)</a:t>
            </a:r>
            <a:r>
              <a:rPr lang="zh-CN" altLang="en-US" sz="2200" b="1" dirty="0">
                <a:solidFill>
                  <a:schemeClr val="tx2"/>
                </a:solidFill>
                <a:latin typeface="Times New Roman" panose="02020603050405020304" charset="0"/>
                <a:ea typeface="宋体" panose="02010600030101010101" pitchFamily="2" charset="-122"/>
              </a:rPr>
              <a:t>方法展望当前输入， 但只接受</a:t>
            </a:r>
            <a:r>
              <a:rPr lang="en-US" altLang="zh-CN" sz="2200" b="1" dirty="0">
                <a:solidFill>
                  <a:schemeClr val="tx2"/>
                </a:solidFill>
                <a:latin typeface="Times New Roman" panose="02020603050405020304" charset="0"/>
                <a:ea typeface="宋体" panose="02010600030101010101" pitchFamily="2" charset="-122"/>
              </a:rPr>
              <a:t>Follow(B)</a:t>
            </a:r>
            <a:r>
              <a:rPr lang="zh-CN" altLang="en-US" sz="2200" b="1" dirty="0">
                <a:solidFill>
                  <a:schemeClr val="tx2"/>
                </a:solidFill>
                <a:latin typeface="Times New Roman" panose="02020603050405020304" charset="0"/>
                <a:ea typeface="宋体" panose="02010600030101010101" pitchFamily="2" charset="-122"/>
              </a:rPr>
              <a:t>中的元素。即，</a:t>
            </a:r>
            <a:r>
              <a:rPr lang="zh-CN" altLang="en-US" sz="2200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无论是归约为产生式右部任何位置上的</a:t>
            </a:r>
            <a:r>
              <a:rPr lang="en-US" altLang="zh-CN" sz="2200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B</a:t>
            </a:r>
            <a:r>
              <a:rPr lang="zh-CN" altLang="en-US" sz="2200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，都使用统一的展望符集</a:t>
            </a:r>
            <a:r>
              <a:rPr lang="zh-CN" altLang="en-US" sz="2200" b="1" dirty="0">
                <a:solidFill>
                  <a:schemeClr val="tx2"/>
                </a:solidFill>
                <a:latin typeface="Times New Roman" panose="02020603050405020304" charset="0"/>
                <a:ea typeface="宋体" panose="02010600030101010101" pitchFamily="2" charset="-122"/>
              </a:rPr>
              <a:t>。</a:t>
            </a:r>
            <a:endParaRPr lang="zh-CN" altLang="en-US" sz="2200" b="1" dirty="0">
              <a:solidFill>
                <a:schemeClr val="tx2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  <a:p>
            <a:pPr marL="457200" lvl="1" indent="0" eaLnBrk="1" hangingPunct="1">
              <a:spcBef>
                <a:spcPct val="70000"/>
              </a:spcBef>
              <a:buClrTx/>
              <a:buFont typeface="Wingdings" panose="05000000000000000000" pitchFamily="2" charset="2"/>
              <a:buChar char="ü"/>
            </a:pPr>
            <a:r>
              <a:rPr lang="zh-CN" altLang="en-US" sz="2200" b="1" dirty="0">
                <a:solidFill>
                  <a:schemeClr val="tx2"/>
                </a:solidFill>
                <a:latin typeface="Times New Roman" panose="02020603050405020304" charset="0"/>
                <a:ea typeface="宋体" panose="02010600030101010101" pitchFamily="2" charset="-122"/>
              </a:rPr>
              <a:t>  </a:t>
            </a:r>
            <a:r>
              <a:rPr lang="en-US" altLang="zh-CN" sz="2200" b="1" dirty="0">
                <a:solidFill>
                  <a:schemeClr val="tx2"/>
                </a:solidFill>
                <a:latin typeface="Times New Roman" panose="02020603050405020304" charset="0"/>
                <a:ea typeface="宋体" panose="02010600030101010101" pitchFamily="2" charset="-122"/>
              </a:rPr>
              <a:t>LR(1)</a:t>
            </a:r>
            <a:r>
              <a:rPr lang="zh-CN" altLang="en-US" sz="2200" b="1" dirty="0">
                <a:solidFill>
                  <a:schemeClr val="tx2"/>
                </a:solidFill>
                <a:latin typeface="Times New Roman" panose="02020603050405020304" charset="0"/>
                <a:ea typeface="宋体" panose="02010600030101010101" pitchFamily="2" charset="-122"/>
              </a:rPr>
              <a:t>也展望当前输入，但</a:t>
            </a:r>
            <a:r>
              <a:rPr lang="zh-CN" altLang="en-US" sz="2200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对不同位置上的</a:t>
            </a:r>
            <a:r>
              <a:rPr lang="en-US" altLang="zh-CN" sz="2200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B</a:t>
            </a:r>
            <a:r>
              <a:rPr lang="zh-CN" altLang="en-US" sz="2200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进行归约时，采用不同的展望符集</a:t>
            </a:r>
            <a:r>
              <a:rPr lang="zh-CN" altLang="en-US" sz="2200" b="1" dirty="0">
                <a:solidFill>
                  <a:schemeClr val="tx2"/>
                </a:solidFill>
                <a:latin typeface="Times New Roman" panose="02020603050405020304" charset="0"/>
                <a:ea typeface="宋体" panose="02010600030101010101" pitchFamily="2" charset="-122"/>
              </a:rPr>
              <a:t>，因此可大大减少移进</a:t>
            </a:r>
            <a:r>
              <a:rPr lang="en-US" altLang="zh-CN" sz="2200" b="1" dirty="0">
                <a:solidFill>
                  <a:schemeClr val="tx2"/>
                </a:solidFill>
                <a:latin typeface="Times New Roman" panose="02020603050405020304" charset="0"/>
                <a:ea typeface="宋体" panose="02010600030101010101" pitchFamily="2" charset="-122"/>
              </a:rPr>
              <a:t>/</a:t>
            </a:r>
            <a:r>
              <a:rPr lang="zh-CN" altLang="en-US" sz="2200" b="1" dirty="0">
                <a:solidFill>
                  <a:schemeClr val="tx2"/>
                </a:solidFill>
                <a:latin typeface="Times New Roman" panose="02020603050405020304" charset="0"/>
                <a:ea typeface="宋体" panose="02010600030101010101" pitchFamily="2" charset="-122"/>
              </a:rPr>
              <a:t>归约冲突。</a:t>
            </a:r>
            <a:r>
              <a:rPr lang="zh-CN" altLang="en-US" sz="22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endParaRPr lang="zh-CN" altLang="en-US" sz="2200" b="1" dirty="0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91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91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9142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890" name="Text Box 2"/>
          <p:cNvSpPr txBox="1"/>
          <p:nvPr/>
        </p:nvSpPr>
        <p:spPr>
          <a:xfrm>
            <a:off x="381000" y="1155700"/>
            <a:ext cx="8153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>
                <a:latin typeface="Times New Roman" panose="02020603050405020304" charset="0"/>
                <a:ea typeface="宋体" panose="02010600030101010101" pitchFamily="2" charset="-122"/>
              </a:rPr>
              <a:t>假设有文法：</a:t>
            </a:r>
            <a:endParaRPr lang="zh-CN" altLang="en-US" sz="2400" b="1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37891" name="Text Box 3"/>
          <p:cNvSpPr txBox="1"/>
          <p:nvPr/>
        </p:nvSpPr>
        <p:spPr>
          <a:xfrm>
            <a:off x="2743200" y="1187450"/>
            <a:ext cx="2209800" cy="11874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chemeClr val="tx2"/>
                </a:solidFill>
                <a:latin typeface="Times New Roman" panose="02020603050405020304" charset="0"/>
                <a:ea typeface="宋体" panose="02010600030101010101" pitchFamily="2" charset="-122"/>
              </a:rPr>
              <a:t>Z →B</a:t>
            </a:r>
            <a:r>
              <a:rPr lang="en-US" altLang="zh-CN" sz="2400" b="1" baseline="30000" dirty="0">
                <a:solidFill>
                  <a:schemeClr val="tx2"/>
                </a:solidFill>
                <a:latin typeface="Times New Roman" panose="02020603050405020304" charset="0"/>
                <a:ea typeface="宋体" panose="02010600030101010101" pitchFamily="2" charset="-122"/>
              </a:rPr>
              <a:t>1</a:t>
            </a:r>
            <a:r>
              <a:rPr lang="en-US" altLang="zh-CN" sz="2400" b="1" dirty="0">
                <a:solidFill>
                  <a:schemeClr val="tx2"/>
                </a:solidFill>
                <a:latin typeface="Times New Roman" panose="02020603050405020304" charset="0"/>
                <a:ea typeface="宋体" panose="02010600030101010101" pitchFamily="2" charset="-122"/>
              </a:rPr>
              <a:t>aB</a:t>
            </a:r>
            <a:r>
              <a:rPr lang="en-US" altLang="zh-CN" sz="2400" b="1" baseline="30000" dirty="0">
                <a:solidFill>
                  <a:schemeClr val="tx2"/>
                </a:solidFill>
                <a:latin typeface="Times New Roman" panose="02020603050405020304" charset="0"/>
                <a:ea typeface="宋体" panose="02010600030101010101" pitchFamily="2" charset="-122"/>
              </a:rPr>
              <a:t>2</a:t>
            </a:r>
            <a:r>
              <a:rPr lang="en-US" altLang="zh-CN" sz="2400" b="1" dirty="0">
                <a:solidFill>
                  <a:schemeClr val="tx2"/>
                </a:solidFill>
                <a:latin typeface="Times New Roman" panose="02020603050405020304" charset="0"/>
                <a:ea typeface="宋体" panose="02010600030101010101" pitchFamily="2" charset="-122"/>
              </a:rPr>
              <a:t>c</a:t>
            </a:r>
            <a:endParaRPr lang="en-US" altLang="zh-CN" sz="2400" b="1" dirty="0">
              <a:solidFill>
                <a:schemeClr val="tx2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chemeClr val="tx2"/>
                </a:solidFill>
                <a:latin typeface="Times New Roman" panose="02020603050405020304" charset="0"/>
                <a:ea typeface="宋体" panose="02010600030101010101" pitchFamily="2" charset="-122"/>
              </a:rPr>
              <a:t>Z →B</a:t>
            </a:r>
            <a:r>
              <a:rPr lang="en-US" altLang="zh-CN" sz="2400" b="1" baseline="30000" dirty="0">
                <a:solidFill>
                  <a:schemeClr val="tx2"/>
                </a:solidFill>
                <a:latin typeface="Times New Roman" panose="02020603050405020304" charset="0"/>
                <a:ea typeface="宋体" panose="02010600030101010101" pitchFamily="2" charset="-122"/>
              </a:rPr>
              <a:t>3</a:t>
            </a:r>
            <a:r>
              <a:rPr lang="en-US" altLang="zh-CN" sz="2400" b="1" dirty="0">
                <a:solidFill>
                  <a:schemeClr val="tx2"/>
                </a:solidFill>
                <a:latin typeface="Times New Roman" panose="02020603050405020304" charset="0"/>
                <a:ea typeface="宋体" panose="02010600030101010101" pitchFamily="2" charset="-122"/>
              </a:rPr>
              <a:t>d</a:t>
            </a:r>
            <a:endParaRPr lang="en-US" altLang="zh-CN" sz="2400" b="1" dirty="0">
              <a:solidFill>
                <a:schemeClr val="tx2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chemeClr val="tx2"/>
                </a:solidFill>
                <a:latin typeface="Times New Roman" panose="02020603050405020304" charset="0"/>
                <a:ea typeface="宋体" panose="02010600030101010101" pitchFamily="2" charset="-122"/>
              </a:rPr>
              <a:t>B →b</a:t>
            </a:r>
            <a:endParaRPr lang="en-US" altLang="zh-CN" sz="2400" b="1" dirty="0">
              <a:solidFill>
                <a:schemeClr val="tx2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37892" name="Text Box 4"/>
          <p:cNvSpPr txBox="1"/>
          <p:nvPr/>
        </p:nvSpPr>
        <p:spPr>
          <a:xfrm>
            <a:off x="381000" y="2527300"/>
            <a:ext cx="8477250" cy="2678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latin typeface="Times New Roman" panose="02020603050405020304" charset="0"/>
                <a:ea typeface="宋体" panose="02010600030101010101" pitchFamily="2" charset="-122"/>
              </a:rPr>
              <a:t>很显然归约为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charset="0"/>
                <a:ea typeface="宋体" panose="02010600030101010101" pitchFamily="2" charset="-122"/>
              </a:rPr>
              <a:t>B</a:t>
            </a:r>
            <a:r>
              <a:rPr lang="en-US" altLang="zh-CN" sz="2800" b="1" baseline="30000" dirty="0">
                <a:solidFill>
                  <a:schemeClr val="tx2"/>
                </a:solidFill>
                <a:latin typeface="Times New Roman" panose="02020603050405020304" charset="0"/>
                <a:ea typeface="宋体" panose="02010600030101010101" pitchFamily="2" charset="-122"/>
              </a:rPr>
              <a:t>1</a:t>
            </a:r>
            <a:r>
              <a:rPr lang="zh-CN" altLang="en-US" sz="2800" b="1" dirty="0">
                <a:latin typeface="Times New Roman" panose="02020603050405020304" charset="0"/>
                <a:ea typeface="宋体" panose="02010600030101010101" pitchFamily="2" charset="-122"/>
              </a:rPr>
              <a:t>的展望符只能是</a:t>
            </a:r>
            <a:r>
              <a:rPr lang="en-US" altLang="zh-CN" sz="2800" b="1" dirty="0">
                <a:latin typeface="Times New Roman" panose="02020603050405020304" charset="0"/>
                <a:ea typeface="宋体" panose="02010600030101010101" pitchFamily="2" charset="-122"/>
              </a:rPr>
              <a:t>a</a:t>
            </a:r>
            <a:r>
              <a:rPr lang="zh-CN" altLang="en-US" sz="2800" b="1" dirty="0">
                <a:latin typeface="Times New Roman" panose="02020603050405020304" charset="0"/>
                <a:ea typeface="宋体" panose="02010600030101010101" pitchFamily="2" charset="-122"/>
              </a:rPr>
              <a:t>，归约为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charset="0"/>
                <a:ea typeface="宋体" panose="02010600030101010101" pitchFamily="2" charset="-122"/>
              </a:rPr>
              <a:t>B</a:t>
            </a:r>
            <a:r>
              <a:rPr lang="en-US" altLang="zh-CN" sz="2800" b="1" baseline="30000" dirty="0">
                <a:solidFill>
                  <a:schemeClr val="tx2"/>
                </a:solidFill>
                <a:latin typeface="Times New Roman" panose="02020603050405020304" charset="0"/>
                <a:ea typeface="宋体" panose="02010600030101010101" pitchFamily="2" charset="-122"/>
              </a:rPr>
              <a:t>2</a:t>
            </a:r>
            <a:r>
              <a:rPr lang="zh-CN" altLang="en-US" sz="2800" b="1" dirty="0">
                <a:latin typeface="Times New Roman" panose="02020603050405020304" charset="0"/>
                <a:ea typeface="宋体" panose="02010600030101010101" pitchFamily="2" charset="-122"/>
              </a:rPr>
              <a:t>的展望符只能是</a:t>
            </a:r>
            <a:r>
              <a:rPr lang="en-US" altLang="zh-CN" sz="2800" b="1" dirty="0">
                <a:latin typeface="Times New Roman" panose="02020603050405020304" charset="0"/>
                <a:ea typeface="宋体" panose="02010600030101010101" pitchFamily="2" charset="-122"/>
              </a:rPr>
              <a:t>c</a:t>
            </a:r>
            <a:r>
              <a:rPr lang="zh-CN" altLang="en-US" sz="2800" b="1" dirty="0">
                <a:latin typeface="Times New Roman" panose="02020603050405020304" charset="0"/>
                <a:ea typeface="宋体" panose="02010600030101010101" pitchFamily="2" charset="-122"/>
              </a:rPr>
              <a:t>，归约为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charset="0"/>
                <a:ea typeface="宋体" panose="02010600030101010101" pitchFamily="2" charset="-122"/>
              </a:rPr>
              <a:t>B</a:t>
            </a:r>
            <a:r>
              <a:rPr lang="en-US" altLang="zh-CN" sz="2800" b="1" baseline="30000" dirty="0">
                <a:solidFill>
                  <a:schemeClr val="tx2"/>
                </a:solidFill>
                <a:latin typeface="Times New Roman" panose="02020603050405020304" charset="0"/>
                <a:ea typeface="宋体" panose="02010600030101010101" pitchFamily="2" charset="-122"/>
              </a:rPr>
              <a:t>3</a:t>
            </a:r>
            <a:r>
              <a:rPr lang="zh-CN" altLang="en-US" sz="2800" b="1" dirty="0">
                <a:latin typeface="Times New Roman" panose="02020603050405020304" charset="0"/>
                <a:ea typeface="宋体" panose="02010600030101010101" pitchFamily="2" charset="-122"/>
              </a:rPr>
              <a:t>的展望符只能是</a:t>
            </a:r>
            <a:r>
              <a:rPr lang="en-US" altLang="zh-CN" sz="2800" b="1" dirty="0">
                <a:latin typeface="Times New Roman" panose="02020603050405020304" charset="0"/>
                <a:ea typeface="宋体" panose="02010600030101010101" pitchFamily="2" charset="-122"/>
              </a:rPr>
              <a:t>d</a:t>
            </a:r>
            <a:r>
              <a:rPr lang="zh-CN" altLang="en-US" sz="2800" b="1" dirty="0">
                <a:latin typeface="Times New Roman" panose="02020603050405020304" charset="0"/>
                <a:ea typeface="宋体" panose="02010600030101010101" pitchFamily="2" charset="-122"/>
              </a:rPr>
              <a:t>。如果用</a:t>
            </a:r>
            <a:r>
              <a:rPr lang="en-US" altLang="zh-CN" sz="2800" b="1" dirty="0">
                <a:latin typeface="Times New Roman" panose="02020603050405020304" charset="0"/>
                <a:ea typeface="宋体" panose="02010600030101010101" pitchFamily="2" charset="-122"/>
              </a:rPr>
              <a:t>SLR(1)</a:t>
            </a:r>
            <a:r>
              <a:rPr lang="zh-CN" altLang="en-US" sz="2800" b="1" dirty="0">
                <a:latin typeface="Times New Roman" panose="02020603050405020304" charset="0"/>
                <a:ea typeface="宋体" panose="02010600030101010101" pitchFamily="2" charset="-122"/>
              </a:rPr>
              <a:t>分析，则</a:t>
            </a:r>
            <a:r>
              <a:rPr lang="en-US" altLang="zh-CN" sz="2800" b="1" dirty="0">
                <a:latin typeface="Times New Roman" panose="02020603050405020304" charset="0"/>
                <a:ea typeface="宋体" panose="02010600030101010101" pitchFamily="2" charset="-122"/>
              </a:rPr>
              <a:t>Follow(B) = { a, c, d }</a:t>
            </a:r>
            <a:r>
              <a:rPr lang="zh-CN" altLang="en-US" sz="2800" b="1" dirty="0">
                <a:latin typeface="Times New Roman" panose="02020603050405020304" charset="0"/>
                <a:ea typeface="宋体" panose="02010600030101010101" pitchFamily="2" charset="-122"/>
              </a:rPr>
              <a:t>，当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charset="0"/>
                <a:ea typeface="宋体" panose="02010600030101010101" pitchFamily="2" charset="-122"/>
              </a:rPr>
              <a:t>B</a:t>
            </a:r>
            <a:r>
              <a:rPr lang="en-US" altLang="zh-CN" sz="2800" b="1" baseline="30000" dirty="0">
                <a:solidFill>
                  <a:schemeClr val="tx2"/>
                </a:solidFill>
                <a:latin typeface="Times New Roman" panose="02020603050405020304" charset="0"/>
                <a:ea typeface="宋体" panose="02010600030101010101" pitchFamily="2" charset="-122"/>
              </a:rPr>
              <a:t>2</a:t>
            </a:r>
            <a:r>
              <a:rPr lang="zh-CN" altLang="en-US" sz="2800" b="1" dirty="0">
                <a:latin typeface="Times New Roman" panose="02020603050405020304" charset="0"/>
                <a:ea typeface="宋体" panose="02010600030101010101" pitchFamily="2" charset="-122"/>
              </a:rPr>
              <a:t>的后继符为</a:t>
            </a:r>
            <a:r>
              <a:rPr lang="en-US" altLang="zh-CN" sz="2800" b="1" dirty="0">
                <a:latin typeface="Times New Roman" panose="02020603050405020304" charset="0"/>
                <a:ea typeface="宋体" panose="02010600030101010101" pitchFamily="2" charset="-122"/>
              </a:rPr>
              <a:t>a</a:t>
            </a:r>
            <a:r>
              <a:rPr lang="zh-CN" altLang="en-US" sz="2800" b="1" dirty="0">
                <a:latin typeface="Times New Roman" panose="02020603050405020304" charset="0"/>
                <a:ea typeface="宋体" panose="02010600030101010101" pitchFamily="2" charset="-122"/>
              </a:rPr>
              <a:t>或</a:t>
            </a:r>
            <a:r>
              <a:rPr lang="en-US" altLang="zh-CN" sz="2800" b="1" dirty="0">
                <a:latin typeface="Times New Roman" panose="02020603050405020304" charset="0"/>
                <a:ea typeface="宋体" panose="02010600030101010101" pitchFamily="2" charset="-122"/>
              </a:rPr>
              <a:t>d</a:t>
            </a:r>
            <a:r>
              <a:rPr lang="zh-CN" altLang="en-US" sz="2800" b="1" dirty="0">
                <a:latin typeface="Times New Roman" panose="02020603050405020304" charset="0"/>
                <a:ea typeface="宋体" panose="02010600030101010101" pitchFamily="2" charset="-122"/>
              </a:rPr>
              <a:t>时也要进行归约。</a:t>
            </a:r>
            <a:endParaRPr lang="zh-CN" altLang="en-US" sz="2800" b="1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914" name="Text Box 3"/>
          <p:cNvSpPr txBox="1"/>
          <p:nvPr/>
        </p:nvSpPr>
        <p:spPr>
          <a:xfrm>
            <a:off x="6161088" y="609600"/>
            <a:ext cx="420687" cy="519113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latin typeface="Times New Roman" panose="02020603050405020304" charset="0"/>
                <a:ea typeface="宋体" panose="02010600030101010101" pitchFamily="2" charset="-122"/>
              </a:rPr>
              <a:t>E</a:t>
            </a:r>
            <a:endParaRPr lang="en-US" altLang="zh-CN" sz="2800" b="1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38915" name="Text Box 4"/>
          <p:cNvSpPr txBox="1"/>
          <p:nvPr/>
        </p:nvSpPr>
        <p:spPr>
          <a:xfrm>
            <a:off x="5286375" y="2362200"/>
            <a:ext cx="2282825" cy="519113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latin typeface="Times New Roman" panose="02020603050405020304" charset="0"/>
                <a:ea typeface="宋体" panose="02010600030101010101" pitchFamily="2" charset="-122"/>
              </a:rPr>
              <a:t>E        +        T</a:t>
            </a:r>
            <a:endParaRPr lang="en-US" altLang="zh-CN" sz="2800" b="1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38916" name="Text Box 5"/>
          <p:cNvSpPr txBox="1"/>
          <p:nvPr/>
        </p:nvSpPr>
        <p:spPr>
          <a:xfrm>
            <a:off x="4524375" y="3900488"/>
            <a:ext cx="1992313" cy="519112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latin typeface="Times New Roman" panose="02020603050405020304" charset="0"/>
                <a:ea typeface="宋体" panose="02010600030101010101" pitchFamily="2" charset="-122"/>
              </a:rPr>
              <a:t>(        E       )</a:t>
            </a:r>
            <a:endParaRPr lang="en-US" altLang="zh-CN" sz="2800" b="1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38917" name="Text Box 6"/>
          <p:cNvSpPr txBox="1"/>
          <p:nvPr/>
        </p:nvSpPr>
        <p:spPr>
          <a:xfrm>
            <a:off x="4572000" y="5638800"/>
            <a:ext cx="1971675" cy="519113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latin typeface="Times New Roman" panose="02020603050405020304" charset="0"/>
                <a:ea typeface="宋体" panose="02010600030101010101" pitchFamily="2" charset="-122"/>
              </a:rPr>
              <a:t>T      *      F </a:t>
            </a:r>
            <a:endParaRPr lang="en-US" altLang="zh-CN" sz="2800" b="1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38918" name="AutoShape 7"/>
          <p:cNvSpPr/>
          <p:nvPr/>
        </p:nvSpPr>
        <p:spPr>
          <a:xfrm>
            <a:off x="5514975" y="1219200"/>
            <a:ext cx="1676400" cy="990600"/>
          </a:xfrm>
          <a:prstGeom prst="triangle">
            <a:avLst>
              <a:gd name="adj" fmla="val 50000"/>
            </a:avLst>
          </a:prstGeom>
          <a:solidFill>
            <a:srgbClr val="99FFCC"/>
          </a:solidFill>
          <a:ln w="12700" cap="flat" cmpd="sng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b="1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38919" name="AutoShape 8"/>
          <p:cNvSpPr/>
          <p:nvPr/>
        </p:nvSpPr>
        <p:spPr>
          <a:xfrm>
            <a:off x="4600575" y="2895600"/>
            <a:ext cx="1676400" cy="990600"/>
          </a:xfrm>
          <a:prstGeom prst="triangle">
            <a:avLst>
              <a:gd name="adj" fmla="val 50000"/>
            </a:avLst>
          </a:prstGeom>
          <a:solidFill>
            <a:srgbClr val="99FFCC"/>
          </a:solidFill>
          <a:ln w="12700" cap="flat" cmpd="sng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b="1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38920" name="AutoShape 9"/>
          <p:cNvSpPr/>
          <p:nvPr/>
        </p:nvSpPr>
        <p:spPr>
          <a:xfrm>
            <a:off x="4724400" y="4495800"/>
            <a:ext cx="1676400" cy="990600"/>
          </a:xfrm>
          <a:prstGeom prst="triangle">
            <a:avLst>
              <a:gd name="adj" fmla="val 50000"/>
            </a:avLst>
          </a:prstGeom>
          <a:solidFill>
            <a:srgbClr val="99FFCC"/>
          </a:solidFill>
          <a:ln w="12700" cap="flat" cmpd="sng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b="1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38921" name="Text Box 10"/>
          <p:cNvSpPr txBox="1"/>
          <p:nvPr/>
        </p:nvSpPr>
        <p:spPr>
          <a:xfrm>
            <a:off x="609600" y="1219200"/>
            <a:ext cx="3581400" cy="2947988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altLang="zh-CN" sz="3200" b="1" dirty="0">
                <a:solidFill>
                  <a:schemeClr val="tx2"/>
                </a:solidFill>
                <a:latin typeface="Times New Roman" panose="02020603050405020304" charset="0"/>
                <a:ea typeface="宋体" panose="02010600030101010101" pitchFamily="2" charset="-122"/>
              </a:rPr>
              <a:t> 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charset="0"/>
                <a:ea typeface="宋体" panose="02010600030101010101" pitchFamily="2" charset="-122"/>
              </a:rPr>
              <a:t>不同的归约中有不同的后继符。</a:t>
            </a:r>
            <a:endParaRPr lang="zh-CN" altLang="en-US" sz="2800" b="1" dirty="0">
              <a:solidFill>
                <a:schemeClr val="tx2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  <a:p>
            <a:pPr marL="0" lvl="0" indent="0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en-US" sz="2800" b="1" dirty="0">
              <a:solidFill>
                <a:schemeClr val="tx2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  <a:p>
            <a:pPr marL="0" lvl="0" indent="0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Char char="•"/>
            </a:pP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charset="0"/>
                <a:ea typeface="宋体" panose="02010600030101010101" pitchFamily="2" charset="-122"/>
              </a:rPr>
              <a:t> 特定位置的后继符是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charset="0"/>
                <a:ea typeface="宋体" panose="02010600030101010101" pitchFamily="2" charset="-122"/>
              </a:rPr>
              <a:t>FOLLOW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charset="0"/>
                <a:ea typeface="宋体" panose="02010600030101010101" pitchFamily="2" charset="-122"/>
              </a:rPr>
              <a:t>集的子集</a:t>
            </a:r>
            <a:endParaRPr lang="zh-CN" altLang="en-US" sz="2400" dirty="0">
              <a:solidFill>
                <a:schemeClr val="tx2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38922" name="AutoShape 11"/>
          <p:cNvSpPr/>
          <p:nvPr/>
        </p:nvSpPr>
        <p:spPr>
          <a:xfrm rot="-2340103">
            <a:off x="7010400" y="2667000"/>
            <a:ext cx="152400" cy="1676400"/>
          </a:xfrm>
          <a:prstGeom prst="upArrow">
            <a:avLst>
              <a:gd name="adj1" fmla="val 50000"/>
              <a:gd name="adj2" fmla="val 275000"/>
            </a:avLst>
          </a:prstGeom>
          <a:solidFill>
            <a:srgbClr val="CC0000"/>
          </a:solidFill>
          <a:ln w="12700" cap="flat" cmpd="sng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  <p:txBody>
          <a:bodyPr vert="eaVert" wrap="none" anchor="ctr" anchorCtr="0"/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b="1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38923" name="AutoShape 12"/>
          <p:cNvSpPr/>
          <p:nvPr/>
        </p:nvSpPr>
        <p:spPr>
          <a:xfrm rot="-2373257">
            <a:off x="6942138" y="4291013"/>
            <a:ext cx="152400" cy="1676400"/>
          </a:xfrm>
          <a:prstGeom prst="upArrow">
            <a:avLst>
              <a:gd name="adj1" fmla="val 50000"/>
              <a:gd name="adj2" fmla="val 275000"/>
            </a:avLst>
          </a:prstGeom>
          <a:solidFill>
            <a:srgbClr val="CC0000"/>
          </a:solidFill>
          <a:ln w="12700" cap="flat" cmpd="sng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  <p:txBody>
          <a:bodyPr vert="eaVert" wrap="none" anchor="ctr" anchorCtr="0"/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b="1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38" name="Rectangle 2"/>
          <p:cNvSpPr/>
          <p:nvPr/>
        </p:nvSpPr>
        <p:spPr>
          <a:xfrm>
            <a:off x="457200" y="381000"/>
            <a:ext cx="8458200" cy="461963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ctr" anchorCtr="0"/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4.6.5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、二义性文法的处理</a:t>
            </a:r>
            <a:endParaRPr lang="zh-CN" altLang="en-US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9939" name="Rectangle 3"/>
          <p:cNvSpPr/>
          <p:nvPr/>
        </p:nvSpPr>
        <p:spPr>
          <a:xfrm>
            <a:off x="533400" y="990600"/>
            <a:ext cx="8153400" cy="51054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/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342900" lvl="0" indent="-342900" eaLnBrk="1" hangingPunct="1">
              <a:lnSpc>
                <a:spcPct val="120000"/>
              </a:lnSpc>
              <a:spcBef>
                <a:spcPct val="20000"/>
              </a:spcBef>
              <a:buSzTx/>
              <a:buFontTx/>
              <a:buChar char="•"/>
            </a:pPr>
            <a:r>
              <a:rPr lang="zh-CN" altLang="en-US" sz="24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各种语法分析器的生成器都拒绝接受二义性文法，因为它将引起语法分析动作的不确定性。但对其利用得好则分析器效率会较高，因为二义性文法较简单。</a:t>
            </a:r>
            <a:endParaRPr lang="zh-CN" altLang="en-US" sz="2400" b="1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lvl="0" indent="-342900" eaLnBrk="1" hangingPunct="1">
              <a:lnSpc>
                <a:spcPct val="120000"/>
              </a:lnSpc>
              <a:spcBef>
                <a:spcPct val="70000"/>
              </a:spcBef>
              <a:buSzTx/>
              <a:buFontTx/>
              <a:buChar char="•"/>
            </a:pPr>
            <a:r>
              <a:rPr lang="zh-CN" altLang="en-US" sz="24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但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必须去掉冲突</a:t>
            </a:r>
            <a:r>
              <a:rPr lang="zh-CN" altLang="en-US" sz="24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情况，因为任何二义文法决不是一个</a:t>
            </a:r>
            <a:r>
              <a:rPr lang="en-US" altLang="zh-CN" sz="24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LR</a:t>
            </a:r>
            <a:r>
              <a:rPr lang="zh-CN" altLang="en-US" sz="24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文法。一般方法是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规定运算符的优先关系和结合规则</a:t>
            </a:r>
            <a:r>
              <a:rPr lang="zh-CN" altLang="en-US" sz="24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。如表达式的二义文法可定义 * 优先于 </a:t>
            </a:r>
            <a:r>
              <a:rPr lang="en-US" altLang="zh-CN" sz="24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 </a:t>
            </a:r>
            <a:r>
              <a:rPr lang="zh-CN" altLang="en-US" sz="24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，并采用左结合规则。体现在 </a:t>
            </a:r>
            <a:r>
              <a:rPr lang="en-US" altLang="zh-CN" sz="24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E→E+E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•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4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的展望符为 * 时要做移进动作。而对于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归约</a:t>
            </a:r>
            <a:r>
              <a:rPr lang="en-US" altLang="zh-CN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归约冲突</a:t>
            </a:r>
            <a:r>
              <a:rPr lang="zh-CN" altLang="en-US" sz="24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的处理则可规定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产生式的优先顺序</a:t>
            </a:r>
            <a:endParaRPr lang="zh-CN" altLang="en-US" sz="2400" b="1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lvl="0" indent="-342900" eaLnBrk="1" hangingPunct="1">
              <a:lnSpc>
                <a:spcPct val="120000"/>
              </a:lnSpc>
              <a:spcBef>
                <a:spcPct val="70000"/>
              </a:spcBef>
              <a:buSzTx/>
              <a:buFontTx/>
              <a:buChar char="•"/>
            </a:pP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没有一种有效的冲突消除法</a:t>
            </a:r>
            <a:r>
              <a:rPr lang="zh-CN" altLang="en-US" sz="24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zh-CN" altLang="en-US" sz="2400" b="1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62" name="Rectangle 3"/>
          <p:cNvSpPr>
            <a:spLocks noGrp="1"/>
          </p:cNvSpPr>
          <p:nvPr>
            <p:ph idx="1"/>
          </p:nvPr>
        </p:nvSpPr>
        <p:spPr>
          <a:xfrm>
            <a:off x="533400" y="1066800"/>
            <a:ext cx="8153400" cy="30480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buFont typeface="Wingdings" panose="05000000000000000000" charset="0"/>
              <a:buChar char="ü"/>
            </a:pPr>
            <a:r>
              <a:rPr lang="zh-CN" altLang="en-US" sz="2800" b="1" dirty="0">
                <a:solidFill>
                  <a:schemeClr val="tx1"/>
                </a:solidFill>
              </a:rPr>
              <a:t>发现一个错误就停止分析；</a:t>
            </a:r>
            <a:endParaRPr lang="zh-CN" altLang="en-US" sz="2800" b="1" dirty="0">
              <a:solidFill>
                <a:schemeClr val="tx1"/>
              </a:solidFill>
            </a:endParaRPr>
          </a:p>
          <a:p>
            <a:pPr eaLnBrk="1" hangingPunct="1">
              <a:buFont typeface="Wingdings" panose="05000000000000000000" charset="0"/>
              <a:buChar char="ü"/>
            </a:pPr>
            <a:r>
              <a:rPr lang="zh-CN" altLang="en-US" sz="2800" b="1" dirty="0">
                <a:solidFill>
                  <a:schemeClr val="tx1"/>
                </a:solidFill>
              </a:rPr>
              <a:t>力图继续发现错误。</a:t>
            </a:r>
            <a:endParaRPr lang="zh-CN" altLang="en-US" sz="2800" b="1" dirty="0">
              <a:solidFill>
                <a:schemeClr val="tx1"/>
              </a:solidFill>
            </a:endParaRPr>
          </a:p>
          <a:p>
            <a:pPr marL="109220" indent="0" eaLnBrk="1" hangingPunct="1">
              <a:buNone/>
            </a:pPr>
            <a:r>
              <a:rPr lang="zh-CN" altLang="en-US" sz="2800" b="1" dirty="0">
                <a:solidFill>
                  <a:schemeClr val="tx1"/>
                </a:solidFill>
              </a:rPr>
              <a:t>好的语法分析器应采用后一种方法。继续进行会产生伪错误：瀑布式的。错误处理不是错误改正，一般来说，把错误程序改为正确的几乎不可能，但只要能指出便达到目的。</a:t>
            </a:r>
            <a:endParaRPr lang="zh-CN" altLang="en-US" sz="2800" b="1" dirty="0">
              <a:solidFill>
                <a:schemeClr val="tx1"/>
              </a:solidFill>
            </a:endParaRPr>
          </a:p>
        </p:txBody>
      </p:sp>
      <p:sp>
        <p:nvSpPr>
          <p:cNvPr id="29593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7772400" cy="533400"/>
          </a:xfrm>
          <a:noFill/>
          <a:ln>
            <a:noFill/>
          </a:ln>
          <a:effectLst/>
          <a:sp3d prstMaterial="plastic"/>
        </p:spPr>
        <p:txBody>
          <a:bodyPr vert="horz" rtlCol="0" anchor="ctr">
            <a:normAutofit fontScale="90000"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宋体" panose="02010600030101010101" pitchFamily="2" charset="-122"/>
                <a:ea typeface="+mj-ea"/>
                <a:cs typeface="+mj-cs"/>
              </a:rPr>
              <a:t>4.7</a:t>
            </a:r>
            <a:r>
              <a: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宋体" panose="02010600030101010101" pitchFamily="2" charset="-122"/>
                <a:ea typeface="+mj-ea"/>
                <a:cs typeface="+mj-cs"/>
              </a:rPr>
              <a:t>、语法错误处理</a:t>
            </a:r>
            <a:endParaRPr kumimoji="0" lang="zh-CN" altLang="en-US" sz="3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宋体" panose="02010600030101010101" pitchFamily="2" charset="-122"/>
              <a:ea typeface="+mj-ea"/>
              <a:cs typeface="+mj-cs"/>
            </a:endParaRPr>
          </a:p>
        </p:txBody>
      </p:sp>
      <p:sp>
        <p:nvSpPr>
          <p:cNvPr id="40964" name="Rectangle 5"/>
          <p:cNvSpPr/>
          <p:nvPr/>
        </p:nvSpPr>
        <p:spPr>
          <a:xfrm>
            <a:off x="533400" y="4267200"/>
            <a:ext cx="8153400" cy="17526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342900" lvl="0" indent="-342900" eaLnBrk="1" hangingPunct="1">
              <a:spcBef>
                <a:spcPct val="20000"/>
              </a:spcBef>
              <a:buSzTx/>
              <a:buFontTx/>
              <a:buNone/>
            </a:pPr>
            <a:r>
              <a:rPr lang="zh-CN" altLang="en-US" sz="2800" b="1" dirty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错误处理的两种方法：</a:t>
            </a:r>
            <a:endParaRPr lang="zh-CN" altLang="en-US" sz="2800" b="1" dirty="0">
              <a:solidFill>
                <a:schemeClr val="tx1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 marL="342900" lvl="0" indent="-342900" eaLnBrk="1" hangingPunct="1">
              <a:spcBef>
                <a:spcPct val="20000"/>
              </a:spcBef>
              <a:buSzTx/>
              <a:buFontTx/>
              <a:buChar char="•"/>
            </a:pPr>
            <a:r>
              <a:rPr lang="zh-CN" altLang="en-US" sz="2800" b="1" dirty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错误恢复：目的是指出错误，继续分析。</a:t>
            </a:r>
            <a:endParaRPr lang="zh-CN" altLang="en-US" sz="2800" b="1" dirty="0">
              <a:solidFill>
                <a:schemeClr val="tx1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 marL="342900" lvl="0" indent="-342900" eaLnBrk="1" hangingPunct="1">
              <a:spcBef>
                <a:spcPct val="20000"/>
              </a:spcBef>
              <a:buSzTx/>
              <a:buFontTx/>
              <a:buChar char="•"/>
            </a:pPr>
            <a:r>
              <a:rPr lang="zh-CN" altLang="en-US" sz="2800" b="1" dirty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错误修复：试图把错误程序修复为合法程序。</a:t>
            </a:r>
            <a:endParaRPr lang="zh-CN" altLang="en-US" sz="2800" b="1" dirty="0">
              <a:solidFill>
                <a:schemeClr val="tx1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986" name="内容占位符 1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/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1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41988" name="Picture 2"/>
          <p:cNvPicPr>
            <a:picLocks noChangeAspect="1"/>
          </p:cNvPicPr>
          <p:nvPr/>
        </p:nvPicPr>
        <p:blipFill>
          <a:blip r:embed="rId1"/>
          <a:srcRect l="5714" t="27403" r="11427" b="26442"/>
          <a:stretch>
            <a:fillRect/>
          </a:stretch>
        </p:blipFill>
        <p:spPr>
          <a:xfrm>
            <a:off x="428625" y="857250"/>
            <a:ext cx="8286750" cy="45720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010" name="内容占位符 1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/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1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43012" name="Picture 2"/>
          <p:cNvPicPr>
            <a:picLocks noChangeAspect="1"/>
          </p:cNvPicPr>
          <p:nvPr/>
        </p:nvPicPr>
        <p:blipFill>
          <a:blip r:embed="rId1"/>
          <a:srcRect l="5000" t="31731" r="12143" b="30769"/>
          <a:stretch>
            <a:fillRect/>
          </a:stretch>
        </p:blipFill>
        <p:spPr>
          <a:xfrm>
            <a:off x="428625" y="1071563"/>
            <a:ext cx="8286750" cy="37147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4034" name="内容占位符 1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/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1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44036" name="Picture 2"/>
          <p:cNvPicPr>
            <a:picLocks noChangeAspect="1"/>
          </p:cNvPicPr>
          <p:nvPr/>
        </p:nvPicPr>
        <p:blipFill>
          <a:blip r:embed="rId1"/>
          <a:srcRect t="25240" r="11427" b="36539"/>
          <a:stretch>
            <a:fillRect/>
          </a:stretch>
        </p:blipFill>
        <p:spPr>
          <a:xfrm>
            <a:off x="0" y="1071563"/>
            <a:ext cx="8858250" cy="378618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5058" name="内容占位符 1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/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1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45060" name="Picture 2"/>
          <p:cNvPicPr>
            <a:picLocks noChangeAspect="1"/>
          </p:cNvPicPr>
          <p:nvPr/>
        </p:nvPicPr>
        <p:blipFill>
          <a:blip r:embed="rId1"/>
          <a:srcRect l="6429" t="28125" r="13571" b="22115"/>
          <a:stretch>
            <a:fillRect/>
          </a:stretch>
        </p:blipFill>
        <p:spPr>
          <a:xfrm>
            <a:off x="500063" y="642938"/>
            <a:ext cx="8001000" cy="492918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6082" name="内容占位符 1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/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1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46084" name="Picture 2"/>
          <p:cNvPicPr>
            <a:picLocks noChangeAspect="1"/>
          </p:cNvPicPr>
          <p:nvPr/>
        </p:nvPicPr>
        <p:blipFill>
          <a:blip r:embed="rId1"/>
          <a:srcRect l="6429" t="33173" r="10715" b="27164"/>
          <a:stretch>
            <a:fillRect/>
          </a:stretch>
        </p:blipFill>
        <p:spPr>
          <a:xfrm>
            <a:off x="500063" y="928688"/>
            <a:ext cx="8286750" cy="392906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7106" name="Text Box 2"/>
          <p:cNvSpPr txBox="1"/>
          <p:nvPr/>
        </p:nvSpPr>
        <p:spPr>
          <a:xfrm>
            <a:off x="590550" y="381000"/>
            <a:ext cx="7624763" cy="45799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>
                <a:latin typeface="Times New Roman" panose="02020603050405020304" charset="0"/>
                <a:ea typeface="宋体" panose="02010600030101010101" pitchFamily="2" charset="-122"/>
              </a:rPr>
              <a:t>作业：该文法是否</a:t>
            </a:r>
            <a:r>
              <a:rPr lang="en-US" altLang="zh-CN" sz="2400" b="1" dirty="0">
                <a:latin typeface="Times New Roman" panose="02020603050405020304" charset="0"/>
                <a:ea typeface="宋体" panose="02010600030101010101" pitchFamily="2" charset="-122"/>
              </a:rPr>
              <a:t>LR(0)</a:t>
            </a:r>
            <a:r>
              <a:rPr lang="zh-CN" altLang="en-US" sz="2400" b="1" dirty="0">
                <a:latin typeface="Times New Roman" panose="02020603050405020304" charset="0"/>
                <a:ea typeface="宋体" panose="02010600030101010101" pitchFamily="2" charset="-122"/>
              </a:rPr>
              <a:t>文法？是否</a:t>
            </a:r>
            <a:r>
              <a:rPr lang="en-US" altLang="zh-CN" sz="2400" b="1" dirty="0">
                <a:latin typeface="Times New Roman" panose="02020603050405020304" charset="0"/>
                <a:ea typeface="宋体" panose="02010600030101010101" pitchFamily="2" charset="-122"/>
              </a:rPr>
              <a:t>SLR(1)</a:t>
            </a:r>
            <a:r>
              <a:rPr lang="zh-CN" altLang="en-US" sz="2400" b="1" dirty="0">
                <a:latin typeface="Times New Roman" panose="02020603050405020304" charset="0"/>
                <a:ea typeface="宋体" panose="02010600030101010101" pitchFamily="2" charset="-122"/>
              </a:rPr>
              <a:t>文法？如果是，请给出分析表。</a:t>
            </a:r>
            <a:endParaRPr lang="zh-CN" altLang="en-US" sz="2400" b="1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marL="914400" lvl="2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Times New Roman" panose="02020603050405020304" charset="0"/>
                <a:ea typeface="宋体" panose="02010600030101010101" pitchFamily="2" charset="-122"/>
              </a:rPr>
              <a:t>S → AaAb | BbBa</a:t>
            </a:r>
            <a:endParaRPr lang="en-US" altLang="zh-CN" sz="2400" b="1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marL="914400" lvl="2" indent="0" eaLnBrk="1" hangingPunct="1">
              <a:spcBef>
                <a:spcPct val="1000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Times New Roman" panose="02020603050405020304" charset="0"/>
                <a:ea typeface="宋体" panose="02010600030101010101" pitchFamily="2" charset="-122"/>
              </a:rPr>
              <a:t>A → ε</a:t>
            </a:r>
            <a:endParaRPr lang="en-US" altLang="zh-CN" sz="2400" b="1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marL="914400" lvl="2" indent="0" eaLnBrk="1" hangingPunct="1">
              <a:spcBef>
                <a:spcPct val="1000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Times New Roman" panose="02020603050405020304" charset="0"/>
                <a:ea typeface="宋体" panose="02010600030101010101" pitchFamily="2" charset="-122"/>
              </a:rPr>
              <a:t>B → ε</a:t>
            </a:r>
            <a:endParaRPr lang="en-US" altLang="zh-CN" sz="2400" b="1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marL="914400" lvl="2" indent="0" eaLnBrk="1" hangingPunct="1">
              <a:spcBef>
                <a:spcPct val="10000"/>
              </a:spcBef>
              <a:buClrTx/>
              <a:buSzTx/>
              <a:buFontTx/>
              <a:buNone/>
            </a:pPr>
            <a:endParaRPr lang="en-US" altLang="zh-CN" sz="2400" b="1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>
                <a:latin typeface="Times New Roman" panose="02020603050405020304" charset="0"/>
                <a:ea typeface="宋体" panose="02010600030101010101" pitchFamily="2" charset="-122"/>
              </a:rPr>
              <a:t>选做：文法</a:t>
            </a:r>
            <a:r>
              <a:rPr lang="en-US" altLang="zh-CN" sz="2400" b="1" dirty="0">
                <a:latin typeface="Times New Roman" panose="02020603050405020304" charset="0"/>
                <a:ea typeface="宋体" panose="02010600030101010101" pitchFamily="2" charset="-122"/>
              </a:rPr>
              <a:t>G[S]   </a:t>
            </a:r>
            <a:endParaRPr lang="en-US" altLang="zh-CN" sz="2400" b="1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marL="914400" lvl="2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Times New Roman" panose="02020603050405020304" charset="0"/>
                <a:ea typeface="宋体" panose="02010600030101010101" pitchFamily="2" charset="-122"/>
              </a:rPr>
              <a:t>S → AS | b</a:t>
            </a:r>
            <a:endParaRPr lang="en-US" altLang="zh-CN" sz="2400" b="1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marL="914400" lvl="2" indent="0" eaLnBrk="1" hangingPunct="1">
              <a:spcBef>
                <a:spcPct val="1000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Times New Roman" panose="02020603050405020304" charset="0"/>
                <a:ea typeface="宋体" panose="02010600030101010101" pitchFamily="2" charset="-122"/>
              </a:rPr>
              <a:t>A → SA | a</a:t>
            </a:r>
            <a:endParaRPr lang="en-US" altLang="zh-CN" sz="2400" b="1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 b="1" dirty="0">
                <a:latin typeface="Times New Roman" panose="02020603050405020304" charset="0"/>
                <a:ea typeface="宋体" panose="02010600030101010101" pitchFamily="2" charset="-122"/>
              </a:rPr>
              <a:t>该文法是否</a:t>
            </a:r>
            <a:r>
              <a:rPr lang="en-US" altLang="zh-CN" sz="2000" b="1" dirty="0">
                <a:latin typeface="Times New Roman" panose="02020603050405020304" charset="0"/>
                <a:ea typeface="宋体" panose="02010600030101010101" pitchFamily="2" charset="-122"/>
              </a:rPr>
              <a:t>LR(0)</a:t>
            </a:r>
            <a:r>
              <a:rPr lang="zh-CN" altLang="en-US" sz="2000" b="1" dirty="0">
                <a:latin typeface="Times New Roman" panose="02020603050405020304" charset="0"/>
                <a:ea typeface="宋体" panose="02010600030101010101" pitchFamily="2" charset="-122"/>
              </a:rPr>
              <a:t>文法？是否</a:t>
            </a:r>
            <a:r>
              <a:rPr lang="en-US" altLang="zh-CN" sz="2000" b="1" dirty="0">
                <a:latin typeface="Times New Roman" panose="02020603050405020304" charset="0"/>
                <a:ea typeface="宋体" panose="02010600030101010101" pitchFamily="2" charset="-122"/>
              </a:rPr>
              <a:t>SLR(1)</a:t>
            </a:r>
            <a:r>
              <a:rPr lang="zh-CN" altLang="en-US" sz="2000" b="1" dirty="0">
                <a:latin typeface="Times New Roman" panose="02020603050405020304" charset="0"/>
                <a:ea typeface="宋体" panose="02010600030101010101" pitchFamily="2" charset="-122"/>
              </a:rPr>
              <a:t>文法？给出判断步骤。</a:t>
            </a:r>
            <a:endParaRPr lang="zh-CN" altLang="en-US" sz="2000" b="1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8130" name="Picture 2" descr="C:\Users\Lenovo\Desktop\微信图片_20220525094510.jpg"/>
          <p:cNvPicPr>
            <a:picLocks noChangeAspect="1"/>
          </p:cNvPicPr>
          <p:nvPr/>
        </p:nvPicPr>
        <p:blipFill>
          <a:blip r:embed="rId1"/>
          <a:srcRect l="3021" t="4411" r="5991" b="4306"/>
          <a:stretch>
            <a:fillRect/>
          </a:stretch>
        </p:blipFill>
        <p:spPr>
          <a:xfrm>
            <a:off x="1835150" y="239713"/>
            <a:ext cx="5938838" cy="66262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8131" name="Picture 3" descr="C:\Users\Lenovo\AppData\Local\Temp\WeChat Files\70f8c21fbd52ae6d2800def0c0b011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388" y="4221163"/>
            <a:ext cx="2262187" cy="20161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9154" name="Rectangle 2"/>
          <p:cNvSpPr/>
          <p:nvPr/>
        </p:nvSpPr>
        <p:spPr>
          <a:xfrm>
            <a:off x="457200" y="457200"/>
            <a:ext cx="7772400" cy="5334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4.7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、语法分析器自动生成工具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YACC</a:t>
            </a:r>
            <a:endParaRPr lang="en-US" altLang="zh-CN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9155" name="Text Box 3"/>
          <p:cNvSpPr txBox="1"/>
          <p:nvPr/>
        </p:nvSpPr>
        <p:spPr>
          <a:xfrm>
            <a:off x="609600" y="1143000"/>
            <a:ext cx="8153400" cy="17684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Times New Roman" panose="02020603050405020304" charset="0"/>
                <a:ea typeface="宋体" panose="02010600030101010101" pitchFamily="2" charset="-122"/>
              </a:rPr>
              <a:t>YACC(Yet Another Compiler - Compiler)</a:t>
            </a:r>
            <a:r>
              <a:rPr lang="zh-CN" altLang="en-US" sz="2000" b="1" dirty="0">
                <a:solidFill>
                  <a:schemeClr val="tx2"/>
                </a:solidFill>
                <a:latin typeface="Times New Roman" panose="02020603050405020304" charset="0"/>
                <a:ea typeface="宋体" panose="02010600030101010101" pitchFamily="2" charset="-122"/>
              </a:rPr>
              <a:t>是由</a:t>
            </a:r>
            <a:r>
              <a:rPr lang="en-US" altLang="zh-CN" sz="2000" b="1" dirty="0">
                <a:solidFill>
                  <a:schemeClr val="tx2"/>
                </a:solidFill>
                <a:latin typeface="Times New Roman" panose="02020603050405020304" charset="0"/>
                <a:ea typeface="宋体" panose="02010600030101010101" pitchFamily="2" charset="-122"/>
              </a:rPr>
              <a:t>S.C.Johnson</a:t>
            </a:r>
            <a:r>
              <a:rPr lang="zh-CN" altLang="en-US" sz="2000" b="1" dirty="0">
                <a:solidFill>
                  <a:schemeClr val="tx2"/>
                </a:solidFill>
                <a:latin typeface="Times New Roman" panose="02020603050405020304" charset="0"/>
                <a:ea typeface="宋体" panose="02010600030101010101" pitchFamily="2" charset="-122"/>
              </a:rPr>
              <a:t>等人在</a:t>
            </a:r>
            <a:r>
              <a:rPr lang="en-US" altLang="zh-CN" sz="2000" b="1" dirty="0">
                <a:solidFill>
                  <a:schemeClr val="tx2"/>
                </a:solidFill>
                <a:latin typeface="Times New Roman" panose="02020603050405020304" charset="0"/>
                <a:ea typeface="宋体" panose="02010600030101010101" pitchFamily="2" charset="-122"/>
              </a:rPr>
              <a:t>AT&amp;T</a:t>
            </a:r>
            <a:r>
              <a:rPr lang="zh-CN" altLang="en-US" sz="2000" b="1" dirty="0">
                <a:solidFill>
                  <a:schemeClr val="tx2"/>
                </a:solidFill>
                <a:latin typeface="Times New Roman" panose="02020603050405020304" charset="0"/>
                <a:ea typeface="宋体" panose="02010600030101010101" pitchFamily="2" charset="-122"/>
              </a:rPr>
              <a:t>贝尔实验室研制开发的，早期作为</a:t>
            </a:r>
            <a:r>
              <a:rPr lang="en-US" altLang="zh-CN" sz="2000" b="1" dirty="0">
                <a:solidFill>
                  <a:schemeClr val="tx2"/>
                </a:solidFill>
                <a:latin typeface="Times New Roman" panose="02020603050405020304" charset="0"/>
                <a:ea typeface="宋体" panose="02010600030101010101" pitchFamily="2" charset="-122"/>
              </a:rPr>
              <a:t>UNIX</a:t>
            </a:r>
            <a:r>
              <a:rPr lang="zh-CN" altLang="en-US" sz="2000" b="1" dirty="0">
                <a:solidFill>
                  <a:schemeClr val="tx2"/>
                </a:solidFill>
                <a:latin typeface="Times New Roman" panose="02020603050405020304" charset="0"/>
                <a:ea typeface="宋体" panose="02010600030101010101" pitchFamily="2" charset="-122"/>
              </a:rPr>
              <a:t>操作系统中的一个实用程序。</a:t>
            </a:r>
            <a:endParaRPr lang="zh-CN" altLang="en-US" sz="2000" b="1" dirty="0">
              <a:solidFill>
                <a:schemeClr val="tx2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Times New Roman" panose="02020603050405020304" charset="0"/>
                <a:ea typeface="宋体" panose="02010600030101010101" pitchFamily="2" charset="-122"/>
              </a:rPr>
              <a:t>YACC</a:t>
            </a:r>
            <a:r>
              <a:rPr lang="zh-CN" altLang="en-US" sz="2000" b="1" dirty="0">
                <a:solidFill>
                  <a:schemeClr val="tx2"/>
                </a:solidFill>
                <a:latin typeface="Times New Roman" panose="02020603050405020304" charset="0"/>
                <a:ea typeface="宋体" panose="02010600030101010101" pitchFamily="2" charset="-122"/>
              </a:rPr>
              <a:t>不能产生完整的编译程序。它输入语言的语法描述规格说明，基于</a:t>
            </a:r>
            <a:r>
              <a:rPr lang="en-US" altLang="zh-CN" sz="2000" b="1" dirty="0">
                <a:solidFill>
                  <a:schemeClr val="tx2"/>
                </a:solidFill>
                <a:latin typeface="Times New Roman" panose="02020603050405020304" charset="0"/>
                <a:ea typeface="宋体" panose="02010600030101010101" pitchFamily="2" charset="-122"/>
              </a:rPr>
              <a:t>LALR</a:t>
            </a:r>
            <a:r>
              <a:rPr lang="zh-CN" altLang="en-US" sz="2000" b="1" dirty="0">
                <a:solidFill>
                  <a:schemeClr val="tx2"/>
                </a:solidFill>
                <a:latin typeface="Times New Roman" panose="02020603050405020304" charset="0"/>
                <a:ea typeface="宋体" panose="02010600030101010101" pitchFamily="2" charset="-122"/>
              </a:rPr>
              <a:t>语法分析原理，自动构造该语言的语法分析器，同时还产生语义动作的翻译程序。</a:t>
            </a:r>
            <a:endParaRPr lang="zh-CN" altLang="en-US" sz="2000" b="1" dirty="0">
              <a:solidFill>
                <a:schemeClr val="tx2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grpSp>
        <p:nvGrpSpPr>
          <p:cNvPr id="49156" name="Group 15"/>
          <p:cNvGrpSpPr/>
          <p:nvPr/>
        </p:nvGrpSpPr>
        <p:grpSpPr>
          <a:xfrm>
            <a:off x="1905000" y="2971800"/>
            <a:ext cx="5257800" cy="1397000"/>
            <a:chOff x="1200" y="1872"/>
            <a:chExt cx="3312" cy="880"/>
          </a:xfrm>
        </p:grpSpPr>
        <p:sp>
          <p:nvSpPr>
            <p:cNvPr id="49158" name="Text Box 4"/>
            <p:cNvSpPr txBox="1"/>
            <p:nvPr/>
          </p:nvSpPr>
          <p:spPr>
            <a:xfrm>
              <a:off x="2304" y="1920"/>
              <a:ext cx="1104" cy="256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65125" indent="-255905" algn="l" rtl="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chemeClr val="accent1"/>
                </a:buClr>
                <a:buSzPct val="68000"/>
                <a:buFont typeface="Wingdings 3" pitchFamily="18" charset="2"/>
                <a:buChar char=""/>
                <a:defRPr sz="27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21030" indent="-228600" algn="l" rtl="0" eaLnBrk="0" fontAlgn="base" hangingPunct="0">
                <a:spcBef>
                  <a:spcPts val="325"/>
                </a:spcBef>
                <a:spcAft>
                  <a:spcPct val="0"/>
                </a:spcAft>
                <a:buClr>
                  <a:schemeClr val="accent1"/>
                </a:buClr>
                <a:buFont typeface="Verdana" panose="020B0604030504040204" pitchFamily="34" charset="0"/>
                <a:buChar char="◦"/>
                <a:defRPr sz="2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59155" indent="-228600" algn="l" rtl="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 typeface="Wingdings 2" pitchFamily="18" charset="2"/>
                <a:buChar char=""/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43000" indent="-228600" algn="l" rtl="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itchFamily="18" charset="2"/>
                <a:buChar char=""/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-228600" algn="l" rtl="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itchFamily="18" charset="2"/>
                <a:buChar char="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b="1" dirty="0">
                  <a:latin typeface="Times New Roman" panose="02020603050405020304" charset="0"/>
                  <a:ea typeface="宋体" panose="02010600030101010101" pitchFamily="2" charset="-122"/>
                </a:rPr>
                <a:t>YACC</a:t>
              </a:r>
              <a:r>
                <a:rPr lang="zh-CN" altLang="en-US" sz="2000" b="1" dirty="0">
                  <a:latin typeface="Times New Roman" panose="02020603050405020304" charset="0"/>
                  <a:ea typeface="宋体" panose="02010600030101010101" pitchFamily="2" charset="-122"/>
                </a:rPr>
                <a:t>程序</a:t>
              </a:r>
              <a:endParaRPr lang="zh-CN" altLang="en-US" sz="2000" b="1" dirty="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49159" name="Line 5"/>
            <p:cNvSpPr/>
            <p:nvPr/>
          </p:nvSpPr>
          <p:spPr>
            <a:xfrm>
              <a:off x="1200" y="2064"/>
              <a:ext cx="110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9160" name="Text Box 6"/>
            <p:cNvSpPr txBox="1"/>
            <p:nvPr/>
          </p:nvSpPr>
          <p:spPr>
            <a:xfrm>
              <a:off x="1200" y="1872"/>
              <a:ext cx="1056" cy="40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65125" indent="-255905" algn="l" rtl="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chemeClr val="accent1"/>
                </a:buClr>
                <a:buSzPct val="68000"/>
                <a:buFont typeface="Wingdings 3" pitchFamily="18" charset="2"/>
                <a:buChar char=""/>
                <a:defRPr sz="27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21030" indent="-228600" algn="l" rtl="0" eaLnBrk="0" fontAlgn="base" hangingPunct="0">
                <a:spcBef>
                  <a:spcPts val="325"/>
                </a:spcBef>
                <a:spcAft>
                  <a:spcPct val="0"/>
                </a:spcAft>
                <a:buClr>
                  <a:schemeClr val="accent1"/>
                </a:buClr>
                <a:buFont typeface="Verdana" panose="020B0604030504040204" pitchFamily="34" charset="0"/>
                <a:buChar char="◦"/>
                <a:defRPr sz="2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59155" indent="-228600" algn="l" rtl="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 typeface="Wingdings 2" pitchFamily="18" charset="2"/>
                <a:buChar char=""/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43000" indent="-228600" algn="l" rtl="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itchFamily="18" charset="2"/>
                <a:buChar char=""/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-228600" algn="l" rtl="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itchFamily="18" charset="2"/>
                <a:buChar char="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800" dirty="0">
                  <a:latin typeface="Times New Roman" panose="02020603050405020304" charset="0"/>
                  <a:ea typeface="宋体" panose="02010600030101010101" pitchFamily="2" charset="-122"/>
                </a:rPr>
                <a:t>L</a:t>
              </a:r>
              <a:r>
                <a:rPr lang="zh-CN" altLang="en-US" sz="1800" dirty="0">
                  <a:latin typeface="Times New Roman" panose="02020603050405020304" charset="0"/>
                  <a:ea typeface="宋体" panose="02010600030101010101" pitchFamily="2" charset="-122"/>
                </a:rPr>
                <a:t>语言的</a:t>
              </a:r>
              <a:r>
                <a:rPr lang="en-US" altLang="zh-CN" sz="1800" dirty="0">
                  <a:latin typeface="Times New Roman" panose="02020603050405020304" charset="0"/>
                  <a:ea typeface="宋体" panose="02010600030101010101" pitchFamily="2" charset="-122"/>
                </a:rPr>
                <a:t>YACC</a:t>
              </a:r>
              <a:r>
                <a:rPr lang="zh-CN" altLang="en-US" sz="1800" dirty="0">
                  <a:latin typeface="Times New Roman" panose="02020603050405020304" charset="0"/>
                  <a:ea typeface="宋体" panose="02010600030101010101" pitchFamily="2" charset="-122"/>
                </a:rPr>
                <a:t>规格说明</a:t>
              </a:r>
              <a:endParaRPr lang="zh-CN" altLang="en-US" sz="1800" dirty="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49161" name="Line 7"/>
            <p:cNvSpPr/>
            <p:nvPr/>
          </p:nvSpPr>
          <p:spPr>
            <a:xfrm>
              <a:off x="3408" y="2072"/>
              <a:ext cx="110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9162" name="Text Box 8"/>
            <p:cNvSpPr txBox="1"/>
            <p:nvPr/>
          </p:nvSpPr>
          <p:spPr>
            <a:xfrm>
              <a:off x="3504" y="1872"/>
              <a:ext cx="816" cy="40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65125" indent="-255905" algn="l" rtl="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chemeClr val="accent1"/>
                </a:buClr>
                <a:buSzPct val="68000"/>
                <a:buFont typeface="Wingdings 3" pitchFamily="18" charset="2"/>
                <a:buChar char=""/>
                <a:defRPr sz="27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21030" indent="-228600" algn="l" rtl="0" eaLnBrk="0" fontAlgn="base" hangingPunct="0">
                <a:spcBef>
                  <a:spcPts val="325"/>
                </a:spcBef>
                <a:spcAft>
                  <a:spcPct val="0"/>
                </a:spcAft>
                <a:buClr>
                  <a:schemeClr val="accent1"/>
                </a:buClr>
                <a:buFont typeface="Verdana" panose="020B0604030504040204" pitchFamily="34" charset="0"/>
                <a:buChar char="◦"/>
                <a:defRPr sz="2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59155" indent="-228600" algn="l" rtl="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 typeface="Wingdings 2" pitchFamily="18" charset="2"/>
                <a:buChar char=""/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43000" indent="-228600" algn="l" rtl="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itchFamily="18" charset="2"/>
                <a:buChar char=""/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-228600" algn="l" rtl="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itchFamily="18" charset="2"/>
                <a:buChar char="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800" dirty="0">
                  <a:latin typeface="Times New Roman" panose="02020603050405020304" charset="0"/>
                  <a:ea typeface="宋体" panose="02010600030101010101" pitchFamily="2" charset="-122"/>
                </a:rPr>
                <a:t>L</a:t>
              </a:r>
              <a:r>
                <a:rPr lang="zh-CN" altLang="en-US" sz="1800" dirty="0">
                  <a:latin typeface="Times New Roman" panose="02020603050405020304" charset="0"/>
                  <a:ea typeface="宋体" panose="02010600030101010101" pitchFamily="2" charset="-122"/>
                </a:rPr>
                <a:t>语言语法分析器</a:t>
              </a:r>
              <a:endParaRPr lang="zh-CN" altLang="en-US" sz="1800" dirty="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49163" name="Text Box 9"/>
            <p:cNvSpPr txBox="1"/>
            <p:nvPr/>
          </p:nvSpPr>
          <p:spPr>
            <a:xfrm>
              <a:off x="2160" y="2496"/>
              <a:ext cx="1440" cy="256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65125" indent="-255905" algn="l" rtl="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chemeClr val="accent1"/>
                </a:buClr>
                <a:buSzPct val="68000"/>
                <a:buFont typeface="Wingdings 3" pitchFamily="18" charset="2"/>
                <a:buChar char=""/>
                <a:defRPr sz="27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21030" indent="-228600" algn="l" rtl="0" eaLnBrk="0" fontAlgn="base" hangingPunct="0">
                <a:spcBef>
                  <a:spcPts val="325"/>
                </a:spcBef>
                <a:spcAft>
                  <a:spcPct val="0"/>
                </a:spcAft>
                <a:buClr>
                  <a:schemeClr val="accent1"/>
                </a:buClr>
                <a:buFont typeface="Verdana" panose="020B0604030504040204" pitchFamily="34" charset="0"/>
                <a:buChar char="◦"/>
                <a:defRPr sz="2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59155" indent="-228600" algn="l" rtl="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 typeface="Wingdings 2" pitchFamily="18" charset="2"/>
                <a:buChar char=""/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43000" indent="-228600" algn="l" rtl="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itchFamily="18" charset="2"/>
                <a:buChar char=""/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-228600" algn="l" rtl="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itchFamily="18" charset="2"/>
                <a:buChar char="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b="1" dirty="0">
                  <a:latin typeface="Times New Roman" panose="02020603050405020304" charset="0"/>
                  <a:ea typeface="宋体" panose="02010600030101010101" pitchFamily="2" charset="-122"/>
                </a:rPr>
                <a:t>L</a:t>
              </a:r>
              <a:r>
                <a:rPr lang="zh-CN" altLang="en-US" sz="2000" b="1" dirty="0">
                  <a:latin typeface="Times New Roman" panose="02020603050405020304" charset="0"/>
                  <a:ea typeface="宋体" panose="02010600030101010101" pitchFamily="2" charset="-122"/>
                </a:rPr>
                <a:t>语言语法分析器</a:t>
              </a:r>
              <a:endParaRPr lang="zh-CN" altLang="en-US" sz="2000" b="1" dirty="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49164" name="Line 10"/>
            <p:cNvSpPr/>
            <p:nvPr/>
          </p:nvSpPr>
          <p:spPr>
            <a:xfrm>
              <a:off x="1344" y="2640"/>
              <a:ext cx="81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9165" name="Text Box 11"/>
            <p:cNvSpPr txBox="1"/>
            <p:nvPr/>
          </p:nvSpPr>
          <p:spPr>
            <a:xfrm>
              <a:off x="1344" y="2448"/>
              <a:ext cx="768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65125" indent="-255905" algn="l" rtl="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chemeClr val="accent1"/>
                </a:buClr>
                <a:buSzPct val="68000"/>
                <a:buFont typeface="Wingdings 3" pitchFamily="18" charset="2"/>
                <a:buChar char=""/>
                <a:defRPr sz="27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21030" indent="-228600" algn="l" rtl="0" eaLnBrk="0" fontAlgn="base" hangingPunct="0">
                <a:spcBef>
                  <a:spcPts val="325"/>
                </a:spcBef>
                <a:spcAft>
                  <a:spcPct val="0"/>
                </a:spcAft>
                <a:buClr>
                  <a:schemeClr val="accent1"/>
                </a:buClr>
                <a:buFont typeface="Verdana" panose="020B0604030504040204" pitchFamily="34" charset="0"/>
                <a:buChar char="◦"/>
                <a:defRPr sz="2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59155" indent="-228600" algn="l" rtl="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 typeface="Wingdings 2" pitchFamily="18" charset="2"/>
                <a:buChar char=""/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43000" indent="-228600" algn="l" rtl="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itchFamily="18" charset="2"/>
                <a:buChar char=""/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-228600" algn="l" rtl="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itchFamily="18" charset="2"/>
                <a:buChar char="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1800" dirty="0">
                  <a:latin typeface="Times New Roman" panose="02020603050405020304" charset="0"/>
                  <a:ea typeface="宋体" panose="02010600030101010101" pitchFamily="2" charset="-122"/>
                </a:rPr>
                <a:t>输入串</a:t>
              </a:r>
              <a:endParaRPr lang="zh-CN" altLang="en-US" sz="1800" dirty="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49166" name="Text Box 13"/>
            <p:cNvSpPr txBox="1"/>
            <p:nvPr/>
          </p:nvSpPr>
          <p:spPr>
            <a:xfrm>
              <a:off x="3552" y="2448"/>
              <a:ext cx="81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65125" indent="-255905" algn="l" rtl="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chemeClr val="accent1"/>
                </a:buClr>
                <a:buSzPct val="68000"/>
                <a:buFont typeface="Wingdings 3" pitchFamily="18" charset="2"/>
                <a:buChar char=""/>
                <a:defRPr sz="27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21030" indent="-228600" algn="l" rtl="0" eaLnBrk="0" fontAlgn="base" hangingPunct="0">
                <a:spcBef>
                  <a:spcPts val="325"/>
                </a:spcBef>
                <a:spcAft>
                  <a:spcPct val="0"/>
                </a:spcAft>
                <a:buClr>
                  <a:schemeClr val="accent1"/>
                </a:buClr>
                <a:buFont typeface="Verdana" panose="020B0604030504040204" pitchFamily="34" charset="0"/>
                <a:buChar char="◦"/>
                <a:defRPr sz="2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59155" indent="-228600" algn="l" rtl="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 typeface="Wingdings 2" pitchFamily="18" charset="2"/>
                <a:buChar char=""/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43000" indent="-228600" algn="l" rtl="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itchFamily="18" charset="2"/>
                <a:buChar char=""/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-228600" algn="l" rtl="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itchFamily="18" charset="2"/>
                <a:buChar char="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1800" dirty="0">
                  <a:latin typeface="Times New Roman" panose="02020603050405020304" charset="0"/>
                  <a:ea typeface="宋体" panose="02010600030101010101" pitchFamily="2" charset="-122"/>
                </a:rPr>
                <a:t>语法树</a:t>
              </a:r>
              <a:endParaRPr lang="zh-CN" altLang="en-US" sz="1800" dirty="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49167" name="Line 14"/>
            <p:cNvSpPr/>
            <p:nvPr/>
          </p:nvSpPr>
          <p:spPr>
            <a:xfrm>
              <a:off x="3600" y="2640"/>
              <a:ext cx="76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  <p:sp>
        <p:nvSpPr>
          <p:cNvPr id="304144" name="Rectangle 16"/>
          <p:cNvSpPr>
            <a:spLocks noChangeArrowheads="1"/>
          </p:cNvSpPr>
          <p:nvPr/>
        </p:nvSpPr>
        <p:spPr bwMode="auto">
          <a:xfrm>
            <a:off x="762000" y="4648200"/>
            <a:ext cx="7467600" cy="3667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YACC</a:t>
            </a:r>
            <a:r>
              <a: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规格说明：</a:t>
            </a:r>
            <a:r>
              <a: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说明部分</a:t>
            </a:r>
            <a:r>
              <a: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、</a:t>
            </a:r>
            <a:r>
              <a: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翻译规则</a:t>
            </a:r>
            <a:r>
              <a: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和</a:t>
            </a:r>
            <a:r>
              <a: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辅助过程</a:t>
            </a:r>
            <a:r>
              <a: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三部分</a:t>
            </a:r>
            <a:endParaRPr kumimoji="1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0178" name="Text Box 2"/>
          <p:cNvSpPr txBox="1"/>
          <p:nvPr/>
        </p:nvSpPr>
        <p:spPr>
          <a:xfrm>
            <a:off x="533400" y="304800"/>
            <a:ext cx="8001000" cy="6588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latin typeface="Times New Roman" panose="02020603050405020304" charset="0"/>
                <a:ea typeface="宋体" panose="02010600030101010101" pitchFamily="2" charset="-122"/>
              </a:rPr>
              <a:t>%{    #include &lt; ctype.h &gt;   %}      </a:t>
            </a:r>
            <a:endParaRPr lang="en-US" altLang="zh-CN" sz="2000" b="1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latin typeface="Times New Roman" panose="02020603050405020304" charset="0"/>
                <a:ea typeface="宋体" panose="02010600030101010101" pitchFamily="2" charset="-122"/>
              </a:rPr>
              <a:t>%token  DIGIT        </a:t>
            </a:r>
            <a:r>
              <a:rPr lang="en-US" altLang="zh-CN" sz="1800" dirty="0">
                <a:latin typeface="Times New Roman" panose="02020603050405020304" charset="0"/>
                <a:ea typeface="宋体" panose="02010600030101010101" pitchFamily="2" charset="-122"/>
              </a:rPr>
              <a:t>//DIGIT</a:t>
            </a:r>
            <a:r>
              <a:rPr lang="zh-CN" altLang="en-US" sz="1800" dirty="0">
                <a:latin typeface="Times New Roman" panose="02020603050405020304" charset="0"/>
                <a:ea typeface="宋体" panose="02010600030101010101" pitchFamily="2" charset="-122"/>
              </a:rPr>
              <a:t>是</a:t>
            </a:r>
            <a:r>
              <a:rPr lang="en-US" altLang="zh-CN" sz="1800" dirty="0">
                <a:latin typeface="Times New Roman" panose="02020603050405020304" charset="0"/>
                <a:ea typeface="宋体" panose="02010600030101010101" pitchFamily="2" charset="-122"/>
              </a:rPr>
              <a:t>token</a:t>
            </a:r>
            <a:r>
              <a:rPr lang="zh-CN" altLang="en-US" sz="1800" dirty="0">
                <a:latin typeface="Times New Roman" panose="02020603050405020304" charset="0"/>
                <a:ea typeface="宋体" panose="02010600030101010101" pitchFamily="2" charset="-122"/>
              </a:rPr>
              <a:t>类型的词汇，后面可引用</a:t>
            </a:r>
            <a:endParaRPr lang="zh-CN" altLang="en-US" sz="1800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4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Times New Roman" panose="02020603050405020304" charset="0"/>
                <a:ea typeface="宋体" panose="02010600030101010101" pitchFamily="2" charset="-122"/>
              </a:rPr>
              <a:t>%%</a:t>
            </a:r>
            <a:endParaRPr lang="en-US" altLang="zh-CN" sz="2000" b="1" dirty="0">
              <a:solidFill>
                <a:schemeClr val="tx2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40000"/>
              </a:spcBef>
              <a:buClrTx/>
              <a:buSzTx/>
              <a:buFontTx/>
              <a:buNone/>
            </a:pPr>
            <a:r>
              <a:rPr lang="en-US" altLang="zh-CN" sz="2000" b="1" dirty="0">
                <a:latin typeface="Times New Roman" panose="02020603050405020304" charset="0"/>
                <a:ea typeface="宋体" panose="02010600030101010101" pitchFamily="2" charset="-122"/>
              </a:rPr>
              <a:t>line         :         expr’\n’                    {printf(“%d\n”, $1);}  </a:t>
            </a:r>
            <a:endParaRPr lang="en-US" altLang="zh-CN" sz="2000" b="1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marL="0" lvl="0" indent="0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latin typeface="Times New Roman" panose="02020603050405020304" charset="0"/>
                <a:ea typeface="宋体" panose="02010600030101010101" pitchFamily="2" charset="-122"/>
              </a:rPr>
              <a:t>               ;</a:t>
            </a:r>
            <a:endParaRPr lang="en-US" altLang="zh-CN" sz="2000" b="1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marL="0" lvl="0" indent="0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latin typeface="Times New Roman" panose="02020603050405020304" charset="0"/>
                <a:ea typeface="宋体" panose="02010600030101010101" pitchFamily="2" charset="-122"/>
              </a:rPr>
              <a:t>expr       :         expr’+’term             { $$ = $1 + $3; }</a:t>
            </a:r>
            <a:endParaRPr lang="en-US" altLang="zh-CN" sz="2000" b="1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marL="0" lvl="0" indent="0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latin typeface="Times New Roman" panose="02020603050405020304" charset="0"/>
                <a:ea typeface="宋体" panose="02010600030101010101" pitchFamily="2" charset="-122"/>
              </a:rPr>
              <a:t>               |         term</a:t>
            </a:r>
            <a:endParaRPr lang="en-US" altLang="zh-CN" sz="2000" b="1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marL="0" lvl="0" indent="0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latin typeface="Times New Roman" panose="02020603050405020304" charset="0"/>
                <a:ea typeface="宋体" panose="02010600030101010101" pitchFamily="2" charset="-122"/>
              </a:rPr>
              <a:t>               ;</a:t>
            </a:r>
            <a:endParaRPr lang="en-US" altLang="zh-CN" sz="2000" b="1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marL="0" lvl="0" indent="0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latin typeface="Times New Roman" panose="02020603050405020304" charset="0"/>
                <a:ea typeface="宋体" panose="02010600030101010101" pitchFamily="2" charset="-122"/>
              </a:rPr>
              <a:t>term       :        term’*’factor           { $$ = $1 * $3; }</a:t>
            </a:r>
            <a:endParaRPr lang="en-US" altLang="zh-CN" sz="2000" b="1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marL="0" lvl="0" indent="0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latin typeface="Times New Roman" panose="02020603050405020304" charset="0"/>
                <a:ea typeface="宋体" panose="02010600030101010101" pitchFamily="2" charset="-122"/>
              </a:rPr>
              <a:t>               |         factor</a:t>
            </a:r>
            <a:endParaRPr lang="en-US" altLang="zh-CN" sz="2000" b="1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marL="0" lvl="0" indent="0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latin typeface="Times New Roman" panose="02020603050405020304" charset="0"/>
                <a:ea typeface="宋体" panose="02010600030101010101" pitchFamily="2" charset="-122"/>
              </a:rPr>
              <a:t>               ;</a:t>
            </a:r>
            <a:endParaRPr lang="en-US" altLang="zh-CN" sz="2000" b="1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marL="0" lvl="0" indent="0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latin typeface="Times New Roman" panose="02020603050405020304" charset="0"/>
                <a:ea typeface="宋体" panose="02010600030101010101" pitchFamily="2" charset="-122"/>
              </a:rPr>
              <a:t>factor    :         ‘(’ expr ’)’                 { $$ = $2; }</a:t>
            </a:r>
            <a:endParaRPr lang="en-US" altLang="zh-CN" sz="2000" b="1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marL="0" lvl="0" indent="0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latin typeface="Times New Roman" panose="02020603050405020304" charset="0"/>
                <a:ea typeface="宋体" panose="02010600030101010101" pitchFamily="2" charset="-122"/>
              </a:rPr>
              <a:t>               |         DIGIT</a:t>
            </a:r>
            <a:endParaRPr lang="en-US" altLang="zh-CN" sz="2000" b="1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marL="0" lvl="0" indent="0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latin typeface="Times New Roman" panose="02020603050405020304" charset="0"/>
                <a:ea typeface="宋体" panose="02010600030101010101" pitchFamily="2" charset="-122"/>
              </a:rPr>
              <a:t>               ;</a:t>
            </a:r>
            <a:endParaRPr lang="en-US" altLang="zh-CN" sz="2000" b="1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Times New Roman" panose="02020603050405020304" charset="0"/>
                <a:ea typeface="宋体" panose="02010600030101010101" pitchFamily="2" charset="-122"/>
              </a:rPr>
              <a:t>%%</a:t>
            </a:r>
            <a:endParaRPr lang="en-US" altLang="zh-CN" sz="2000" b="1" dirty="0">
              <a:solidFill>
                <a:schemeClr val="tx2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latin typeface="Times New Roman" panose="02020603050405020304" charset="0"/>
                <a:ea typeface="宋体" panose="02010600030101010101" pitchFamily="2" charset="-122"/>
              </a:rPr>
              <a:t>yylex( )                        </a:t>
            </a:r>
            <a:r>
              <a:rPr lang="en-US" altLang="zh-CN" sz="2000" dirty="0">
                <a:latin typeface="Times New Roman" panose="02020603050405020304" charset="0"/>
                <a:ea typeface="宋体" panose="02010600030101010101" pitchFamily="2" charset="-122"/>
              </a:rPr>
              <a:t>//</a:t>
            </a:r>
            <a:r>
              <a:rPr lang="zh-CN" altLang="en-US" sz="2000" dirty="0">
                <a:latin typeface="Times New Roman" panose="02020603050405020304" charset="0"/>
                <a:ea typeface="宋体" panose="02010600030101010101" pitchFamily="2" charset="-122"/>
              </a:rPr>
              <a:t>辅助过程，如词法部分、错误处理部分等</a:t>
            </a:r>
            <a:endParaRPr lang="zh-CN" altLang="en-US" sz="2000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latin typeface="Times New Roman" panose="02020603050405020304" charset="0"/>
                <a:ea typeface="宋体" panose="02010600030101010101" pitchFamily="2" charset="-122"/>
              </a:rPr>
              <a:t>{      int  c;       c = getchar( );</a:t>
            </a:r>
            <a:endParaRPr lang="en-US" altLang="zh-CN" sz="2000" b="1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marL="457200" lvl="1" indent="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b="1" dirty="0">
                <a:latin typeface="Times New Roman" panose="02020603050405020304" charset="0"/>
                <a:ea typeface="宋体" panose="02010600030101010101" pitchFamily="2" charset="-122"/>
              </a:rPr>
              <a:t>if(isdigit(c))</a:t>
            </a:r>
            <a:endParaRPr lang="en-US" altLang="zh-CN" sz="2000" b="1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marL="457200" lvl="1" indent="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b="1" dirty="0">
                <a:latin typeface="Times New Roman" panose="02020603050405020304" charset="0"/>
                <a:ea typeface="宋体" panose="02010600030101010101" pitchFamily="2" charset="-122"/>
              </a:rPr>
              <a:t>{     yylval = c – ‘0’;       return  DIGIT;   }</a:t>
            </a:r>
            <a:endParaRPr lang="en-US" altLang="zh-CN" sz="2000" b="1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marL="457200" lvl="1" indent="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b="1" dirty="0">
                <a:latin typeface="Times New Roman" panose="02020603050405020304" charset="0"/>
                <a:ea typeface="宋体" panose="02010600030101010101" pitchFamily="2" charset="-122"/>
              </a:rPr>
              <a:t>return  c;</a:t>
            </a:r>
            <a:endParaRPr lang="en-US" altLang="zh-CN" sz="2000" b="1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latin typeface="Times New Roman" panose="02020603050405020304" charset="0"/>
                <a:ea typeface="宋体" panose="02010600030101010101" pitchFamily="2" charset="-122"/>
              </a:rPr>
              <a:t>}</a:t>
            </a:r>
            <a:endParaRPr lang="en-US" altLang="zh-CN" sz="2000" b="1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305155" name="Rectangle 3"/>
          <p:cNvSpPr>
            <a:spLocks noChangeArrowheads="1"/>
          </p:cNvSpPr>
          <p:nvPr/>
        </p:nvSpPr>
        <p:spPr bwMode="auto">
          <a:xfrm>
            <a:off x="4749800" y="228600"/>
            <a:ext cx="40894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例：台式计算器的翻译程序</a:t>
            </a:r>
            <a:endParaRPr kumimoji="1" lang="zh-CN" altLang="en-US" sz="2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0180" name="AutoShape 4"/>
          <p:cNvSpPr/>
          <p:nvPr/>
        </p:nvSpPr>
        <p:spPr>
          <a:xfrm>
            <a:off x="6324600" y="990600"/>
            <a:ext cx="2362200" cy="381000"/>
          </a:xfrm>
          <a:prstGeom prst="wedgeEllipseCallout">
            <a:avLst>
              <a:gd name="adj1" fmla="val -47917"/>
              <a:gd name="adj2" fmla="val 91250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dirty="0">
                <a:latin typeface="Times New Roman" panose="02020603050405020304" charset="0"/>
                <a:ea typeface="宋体" panose="02010600030101010101" pitchFamily="2" charset="-122"/>
              </a:rPr>
              <a:t>产生式右部第一个符号的值</a:t>
            </a:r>
            <a:endParaRPr lang="zh-CN" altLang="en-US" sz="1600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50181" name="AutoShape 5"/>
          <p:cNvSpPr/>
          <p:nvPr/>
        </p:nvSpPr>
        <p:spPr>
          <a:xfrm>
            <a:off x="4648200" y="2438400"/>
            <a:ext cx="3276600" cy="381000"/>
          </a:xfrm>
          <a:prstGeom prst="wedgeEllipseCallout">
            <a:avLst>
              <a:gd name="adj1" fmla="val -48981"/>
              <a:gd name="adj2" fmla="val -89167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dirty="0">
                <a:latin typeface="Times New Roman" panose="02020603050405020304" charset="0"/>
                <a:ea typeface="宋体" panose="02010600030101010101" pitchFamily="2" charset="-122"/>
              </a:rPr>
              <a:t>产生式左部符号的值</a:t>
            </a:r>
            <a:endParaRPr lang="zh-CN" altLang="en-US" sz="1800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UNIT_TABLE_BEAUTIFY" val="smartTable{40c6d62e-bf50-45fb-aa92-9fdc4b33a1f7}"/>
  <p:tag name="TABLE_ENDDRAG_ORIGIN_RECT" val="312*369"/>
  <p:tag name="TABLE_ENDDRAG_RECT" val="406*168*312*369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UNIT_TABLE_BEAUTIFY" val="smartTable{c6dfce2b-4ab4-4bc7-b704-f78b72c7ff75}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UNIT_TABLE_BEAUTIFY" val="smartTable{8b7c7520-dca1-4ca4-9ad0-4324a771d15c}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PP_MARK_KEY" val="8f19eced-f177-4d8d-8bc9-2b9eb487c1bc"/>
  <p:tag name="COMMONDATA" val="eyJoZGlkIjoiYWZhMDYyMDkyNmI0MzgzZTQ1NzlkOWQ4NjlhNmM1ZGUifQ==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聚合">
  <a:themeElements>
    <a:clrScheme name="聚合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聚合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聚合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95000" t="-106500" r="5000" b="2065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聚合">
  <a:themeElements>
    <a:clrScheme name="聚合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聚合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聚合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95000" t="-106500" r="5000" b="2065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0</TotalTime>
  <Words>6700</Words>
  <Application>WPS 演示</Application>
  <PresentationFormat>全屏显示(4:3)</PresentationFormat>
  <Paragraphs>660</Paragraphs>
  <Slides>42</Slides>
  <Notes>18</Notes>
  <HiddenSlides>0</HiddenSlides>
  <MMClips>0</MMClips>
  <ScaleCrop>false</ScaleCrop>
  <HeadingPairs>
    <vt:vector size="8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42</vt:i4>
      </vt:variant>
      <vt:variant>
        <vt:lpstr>自定义放映</vt:lpstr>
      </vt:variant>
      <vt:variant>
        <vt:i4>3</vt:i4>
      </vt:variant>
    </vt:vector>
  </HeadingPairs>
  <TitlesOfParts>
    <vt:vector size="66" baseType="lpstr">
      <vt:lpstr>Arial</vt:lpstr>
      <vt:lpstr>宋体</vt:lpstr>
      <vt:lpstr>Wingdings</vt:lpstr>
      <vt:lpstr>Times New Roman</vt:lpstr>
      <vt:lpstr>Lucida Sans Unicode</vt:lpstr>
      <vt:lpstr>黑体</vt:lpstr>
      <vt:lpstr>Wingdings 3</vt:lpstr>
      <vt:lpstr>Symbol</vt:lpstr>
      <vt:lpstr>Verdana</vt:lpstr>
      <vt:lpstr>Wingdings 2</vt:lpstr>
      <vt:lpstr>Wingdings</vt:lpstr>
      <vt:lpstr>Symbol</vt:lpstr>
      <vt:lpstr>Tahoma</vt:lpstr>
      <vt:lpstr>Wingdings 2</vt:lpstr>
      <vt:lpstr>Times New Roman</vt:lpstr>
      <vt:lpstr>微软雅黑</vt:lpstr>
      <vt:lpstr>Arial Unicode MS</vt:lpstr>
      <vt:lpstr>楷体_GB2312</vt:lpstr>
      <vt:lpstr>新宋体</vt:lpstr>
      <vt:lpstr>聚合</vt:lpstr>
      <vt:lpstr>1_聚合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SLR(1)的ACTION和GOTO表构造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自定义放映1</vt:lpstr>
      <vt:lpstr>自定义放映2</vt:lpstr>
      <vt:lpstr>自定义放映3</vt:lpstr>
    </vt:vector>
  </TitlesOfParts>
  <Company>rgkj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《 Viscual Basic6.0程序设       计实验指导与习题详解》</dc:title>
  <dc:creator>ws021</dc:creator>
  <cp:lastModifiedBy>Administrator</cp:lastModifiedBy>
  <cp:revision>598</cp:revision>
  <dcterms:created xsi:type="dcterms:W3CDTF">2001-08-16T12:48:45Z</dcterms:created>
  <dcterms:modified xsi:type="dcterms:W3CDTF">2023-04-26T03:07:21Z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90B597ED62444BDDA0746010C18EB086_12</vt:lpwstr>
  </property>
  <property fmtid="{D5CDD505-2E9C-101B-9397-08002B2CF9AE}" pid="3" name="KSOProductBuildVer">
    <vt:lpwstr>2052-11.1.0.14036</vt:lpwstr>
  </property>
</Properties>
</file>