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handoutMasterIdLst>
    <p:handoutMasterId r:id="rId32"/>
  </p:handoutMasterIdLst>
  <p:sldIdLst>
    <p:sldId id="547" r:id="rId3"/>
    <p:sldId id="548" r:id="rId4"/>
    <p:sldId id="549" r:id="rId5"/>
    <p:sldId id="567" r:id="rId6"/>
    <p:sldId id="382" r:id="rId7"/>
    <p:sldId id="550" r:id="rId8"/>
    <p:sldId id="551" r:id="rId9"/>
    <p:sldId id="552" r:id="rId10"/>
    <p:sldId id="553" r:id="rId11"/>
    <p:sldId id="554" r:id="rId12"/>
    <p:sldId id="555" r:id="rId13"/>
    <p:sldId id="556" r:id="rId14"/>
    <p:sldId id="557" r:id="rId15"/>
    <p:sldId id="558" r:id="rId16"/>
    <p:sldId id="559" r:id="rId17"/>
    <p:sldId id="560" r:id="rId18"/>
    <p:sldId id="561" r:id="rId19"/>
    <p:sldId id="562" r:id="rId20"/>
    <p:sldId id="563" r:id="rId21"/>
    <p:sldId id="564" r:id="rId22"/>
    <p:sldId id="565" r:id="rId23"/>
    <p:sldId id="566" r:id="rId24"/>
    <p:sldId id="499" r:id="rId25"/>
    <p:sldId id="501" r:id="rId26"/>
    <p:sldId id="568" r:id="rId28"/>
    <p:sldId id="569" r:id="rId29"/>
    <p:sldId id="545" r:id="rId30"/>
    <p:sldId id="570" r:id="rId31"/>
  </p:sldIdLst>
  <p:sldSz cx="9144000" cy="6858000" type="screen4x3"/>
  <p:notesSz cx="6858000" cy="9144000"/>
  <p:custShowLst>
    <p:custShow name="自定义放映1" id="0">
      <p:sldLst>
        <p:sld r:id="rId7"/>
        <p:sld r:id="rId25"/>
        <p:sld r:id="rId26"/>
      </p:sldLst>
    </p:custShow>
    <p:custShow name="自定义放映2" id="1">
      <p:sldLst/>
    </p:custShow>
  </p:custShowLst>
  <p:custDataLst>
    <p:tags r:id="rId36"/>
  </p:custDataLst>
  <p:defaultTextStyle>
    <a:defPPr>
      <a:defRPr lang="zh-CN"/>
    </a:defPPr>
    <a:lvl1pPr marL="0" lvl="0"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6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FF0000"/>
    <a:srgbClr val="003366"/>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7563"/>
    <p:restoredTop sz="94660"/>
  </p:normalViewPr>
  <p:slideViewPr>
    <p:cSldViewPr showGuides="1">
      <p:cViewPr varScale="1">
        <p:scale>
          <a:sx n="94" d="100"/>
          <a:sy n="94" d="100"/>
        </p:scale>
        <p:origin x="-492" y="-102"/>
      </p:cViewPr>
      <p:guideLst>
        <p:guide orient="horz" pos="2160"/>
        <p:guide pos="2866"/>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gs" Target="tags/tag4.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notesMaster" Target="notesMasters/notesMaster1.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42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defRPr sz="1200" b="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4275" name="Rectangle 3"/>
          <p:cNvSpPr>
            <a:spLocks noGrp="1" noChangeArrowheads="1"/>
          </p:cNvSpPr>
          <p:nvPr>
            <p:ph type="dt" sz="quarter"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a:defRPr sz="1200" b="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4276" name="Rectangle 4"/>
          <p:cNvSpPr>
            <a:spLocks noGrp="1" noChangeArrowheads="1"/>
          </p:cNvSpPr>
          <p:nvPr>
            <p:ph type="ftr" sz="quarter" idx="2"/>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a:defRPr sz="1200" b="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4277" name="Rectangle 5"/>
          <p:cNvSpPr>
            <a:spLocks noGrp="1" noChangeArrowheads="1"/>
          </p:cNvSpPr>
          <p:nvPr>
            <p:ph type="sldNum" sz="quarter" idx="3"/>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
            <a:pPr lvl="0" algn="r" eaLnBrk="1" hangingPunct="1">
              <a:buNone/>
            </a:pPr>
            <a:fld id="{9A0DB2DC-4C9A-4742-B13C-FB6460FD3503}" type="slidenum">
              <a:rPr lang="en-US" altLang="zh-CN" sz="1200" b="0" dirty="0"/>
            </a:fld>
            <a:endParaRPr lang="en-US" altLang="zh-CN" sz="1200" b="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7106"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defRPr sz="1200" b="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7107"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a:defRPr sz="1200" b="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7892" name="Rectangle 4"/>
          <p:cNvSpPr>
            <a:spLocks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7109"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7110"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a:defRPr sz="1200" b="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7111"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
            <a:pPr lvl="0" algn="r" eaLnBrk="1" hangingPunct="1">
              <a:buNone/>
            </a:pPr>
            <a:fld id="{9A0DB2DC-4C9A-4742-B13C-FB6460FD3503}" type="slidenum">
              <a:rPr lang="en-US" altLang="zh-CN" sz="1200" b="0" dirty="0"/>
            </a:fld>
            <a:endParaRPr lang="en-US" altLang="zh-CN" sz="1200" b="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38915" name="Rectangle 2"/>
          <p:cNvSpPr>
            <a:spLocks noTextEdit="1"/>
          </p:cNvSpPr>
          <p:nvPr>
            <p:ph type="sldImg"/>
          </p:nvPr>
        </p:nvSpPr>
        <p:spPr>
          <a:solidFill>
            <a:srgbClr val="FFFFFF">
              <a:alpha val="100000"/>
            </a:srgbClr>
          </a:solidFill>
          <a:ln/>
        </p:spPr>
      </p:sp>
      <p:sp>
        <p:nvSpPr>
          <p:cNvPr id="38916" name="Rectangle 3"/>
          <p:cNvSpPr/>
          <p:nvPr>
            <p:ph type="body" idx="1"/>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algn="just" eaLnBrk="1" hangingPunct="1"/>
            <a:r>
              <a:rPr lang="en-US" altLang="zh-CN" dirty="0"/>
              <a:t> </a:t>
            </a:r>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1" name="直角三角形 10"/>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grpSp>
        <p:nvGrpSpPr>
          <p:cNvPr id="2051" name="组合 15"/>
          <p:cNvGrpSpPr/>
          <p:nvPr/>
        </p:nvGrpSpPr>
        <p:grpSpPr>
          <a:xfrm>
            <a:off x="-3175" y="4953000"/>
            <a:ext cx="9147175" cy="1911350"/>
            <a:chOff x="-3765" y="4832896"/>
            <a:chExt cx="9147765" cy="2032192"/>
          </a:xfrm>
        </p:grpSpPr>
        <p:sp>
          <p:nvSpPr>
            <p:cNvPr id="2" name="任意多边形 16"/>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8" name="任意多边形 18"/>
            <p:cNvSpPr/>
            <p:nvPr/>
          </p:nvSpPr>
          <p:spPr>
            <a:xfrm>
              <a:off x="35926" y="5135025"/>
              <a:ext cx="9108074" cy="838869"/>
            </a:xfrm>
            <a:custGeom>
              <a:avLst/>
              <a:gdLst>
                <a:gd name="txL" fmla="*/ 0 w 5760"/>
                <a:gd name="txT" fmla="*/ 0 h 528"/>
                <a:gd name="txR" fmla="*/ 5760 w 5760"/>
                <a:gd name="txB" fmla="*/ 528 h 528"/>
              </a:gdLst>
              <a:ahLst/>
              <a:cxnLst>
                <a:cxn ang="0">
                  <a:pos x="0" y="0"/>
                </a:cxn>
                <a:cxn ang="0">
                  <a:pos x="5760" y="0"/>
                </a:cxn>
                <a:cxn ang="0">
                  <a:pos x="5760" y="528"/>
                </a:cxn>
                <a:cxn ang="0">
                  <a:pos x="48" y="0"/>
                </a:cxn>
              </a:cxnLst>
              <a:rect l="txL" t="txT" r="txR" b="txB"/>
              <a:pathLst>
                <a:path w="5760" h="528">
                  <a:moveTo>
                    <a:pt x="0" y="0"/>
                  </a:moveTo>
                  <a:lnTo>
                    <a:pt x="5760" y="0"/>
                  </a:lnTo>
                  <a:lnTo>
                    <a:pt x="5760" y="528"/>
                  </a:lnTo>
                  <a:lnTo>
                    <a:pt x="48" y="0"/>
                  </a:lnTo>
                </a:path>
              </a:pathLst>
            </a:custGeom>
            <a:solidFill>
              <a:srgbClr val="000000">
                <a:alpha val="100000"/>
              </a:srgbClr>
            </a:solidFill>
            <a:ln w="9525">
              <a:noFill/>
            </a:ln>
          </p:spPr>
          <p:txBody>
            <a:bodyPr/>
            <a:p>
              <a:endParaRPr lang="zh-CN" altLang="en-US"/>
            </a:p>
          </p:txBody>
        </p:sp>
        <p:sp>
          <p:nvSpPr>
            <p:cNvPr id="20" name="任意多边形 19"/>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cxnSp>
          <p:nvCxnSpPr>
            <p:cNvPr id="21" name="直接连接符 20"/>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标题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lstStyle>
          <a:p>
            <a:r>
              <a:rPr lang="zh-CN" altLang="en-US" smtClean="0"/>
              <a:t>单击此处编辑母版标题样式</a:t>
            </a:r>
            <a:endParaRPr lang="en-US"/>
          </a:p>
        </p:txBody>
      </p:sp>
      <p:sp>
        <p:nvSpPr>
          <p:cNvPr id="17" name="副标题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smtClean="0"/>
              <a:t>单击此处编辑母版副标题样式</a:t>
            </a:r>
            <a:endParaRPr lang="en-US"/>
          </a:p>
        </p:txBody>
      </p:sp>
      <p:sp>
        <p:nvSpPr>
          <p:cNvPr id="23" name="日期占位符 29"/>
          <p:cNvSpPr>
            <a:spLocks noGrp="1"/>
          </p:cNvSpPr>
          <p:nvPr>
            <p:ph type="dt" sz="half" idx="2"/>
          </p:nvPr>
        </p:nvSpPr>
        <p:spPr>
          <a:xfrm>
            <a:off x="6727825" y="6408738"/>
            <a:ext cx="1919288" cy="365125"/>
          </a:xfrm>
          <a:prstGeom prst="rect">
            <a:avLst/>
          </a:prstGeom>
        </p:spPr>
        <p:txBody>
          <a:bodyPr vert="horz" anchor="b"/>
          <a:lstStyle>
            <a:lvl1pPr>
              <a:defRPr>
                <a:solidFill>
                  <a:srgbClr val="FFFFFF"/>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4" name="页脚占位符 18"/>
          <p:cNvSpPr>
            <a:spLocks noGrp="1"/>
          </p:cNvSpPr>
          <p:nvPr>
            <p:ph type="ftr" sz="quarter" idx="3"/>
          </p:nvPr>
        </p:nvSpPr>
        <p:spPr>
          <a:xfrm>
            <a:off x="4379913" y="6408738"/>
            <a:ext cx="2351088" cy="365125"/>
          </a:xfrm>
          <a:prstGeom prst="rect">
            <a:avLst/>
          </a:prstGeom>
        </p:spPr>
        <p:txBody>
          <a:bodyPr vert="horz" anchor="b"/>
          <a:lstStyle>
            <a:lvl1pPr>
              <a:defRPr>
                <a:solidFill>
                  <a:schemeClr val="accent1">
                    <a:tint val="20000"/>
                  </a:schemeClr>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accent1">
                  <a:tint val="20000"/>
                </a:schemeClr>
              </a:solidFill>
              <a:effectLst/>
              <a:uLnTx/>
              <a:uFillTx/>
              <a:latin typeface="Times New Roman" panose="02020603050405020304" pitchFamily="18" charset="0"/>
              <a:ea typeface="宋体" panose="02010600030101010101" pitchFamily="2" charset="-122"/>
              <a:cs typeface="+mn-cs"/>
            </a:endParaRPr>
          </a:p>
        </p:txBody>
      </p:sp>
      <p:sp>
        <p:nvSpPr>
          <p:cNvPr id="25" name="灯片编号占位符 26"/>
          <p:cNvSpPr>
            <a:spLocks noGrp="1"/>
          </p:cNvSpPr>
          <p:nvPr>
            <p:ph type="sldNum" sz="quarter" idx="4"/>
          </p:nvPr>
        </p:nvSpPr>
        <p:spPr>
          <a:xfrm>
            <a:off x="8647113" y="6408738"/>
            <a:ext cx="366713" cy="365125"/>
          </a:xfrm>
          <a:prstGeom prst="rect">
            <a:avLst/>
          </a:prstGeom>
        </p:spPr>
        <p:txBody>
          <a:bodyPr vert="horz" anchor="b"/>
          <a:p>
            <a:pPr algn="r">
              <a:buNone/>
            </a:pPr>
            <a:fld id="{9A0DB2DC-4C9A-4742-B13C-FB6460FD3503}" type="slidenum">
              <a:rPr lang="en-US" altLang="zh-CN" dirty="0">
                <a:solidFill>
                  <a:srgbClr val="FFFFFF"/>
                </a:solidFill>
              </a:rPr>
            </a:fld>
            <a:endParaRPr lang="en-US" altLang="zh-CN" dirty="0">
              <a:solidFill>
                <a:srgbClr val="FFFFFF"/>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7" name="标题 6"/>
          <p:cNvSpPr>
            <a:spLocks noGrp="1"/>
          </p:cNvSpPr>
          <p:nvPr>
            <p:ph type="title"/>
          </p:nvPr>
        </p:nvSpPr>
        <p:spPr/>
        <p:txBody>
          <a:bodyPr rtlCol="0"/>
          <a:lstStyle/>
          <a:p>
            <a:r>
              <a:rPr lang="zh-CN" altLang="en-US" smtClean="0"/>
              <a:t>单击此处编辑母版标题样式</a:t>
            </a:r>
            <a:endParaRPr lang="en-US"/>
          </a:p>
        </p:txBody>
      </p:sp>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燕尾形 10"/>
          <p:cNvSpPr/>
          <p:nvPr/>
        </p:nvSpPr>
        <p:spPr>
          <a:xfrm>
            <a:off x="3636963" y="3005138"/>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16" name="燕尾形 15"/>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smtClean="0"/>
              <a:t>单击此处编辑母版文本样式</a:t>
            </a:r>
            <a:endParaRPr lang="zh-CN" altLang="en-US" smtClean="0"/>
          </a:p>
        </p:txBody>
      </p:sp>
      <p:sp>
        <p:nvSpPr>
          <p:cNvPr id="17" name="日期占位符 3"/>
          <p:cNvSpPr>
            <a:spLocks noGrp="1"/>
          </p:cNvSpPr>
          <p:nvPr>
            <p:ph type="dt" sz="half" idx="2"/>
          </p:nvPr>
        </p:nvSpPr>
        <p:spPr>
          <a:xfrm>
            <a:off x="6727825" y="6408738"/>
            <a:ext cx="1919288"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页脚占位符 4"/>
          <p:cNvSpPr>
            <a:spLocks noGrp="1"/>
          </p:cNvSpPr>
          <p:nvPr>
            <p:ph type="ftr" sz="quarter" idx="3"/>
          </p:nvPr>
        </p:nvSpPr>
        <p:spPr>
          <a:xfrm>
            <a:off x="4379913" y="6408738"/>
            <a:ext cx="2351088"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灯片编号占位符 5"/>
          <p:cNvSpPr>
            <a:spLocks noGrp="1"/>
          </p:cNvSpPr>
          <p:nvPr>
            <p:ph type="sldNum" sz="quarter" idx="4"/>
          </p:nvPr>
        </p:nvSpPr>
        <p:spPr>
          <a:xfrm>
            <a:off x="8647113" y="6408738"/>
            <a:ext cx="366713" cy="365125"/>
          </a:xfrm>
          <a:prstGeom prst="rect">
            <a:avLst/>
          </a:prstGeom>
        </p:spPr>
        <p:txBody>
          <a:bodyPr vert="horz" anchor="b"/>
          <a:p>
            <a:pPr algn="r">
              <a:buNone/>
            </a:pPr>
            <a:fld id="{9A0DB2DC-4C9A-4742-B13C-FB6460FD3503}" type="slidenum">
              <a:rPr lang="en-US" altLang="zh-CN" dirty="0"/>
            </a:fld>
            <a:endParaRPr lang="en-US" altLang="zh-CN"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内容占位符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8" name="标题 7"/>
          <p:cNvSpPr>
            <a:spLocks noGrp="1"/>
          </p:cNvSpPr>
          <p:nvPr>
            <p:ph type="title"/>
          </p:nvPr>
        </p:nvSpPr>
        <p:spPr/>
        <p:txBody>
          <a:bodyPr rtlCol="0"/>
          <a:lstStyle/>
          <a:p>
            <a:r>
              <a:rPr lang="zh-CN" altLang="en-US" smtClean="0"/>
              <a:t>单击此处编辑母版标题样式</a:t>
            </a:r>
            <a:endParaRPr lang="en-US"/>
          </a:p>
        </p:txBody>
      </p:sp>
      <p:sp>
        <p:nvSpPr>
          <p:cNvPr id="11" name="日期占位符 4"/>
          <p:cNvSpPr>
            <a:spLocks noGrp="1"/>
          </p:cNvSpPr>
          <p:nvPr>
            <p:ph type="dt" sz="half" idx="12"/>
          </p:nvPr>
        </p:nvSpPr>
        <p:spPr>
          <a:xfrm>
            <a:off x="6727825" y="6408738"/>
            <a:ext cx="1919288"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页脚占位符 5"/>
          <p:cNvSpPr>
            <a:spLocks noGrp="1"/>
          </p:cNvSpPr>
          <p:nvPr>
            <p:ph type="ftr" sz="quarter" idx="3"/>
          </p:nvPr>
        </p:nvSpPr>
        <p:spPr>
          <a:xfrm>
            <a:off x="4379913" y="6408738"/>
            <a:ext cx="2351088"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 name="灯片编号占位符 6"/>
          <p:cNvSpPr>
            <a:spLocks noGrp="1"/>
          </p:cNvSpPr>
          <p:nvPr>
            <p:ph type="sldNum" sz="quarter" idx="4"/>
          </p:nvPr>
        </p:nvSpPr>
        <p:spPr>
          <a:xfrm>
            <a:off x="8647113" y="6408738"/>
            <a:ext cx="366713" cy="365125"/>
          </a:xfrm>
          <a:prstGeom prst="rect">
            <a:avLst/>
          </a:prstGeom>
        </p:spPr>
        <p:txBody>
          <a:bodyPr vert="horz" anchor="b"/>
          <a:p>
            <a:pPr algn="r">
              <a:buNone/>
            </a:pPr>
            <a:fld id="{9A0DB2DC-4C9A-4742-B13C-FB6460FD3503}" type="slidenum">
              <a:rPr lang="en-US" altLang="zh-CN" dirty="0"/>
            </a:fld>
            <a:endParaRPr lang="en-US" altLang="zh-CN" dirty="0"/>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8229600" cy="1143000"/>
          </a:xfrm>
        </p:spPr>
        <p:txBody>
          <a:bodyPr/>
          <a:lstStyle>
            <a:lvl1pPr>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4" name="文本占位符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5" name="内容占位符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6" name="内容占位符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日期占位符 6"/>
          <p:cNvSpPr>
            <a:spLocks noGrp="1"/>
          </p:cNvSpPr>
          <p:nvPr>
            <p:ph type="dt" sz="half" idx="12"/>
          </p:nvPr>
        </p:nvSpPr>
        <p:spPr>
          <a:xfrm>
            <a:off x="6727825" y="6408738"/>
            <a:ext cx="1919288"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页脚占位符 7"/>
          <p:cNvSpPr>
            <a:spLocks noGrp="1"/>
          </p:cNvSpPr>
          <p:nvPr>
            <p:ph type="ftr" sz="quarter" idx="13"/>
          </p:nvPr>
        </p:nvSpPr>
        <p:spPr>
          <a:xfrm>
            <a:off x="4379913" y="6408738"/>
            <a:ext cx="2351088"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 name="灯片编号占位符 8"/>
          <p:cNvSpPr>
            <a:spLocks noGrp="1"/>
          </p:cNvSpPr>
          <p:nvPr>
            <p:ph type="sldNum" sz="quarter" idx="14"/>
          </p:nvPr>
        </p:nvSpPr>
        <p:spPr>
          <a:xfrm>
            <a:off x="8647113" y="6408738"/>
            <a:ext cx="366713" cy="365125"/>
          </a:xfrm>
          <a:prstGeom prst="rect">
            <a:avLst/>
          </a:prstGeom>
        </p:spPr>
        <p:txBody>
          <a:bodyPr vert="horz" anchor="b"/>
          <a:p>
            <a:pPr algn="r">
              <a:buNone/>
            </a:pPr>
            <a:fld id="{9A0DB2DC-4C9A-4742-B13C-FB6460FD3503}" type="slidenum">
              <a:rPr lang="en-US" altLang="zh-CN" dirty="0"/>
            </a:fld>
            <a:endParaRPr lang="en-US" altLang="zh-CN"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标题 5"/>
          <p:cNvSpPr>
            <a:spLocks noGrp="1"/>
          </p:cNvSpPr>
          <p:nvPr>
            <p:ph type="title"/>
          </p:nvPr>
        </p:nvSpPr>
        <p:spPr/>
        <p:txBody>
          <a:bodyPr rtlCol="0"/>
          <a:lstStyle/>
          <a:p>
            <a:r>
              <a:rPr lang="zh-CN" altLang="en-US" smtClean="0"/>
              <a:t>单击此处编辑母版标题样式</a:t>
            </a:r>
            <a:endParaRPr lang="en-US"/>
          </a:p>
        </p:txBody>
      </p:sp>
      <p:sp>
        <p:nvSpPr>
          <p:cNvPr id="11" name="日期占位符 2"/>
          <p:cNvSpPr>
            <a:spLocks noGrp="1"/>
          </p:cNvSpPr>
          <p:nvPr>
            <p:ph type="dt" sz="half" idx="2"/>
          </p:nvPr>
        </p:nvSpPr>
        <p:spPr>
          <a:xfrm>
            <a:off x="6727825" y="6408738"/>
            <a:ext cx="1919288"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页脚占位符 3"/>
          <p:cNvSpPr>
            <a:spLocks noGrp="1"/>
          </p:cNvSpPr>
          <p:nvPr>
            <p:ph type="ftr" sz="quarter" idx="3"/>
          </p:nvPr>
        </p:nvSpPr>
        <p:spPr>
          <a:xfrm>
            <a:off x="4379913" y="6408738"/>
            <a:ext cx="2351088"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 name="灯片编号占位符 4"/>
          <p:cNvSpPr>
            <a:spLocks noGrp="1"/>
          </p:cNvSpPr>
          <p:nvPr>
            <p:ph type="sldNum" sz="quarter" idx="4"/>
          </p:nvPr>
        </p:nvSpPr>
        <p:spPr>
          <a:xfrm>
            <a:off x="8647113" y="6408738"/>
            <a:ext cx="366713" cy="365125"/>
          </a:xfrm>
          <a:prstGeom prst="rect">
            <a:avLst/>
          </a:prstGeom>
        </p:spPr>
        <p:txBody>
          <a:bodyPr vert="horz" anchor="b"/>
          <a:p>
            <a:pPr algn="r">
              <a:buNone/>
            </a:pPr>
            <a:fld id="{9A0DB2DC-4C9A-4742-B13C-FB6460FD3503}" type="slidenum">
              <a:rPr lang="en-US" altLang="zh-CN" dirty="0"/>
            </a:fld>
            <a:endParaRPr lang="en-US" altLang="zh-CN" dirty="0"/>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lstStyle>
          <a:p>
            <a:r>
              <a:rPr lang="zh-CN" altLang="en-US" smtClean="0"/>
              <a:t>单击此处编辑母版标题样式</a:t>
            </a:r>
            <a:endParaRPr lang="en-US"/>
          </a:p>
        </p:txBody>
      </p:sp>
      <p:sp>
        <p:nvSpPr>
          <p:cNvPr id="3" name="文本占位符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a:r>
              <a:rPr lang="zh-CN" altLang="en-US" smtClean="0"/>
              <a:t>单击此处编辑母版文本样式</a:t>
            </a:r>
            <a:endParaRPr lang="zh-CN" altLang="en-US" smtClean="0"/>
          </a:p>
        </p:txBody>
      </p:sp>
      <p:sp>
        <p:nvSpPr>
          <p:cNvPr id="4" name="内容占位符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日期占位符 4"/>
          <p:cNvSpPr>
            <a:spLocks noGrp="1"/>
          </p:cNvSpPr>
          <p:nvPr>
            <p:ph type="dt" sz="half" idx="12"/>
          </p:nvPr>
        </p:nvSpPr>
        <p:spPr>
          <a:xfrm>
            <a:off x="6727825" y="6408738"/>
            <a:ext cx="1919288"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页脚占位符 5"/>
          <p:cNvSpPr>
            <a:spLocks noGrp="1"/>
          </p:cNvSpPr>
          <p:nvPr>
            <p:ph type="ftr" sz="quarter" idx="3"/>
          </p:nvPr>
        </p:nvSpPr>
        <p:spPr>
          <a:xfrm>
            <a:off x="4379913" y="6408738"/>
            <a:ext cx="2351088"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 name="灯片编号占位符 6"/>
          <p:cNvSpPr>
            <a:spLocks noGrp="1"/>
          </p:cNvSpPr>
          <p:nvPr>
            <p:ph type="sldNum" sz="quarter" idx="4"/>
          </p:nvPr>
        </p:nvSpPr>
        <p:spPr>
          <a:xfrm>
            <a:off x="8647113" y="6408738"/>
            <a:ext cx="366713" cy="365125"/>
          </a:xfrm>
          <a:prstGeom prst="rect">
            <a:avLst/>
          </a:prstGeom>
        </p:spPr>
        <p:txBody>
          <a:bodyPr vert="horz" anchor="b"/>
          <a:p>
            <a:pPr algn="r">
              <a:buNone/>
            </a:pPr>
            <a:fld id="{9A0DB2DC-4C9A-4742-B13C-FB6460FD3503}" type="slidenum">
              <a:rPr lang="en-US" altLang="zh-CN" dirty="0"/>
            </a:fld>
            <a:endParaRPr lang="en-US" altLang="zh-CN"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任意多边形 10"/>
          <p:cNvSpPr/>
          <p:nvPr/>
        </p:nvSpPr>
        <p:spPr bwMode="auto">
          <a:xfrm>
            <a:off x="715963" y="5002213"/>
            <a:ext cx="3802063" cy="1443038"/>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195" name="任意多边形 15"/>
          <p:cNvSpPr/>
          <p:nvPr/>
        </p:nvSpPr>
        <p:spPr>
          <a:xfrm>
            <a:off x="-53975" y="5784850"/>
            <a:ext cx="3802063" cy="838200"/>
          </a:xfrm>
          <a:custGeom>
            <a:avLst/>
            <a:gdLst>
              <a:gd name="txL" fmla="*/ 0 w 5760"/>
              <a:gd name="txT" fmla="*/ 0 h 528"/>
              <a:gd name="txR" fmla="*/ 5760 w 5760"/>
              <a:gd name="txB" fmla="*/ 528 h 528"/>
            </a:gdLst>
            <a:ahLst/>
            <a:cxnLst>
              <a:cxn ang="0">
                <a:pos x="0" y="0"/>
              </a:cxn>
              <a:cxn ang="0">
                <a:pos x="5760" y="0"/>
              </a:cxn>
              <a:cxn ang="0">
                <a:pos x="5760" y="528"/>
              </a:cxn>
              <a:cxn ang="0">
                <a:pos x="48" y="0"/>
              </a:cxn>
            </a:cxnLst>
            <a:rect l="txL" t="txT" r="txR" b="txB"/>
            <a:pathLst>
              <a:path w="5760" h="528">
                <a:moveTo>
                  <a:pt x="817" y="97"/>
                </a:moveTo>
                <a:lnTo>
                  <a:pt x="6408" y="682"/>
                </a:lnTo>
                <a:lnTo>
                  <a:pt x="5232" y="685"/>
                </a:lnTo>
                <a:lnTo>
                  <a:pt x="829" y="101"/>
                </a:lnTo>
              </a:path>
            </a:pathLst>
          </a:custGeom>
          <a:solidFill>
            <a:srgbClr val="000000">
              <a:alpha val="100000"/>
            </a:srgbClr>
          </a:solidFill>
          <a:ln w="9525">
            <a:noFill/>
          </a:ln>
        </p:spPr>
        <p:txBody>
          <a:bodyPr/>
          <a:p>
            <a:endParaRPr lang="zh-CN" altLang="en-US"/>
          </a:p>
        </p:txBody>
      </p:sp>
      <p:sp>
        <p:nvSpPr>
          <p:cNvPr id="17" name="直角三角形 16"/>
          <p:cNvSpPr/>
          <p:nvPr/>
        </p:nvSpPr>
        <p:spPr bwMode="auto">
          <a:xfrm>
            <a:off x="-6042" y="5791253"/>
            <a:ext cx="3402313"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cxnSp>
        <p:nvCxnSpPr>
          <p:cNvPr id="19" name="直接连接符 18"/>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20" name="燕尾形 19"/>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21" name="燕尾形 20"/>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lt1"/>
              </a:solidFill>
              <a:effectLst/>
              <a:uLnTx/>
              <a:uFillTx/>
              <a:latin typeface="+mn-lt"/>
              <a:ea typeface="+mn-ea"/>
              <a:cs typeface="+mn-cs"/>
            </a:endParaRPr>
          </a:p>
        </p:txBody>
      </p:sp>
      <p:sp>
        <p:nvSpPr>
          <p:cNvPr id="4" name="文本占位符 3"/>
          <p:cNvSpPr>
            <a:spLocks noGrp="1"/>
          </p:cNvSpPr>
          <p:nvPr>
            <p:ph type="body" sz="half" idx="2"/>
          </p:nvPr>
        </p:nvSpPr>
        <p:spPr>
          <a:xfrm>
            <a:off x="1141232" y="5443402"/>
            <a:ext cx="7162800" cy="648232"/>
          </a:xfrm>
          <a:noFill/>
        </p:spPr>
        <p:txBody>
          <a:bodyPr tIns="0"/>
          <a:lstStyle>
            <a:lvl1pPr marL="0" marR="18415" indent="0" algn="r">
              <a:buNone/>
              <a:defRPr sz="1400"/>
            </a:lvl1pPr>
            <a:lvl2pPr>
              <a:defRPr sz="1200"/>
            </a:lvl2pPr>
            <a:lvl3pPr>
              <a:defRPr sz="1000"/>
            </a:lvl3pPr>
            <a:lvl4pPr>
              <a:defRPr sz="900"/>
            </a:lvl4pPr>
            <a:lvl5pPr>
              <a:defRPr sz="900"/>
            </a:lvl5pPr>
          </a:lstStyle>
          <a:p>
            <a:pPr lvl="0"/>
            <a:r>
              <a:rPr lang="zh-CN" altLang="en-US" smtClean="0"/>
              <a:t>单击此处编辑母版文本样式</a:t>
            </a:r>
            <a:endParaRPr lang="zh-CN" altLang="en-US" smtClean="0"/>
          </a:p>
        </p:txBody>
      </p:sp>
      <p:sp>
        <p:nvSpPr>
          <p:cNvPr id="3" name="图片占位符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400"/>
              </a:spcBef>
              <a:spcAft>
                <a:spcPct val="0"/>
              </a:spcAft>
              <a:buClr>
                <a:schemeClr val="accent1"/>
              </a:buClr>
              <a:buSzPct val="68000"/>
              <a:buFont typeface="Wingdings 3" pitchFamily="18" charset="2"/>
              <a:buNone/>
              <a:defRPr/>
            </a:pPr>
            <a:r>
              <a:rPr kumimoji="0" lang="zh-CN" altLang="en-US" sz="3200" b="0" i="0" u="none" strike="noStrike" kern="1200" cap="none" spc="0" normalizeH="0" baseline="0" noProof="0" smtClean="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标题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lang="zh-CN" altLang="en-US" smtClean="0"/>
              <a:t>单击此处编辑母版标题样式</a:t>
            </a:r>
            <a:endParaRPr lang="en-US"/>
          </a:p>
        </p:txBody>
      </p:sp>
      <p:sp>
        <p:nvSpPr>
          <p:cNvPr id="23" name="日期占位符 4"/>
          <p:cNvSpPr>
            <a:spLocks noGrp="1"/>
          </p:cNvSpPr>
          <p:nvPr>
            <p:ph type="dt" sz="half" idx="12"/>
          </p:nvPr>
        </p:nvSpPr>
        <p:spPr>
          <a:xfrm>
            <a:off x="6727825" y="6408738"/>
            <a:ext cx="1919288" cy="365125"/>
          </a:xfrm>
          <a:prstGeom prst="rect">
            <a:avLst/>
          </a:prstGeom>
        </p:spPr>
        <p:txBody>
          <a:bodyPr vert="horz" anchor="b"/>
          <a:lstStyle>
            <a:lvl1pPr>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页脚占位符 5"/>
          <p:cNvSpPr>
            <a:spLocks noGrp="1"/>
          </p:cNvSpPr>
          <p:nvPr>
            <p:ph type="ftr" sz="quarter" idx="3"/>
          </p:nvPr>
        </p:nvSpPr>
        <p:spPr>
          <a:xfrm>
            <a:off x="4379913" y="6408738"/>
            <a:ext cx="2351088" cy="365125"/>
          </a:xfrm>
          <a:prstGeom prst="rect">
            <a:avLst/>
          </a:prstGeom>
        </p:spPr>
        <p:txBody>
          <a:bodyPr vert="horz" anchor="b"/>
          <a:lstStyle>
            <a:lvl1pPr>
              <a:defRPr>
                <a:solidFill>
                  <a:schemeClr val="tx1"/>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灯片编号占位符 6"/>
          <p:cNvSpPr>
            <a:spLocks noGrp="1"/>
          </p:cNvSpPr>
          <p:nvPr>
            <p:ph type="sldNum" sz="quarter" idx="4"/>
          </p:nvPr>
        </p:nvSpPr>
        <p:spPr>
          <a:xfrm>
            <a:off x="8647113" y="6408738"/>
            <a:ext cx="366713" cy="365125"/>
          </a:xfrm>
          <a:prstGeom prst="rect">
            <a:avLst/>
          </a:prstGeom>
        </p:spPr>
        <p:txBody>
          <a:bodyPr vert="horz" anchor="b"/>
          <a:p>
            <a:pPr algn="r">
              <a:buNone/>
            </a:pPr>
            <a:fld id="{9A0DB2DC-4C9A-4742-B13C-FB6460FD3503}" type="slidenum">
              <a:rPr lang="en-US" altLang="zh-CN" dirty="0"/>
            </a:fld>
            <a:endParaRPr lang="en-US" altLang="zh-CN"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457200" y="1481329"/>
            <a:ext cx="8229600" cy="4386071"/>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4013" y="274640"/>
            <a:ext cx="1777470" cy="5592761"/>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457200" y="274641"/>
            <a:ext cx="6324600" cy="559276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tags" Target="../tags/tag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3" name="任意多边形 12"/>
          <p:cNvSpPr/>
          <p:nvPr userDrawn="1"/>
        </p:nvSpPr>
        <p:spPr bwMode="auto">
          <a:xfrm>
            <a:off x="715963" y="5002213"/>
            <a:ext cx="3802063" cy="1443038"/>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7" name="任意多边形 11"/>
          <p:cNvSpPr/>
          <p:nvPr userDrawn="1"/>
        </p:nvSpPr>
        <p:spPr>
          <a:xfrm>
            <a:off x="-53975" y="5784850"/>
            <a:ext cx="3802063" cy="838200"/>
          </a:xfrm>
          <a:custGeom>
            <a:avLst/>
            <a:gdLst>
              <a:gd name="txL" fmla="*/ 0 w 5760"/>
              <a:gd name="txT" fmla="*/ 0 h 528"/>
              <a:gd name="txR" fmla="*/ 5760 w 5760"/>
              <a:gd name="txB" fmla="*/ 528 h 528"/>
            </a:gdLst>
            <a:ahLst/>
            <a:cxnLst>
              <a:cxn ang="0">
                <a:pos x="0" y="0"/>
              </a:cxn>
              <a:cxn ang="0">
                <a:pos x="5760" y="0"/>
              </a:cxn>
              <a:cxn ang="0">
                <a:pos x="5760" y="528"/>
              </a:cxn>
              <a:cxn ang="0">
                <a:pos x="48" y="0"/>
              </a:cxn>
            </a:cxnLst>
            <a:rect l="txL" t="txT" r="txR" b="txB"/>
            <a:pathLst>
              <a:path w="5760" h="528">
                <a:moveTo>
                  <a:pt x="817" y="97"/>
                </a:moveTo>
                <a:lnTo>
                  <a:pt x="6408" y="682"/>
                </a:lnTo>
                <a:lnTo>
                  <a:pt x="5232" y="685"/>
                </a:lnTo>
                <a:lnTo>
                  <a:pt x="829" y="101"/>
                </a:lnTo>
              </a:path>
            </a:pathLst>
          </a:custGeom>
          <a:solidFill>
            <a:srgbClr val="000000">
              <a:alpha val="100000"/>
            </a:srgbClr>
          </a:solidFill>
          <a:ln w="9525">
            <a:noFill/>
          </a:ln>
        </p:spPr>
        <p:txBody>
          <a:bodyPr/>
          <a:p>
            <a:endParaRPr lang="zh-CN" altLang="en-US"/>
          </a:p>
        </p:txBody>
      </p:sp>
      <p:cxnSp>
        <p:nvCxnSpPr>
          <p:cNvPr id="15" name="直接连接符 14"/>
          <p:cNvCxnSpPr/>
          <p:nvPr userDrawn="1"/>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zh-CN" altLang="en-US" smtClean="0"/>
              <a:t>单击此处编辑母版标题样式</a:t>
            </a:r>
            <a:endParaRPr lang="en-US"/>
          </a:p>
        </p:txBody>
      </p:sp>
      <p:sp>
        <p:nvSpPr>
          <p:cNvPr id="1033" name="文本占位符 29"/>
          <p:cNvSpPr>
            <a:spLocks noGrp="1"/>
          </p:cNvSpPr>
          <p:nvPr>
            <p:ph type="body" idx="1"/>
          </p:nvPr>
        </p:nvSpPr>
        <p:spPr>
          <a:xfrm>
            <a:off x="457200" y="1481138"/>
            <a:ext cx="8229600" cy="4525962"/>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sp>
        <p:nvSpPr>
          <p:cNvPr id="10" name="日期占位符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页脚占位符 21"/>
          <p:cNvSpPr>
            <a:spLocks noGrp="1"/>
          </p:cNvSpPr>
          <p:nvPr>
            <p:ph type="ftr" sz="quarter" idx="3"/>
          </p:nvPr>
        </p:nvSpPr>
        <p:spPr>
          <a:xfrm>
            <a:off x="4379913" y="6408738"/>
            <a:ext cx="2351088" cy="365125"/>
          </a:xfrm>
          <a:prstGeom prst="rect">
            <a:avLst/>
          </a:prstGeom>
        </p:spPr>
        <p:txBody>
          <a:bodyPr vert="horz" anchor="b"/>
          <a:lstStyle>
            <a:lvl1pPr algn="r" eaLnBrk="1" latinLnBrk="0" hangingPunct="1">
              <a:defRPr kumimoji="0" sz="1000">
                <a:solidFill>
                  <a:schemeClr val="tx1"/>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灯片编号占位符 17"/>
          <p:cNvSpPr>
            <a:spLocks noGrp="1"/>
          </p:cNvSpPr>
          <p:nvPr>
            <p:ph type="sldNum" sz="quarter" idx="4"/>
          </p:nvPr>
        </p:nvSpPr>
        <p:spPr>
          <a:xfrm>
            <a:off x="8647113" y="6408738"/>
            <a:ext cx="366713" cy="365125"/>
          </a:xfrm>
          <a:prstGeom prst="rect">
            <a:avLst/>
          </a:prstGeom>
        </p:spPr>
        <p:txBody>
          <a:bodyPr vert="horz" anchor="b"/>
          <a:lstStyle>
            <a:lvl1pPr algn="r">
              <a:defRPr sz="1000" b="0"/>
            </a:lvl1pPr>
          </a:lstStyle>
          <a:p>
            <a:pPr lvl="0" eaLnBrk="1" hangingPunct="1">
              <a:buNone/>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
        <p:nvSpPr>
          <p:cNvPr id="3" name="直角三角形 2"/>
          <p:cNvSpPr/>
          <p:nvPr userDrawn="1">
            <p:custDataLst>
              <p:tags r:id="rId12"/>
            </p:custDataLst>
          </p:nvPr>
        </p:nvSpPr>
        <p:spPr bwMode="auto">
          <a:xfrm>
            <a:off x="-6350" y="5791200"/>
            <a:ext cx="3402013" cy="1081088"/>
          </a:xfrm>
          <a:prstGeom prst="rtTriangle">
            <a:avLst/>
          </a:prstGeom>
          <a:solidFill>
            <a:schemeClr val="accent1"/>
          </a:solidFill>
          <a:ln>
            <a:solidFill>
              <a:schemeClr val="bg2">
                <a:lumMod val="25000"/>
              </a:schemeClr>
            </a:solidFill>
          </a:ln>
        </p:spPr>
        <p:style>
          <a:lnRef idx="2">
            <a:schemeClr val="dk1"/>
          </a:lnRef>
          <a:fillRef idx="1">
            <a:schemeClr val="lt1"/>
          </a:fillRef>
          <a:effectRef idx="0">
            <a:schemeClr val="dk1"/>
          </a:effectRef>
          <a:fontRef idx="minor">
            <a:schemeClr val="dk1"/>
          </a:fontRef>
        </p:style>
        <p:txBody>
          <a:bodyPr anchor="ct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lt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0" fontAlgn="base" hangingPunct="0">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2pPr>
      <a:lvl3pPr algn="l" rtl="0" eaLnBrk="0" fontAlgn="base" hangingPunct="0">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3pPr>
      <a:lvl4pPr algn="l" rtl="0" eaLnBrk="0" fontAlgn="base" hangingPunct="0">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4pPr>
      <a:lvl5pPr algn="l" rtl="0" eaLnBrk="0" fontAlgn="base" hangingPunct="0">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5pPr>
      <a:lvl6pPr marL="4572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6pPr>
      <a:lvl7pPr marL="9144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7pPr>
      <a:lvl8pPr marL="13716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8pPr>
      <a:lvl9pPr marL="18288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9pPr>
    </p:titleStyle>
    <p:bodyStyle>
      <a:lvl1pPr marL="365125" indent="-255905" algn="l" rtl="0" eaLnBrk="0" fontAlgn="base" hangingPunct="0">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1030"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9155" indent="-228600" algn="l" rtl="0" eaLnBrk="0" fontAlgn="base" hangingPunct="0">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457200" y="142852"/>
            <a:ext cx="8229600" cy="1143000"/>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1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语义分析</a:t>
            </a:r>
            <a:endParaRPr kumimoji="0" lang="zh-CN" altLang="en-US" sz="41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9219" name="Picture 2"/>
          <p:cNvPicPr>
            <a:picLocks noChangeAspect="1"/>
          </p:cNvPicPr>
          <p:nvPr/>
        </p:nvPicPr>
        <p:blipFill>
          <a:blip r:embed="rId1"/>
          <a:srcRect l="8928" t="39664" r="6250" b="22115"/>
          <a:stretch>
            <a:fillRect/>
          </a:stretch>
        </p:blipFill>
        <p:spPr>
          <a:xfrm>
            <a:off x="428625" y="928688"/>
            <a:ext cx="8143875" cy="3786187"/>
          </a:xfrm>
          <a:prstGeom prst="rect">
            <a:avLst/>
          </a:prstGeom>
          <a:noFill/>
          <a:ln w="9525">
            <a:noFill/>
          </a:ln>
        </p:spPr>
      </p:pic>
      <p:cxnSp>
        <p:nvCxnSpPr>
          <p:cNvPr id="6" name="直接连接符 5"/>
          <p:cNvCxnSpPr/>
          <p:nvPr/>
        </p:nvCxnSpPr>
        <p:spPr>
          <a:xfrm>
            <a:off x="1071563" y="3571875"/>
            <a:ext cx="4286250"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pic>
        <p:nvPicPr>
          <p:cNvPr id="9221" name="Picture 2"/>
          <p:cNvPicPr>
            <a:picLocks noChangeAspect="1"/>
          </p:cNvPicPr>
          <p:nvPr/>
        </p:nvPicPr>
        <p:blipFill>
          <a:blip r:embed="rId2"/>
          <a:srcRect l="7440" t="33894" r="4762" b="45192"/>
          <a:stretch>
            <a:fillRect/>
          </a:stretch>
        </p:blipFill>
        <p:spPr>
          <a:xfrm>
            <a:off x="357188" y="4643438"/>
            <a:ext cx="8429625" cy="2071687"/>
          </a:xfrm>
          <a:prstGeom prst="rect">
            <a:avLst/>
          </a:prstGeom>
          <a:noFill/>
          <a:ln w="9525">
            <a:noFill/>
          </a:ln>
        </p:spPr>
      </p:pic>
      <p:cxnSp>
        <p:nvCxnSpPr>
          <p:cNvPr id="8" name="直接连接符 7"/>
          <p:cNvCxnSpPr/>
          <p:nvPr/>
        </p:nvCxnSpPr>
        <p:spPr>
          <a:xfrm>
            <a:off x="571500" y="5143500"/>
            <a:ext cx="7858125"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714375" y="6215063"/>
            <a:ext cx="2214563"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内容占位符 1"/>
          <p:cNvSpPr>
            <a:spLocks noGrp="1"/>
          </p:cNvSpPr>
          <p:nvPr>
            <p:ph idx="1"/>
          </p:nvPr>
        </p:nvSpPr>
        <p:spPr>
          <a:ln/>
        </p:spPr>
        <p:txBody>
          <a:bodyPr vert="horz" wrap="square" lIns="91440" tIns="45720" rIns="91440" bIns="45720" anchor="t" anchorCtr="0"/>
          <a:p>
            <a:pPr eaLnBrk="1" hangingPunct="1"/>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10244" name="Picture 3"/>
          <p:cNvPicPr>
            <a:picLocks noChangeAspect="1"/>
          </p:cNvPicPr>
          <p:nvPr/>
        </p:nvPicPr>
        <p:blipFill>
          <a:blip r:embed="rId1"/>
          <a:srcRect l="10455" t="26683" r="7295" b="17789"/>
          <a:stretch>
            <a:fillRect/>
          </a:stretch>
        </p:blipFill>
        <p:spPr>
          <a:xfrm>
            <a:off x="285750" y="500063"/>
            <a:ext cx="8539163" cy="5572125"/>
          </a:xfrm>
          <a:prstGeom prst="rect">
            <a:avLst/>
          </a:prstGeom>
          <a:noFill/>
          <a:ln w="9525">
            <a:noFill/>
          </a:ln>
        </p:spPr>
      </p:pic>
      <p:cxnSp>
        <p:nvCxnSpPr>
          <p:cNvPr id="6" name="直接连接符 5"/>
          <p:cNvCxnSpPr/>
          <p:nvPr/>
        </p:nvCxnSpPr>
        <p:spPr>
          <a:xfrm>
            <a:off x="1285875" y="2143125"/>
            <a:ext cx="1500188"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2786063" y="2684463"/>
            <a:ext cx="2143125"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内容占位符 1"/>
          <p:cNvSpPr>
            <a:spLocks noGrp="1"/>
          </p:cNvSpPr>
          <p:nvPr>
            <p:ph idx="1"/>
          </p:nvPr>
        </p:nvSpPr>
        <p:spPr>
          <a:ln/>
        </p:spPr>
        <p:txBody>
          <a:bodyPr vert="horz" wrap="square" lIns="91440" tIns="45720" rIns="91440" bIns="45720" anchor="t" anchorCtr="0"/>
          <a:p>
            <a:pPr eaLnBrk="1" hangingPunct="1"/>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11268" name="Picture 2"/>
          <p:cNvPicPr>
            <a:picLocks noChangeAspect="1"/>
          </p:cNvPicPr>
          <p:nvPr/>
        </p:nvPicPr>
        <p:blipFill>
          <a:blip r:embed="rId1"/>
          <a:srcRect l="9758" t="32452" r="10780" b="19231"/>
          <a:stretch>
            <a:fillRect/>
          </a:stretch>
        </p:blipFill>
        <p:spPr>
          <a:xfrm>
            <a:off x="285750" y="571500"/>
            <a:ext cx="8509000" cy="5000625"/>
          </a:xfrm>
          <a:prstGeom prst="rect">
            <a:avLst/>
          </a:prstGeom>
          <a:noFill/>
          <a:ln w="9525">
            <a:noFill/>
          </a:ln>
        </p:spPr>
      </p:pic>
      <p:cxnSp>
        <p:nvCxnSpPr>
          <p:cNvPr id="5" name="直接连接符 4"/>
          <p:cNvCxnSpPr/>
          <p:nvPr/>
        </p:nvCxnSpPr>
        <p:spPr>
          <a:xfrm>
            <a:off x="428625" y="4929188"/>
            <a:ext cx="2143125"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357188" y="5572125"/>
            <a:ext cx="1857375"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8358188" y="4929188"/>
            <a:ext cx="357188" cy="30163"/>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3"/>
          <p:cNvSpPr>
            <a:spLocks noGrp="1"/>
          </p:cNvSpPr>
          <p:nvPr>
            <p:ph idx="1"/>
          </p:nvPr>
        </p:nvSpPr>
        <p:spPr>
          <a:xfrm>
            <a:off x="316230" y="533400"/>
            <a:ext cx="8505825" cy="5843905"/>
          </a:xfrm>
          <a:ln/>
        </p:spPr>
        <p:txBody>
          <a:bodyPr vert="horz" wrap="square" lIns="91440" tIns="45720" rIns="91440" bIns="45720" anchor="t" anchorCtr="0"/>
          <a:p>
            <a:pPr eaLnBrk="1" hangingPunct="1">
              <a:buFont typeface="Wingdings" panose="05000000000000000000" charset="0"/>
              <a:buChar char="ü"/>
            </a:pPr>
            <a:r>
              <a:rPr lang="zh-CN" altLang="en-US" sz="2400" b="1" dirty="0">
                <a:latin typeface="宋体" panose="02010600030101010101" pitchFamily="2" charset="-122"/>
              </a:rPr>
              <a:t>语义处理方法</a:t>
            </a:r>
            <a:endParaRPr lang="zh-CN" altLang="en-US" sz="2400" b="1" dirty="0">
              <a:latin typeface="宋体" panose="02010600030101010101" pitchFamily="2" charset="-122"/>
            </a:endParaRPr>
          </a:p>
          <a:p>
            <a:pPr lvl="1" eaLnBrk="1" hangingPunct="1">
              <a:buFontTx/>
              <a:buNone/>
            </a:pPr>
            <a:r>
              <a:rPr lang="zh-CN" altLang="en-US" sz="2400" dirty="0">
                <a:solidFill>
                  <a:schemeClr val="tx2"/>
                </a:solidFill>
                <a:latin typeface="宋体" panose="02010600030101010101" pitchFamily="2" charset="-122"/>
              </a:rPr>
              <a:t>目前在实际应用中比较流行的语义处理的方法主要是 </a:t>
            </a:r>
            <a:r>
              <a:rPr lang="zh-CN" altLang="en-US" sz="2400" dirty="0">
                <a:solidFill>
                  <a:srgbClr val="FF0000"/>
                </a:solidFill>
                <a:latin typeface="宋体" panose="02010600030101010101" pitchFamily="2" charset="-122"/>
              </a:rPr>
              <a:t>属性文法和语法制导翻译方法</a:t>
            </a:r>
            <a:r>
              <a:rPr lang="zh-CN" altLang="en-US" sz="2400" dirty="0">
                <a:solidFill>
                  <a:schemeClr val="tx2"/>
                </a:solidFill>
                <a:latin typeface="宋体" panose="02010600030101010101" pitchFamily="2" charset="-122"/>
              </a:rPr>
              <a:t>，</a:t>
            </a:r>
            <a:r>
              <a:rPr lang="zh-CN" altLang="en-US" sz="2400" dirty="0">
                <a:solidFill>
                  <a:schemeClr val="tx2"/>
                </a:solidFill>
                <a:latin typeface="Times New Roman" panose="02020603050405020304" pitchFamily="18" charset="0"/>
              </a:rPr>
              <a:t>应用最广的是属性文法。</a:t>
            </a:r>
            <a:r>
              <a:rPr lang="zh-CN" altLang="en-US" sz="2400" dirty="0">
                <a:solidFill>
                  <a:schemeClr val="tx2"/>
                </a:solidFill>
                <a:latin typeface="宋体" panose="02010600030101010101" pitchFamily="2" charset="-122"/>
              </a:rPr>
              <a:t>属性是描述语义的有效方法，由此发展而来的属性文法被认为是上下文无关文法的扩充。</a:t>
            </a:r>
            <a:endParaRPr lang="zh-CN" altLang="en-US" sz="2000" dirty="0">
              <a:solidFill>
                <a:schemeClr val="tx2"/>
              </a:solidFill>
              <a:latin typeface="宋体" panose="02010600030101010101" pitchFamily="2" charset="-122"/>
            </a:endParaRPr>
          </a:p>
          <a:p>
            <a:pPr eaLnBrk="1" hangingPunct="1">
              <a:spcBef>
                <a:spcPct val="60000"/>
              </a:spcBef>
              <a:buFont typeface="Wingdings" panose="05000000000000000000" charset="0"/>
              <a:buChar char="ü"/>
            </a:pPr>
            <a:r>
              <a:rPr lang="zh-CN" altLang="en-US" sz="2400" b="1" dirty="0">
                <a:latin typeface="宋体" panose="02010600030101010101" pitchFamily="2" charset="-122"/>
              </a:rPr>
              <a:t>属性文法的基本思想</a:t>
            </a:r>
            <a:endParaRPr lang="zh-CN" altLang="en-US" sz="2400" b="1" dirty="0">
              <a:latin typeface="宋体" panose="02010600030101010101" pitchFamily="2" charset="-122"/>
            </a:endParaRPr>
          </a:p>
          <a:p>
            <a:pPr lvl="1" eaLnBrk="1" hangingPunct="1">
              <a:buFontTx/>
              <a:buNone/>
            </a:pPr>
            <a:r>
              <a:rPr lang="zh-CN" altLang="en-US" sz="2400" dirty="0">
                <a:solidFill>
                  <a:schemeClr val="tx2"/>
                </a:solidFill>
                <a:latin typeface="宋体" panose="02010600030101010101" pitchFamily="2" charset="-122"/>
              </a:rPr>
              <a:t>目</a:t>
            </a:r>
            <a:r>
              <a:rPr lang="zh-CN" altLang="en-US" sz="2400" dirty="0">
                <a:solidFill>
                  <a:schemeClr val="tx2"/>
                </a:solidFill>
                <a:latin typeface="Times New Roman" panose="02020603050405020304" pitchFamily="18" charset="0"/>
              </a:rPr>
              <a:t>是将语言结构的语义以</a:t>
            </a:r>
            <a:r>
              <a:rPr lang="zh-CN" altLang="en-US" sz="2400" dirty="0">
                <a:solidFill>
                  <a:srgbClr val="FF0000"/>
                </a:solidFill>
                <a:latin typeface="Times New Roman" panose="02020603050405020304" pitchFamily="18" charset="0"/>
              </a:rPr>
              <a:t>属性</a:t>
            </a:r>
            <a:r>
              <a:rPr lang="en-US" altLang="zh-CN" sz="2400" dirty="0">
                <a:solidFill>
                  <a:schemeClr val="tx2"/>
                </a:solidFill>
                <a:latin typeface="宋体" panose="02010600030101010101" pitchFamily="2" charset="-122"/>
              </a:rPr>
              <a:t>(attribute)</a:t>
            </a:r>
            <a:r>
              <a:rPr lang="zh-CN" altLang="en-US" sz="2400" dirty="0">
                <a:solidFill>
                  <a:schemeClr val="tx2"/>
                </a:solidFill>
                <a:latin typeface="Times New Roman" panose="02020603050405020304" pitchFamily="18" charset="0"/>
              </a:rPr>
              <a:t>的形式赋予代表此结构的文法符号，而属性的计算</a:t>
            </a:r>
            <a:r>
              <a:rPr lang="zh-CN" altLang="en-US" sz="2400" dirty="0">
                <a:solidFill>
                  <a:srgbClr val="FF0000"/>
                </a:solidFill>
                <a:latin typeface="Times New Roman" panose="02020603050405020304" pitchFamily="18" charset="0"/>
              </a:rPr>
              <a:t>以语义规则</a:t>
            </a:r>
            <a:r>
              <a:rPr lang="zh-CN" altLang="en-US" sz="2400" dirty="0">
                <a:solidFill>
                  <a:srgbClr val="FF0000"/>
                </a:solidFill>
                <a:latin typeface="宋体" panose="02010600030101010101" pitchFamily="2" charset="-122"/>
              </a:rPr>
              <a:t>（</a:t>
            </a:r>
            <a:r>
              <a:rPr lang="en-US" altLang="zh-CN" sz="2400" dirty="0">
                <a:solidFill>
                  <a:srgbClr val="FF0000"/>
                </a:solidFill>
                <a:latin typeface="宋体" panose="02010600030101010101" pitchFamily="2" charset="-122"/>
              </a:rPr>
              <a:t>semantic rules</a:t>
            </a:r>
            <a:r>
              <a:rPr lang="zh-CN" altLang="en-US" sz="2400" dirty="0">
                <a:solidFill>
                  <a:srgbClr val="FF0000"/>
                </a:solidFill>
                <a:latin typeface="宋体" panose="02010600030101010101" pitchFamily="2" charset="-122"/>
              </a:rPr>
              <a:t>）</a:t>
            </a:r>
            <a:r>
              <a:rPr lang="zh-CN" altLang="en-US" sz="2400" dirty="0">
                <a:solidFill>
                  <a:srgbClr val="FF0000"/>
                </a:solidFill>
                <a:latin typeface="Times New Roman" panose="02020603050405020304" pitchFamily="18" charset="0"/>
              </a:rPr>
              <a:t>的形式</a:t>
            </a:r>
            <a:r>
              <a:rPr lang="zh-CN" altLang="en-US" sz="2400" dirty="0">
                <a:solidFill>
                  <a:schemeClr val="tx2"/>
                </a:solidFill>
                <a:latin typeface="Times New Roman" panose="02020603050405020304" pitchFamily="18" charset="0"/>
              </a:rPr>
              <a:t>赋予由文法符号组成的产生式。在进行语法分析推导或归约的同时通过语义规则实现对属性的计算，以达到对语义的处理。</a:t>
            </a:r>
            <a:endParaRPr lang="zh-CN" altLang="en-US" sz="2400" dirty="0">
              <a:solidFill>
                <a:schemeClr val="tx2"/>
              </a:solidFill>
              <a:latin typeface="Times New Roman" panose="02020603050405020304" pitchFamily="18" charset="0"/>
            </a:endParaRPr>
          </a:p>
          <a:p>
            <a:pPr eaLnBrk="1" hangingPunct="1">
              <a:spcBef>
                <a:spcPct val="60000"/>
              </a:spcBef>
              <a:buFont typeface="Wingdings" panose="05000000000000000000" charset="0"/>
              <a:buChar char="ü"/>
            </a:pPr>
            <a:r>
              <a:rPr lang="zh-CN" altLang="en-US" sz="2400" b="1" dirty="0">
                <a:latin typeface="宋体" panose="02010600030101010101" pitchFamily="2" charset="-122"/>
              </a:rPr>
              <a:t>属性文法侧重</a:t>
            </a:r>
            <a:r>
              <a:rPr lang="zh-CN" altLang="en-US" sz="2400" b="1" dirty="0">
                <a:solidFill>
                  <a:srgbClr val="FF0000"/>
                </a:solidFill>
                <a:latin typeface="宋体" panose="02010600030101010101" pitchFamily="2" charset="-122"/>
              </a:rPr>
              <a:t>对语义的抽象说明</a:t>
            </a:r>
            <a:r>
              <a:rPr lang="zh-CN" altLang="en-US" sz="2400" b="1" dirty="0">
                <a:latin typeface="宋体" panose="02010600030101010101" pitchFamily="2" charset="-122"/>
              </a:rPr>
              <a:t>，而语法制导翻译方法则侧重</a:t>
            </a:r>
            <a:r>
              <a:rPr lang="zh-CN" altLang="en-US" sz="2400" b="1" dirty="0">
                <a:solidFill>
                  <a:srgbClr val="FF0000"/>
                </a:solidFill>
                <a:latin typeface="宋体" panose="02010600030101010101" pitchFamily="2" charset="-122"/>
              </a:rPr>
              <a:t>实现</a:t>
            </a:r>
            <a:r>
              <a:rPr lang="zh-CN" altLang="en-US" sz="2400" b="1" dirty="0">
                <a:latin typeface="宋体" panose="02010600030101010101" pitchFamily="2" charset="-122"/>
              </a:rPr>
              <a:t>。</a:t>
            </a:r>
            <a:endParaRPr lang="zh-CN" altLang="en-US" sz="2400" b="1" dirty="0">
              <a:latin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34"/>
          <p:cNvSpPr/>
          <p:nvPr/>
        </p:nvSpPr>
        <p:spPr>
          <a:xfrm>
            <a:off x="381000" y="457200"/>
            <a:ext cx="8229600" cy="641350"/>
          </a:xfrm>
          <a:prstGeom prst="rect">
            <a:avLst/>
          </a:prstGeom>
          <a:noFill/>
          <a:ln w="9525">
            <a:noFill/>
          </a:ln>
        </p:spPr>
        <p:txBody>
          <a:bodyPr>
            <a:spAutoFit/>
          </a:bodyPr>
          <a:lstStyle>
            <a:lvl1pPr marL="365125" indent="-255905" algn="l" rtl="0" eaLnBrk="0" fontAlgn="base" hangingPunct="0">
              <a:spcBef>
                <a:spcPts val="400"/>
              </a:spcBef>
              <a:spcAft>
                <a:spcPct val="0"/>
              </a:spcAft>
              <a:buClr>
                <a:schemeClr val="accent1"/>
              </a:buClr>
              <a:buSzPct val="68000"/>
              <a:buFont typeface="Wingdings 3" pitchFamily="18" charset="2"/>
              <a:buChar char=""/>
              <a:defRPr sz="2700" b="0" kern="1200">
                <a:solidFill>
                  <a:schemeClr val="tx1"/>
                </a:solidFill>
                <a:latin typeface="+mn-lt"/>
                <a:ea typeface="+mn-ea"/>
                <a:cs typeface="+mn-cs"/>
              </a:defRPr>
            </a:lvl1pPr>
            <a:lvl2pPr marL="621030"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9155" indent="-228600" algn="l" rtl="0" eaLnBrk="0" fontAlgn="base" hangingPunct="0">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3600" b="1" dirty="0">
                <a:latin typeface="宋体" panose="02010600030101010101" pitchFamily="2" charset="-122"/>
                <a:ea typeface="宋体" panose="02010600030101010101" pitchFamily="2" charset="-122"/>
              </a:rPr>
              <a:t>第五章  属性文法与语义分析</a:t>
            </a:r>
            <a:endParaRPr lang="zh-CN" altLang="en-US" sz="3600" b="1" dirty="0">
              <a:latin typeface="宋体" panose="02010600030101010101" pitchFamily="2" charset="-122"/>
              <a:ea typeface="宋体" panose="02010600030101010101" pitchFamily="2" charset="-122"/>
            </a:endParaRPr>
          </a:p>
        </p:txBody>
      </p:sp>
      <p:sp>
        <p:nvSpPr>
          <p:cNvPr id="13315" name="Rectangle 37"/>
          <p:cNvSpPr>
            <a:spLocks noGrp="1"/>
          </p:cNvSpPr>
          <p:nvPr>
            <p:ph idx="1"/>
          </p:nvPr>
        </p:nvSpPr>
        <p:spPr>
          <a:xfrm>
            <a:off x="332740" y="1504950"/>
            <a:ext cx="8470265" cy="4725670"/>
          </a:xfrm>
          <a:ln/>
        </p:spPr>
        <p:txBody>
          <a:bodyPr vert="horz" wrap="square" lIns="91440" tIns="45720" rIns="91440" bIns="45720" anchor="t" anchorCtr="0"/>
          <a:p>
            <a:pPr eaLnBrk="1" hangingPunct="1">
              <a:buFont typeface="Wingdings" panose="05000000000000000000" charset="0"/>
              <a:buChar char="ü"/>
            </a:pPr>
            <a:r>
              <a:rPr lang="zh-CN" altLang="en-US" sz="2800" b="1" dirty="0">
                <a:latin typeface="黑体" panose="02010609060101010101" pitchFamily="2" charset="-122"/>
              </a:rPr>
              <a:t>程序设计语言的</a:t>
            </a:r>
            <a:r>
              <a:rPr lang="zh-CN" altLang="en-US" sz="2800" b="1" dirty="0">
                <a:solidFill>
                  <a:srgbClr val="FF0000"/>
                </a:solidFill>
                <a:latin typeface="黑体" panose="02010609060101010101" pitchFamily="2" charset="-122"/>
              </a:rPr>
              <a:t>语义</a:t>
            </a:r>
            <a:r>
              <a:rPr lang="zh-CN" altLang="en-US" sz="2800" b="1" dirty="0">
                <a:latin typeface="黑体" panose="02010609060101010101" pitchFamily="2" charset="-122"/>
              </a:rPr>
              <a:t>                               </a:t>
            </a:r>
            <a:endParaRPr lang="zh-CN" altLang="en-US" sz="2800" b="1" dirty="0">
              <a:latin typeface="黑体" panose="02010609060101010101" pitchFamily="2" charset="-122"/>
            </a:endParaRPr>
          </a:p>
          <a:p>
            <a:pPr lvl="1" eaLnBrk="1" hangingPunct="1">
              <a:buFontTx/>
              <a:buNone/>
            </a:pPr>
            <a:r>
              <a:rPr lang="zh-CN" altLang="en-US" b="1" dirty="0">
                <a:solidFill>
                  <a:srgbClr val="FF0000"/>
                </a:solidFill>
                <a:latin typeface="宋体" panose="02010600030101010101" pitchFamily="2" charset="-122"/>
              </a:rPr>
              <a:t>静态语义</a:t>
            </a:r>
            <a:r>
              <a:rPr lang="zh-CN" altLang="en-US" sz="2400" b="1" dirty="0">
                <a:solidFill>
                  <a:schemeClr val="tx1"/>
                </a:solidFill>
                <a:latin typeface="宋体" panose="02010600030101010101" pitchFamily="2" charset="-122"/>
              </a:rPr>
              <a:t>是指在编译阶段能检查的语义。它是对程序约束的描述，可以分为</a:t>
            </a:r>
            <a:r>
              <a:rPr lang="zh-CN" altLang="en-US" sz="2400" b="1" dirty="0">
                <a:solidFill>
                  <a:srgbClr val="FF0000"/>
                </a:solidFill>
                <a:latin typeface="宋体" panose="02010600030101010101" pitchFamily="2" charset="-122"/>
              </a:rPr>
              <a:t>类型规则</a:t>
            </a:r>
            <a:r>
              <a:rPr lang="zh-CN" altLang="en-US" sz="2400" b="1" dirty="0">
                <a:solidFill>
                  <a:schemeClr val="tx1"/>
                </a:solidFill>
                <a:latin typeface="宋体" panose="02010600030101010101" pitchFamily="2" charset="-122"/>
              </a:rPr>
              <a:t>和</a:t>
            </a:r>
            <a:r>
              <a:rPr lang="zh-CN" altLang="en-US" sz="2400" b="1" dirty="0">
                <a:solidFill>
                  <a:srgbClr val="FF0000"/>
                </a:solidFill>
                <a:latin typeface="宋体" panose="02010600030101010101" pitchFamily="2" charset="-122"/>
              </a:rPr>
              <a:t>作用域</a:t>
            </a:r>
            <a:r>
              <a:rPr lang="en-US" altLang="zh-CN" sz="2400" b="1" dirty="0">
                <a:solidFill>
                  <a:srgbClr val="FF0000"/>
                </a:solidFill>
                <a:latin typeface="宋体" panose="02010600030101010101" pitchFamily="2" charset="-122"/>
              </a:rPr>
              <a:t>/</a:t>
            </a:r>
            <a:r>
              <a:rPr lang="zh-CN" altLang="en-US" sz="2400" b="1" dirty="0">
                <a:solidFill>
                  <a:srgbClr val="FF0000"/>
                </a:solidFill>
                <a:latin typeface="宋体" panose="02010600030101010101" pitchFamily="2" charset="-122"/>
              </a:rPr>
              <a:t>可见性规则</a:t>
            </a:r>
            <a:r>
              <a:rPr lang="zh-CN" altLang="en-US" sz="2400" b="1" dirty="0">
                <a:solidFill>
                  <a:schemeClr val="tx1"/>
                </a:solidFill>
                <a:latin typeface="宋体" panose="02010600030101010101" pitchFamily="2" charset="-122"/>
              </a:rPr>
              <a:t>两大类。</a:t>
            </a:r>
            <a:endParaRPr lang="zh-CN" altLang="en-US" b="1" dirty="0">
              <a:solidFill>
                <a:schemeClr val="tx2"/>
              </a:solidFill>
              <a:latin typeface="宋体" panose="02010600030101010101" pitchFamily="2" charset="-122"/>
            </a:endParaRPr>
          </a:p>
          <a:p>
            <a:pPr lvl="1" eaLnBrk="1" hangingPunct="1">
              <a:buFontTx/>
              <a:buNone/>
            </a:pPr>
            <a:r>
              <a:rPr lang="zh-CN" altLang="en-US" b="1" dirty="0">
                <a:solidFill>
                  <a:srgbClr val="FF0000"/>
                </a:solidFill>
                <a:latin typeface="宋体" panose="02010600030101010101" pitchFamily="2" charset="-122"/>
              </a:rPr>
              <a:t>动态语义</a:t>
            </a:r>
            <a:r>
              <a:rPr lang="zh-CN" altLang="en-US" b="1" dirty="0">
                <a:solidFill>
                  <a:schemeClr val="tx1"/>
                </a:solidFill>
                <a:latin typeface="宋体" panose="02010600030101010101" pitchFamily="2" charset="-122"/>
              </a:rPr>
              <a:t>是只有在目标代码的运行阶段才能检查的语义。</a:t>
            </a:r>
            <a:endParaRPr lang="zh-CN" altLang="en-US" b="1" dirty="0">
              <a:solidFill>
                <a:schemeClr val="tx1"/>
              </a:solidFill>
              <a:latin typeface="宋体" panose="02010600030101010101" pitchFamily="2" charset="-122"/>
            </a:endParaRPr>
          </a:p>
          <a:p>
            <a:pPr eaLnBrk="1" hangingPunct="1">
              <a:spcBef>
                <a:spcPct val="40000"/>
              </a:spcBef>
              <a:buFont typeface="Wingdings" panose="05000000000000000000" charset="0"/>
              <a:buChar char="ü"/>
            </a:pPr>
            <a:r>
              <a:rPr lang="zh-CN" altLang="en-US" sz="2800" b="1" dirty="0">
                <a:latin typeface="黑体" panose="02010609060101010101" pitchFamily="2" charset="-122"/>
              </a:rPr>
              <a:t>编译程序的语义处理工作：</a:t>
            </a:r>
            <a:endParaRPr lang="zh-CN" altLang="en-US" sz="2800" b="1" dirty="0">
              <a:latin typeface="黑体" panose="02010609060101010101" pitchFamily="2" charset="-122"/>
            </a:endParaRPr>
          </a:p>
          <a:p>
            <a:pPr lvl="1" eaLnBrk="1" hangingPunct="1">
              <a:spcBef>
                <a:spcPct val="40000"/>
              </a:spcBef>
              <a:buFontTx/>
              <a:buNone/>
            </a:pPr>
            <a:r>
              <a:rPr lang="zh-CN" altLang="en-US" b="1" dirty="0">
                <a:solidFill>
                  <a:schemeClr val="tx1"/>
                </a:solidFill>
                <a:latin typeface="宋体" panose="02010600030101010101" pitchFamily="2" charset="-122"/>
              </a:rPr>
              <a:t>静态语义检查 </a:t>
            </a:r>
            <a:r>
              <a:rPr lang="en-US" altLang="zh-CN" b="1" dirty="0">
                <a:solidFill>
                  <a:schemeClr val="tx1"/>
                </a:solidFill>
                <a:latin typeface="宋体" panose="02010600030101010101" pitchFamily="2" charset="-122"/>
              </a:rPr>
              <a:t>/</a:t>
            </a:r>
            <a:r>
              <a:rPr lang="zh-CN" altLang="en-US" b="1" u="sng" dirty="0">
                <a:solidFill>
                  <a:schemeClr val="tx1"/>
                </a:solidFill>
                <a:latin typeface="宋体" panose="02010600030101010101" pitchFamily="2" charset="-122"/>
              </a:rPr>
              <a:t>生成某种中间代码</a:t>
            </a:r>
            <a:r>
              <a:rPr lang="zh-CN" altLang="en-US" b="1" dirty="0">
                <a:solidFill>
                  <a:schemeClr val="tx1"/>
                </a:solidFill>
                <a:latin typeface="宋体" panose="02010600030101010101" pitchFamily="2" charset="-122"/>
              </a:rPr>
              <a:t> </a:t>
            </a:r>
            <a:r>
              <a:rPr lang="en-US" altLang="zh-CN" b="1" dirty="0">
                <a:solidFill>
                  <a:schemeClr val="tx1"/>
                </a:solidFill>
                <a:latin typeface="宋体" panose="02010600030101010101" pitchFamily="2" charset="-122"/>
              </a:rPr>
              <a:t>/</a:t>
            </a:r>
            <a:r>
              <a:rPr lang="zh-CN" altLang="en-US" b="1" u="sng" dirty="0">
                <a:solidFill>
                  <a:schemeClr val="tx1"/>
                </a:solidFill>
                <a:latin typeface="宋体" panose="02010600030101010101" pitchFamily="2" charset="-122"/>
              </a:rPr>
              <a:t>解释执行</a:t>
            </a:r>
            <a:endParaRPr lang="en-US" altLang="zh-CN" b="1" u="sng" dirty="0">
              <a:solidFill>
                <a:schemeClr val="tx1"/>
              </a:solidFill>
              <a:latin typeface="宋体" panose="02010600030101010101" pitchFamily="2" charset="-122"/>
            </a:endParaRPr>
          </a:p>
          <a:p>
            <a:pPr lvl="1" eaLnBrk="1" hangingPunct="1">
              <a:spcBef>
                <a:spcPct val="40000"/>
              </a:spcBef>
              <a:buFontTx/>
              <a:buNone/>
            </a:pPr>
            <a:r>
              <a:rPr lang="zh-CN" altLang="en-US" b="1" u="sng" dirty="0">
                <a:solidFill>
                  <a:schemeClr val="tx1"/>
                </a:solidFill>
                <a:latin typeface="宋体" panose="02010600030101010101" pitchFamily="2" charset="-122"/>
              </a:rPr>
              <a:t>动态语义</a:t>
            </a:r>
            <a:endParaRPr lang="zh-CN" altLang="en-US" b="1" u="sng" dirty="0">
              <a:solidFill>
                <a:schemeClr val="tx1"/>
              </a:solidFill>
              <a:latin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内容占位符 1"/>
          <p:cNvSpPr>
            <a:spLocks noGrp="1"/>
          </p:cNvSpPr>
          <p:nvPr>
            <p:ph idx="1"/>
          </p:nvPr>
        </p:nvSpPr>
        <p:spPr>
          <a:ln/>
        </p:spPr>
        <p:txBody>
          <a:bodyPr vert="horz" wrap="square" lIns="91440" tIns="45720" rIns="91440" bIns="45720" anchor="t" anchorCtr="0"/>
          <a:p>
            <a:pPr eaLnBrk="1" hangingPunct="1"/>
            <a:endParaRPr lang="zh-CN" altLang="en-US" dirty="0"/>
          </a:p>
        </p:txBody>
      </p:sp>
      <p:sp>
        <p:nvSpPr>
          <p:cNvPr id="3" name="标题 2"/>
          <p:cNvSpPr>
            <a:spLocks noGrp="1"/>
          </p:cNvSpPr>
          <p:nvPr>
            <p:ph type="title"/>
          </p:nvPr>
        </p:nvSpPr>
        <p:spPr>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1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语法制导翻译方法</a:t>
            </a:r>
            <a:endParaRPr kumimoji="0" lang="zh-CN" altLang="en-US" sz="41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14340" name="Picture 2"/>
          <p:cNvPicPr>
            <a:picLocks noChangeAspect="1"/>
          </p:cNvPicPr>
          <p:nvPr/>
        </p:nvPicPr>
        <p:blipFill>
          <a:blip r:embed="rId1"/>
          <a:srcRect l="8363" t="29567" r="12173" b="23557"/>
          <a:stretch>
            <a:fillRect/>
          </a:stretch>
        </p:blipFill>
        <p:spPr>
          <a:xfrm>
            <a:off x="357188" y="1214438"/>
            <a:ext cx="8143875" cy="4643437"/>
          </a:xfrm>
          <a:prstGeom prst="rect">
            <a:avLst/>
          </a:prstGeom>
          <a:noFill/>
          <a:ln w="9525">
            <a:noFill/>
          </a:ln>
        </p:spPr>
      </p:pic>
      <p:cxnSp>
        <p:nvCxnSpPr>
          <p:cNvPr id="5" name="直接连接符 4"/>
          <p:cNvCxnSpPr/>
          <p:nvPr/>
        </p:nvCxnSpPr>
        <p:spPr>
          <a:xfrm>
            <a:off x="571500" y="2143125"/>
            <a:ext cx="1857375"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2928938" y="5857875"/>
            <a:ext cx="3000375"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 name="直接连接符 1"/>
          <p:cNvCxnSpPr/>
          <p:nvPr>
            <p:custDataLst>
              <p:tags r:id="rId2"/>
            </p:custDataLst>
          </p:nvPr>
        </p:nvCxnSpPr>
        <p:spPr>
          <a:xfrm flipV="1">
            <a:off x="6012180" y="2706370"/>
            <a:ext cx="2304415" cy="2540"/>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3"/>
            </p:custDataLst>
          </p:nvPr>
        </p:nvCxnSpPr>
        <p:spPr>
          <a:xfrm>
            <a:off x="611505" y="3213100"/>
            <a:ext cx="1857375"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内容占位符 1"/>
          <p:cNvSpPr>
            <a:spLocks noGrp="1"/>
          </p:cNvSpPr>
          <p:nvPr>
            <p:ph idx="1"/>
          </p:nvPr>
        </p:nvSpPr>
        <p:spPr>
          <a:ln/>
        </p:spPr>
        <p:txBody>
          <a:bodyPr vert="horz" wrap="square" lIns="91440" tIns="45720" rIns="91440" bIns="45720" anchor="t" anchorCtr="0"/>
          <a:p>
            <a:pPr eaLnBrk="1" hangingPunct="1"/>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15364" name="Picture 2"/>
          <p:cNvPicPr>
            <a:picLocks noChangeAspect="1"/>
          </p:cNvPicPr>
          <p:nvPr/>
        </p:nvPicPr>
        <p:blipFill>
          <a:blip r:embed="rId1"/>
          <a:srcRect l="10455" t="28125" r="10780" b="22115"/>
          <a:stretch>
            <a:fillRect/>
          </a:stretch>
        </p:blipFill>
        <p:spPr>
          <a:xfrm>
            <a:off x="285750" y="571500"/>
            <a:ext cx="8423275" cy="5143500"/>
          </a:xfrm>
          <a:prstGeom prst="rect">
            <a:avLst/>
          </a:prstGeom>
          <a:noFill/>
          <a:ln w="9525">
            <a:noFill/>
          </a:ln>
        </p:spPr>
      </p:pic>
      <p:cxnSp>
        <p:nvCxnSpPr>
          <p:cNvPr id="5" name="直接连接符 4"/>
          <p:cNvCxnSpPr/>
          <p:nvPr/>
        </p:nvCxnSpPr>
        <p:spPr>
          <a:xfrm>
            <a:off x="4286250" y="3929063"/>
            <a:ext cx="1857375"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357188" y="5572125"/>
            <a:ext cx="1357313" cy="0"/>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内容占位符 1"/>
          <p:cNvSpPr>
            <a:spLocks noGrp="1"/>
          </p:cNvSpPr>
          <p:nvPr>
            <p:ph idx="1"/>
          </p:nvPr>
        </p:nvSpPr>
        <p:spPr>
          <a:ln/>
        </p:spPr>
        <p:txBody>
          <a:bodyPr vert="horz" wrap="square" lIns="91440" tIns="45720" rIns="91440" bIns="45720" anchor="t" anchorCtr="0"/>
          <a:p>
            <a:pPr eaLnBrk="1" hangingPunct="1"/>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16388" name="Picture 2"/>
          <p:cNvPicPr>
            <a:picLocks noChangeAspect="1"/>
          </p:cNvPicPr>
          <p:nvPr/>
        </p:nvPicPr>
        <p:blipFill>
          <a:blip r:embed="rId1"/>
          <a:srcRect l="10455" t="34615" r="10780" b="30769"/>
          <a:stretch>
            <a:fillRect/>
          </a:stretch>
        </p:blipFill>
        <p:spPr>
          <a:xfrm>
            <a:off x="428625" y="857250"/>
            <a:ext cx="8072438" cy="342900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内容占位符 1"/>
          <p:cNvSpPr>
            <a:spLocks noGrp="1"/>
          </p:cNvSpPr>
          <p:nvPr>
            <p:ph idx="1"/>
          </p:nvPr>
        </p:nvSpPr>
        <p:spPr>
          <a:ln/>
        </p:spPr>
        <p:txBody>
          <a:bodyPr vert="horz" wrap="square" lIns="91440" tIns="45720" rIns="91440" bIns="45720" anchor="t" anchorCtr="0"/>
          <a:p>
            <a:pPr eaLnBrk="1" hangingPunct="1"/>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17412" name="Picture 2"/>
          <p:cNvPicPr>
            <a:picLocks noChangeAspect="1"/>
          </p:cNvPicPr>
          <p:nvPr/>
        </p:nvPicPr>
        <p:blipFill>
          <a:blip r:embed="rId1"/>
          <a:srcRect l="6273" t="25961" r="13568" b="25722"/>
          <a:stretch>
            <a:fillRect/>
          </a:stretch>
        </p:blipFill>
        <p:spPr>
          <a:xfrm>
            <a:off x="428625" y="642938"/>
            <a:ext cx="8215313" cy="4786312"/>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内容占位符 1"/>
          <p:cNvSpPr>
            <a:spLocks noGrp="1"/>
          </p:cNvSpPr>
          <p:nvPr>
            <p:ph idx="1"/>
          </p:nvPr>
        </p:nvSpPr>
        <p:spPr>
          <a:ln/>
        </p:spPr>
        <p:txBody>
          <a:bodyPr vert="horz" wrap="square" lIns="91440" tIns="45720" rIns="91440" bIns="45720" anchor="t" anchorCtr="0"/>
          <a:p>
            <a:pPr eaLnBrk="1" hangingPunct="1"/>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18436" name="Picture 2"/>
          <p:cNvPicPr>
            <a:picLocks noChangeAspect="1"/>
          </p:cNvPicPr>
          <p:nvPr/>
        </p:nvPicPr>
        <p:blipFill>
          <a:blip r:embed="rId1"/>
          <a:srcRect l="10455" t="31731" r="10780" b="20673"/>
          <a:stretch>
            <a:fillRect/>
          </a:stretch>
        </p:blipFill>
        <p:spPr>
          <a:xfrm>
            <a:off x="500063" y="785813"/>
            <a:ext cx="8072437" cy="4714875"/>
          </a:xfrm>
          <a:prstGeom prst="rect">
            <a:avLst/>
          </a:prstGeom>
          <a:noFill/>
          <a:ln w="9525">
            <a:noFill/>
          </a:ln>
        </p:spPr>
      </p:pic>
      <p:cxnSp>
        <p:nvCxnSpPr>
          <p:cNvPr id="5" name="直接连接符 4"/>
          <p:cNvCxnSpPr/>
          <p:nvPr/>
        </p:nvCxnSpPr>
        <p:spPr>
          <a:xfrm>
            <a:off x="3643313" y="2857500"/>
            <a:ext cx="4857750"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714375" y="3357563"/>
            <a:ext cx="1857375"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内容占位符 1"/>
          <p:cNvSpPr>
            <a:spLocks noGrp="1"/>
          </p:cNvSpPr>
          <p:nvPr>
            <p:ph idx="1"/>
          </p:nvPr>
        </p:nvSpPr>
        <p:spPr>
          <a:ln/>
        </p:spPr>
        <p:txBody>
          <a:bodyPr vert="horz" wrap="square" lIns="91440" tIns="45720" rIns="91440" bIns="45720" anchor="t" anchorCtr="0"/>
          <a:p>
            <a:pPr eaLnBrk="1" hangingPunct="1"/>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19460" name="Picture 2"/>
          <p:cNvPicPr>
            <a:picLocks noChangeAspect="1"/>
          </p:cNvPicPr>
          <p:nvPr/>
        </p:nvPicPr>
        <p:blipFill>
          <a:blip r:embed="rId1"/>
          <a:srcRect l="11848" t="25961" r="27509" b="14903"/>
          <a:stretch>
            <a:fillRect/>
          </a:stretch>
        </p:blipFill>
        <p:spPr>
          <a:xfrm>
            <a:off x="1285875" y="285750"/>
            <a:ext cx="6215063" cy="5857875"/>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内容占位符 1"/>
          <p:cNvSpPr>
            <a:spLocks noGrp="1"/>
          </p:cNvSpPr>
          <p:nvPr>
            <p:ph idx="1"/>
          </p:nvPr>
        </p:nvSpPr>
        <p:spPr>
          <a:ln/>
        </p:spPr>
        <p:txBody>
          <a:bodyPr vert="horz" wrap="square" lIns="91440" tIns="45720" rIns="91440" bIns="45720" anchor="t" anchorCtr="0"/>
          <a:p>
            <a:pPr eaLnBrk="1" hangingPunct="1"/>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20484" name="Picture 2"/>
          <p:cNvPicPr>
            <a:picLocks noChangeAspect="1"/>
          </p:cNvPicPr>
          <p:nvPr/>
        </p:nvPicPr>
        <p:blipFill>
          <a:blip r:embed="rId1"/>
          <a:srcRect l="15334" t="28125" r="18448" b="9856"/>
          <a:stretch>
            <a:fillRect/>
          </a:stretch>
        </p:blipFill>
        <p:spPr>
          <a:xfrm>
            <a:off x="1285875" y="357188"/>
            <a:ext cx="6786563" cy="6143625"/>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内容占位符 1"/>
          <p:cNvSpPr>
            <a:spLocks noGrp="1"/>
          </p:cNvSpPr>
          <p:nvPr>
            <p:ph idx="1"/>
          </p:nvPr>
        </p:nvSpPr>
        <p:spPr>
          <a:ln/>
        </p:spPr>
        <p:txBody>
          <a:bodyPr vert="horz" wrap="square" lIns="91440" tIns="45720" rIns="91440" bIns="45720" anchor="t" anchorCtr="0"/>
          <a:p>
            <a:pPr eaLnBrk="1" hangingPunct="1"/>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21508" name="Picture 2"/>
          <p:cNvPicPr>
            <a:picLocks noChangeAspect="1"/>
          </p:cNvPicPr>
          <p:nvPr/>
        </p:nvPicPr>
        <p:blipFill>
          <a:blip r:embed="rId1"/>
          <a:srcRect l="10455" t="18750" r="9386" b="14903"/>
          <a:stretch>
            <a:fillRect/>
          </a:stretch>
        </p:blipFill>
        <p:spPr>
          <a:xfrm>
            <a:off x="428625" y="142875"/>
            <a:ext cx="8215313" cy="657225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内容占位符 1"/>
          <p:cNvSpPr>
            <a:spLocks noGrp="1"/>
          </p:cNvSpPr>
          <p:nvPr>
            <p:ph idx="1"/>
          </p:nvPr>
        </p:nvSpPr>
        <p:spPr>
          <a:ln/>
        </p:spPr>
        <p:txBody>
          <a:bodyPr vert="horz" wrap="square" lIns="91440" tIns="45720" rIns="91440" bIns="45720" anchor="t" anchorCtr="0"/>
          <a:p>
            <a:pPr eaLnBrk="1" hangingPunct="1"/>
            <a:endParaRPr lang="zh-CN" altLang="en-US" dirty="0"/>
          </a:p>
        </p:txBody>
      </p:sp>
      <p:sp>
        <p:nvSpPr>
          <p:cNvPr id="3" name="标题 2"/>
          <p:cNvSpPr>
            <a:spLocks noGrp="1"/>
          </p:cNvSpPr>
          <p:nvPr>
            <p:ph type="title"/>
          </p:nvPr>
        </p:nvSpPr>
        <p:spPr>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1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mj-lt"/>
                <a:ea typeface="+mj-ea"/>
                <a:cs typeface="+mj-cs"/>
              </a:rPr>
              <a:t>属性文法</a:t>
            </a:r>
            <a:endParaRPr kumimoji="0" lang="zh-CN" altLang="en-US" sz="41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22532" name="Picture 2"/>
          <p:cNvPicPr>
            <a:picLocks noChangeAspect="1"/>
          </p:cNvPicPr>
          <p:nvPr/>
        </p:nvPicPr>
        <p:blipFill>
          <a:blip r:embed="rId1"/>
          <a:srcRect l="9758" t="41106" r="10780" b="14182"/>
          <a:stretch>
            <a:fillRect/>
          </a:stretch>
        </p:blipFill>
        <p:spPr>
          <a:xfrm>
            <a:off x="571500" y="1428750"/>
            <a:ext cx="8143875" cy="4429125"/>
          </a:xfrm>
          <a:prstGeom prst="rect">
            <a:avLst/>
          </a:prstGeom>
          <a:noFill/>
          <a:ln w="9525">
            <a:noFill/>
          </a:ln>
        </p:spPr>
      </p:pic>
      <p:cxnSp>
        <p:nvCxnSpPr>
          <p:cNvPr id="5" name="直接连接符 4"/>
          <p:cNvCxnSpPr/>
          <p:nvPr/>
        </p:nvCxnSpPr>
        <p:spPr>
          <a:xfrm>
            <a:off x="3000375" y="2928938"/>
            <a:ext cx="3643313"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内容占位符 1"/>
          <p:cNvSpPr>
            <a:spLocks noGrp="1"/>
          </p:cNvSpPr>
          <p:nvPr>
            <p:ph idx="1"/>
          </p:nvPr>
        </p:nvSpPr>
        <p:spPr>
          <a:ln/>
        </p:spPr>
        <p:txBody>
          <a:bodyPr vert="horz" wrap="square" lIns="91440" tIns="45720" rIns="91440" bIns="45720" anchor="t" anchorCtr="0"/>
          <a:p>
            <a:pPr eaLnBrk="1" hangingPunct="1"/>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23556" name="Picture 2"/>
          <p:cNvPicPr>
            <a:picLocks noChangeAspect="1"/>
          </p:cNvPicPr>
          <p:nvPr/>
        </p:nvPicPr>
        <p:blipFill>
          <a:blip r:embed="rId1"/>
          <a:srcRect l="6970" t="28125" r="10780" b="12019"/>
          <a:stretch>
            <a:fillRect/>
          </a:stretch>
        </p:blipFill>
        <p:spPr>
          <a:xfrm>
            <a:off x="357188" y="285750"/>
            <a:ext cx="8429625" cy="5929313"/>
          </a:xfrm>
          <a:prstGeom prst="rect">
            <a:avLst/>
          </a:prstGeom>
          <a:noFill/>
          <a:ln w="9525">
            <a:noFill/>
          </a:ln>
        </p:spPr>
      </p:pic>
      <p:cxnSp>
        <p:nvCxnSpPr>
          <p:cNvPr id="5" name="直接连接符 4"/>
          <p:cNvCxnSpPr/>
          <p:nvPr/>
        </p:nvCxnSpPr>
        <p:spPr>
          <a:xfrm>
            <a:off x="785813" y="2143125"/>
            <a:ext cx="3929063"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785813" y="2643188"/>
            <a:ext cx="7929563"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857250" y="3143250"/>
            <a:ext cx="571500"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071938" y="3714750"/>
            <a:ext cx="3357563"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6357938" y="5715000"/>
            <a:ext cx="2428875"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357188" y="4286250"/>
            <a:ext cx="5072063"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714375" y="6215063"/>
            <a:ext cx="2428875"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内容占位符 1"/>
          <p:cNvSpPr>
            <a:spLocks noGrp="1"/>
          </p:cNvSpPr>
          <p:nvPr>
            <p:ph idx="1"/>
          </p:nvPr>
        </p:nvSpPr>
        <p:spPr>
          <a:ln/>
        </p:spPr>
        <p:txBody>
          <a:bodyPr vert="horz" wrap="square" lIns="91440" tIns="45720" rIns="91440" bIns="45720" anchor="t" anchorCtr="0"/>
          <a:p>
            <a:pPr eaLnBrk="1" hangingPunct="1"/>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24580" name="Picture 2"/>
          <p:cNvPicPr>
            <a:picLocks noChangeAspect="1"/>
          </p:cNvPicPr>
          <p:nvPr/>
        </p:nvPicPr>
        <p:blipFill>
          <a:blip r:embed="rId1"/>
          <a:srcRect l="9758" t="21635" r="10780" b="56009"/>
          <a:stretch>
            <a:fillRect/>
          </a:stretch>
        </p:blipFill>
        <p:spPr>
          <a:xfrm>
            <a:off x="428625" y="1357313"/>
            <a:ext cx="8143875" cy="2214562"/>
          </a:xfrm>
          <a:prstGeom prst="rect">
            <a:avLst/>
          </a:prstGeom>
          <a:noFill/>
          <a:ln w="9525">
            <a:noFill/>
          </a:ln>
        </p:spPr>
      </p:pic>
      <p:cxnSp>
        <p:nvCxnSpPr>
          <p:cNvPr id="5" name="直接连接符 4"/>
          <p:cNvCxnSpPr/>
          <p:nvPr/>
        </p:nvCxnSpPr>
        <p:spPr>
          <a:xfrm>
            <a:off x="1000125" y="1928813"/>
            <a:ext cx="5072063"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内容占位符 1"/>
          <p:cNvSpPr>
            <a:spLocks noGrp="1"/>
          </p:cNvSpPr>
          <p:nvPr>
            <p:ph idx="1"/>
          </p:nvPr>
        </p:nvSpPr>
        <p:spPr>
          <a:ln/>
        </p:spPr>
        <p:txBody>
          <a:bodyPr vert="horz" wrap="square" lIns="91440" tIns="45720" rIns="91440" bIns="45720" anchor="t" anchorCtr="0"/>
          <a:p>
            <a:pPr eaLnBrk="1" hangingPunct="1"/>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25604" name="Picture 2"/>
          <p:cNvPicPr>
            <a:picLocks noChangeAspect="1"/>
          </p:cNvPicPr>
          <p:nvPr/>
        </p:nvPicPr>
        <p:blipFill>
          <a:blip r:embed="rId1"/>
          <a:srcRect l="9061" t="24519" r="10780" b="25000"/>
          <a:stretch>
            <a:fillRect/>
          </a:stretch>
        </p:blipFill>
        <p:spPr>
          <a:xfrm>
            <a:off x="500063" y="428625"/>
            <a:ext cx="8215312" cy="5000625"/>
          </a:xfrm>
          <a:prstGeom prst="rect">
            <a:avLst/>
          </a:prstGeom>
          <a:noFill/>
          <a:ln w="9525">
            <a:noFill/>
          </a:ln>
        </p:spPr>
      </p:pic>
      <p:cxnSp>
        <p:nvCxnSpPr>
          <p:cNvPr id="5" name="直接连接符 4"/>
          <p:cNvCxnSpPr/>
          <p:nvPr/>
        </p:nvCxnSpPr>
        <p:spPr>
          <a:xfrm>
            <a:off x="1000125" y="1500188"/>
            <a:ext cx="1500188"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4214813" y="4141788"/>
            <a:ext cx="4429125"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938" y="4643438"/>
            <a:ext cx="428625"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内容占位符 1"/>
          <p:cNvSpPr>
            <a:spLocks noGrp="1"/>
          </p:cNvSpPr>
          <p:nvPr>
            <p:ph idx="1"/>
          </p:nvPr>
        </p:nvSpPr>
        <p:spPr>
          <a:ln/>
        </p:spPr>
        <p:txBody>
          <a:bodyPr vert="horz" wrap="square" lIns="91440" tIns="45720" rIns="91440" bIns="45720" anchor="t" anchorCtr="0"/>
          <a:p>
            <a:pPr eaLnBrk="1" hangingPunct="1"/>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26628" name="Picture 2"/>
          <p:cNvPicPr>
            <a:picLocks noChangeAspect="1"/>
          </p:cNvPicPr>
          <p:nvPr/>
        </p:nvPicPr>
        <p:blipFill>
          <a:blip r:embed="rId1"/>
          <a:srcRect l="5576" t="17308" r="26813" b="28606"/>
          <a:stretch>
            <a:fillRect/>
          </a:stretch>
        </p:blipFill>
        <p:spPr>
          <a:xfrm>
            <a:off x="857250" y="642938"/>
            <a:ext cx="6929438" cy="5357812"/>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内容占位符 1"/>
          <p:cNvSpPr>
            <a:spLocks noGrp="1"/>
          </p:cNvSpPr>
          <p:nvPr>
            <p:ph idx="1"/>
          </p:nvPr>
        </p:nvSpPr>
        <p:spPr>
          <a:ln/>
        </p:spPr>
        <p:txBody>
          <a:bodyPr vert="horz" wrap="square" lIns="91440" tIns="45720" rIns="91440" bIns="45720" anchor="t" anchorCtr="0"/>
          <a:p>
            <a:pPr eaLnBrk="1" hangingPunct="1"/>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27652" name="Picture 2"/>
          <p:cNvPicPr>
            <a:picLocks noChangeAspect="1"/>
          </p:cNvPicPr>
          <p:nvPr/>
        </p:nvPicPr>
        <p:blipFill>
          <a:blip r:embed="rId1"/>
          <a:srcRect l="6273" t="20192" r="9386" b="17789"/>
          <a:stretch>
            <a:fillRect/>
          </a:stretch>
        </p:blipFill>
        <p:spPr>
          <a:xfrm>
            <a:off x="214313" y="214313"/>
            <a:ext cx="8643937" cy="6143625"/>
          </a:xfrm>
          <a:prstGeom prst="rect">
            <a:avLst/>
          </a:prstGeom>
          <a:noFill/>
          <a:ln w="9525">
            <a:noFill/>
          </a:ln>
        </p:spPr>
      </p:pic>
      <p:cxnSp>
        <p:nvCxnSpPr>
          <p:cNvPr id="5" name="直接连接符 4"/>
          <p:cNvCxnSpPr/>
          <p:nvPr/>
        </p:nvCxnSpPr>
        <p:spPr>
          <a:xfrm>
            <a:off x="714375" y="2143125"/>
            <a:ext cx="7858125"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714375" y="2643188"/>
            <a:ext cx="2133600" cy="9525"/>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1928813" y="4071938"/>
            <a:ext cx="2857500" cy="9525"/>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3929063" y="3571875"/>
            <a:ext cx="285750" cy="19050"/>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内容占位符 1"/>
          <p:cNvSpPr>
            <a:spLocks noGrp="1"/>
          </p:cNvSpPr>
          <p:nvPr>
            <p:ph idx="1"/>
          </p:nvPr>
        </p:nvSpPr>
        <p:spPr>
          <a:ln/>
        </p:spPr>
        <p:txBody>
          <a:bodyPr vert="horz" wrap="square" lIns="91440" tIns="45720" rIns="91440" bIns="45720" anchor="t" anchorCtr="0"/>
          <a:p>
            <a:pPr eaLnBrk="1" hangingPunct="1"/>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28676" name="Picture 2"/>
          <p:cNvPicPr>
            <a:picLocks noChangeAspect="1"/>
          </p:cNvPicPr>
          <p:nvPr/>
        </p:nvPicPr>
        <p:blipFill>
          <a:blip r:embed="rId1"/>
          <a:srcRect l="6273" t="25961" r="16357" b="19231"/>
          <a:stretch>
            <a:fillRect/>
          </a:stretch>
        </p:blipFill>
        <p:spPr>
          <a:xfrm>
            <a:off x="428625" y="357188"/>
            <a:ext cx="7929563" cy="5429250"/>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内容占位符 1"/>
          <p:cNvSpPr>
            <a:spLocks noGrp="1"/>
          </p:cNvSpPr>
          <p:nvPr>
            <p:ph idx="1"/>
          </p:nvPr>
        </p:nvSpPr>
        <p:spPr>
          <a:ln/>
        </p:spPr>
        <p:txBody>
          <a:bodyPr vert="horz" wrap="square" lIns="91440" tIns="45720" rIns="91440" bIns="45720" anchor="t" anchorCtr="0"/>
          <a:p>
            <a:pPr eaLnBrk="1" hangingPunct="1"/>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29700" name="Picture 2"/>
          <p:cNvPicPr>
            <a:picLocks noChangeAspect="1"/>
          </p:cNvPicPr>
          <p:nvPr/>
        </p:nvPicPr>
        <p:blipFill>
          <a:blip r:embed="rId1"/>
          <a:srcRect l="10455" t="30289" r="10780" b="26442"/>
          <a:stretch>
            <a:fillRect/>
          </a:stretch>
        </p:blipFill>
        <p:spPr>
          <a:xfrm>
            <a:off x="500063" y="857250"/>
            <a:ext cx="8072437" cy="4286250"/>
          </a:xfrm>
          <a:prstGeom prst="rect">
            <a:avLst/>
          </a:prstGeom>
          <a:noFill/>
          <a:ln w="9525">
            <a:noFill/>
          </a:ln>
        </p:spPr>
      </p:pic>
      <p:cxnSp>
        <p:nvCxnSpPr>
          <p:cNvPr id="5" name="直接连接符 4"/>
          <p:cNvCxnSpPr/>
          <p:nvPr/>
        </p:nvCxnSpPr>
        <p:spPr>
          <a:xfrm>
            <a:off x="2857500" y="1928813"/>
            <a:ext cx="5429250"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571500" y="2428875"/>
            <a:ext cx="4214813" cy="1588"/>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内容占位符 1"/>
          <p:cNvSpPr>
            <a:spLocks noGrp="1"/>
          </p:cNvSpPr>
          <p:nvPr>
            <p:ph idx="1"/>
          </p:nvPr>
        </p:nvSpPr>
        <p:spPr>
          <a:ln/>
        </p:spPr>
        <p:txBody>
          <a:bodyPr vert="horz" wrap="square" lIns="91440" tIns="45720" rIns="91440" bIns="45720" anchor="t" anchorCtr="0"/>
          <a:p>
            <a:pPr eaLnBrk="1" hangingPunct="1"/>
            <a:endParaRPr lang="zh-CN" altLang="en-US" dirty="0"/>
          </a:p>
        </p:txBody>
      </p:sp>
      <p:sp>
        <p:nvSpPr>
          <p:cNvPr id="3" name="标题 2"/>
          <p:cNvSpPr>
            <a:spLocks noGrp="1"/>
          </p:cNvSpPr>
          <p:nvPr>
            <p:ph type="title"/>
          </p:nvPr>
        </p:nvSpPr>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4100" b="1" i="0" u="none" strike="noStrike" kern="1200" cap="none" spc="0" normalizeH="0" baseline="0" noProof="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pic>
        <p:nvPicPr>
          <p:cNvPr id="30724" name="Picture 2"/>
          <p:cNvPicPr>
            <a:picLocks noChangeAspect="1"/>
          </p:cNvPicPr>
          <p:nvPr/>
        </p:nvPicPr>
        <p:blipFill>
          <a:blip r:embed="rId1"/>
          <a:srcRect l="29971" t="20192" r="23328" b="30769"/>
          <a:stretch>
            <a:fillRect/>
          </a:stretch>
        </p:blipFill>
        <p:spPr>
          <a:xfrm>
            <a:off x="2071688" y="571500"/>
            <a:ext cx="4786312" cy="4857750"/>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9234" name="Rectangle 1026"/>
          <p:cNvSpPr>
            <a:spLocks noChangeArrowheads="1"/>
          </p:cNvSpPr>
          <p:nvPr/>
        </p:nvSpPr>
        <p:spPr bwMode="auto">
          <a:xfrm>
            <a:off x="457200" y="381000"/>
            <a:ext cx="8229600" cy="5867400"/>
          </a:xfrm>
          <a:prstGeom prst="rect">
            <a:avLst/>
          </a:prstGeom>
          <a:noFill/>
          <a:ln>
            <a:noFill/>
          </a:ln>
          <a:effec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90000"/>
              </a:lnSpc>
              <a:spcBef>
                <a:spcPct val="20000"/>
              </a:spcBef>
              <a:spcAft>
                <a:spcPct val="0"/>
              </a:spcAft>
              <a:buClr>
                <a:schemeClr val="tx1"/>
              </a:buClr>
              <a:buSzTx/>
              <a:buFontTx/>
              <a:buNone/>
              <a:defRPr/>
            </a:pPr>
            <a:r>
              <a:rPr kumimoji="1" lang="en-US" altLang="zh-CN" sz="32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5.1 </a:t>
            </a:r>
            <a:r>
              <a:rPr kumimoji="1" lang="zh-CN" altLang="en-US" sz="32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属性文法是一个三元组</a:t>
            </a:r>
            <a:r>
              <a:rPr kumimoji="1" lang="en-US" altLang="zh-CN" sz="32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a:t>
            </a:r>
            <a:endParaRPr kumimoji="1" lang="en-US" altLang="zh-CN" sz="32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endParaRPr>
          </a:p>
          <a:p>
            <a:pPr marL="342900" marR="0" lvl="0" indent="-342900" algn="ctr" defTabSz="914400" rtl="0" eaLnBrk="1" fontAlgn="base" latinLnBrk="0" hangingPunct="1">
              <a:lnSpc>
                <a:spcPct val="90000"/>
              </a:lnSpc>
              <a:spcBef>
                <a:spcPct val="20000"/>
              </a:spcBef>
              <a:spcAft>
                <a:spcPct val="0"/>
              </a:spcAft>
              <a:buClr>
                <a:schemeClr val="tx1"/>
              </a:buClr>
              <a:buSzTx/>
              <a:buFontTx/>
              <a:buNone/>
              <a:defRPr/>
            </a:pPr>
            <a:r>
              <a:rPr kumimoji="1" lang="en-US" altLang="zh-CN" sz="2400" b="1" i="0" u="none" strike="noStrike" kern="1200" cap="none" spc="0" normalizeH="0" baseline="0" noProof="0" dirty="0" smtClean="0">
                <a:ln>
                  <a:noFill/>
                </a:ln>
                <a:solidFill>
                  <a:schemeClr val="hlink"/>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rPr>
              <a:t>A=(G, V, F)</a:t>
            </a:r>
            <a:endParaRPr kumimoji="1" lang="en-US" altLang="zh-CN" sz="2400" b="1" i="0" u="none" strike="noStrike" kern="1200" cap="none" spc="0" normalizeH="0" baseline="0" noProof="0" dirty="0" smtClean="0">
              <a:ln>
                <a:noFill/>
              </a:ln>
              <a:solidFill>
                <a:schemeClr val="hlink"/>
              </a:solidFill>
              <a:effectLst>
                <a:outerShdw blurRad="38100" dist="38100" dir="2700000" algn="tl">
                  <a:srgbClr val="000000"/>
                </a:outerShdw>
              </a:effectLst>
              <a:uLnTx/>
              <a:uFillTx/>
              <a:latin typeface="Tahom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90000"/>
              </a:lnSpc>
              <a:spcBef>
                <a:spcPct val="20000"/>
              </a:spcBef>
              <a:spcAft>
                <a:spcPct val="0"/>
              </a:spcAft>
              <a:buClr>
                <a:schemeClr val="tx1"/>
              </a:buClr>
              <a:buSzTx/>
              <a:buFontTx/>
              <a:buNone/>
              <a:defRPr/>
            </a:pPr>
            <a:r>
              <a:rPr kumimoji="1" lang="zh-CN" altLang="en-US" sz="24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其中 </a:t>
            </a:r>
            <a:endParaRPr kumimoji="1" lang="zh-CN" altLang="en-US" sz="24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1" lang="en-US" altLang="zh-CN" sz="2400" b="1" i="0" u="none" strike="noStrike" kern="1200" cap="none" spc="0" normalizeH="0" baseline="0" noProof="0" dirty="0" smtClean="0">
                <a:ln>
                  <a:noFill/>
                </a:ln>
                <a:solidFill>
                  <a:schemeClr val="hlink"/>
                </a:solidFill>
                <a:effectLst/>
                <a:uLnTx/>
                <a:uFillTx/>
                <a:latin typeface="Tahoma" panose="020B0604030504040204" pitchFamily="34" charset="0"/>
                <a:ea typeface="宋体" panose="02010600030101010101" pitchFamily="2" charset="-122"/>
                <a:cs typeface="+mn-cs"/>
              </a:rPr>
              <a:t>G:   </a:t>
            </a:r>
            <a:r>
              <a:rPr kumimoji="1" lang="zh-CN" altLang="en-US"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是一个上下文无关文法</a:t>
            </a:r>
            <a:endParaRPr kumimoji="1" lang="zh-CN" altLang="en-US"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1" lang="en-US" altLang="zh-CN" sz="2400" b="1" i="0" u="none" strike="noStrike" kern="1200" cap="none" spc="0" normalizeH="0" baseline="0" noProof="0" dirty="0" smtClean="0">
                <a:ln>
                  <a:noFill/>
                </a:ln>
                <a:solidFill>
                  <a:schemeClr val="hlink"/>
                </a:solidFill>
                <a:effectLst/>
                <a:uLnTx/>
                <a:uFillTx/>
                <a:latin typeface="Tahoma" panose="020B0604030504040204" pitchFamily="34" charset="0"/>
                <a:ea typeface="宋体" panose="02010600030101010101" pitchFamily="2" charset="-122"/>
                <a:cs typeface="+mn-cs"/>
              </a:rPr>
              <a:t>V:   </a:t>
            </a:r>
            <a:r>
              <a:rPr kumimoji="1" lang="zh-CN" altLang="en-US"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有穷的属性集</a:t>
            </a:r>
            <a:r>
              <a:rPr kumimoji="1" lang="en-US" altLang="zh-CN"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 </a:t>
            </a:r>
            <a:r>
              <a:rPr kumimoji="1" lang="zh-CN" altLang="en-US"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每个属性与文法的一个终结符或非终</a:t>
            </a:r>
            <a:endParaRPr kumimoji="1" lang="zh-CN" altLang="en-US"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1" lang="zh-CN" altLang="en-US"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结符相连</a:t>
            </a:r>
            <a:r>
              <a:rPr kumimoji="1" lang="en-US" altLang="zh-CN"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a:t>
            </a:r>
            <a:r>
              <a:rPr kumimoji="1" lang="zh-CN" altLang="en-US"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这些属性代表与文法符号相关的语义信息，如</a:t>
            </a:r>
            <a:endParaRPr kumimoji="1" lang="zh-CN" altLang="en-US"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1" lang="zh-CN" altLang="en-US"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它的类型、值、代码序列、符号表内容等等</a:t>
            </a:r>
            <a:r>
              <a:rPr kumimoji="1" lang="en-US" altLang="zh-CN"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 </a:t>
            </a:r>
            <a:r>
              <a:rPr kumimoji="1" lang="zh-CN" altLang="en-US"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属性与变量</a:t>
            </a:r>
            <a:endParaRPr kumimoji="1" lang="zh-CN" altLang="en-US"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1" lang="zh-CN" altLang="en-US"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一样，可以进行计算和传递。</a:t>
            </a:r>
            <a:r>
              <a:rPr kumimoji="1" lang="zh-CN" altLang="en-US" sz="2400" b="1" i="0" u="none" strike="noStrike" kern="1200" cap="none" spc="0" normalizeH="0" baseline="0" noProof="0" dirty="0" smtClean="0">
                <a:ln>
                  <a:noFill/>
                </a:ln>
                <a:solidFill>
                  <a:srgbClr val="FF0000"/>
                </a:solidFill>
                <a:effectLst/>
                <a:uLnTx/>
                <a:uFillTx/>
                <a:latin typeface="Tahoma" panose="020B0604030504040204" pitchFamily="34" charset="0"/>
                <a:ea typeface="宋体" panose="02010600030101010101" pitchFamily="2" charset="-122"/>
                <a:cs typeface="+mn-cs"/>
              </a:rPr>
              <a:t>属性加工的过程即是语义</a:t>
            </a:r>
            <a:endParaRPr kumimoji="1" lang="zh-CN" altLang="en-US" sz="2400" b="1" i="0" u="none" strike="noStrike" kern="1200" cap="none" spc="0" normalizeH="0" baseline="0" noProof="0" dirty="0" smtClean="0">
              <a:ln>
                <a:noFill/>
              </a:ln>
              <a:solidFill>
                <a:srgbClr val="FF0000"/>
              </a:solidFill>
              <a:effectLst/>
              <a:uLnTx/>
              <a:uFillTx/>
              <a:latin typeface="Tahoma" panose="020B0604030504040204" pitchFamily="34" charset="0"/>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1" lang="zh-CN" altLang="en-US" sz="2400" b="1" i="0" u="none" strike="noStrike" kern="1200" cap="none" spc="0" normalizeH="0" baseline="0" noProof="0" dirty="0" smtClean="0">
                <a:ln>
                  <a:noFill/>
                </a:ln>
                <a:solidFill>
                  <a:srgbClr val="FF0000"/>
                </a:solidFill>
                <a:effectLst/>
                <a:uLnTx/>
                <a:uFillTx/>
                <a:latin typeface="Tahoma" panose="020B0604030504040204" pitchFamily="34" charset="0"/>
                <a:ea typeface="宋体" panose="02010600030101010101" pitchFamily="2" charset="-122"/>
                <a:cs typeface="+mn-cs"/>
              </a:rPr>
              <a:t>处理的过程。</a:t>
            </a:r>
            <a:endParaRPr kumimoji="1" lang="zh-CN" altLang="en-US" sz="2400" b="1" i="0" u="none" strike="noStrike" kern="1200" cap="none" spc="0" normalizeH="0" baseline="0" noProof="0" dirty="0" smtClean="0">
              <a:ln>
                <a:noFill/>
              </a:ln>
              <a:solidFill>
                <a:srgbClr val="FF0000"/>
              </a:solidFill>
              <a:effectLst/>
              <a:uLnTx/>
              <a:uFillTx/>
              <a:latin typeface="Tahoma" panose="020B0604030504040204" pitchFamily="34" charset="0"/>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1" lang="en-US" altLang="zh-CN" sz="2400" b="1" i="0" u="none" strike="noStrike" kern="1200" cap="none" spc="0" normalizeH="0" baseline="0" noProof="0" dirty="0" smtClean="0">
                <a:ln>
                  <a:noFill/>
                </a:ln>
                <a:solidFill>
                  <a:schemeClr val="hlink"/>
                </a:solidFill>
                <a:effectLst/>
                <a:uLnTx/>
                <a:uFillTx/>
                <a:latin typeface="Tahoma" panose="020B0604030504040204" pitchFamily="34" charset="0"/>
                <a:ea typeface="宋体" panose="02010600030101010101" pitchFamily="2" charset="-122"/>
                <a:cs typeface="+mn-cs"/>
              </a:rPr>
              <a:t>F:   </a:t>
            </a:r>
            <a:r>
              <a:rPr kumimoji="1" lang="zh-CN" altLang="en-US"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关于属性的属性断言或</a:t>
            </a:r>
            <a:r>
              <a:rPr kumimoji="1" lang="zh-CN" altLang="en-US" sz="2400" b="1" i="0" u="none" strike="noStrike" kern="1200" cap="none" spc="0" normalizeH="0" baseline="0" noProof="0" dirty="0" smtClean="0">
                <a:ln>
                  <a:noFill/>
                </a:ln>
                <a:solidFill>
                  <a:srgbClr val="FF0000"/>
                </a:solidFill>
                <a:effectLst/>
                <a:uLnTx/>
                <a:uFillTx/>
                <a:latin typeface="Tahoma" panose="020B0604030504040204" pitchFamily="34" charset="0"/>
                <a:ea typeface="宋体" panose="02010600030101010101" pitchFamily="2" charset="-122"/>
                <a:cs typeface="+mn-cs"/>
              </a:rPr>
              <a:t>一组属性的计算规则</a:t>
            </a:r>
            <a:r>
              <a:rPr kumimoji="1" lang="en-US" altLang="zh-CN" sz="2400" b="1" i="0" u="none" strike="noStrike" kern="1200" cap="none" spc="0" normalizeH="0" baseline="0" noProof="0" dirty="0" smtClean="0">
                <a:ln>
                  <a:noFill/>
                </a:ln>
                <a:solidFill>
                  <a:srgbClr val="FF0000"/>
                </a:solidFill>
                <a:effectLst/>
                <a:uLnTx/>
                <a:uFillTx/>
                <a:latin typeface="Tahoma" panose="020B0604030504040204" pitchFamily="34" charset="0"/>
                <a:ea typeface="宋体" panose="02010600030101010101" pitchFamily="2" charset="-122"/>
                <a:cs typeface="+mn-cs"/>
              </a:rPr>
              <a:t>(</a:t>
            </a:r>
            <a:r>
              <a:rPr kumimoji="1" lang="zh-CN" altLang="en-US" sz="2400" b="1" i="0" u="none" strike="noStrike" kern="1200" cap="none" spc="0" normalizeH="0" baseline="0" noProof="0" dirty="0" smtClean="0">
                <a:ln>
                  <a:noFill/>
                </a:ln>
                <a:solidFill>
                  <a:srgbClr val="FF0000"/>
                </a:solidFill>
                <a:effectLst/>
                <a:uLnTx/>
                <a:uFillTx/>
                <a:latin typeface="Tahoma" panose="020B0604030504040204" pitchFamily="34" charset="0"/>
                <a:ea typeface="宋体" panose="02010600030101010101" pitchFamily="2" charset="-122"/>
                <a:cs typeface="+mn-cs"/>
              </a:rPr>
              <a:t>称为语</a:t>
            </a:r>
            <a:endParaRPr kumimoji="1" lang="zh-CN" altLang="en-US" sz="2400" b="1" i="0" u="none" strike="noStrike" kern="1200" cap="none" spc="0" normalizeH="0" baseline="0" noProof="0" dirty="0" smtClean="0">
              <a:ln>
                <a:noFill/>
              </a:ln>
              <a:solidFill>
                <a:srgbClr val="FF0000"/>
              </a:solidFill>
              <a:effectLst/>
              <a:uLnTx/>
              <a:uFillTx/>
              <a:latin typeface="Tahoma" panose="020B0604030504040204" pitchFamily="34" charset="0"/>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1" lang="zh-CN" altLang="en-US" sz="2400" b="1" i="0" u="none" strike="noStrike" kern="1200" cap="none" spc="0" normalizeH="0" baseline="0" noProof="0" dirty="0" smtClean="0">
                <a:ln>
                  <a:noFill/>
                </a:ln>
                <a:solidFill>
                  <a:srgbClr val="FF0000"/>
                </a:solidFill>
                <a:effectLst/>
                <a:uLnTx/>
                <a:uFillTx/>
                <a:latin typeface="Tahoma" panose="020B0604030504040204" pitchFamily="34" charset="0"/>
                <a:ea typeface="宋体" panose="02010600030101010101" pitchFamily="2" charset="-122"/>
                <a:cs typeface="+mn-cs"/>
              </a:rPr>
              <a:t>义规则</a:t>
            </a:r>
            <a:r>
              <a:rPr kumimoji="1" lang="en-US" altLang="zh-CN" sz="2400" b="1" i="0" u="none" strike="noStrike" kern="1200" cap="none" spc="0" normalizeH="0" baseline="0" noProof="0" dirty="0" smtClean="0">
                <a:ln>
                  <a:noFill/>
                </a:ln>
                <a:solidFill>
                  <a:srgbClr val="FF0000"/>
                </a:solidFill>
                <a:effectLst/>
                <a:uLnTx/>
                <a:uFillTx/>
                <a:latin typeface="Tahoma" panose="020B0604030504040204" pitchFamily="34" charset="0"/>
                <a:ea typeface="宋体" panose="02010600030101010101" pitchFamily="2" charset="-122"/>
                <a:cs typeface="+mn-cs"/>
              </a:rPr>
              <a:t>)</a:t>
            </a:r>
            <a:r>
              <a:rPr kumimoji="1" lang="en-US" altLang="zh-CN" sz="2400" b="1" i="0" u="none" strike="noStrike" kern="1200" cap="none" spc="0" normalizeH="0" baseline="0" noProof="0" dirty="0" smtClean="0">
                <a:ln>
                  <a:noFill/>
                </a:ln>
                <a:solidFill>
                  <a:schemeClr val="tx1"/>
                </a:solidFill>
                <a:effectLst/>
                <a:uLnTx/>
                <a:uFillTx/>
                <a:latin typeface="Tahoma" panose="020B0604030504040204" pitchFamily="34" charset="0"/>
                <a:ea typeface="宋体" panose="02010600030101010101" pitchFamily="2" charset="-122"/>
                <a:cs typeface="+mn-cs"/>
              </a:rPr>
              <a:t> </a:t>
            </a:r>
            <a:r>
              <a:rPr kumimoji="1" lang="en-US" altLang="zh-CN"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 </a:t>
            </a:r>
            <a:r>
              <a:rPr kumimoji="1" lang="zh-CN" altLang="en-US"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如产生式</a:t>
            </a:r>
            <a:r>
              <a:rPr kumimoji="1" lang="en-US" altLang="zh-CN"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A </a:t>
            </a:r>
            <a:r>
              <a:rPr kumimoji="1" lang="en-US" altLang="zh-CN"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sym typeface="Symbol" panose="05050102010706020507" pitchFamily="18" charset="2"/>
              </a:rPr>
              <a:t></a:t>
            </a:r>
            <a:r>
              <a:rPr kumimoji="1" lang="en-US" altLang="zh-CN"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 </a:t>
            </a:r>
            <a:r>
              <a:rPr kumimoji="1" lang="en-US" altLang="zh-CN"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sym typeface="Symbol" panose="05050102010706020507" pitchFamily="18" charset="2"/>
              </a:rPr>
              <a:t></a:t>
            </a:r>
            <a:r>
              <a:rPr kumimoji="1" lang="zh-CN" altLang="en-US"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有一组形式为</a:t>
            </a:r>
            <a:endParaRPr kumimoji="1" lang="zh-CN" altLang="en-US"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1" lang="en-US" altLang="zh-CN"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b := f (c</a:t>
            </a:r>
            <a:r>
              <a:rPr kumimoji="1" lang="en-US" altLang="zh-CN" sz="2400" b="1" i="0" u="none" strike="noStrike" kern="1200" cap="none" spc="0" normalizeH="0" baseline="-25000" noProof="0" dirty="0" smtClean="0">
                <a:ln>
                  <a:noFill/>
                </a:ln>
                <a:solidFill>
                  <a:schemeClr val="tx2"/>
                </a:solidFill>
                <a:effectLst/>
                <a:uLnTx/>
                <a:uFillTx/>
                <a:latin typeface="Tahoma" panose="020B0604030504040204" pitchFamily="34" charset="0"/>
                <a:ea typeface="宋体" panose="02010600030101010101" pitchFamily="2" charset="-122"/>
                <a:cs typeface="+mn-cs"/>
              </a:rPr>
              <a:t>1</a:t>
            </a:r>
            <a:r>
              <a:rPr kumimoji="1" lang="en-US" altLang="zh-CN"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 c</a:t>
            </a:r>
            <a:r>
              <a:rPr kumimoji="1" lang="en-US" altLang="zh-CN" sz="2400" b="1" i="0" u="none" strike="noStrike" kern="1200" cap="none" spc="0" normalizeH="0" baseline="-25000" noProof="0" dirty="0" smtClean="0">
                <a:ln>
                  <a:noFill/>
                </a:ln>
                <a:solidFill>
                  <a:schemeClr val="tx2"/>
                </a:solidFill>
                <a:effectLst/>
                <a:uLnTx/>
                <a:uFillTx/>
                <a:latin typeface="Tahoma" panose="020B0604030504040204" pitchFamily="34" charset="0"/>
                <a:ea typeface="宋体" panose="02010600030101010101" pitchFamily="2" charset="-122"/>
                <a:cs typeface="+mn-cs"/>
              </a:rPr>
              <a:t>2</a:t>
            </a:r>
            <a:r>
              <a:rPr kumimoji="1" lang="en-US" altLang="zh-CN"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 </a:t>
            </a:r>
            <a:r>
              <a:rPr kumimoji="1" lang="en-US" altLang="zh-CN" sz="2400" b="1" i="0" u="none" strike="noStrike" kern="1200" cap="none" spc="0" normalizeH="0" baseline="0" noProof="0" dirty="0" smtClean="0">
                <a:ln>
                  <a:noFill/>
                </a:ln>
                <a:solidFill>
                  <a:schemeClr val="tx2"/>
                </a:solidFill>
                <a:effectLst/>
                <a:uLnTx/>
                <a:uFillTx/>
                <a:latin typeface="Times New Roman" panose="02020603050405020304"/>
                <a:ea typeface="宋体" panose="02010600030101010101" pitchFamily="2" charset="-122"/>
                <a:cs typeface="+mn-cs"/>
              </a:rPr>
              <a:t>…</a:t>
            </a:r>
            <a:r>
              <a:rPr kumimoji="1" lang="en-US" altLang="zh-CN"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 c</a:t>
            </a:r>
            <a:r>
              <a:rPr kumimoji="1" lang="en-US" altLang="zh-CN" sz="2400" b="1" i="0" u="none" strike="noStrike" kern="1200" cap="none" spc="0" normalizeH="0" baseline="-25000" noProof="0" dirty="0" smtClean="0">
                <a:ln>
                  <a:noFill/>
                </a:ln>
                <a:solidFill>
                  <a:schemeClr val="tx2"/>
                </a:solidFill>
                <a:effectLst/>
                <a:uLnTx/>
                <a:uFillTx/>
                <a:latin typeface="Tahoma" panose="020B0604030504040204" pitchFamily="34" charset="0"/>
                <a:ea typeface="宋体" panose="02010600030101010101" pitchFamily="2" charset="-122"/>
                <a:cs typeface="+mn-cs"/>
              </a:rPr>
              <a:t>k</a:t>
            </a:r>
            <a:r>
              <a:rPr kumimoji="1" lang="en-US" altLang="zh-CN"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 )</a:t>
            </a:r>
            <a:r>
              <a:rPr kumimoji="1" lang="zh-CN" altLang="en-US"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的语义规则，其中</a:t>
            </a:r>
            <a:r>
              <a:rPr kumimoji="1" lang="en-US" altLang="zh-CN"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f </a:t>
            </a:r>
            <a:r>
              <a:rPr kumimoji="1" lang="zh-CN" altLang="en-US"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是函数，</a:t>
            </a:r>
            <a:r>
              <a:rPr kumimoji="1" lang="en-US" altLang="zh-CN"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b</a:t>
            </a:r>
            <a:r>
              <a:rPr kumimoji="1" lang="zh-CN" altLang="en-US"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和</a:t>
            </a:r>
            <a:endParaRPr kumimoji="1" lang="zh-CN" altLang="en-US"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1" lang="en-US" altLang="zh-CN"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c</a:t>
            </a:r>
            <a:r>
              <a:rPr kumimoji="1" lang="en-US" altLang="zh-CN" sz="2400" b="1" i="0" u="none" strike="noStrike" kern="1200" cap="none" spc="0" normalizeH="0" baseline="-25000" noProof="0" dirty="0" smtClean="0">
                <a:ln>
                  <a:noFill/>
                </a:ln>
                <a:solidFill>
                  <a:schemeClr val="tx2"/>
                </a:solidFill>
                <a:effectLst/>
                <a:uLnTx/>
                <a:uFillTx/>
                <a:latin typeface="Tahoma" panose="020B0604030504040204" pitchFamily="34" charset="0"/>
                <a:ea typeface="宋体" panose="02010600030101010101" pitchFamily="2" charset="-122"/>
                <a:cs typeface="+mn-cs"/>
              </a:rPr>
              <a:t>1</a:t>
            </a:r>
            <a:r>
              <a:rPr kumimoji="1" lang="en-US" altLang="zh-CN"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 c</a:t>
            </a:r>
            <a:r>
              <a:rPr kumimoji="1" lang="en-US" altLang="zh-CN" sz="2400" b="1" i="0" u="none" strike="noStrike" kern="1200" cap="none" spc="0" normalizeH="0" baseline="-25000" noProof="0" dirty="0" smtClean="0">
                <a:ln>
                  <a:noFill/>
                </a:ln>
                <a:solidFill>
                  <a:schemeClr val="tx2"/>
                </a:solidFill>
                <a:effectLst/>
                <a:uLnTx/>
                <a:uFillTx/>
                <a:latin typeface="Tahoma" panose="020B0604030504040204" pitchFamily="34" charset="0"/>
                <a:ea typeface="宋体" panose="02010600030101010101" pitchFamily="2" charset="-122"/>
                <a:cs typeface="+mn-cs"/>
              </a:rPr>
              <a:t>2</a:t>
            </a:r>
            <a:r>
              <a:rPr kumimoji="1" lang="en-US" altLang="zh-CN"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 </a:t>
            </a:r>
            <a:r>
              <a:rPr kumimoji="1" lang="en-US" altLang="zh-CN" sz="2400" b="1" i="0" u="none" strike="noStrike" kern="1200" cap="none" spc="0" normalizeH="0" baseline="0" noProof="0" dirty="0" smtClean="0">
                <a:ln>
                  <a:noFill/>
                </a:ln>
                <a:solidFill>
                  <a:schemeClr val="tx2"/>
                </a:solidFill>
                <a:effectLst/>
                <a:uLnTx/>
                <a:uFillTx/>
                <a:latin typeface="Times New Roman" panose="02020603050405020304"/>
                <a:ea typeface="宋体" panose="02010600030101010101" pitchFamily="2" charset="-122"/>
                <a:cs typeface="+mn-cs"/>
              </a:rPr>
              <a:t>…</a:t>
            </a:r>
            <a:r>
              <a:rPr kumimoji="1" lang="en-US" altLang="zh-CN"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 c</a:t>
            </a:r>
            <a:r>
              <a:rPr kumimoji="1" lang="en-US" altLang="zh-CN" sz="2400" b="1" i="0" u="none" strike="noStrike" kern="1200" cap="none" spc="0" normalizeH="0" baseline="-25000" noProof="0" dirty="0" smtClean="0">
                <a:ln>
                  <a:noFill/>
                </a:ln>
                <a:solidFill>
                  <a:schemeClr val="tx2"/>
                </a:solidFill>
                <a:effectLst/>
                <a:uLnTx/>
                <a:uFillTx/>
                <a:latin typeface="Tahoma" panose="020B0604030504040204" pitchFamily="34" charset="0"/>
                <a:ea typeface="宋体" panose="02010600030101010101" pitchFamily="2" charset="-122"/>
                <a:cs typeface="+mn-cs"/>
              </a:rPr>
              <a:t>k</a:t>
            </a:r>
            <a:r>
              <a:rPr kumimoji="1" lang="en-US" altLang="zh-CN"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 </a:t>
            </a:r>
            <a:r>
              <a:rPr kumimoji="1" lang="zh-CN" altLang="en-US"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rPr>
              <a:t>是该产生式文法符号的属性。</a:t>
            </a:r>
            <a:endParaRPr kumimoji="1" lang="zh-CN" altLang="en-US" sz="2400" b="1" i="0" u="none" strike="noStrike" kern="1200" cap="none" spc="0" normalizeH="0" baseline="0" noProof="0" dirty="0" smtClean="0">
              <a:ln>
                <a:noFill/>
              </a:ln>
              <a:solidFill>
                <a:schemeClr val="tx2"/>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3"/>
          <p:cNvSpPr>
            <a:spLocks noGrp="1"/>
          </p:cNvSpPr>
          <p:nvPr>
            <p:ph idx="1"/>
          </p:nvPr>
        </p:nvSpPr>
        <p:spPr>
          <a:xfrm>
            <a:off x="609600" y="838200"/>
            <a:ext cx="7772400" cy="609600"/>
          </a:xfrm>
          <a:ln/>
        </p:spPr>
        <p:txBody>
          <a:bodyPr vert="horz" wrap="square" lIns="91440" tIns="45720" rIns="91440" bIns="45720" anchor="t" anchorCtr="0"/>
          <a:p>
            <a:pPr eaLnBrk="1" hangingPunct="1">
              <a:buFontTx/>
              <a:buNone/>
            </a:pPr>
            <a:r>
              <a:rPr lang="zh-CN" altLang="en-US" sz="2800" b="1" dirty="0"/>
              <a:t>例：简单台式计算器的属性文法</a:t>
            </a:r>
            <a:endParaRPr lang="zh-CN" altLang="en-US" sz="2800" b="1" dirty="0"/>
          </a:p>
          <a:p>
            <a:pPr eaLnBrk="1" hangingPunct="1">
              <a:lnSpc>
                <a:spcPct val="0"/>
              </a:lnSpc>
              <a:buFont typeface="Wingdings 3" pitchFamily="18" charset="2"/>
              <a:buChar char=""/>
            </a:pPr>
            <a:endParaRPr lang="en-US" altLang="zh-CN" sz="2800" dirty="0"/>
          </a:p>
        </p:txBody>
      </p:sp>
      <p:graphicFrame>
        <p:nvGraphicFramePr>
          <p:cNvPr id="481315" name="Group 35"/>
          <p:cNvGraphicFramePr>
            <a:graphicFrameLocks noGrp="1"/>
          </p:cNvGraphicFramePr>
          <p:nvPr/>
        </p:nvGraphicFramePr>
        <p:xfrm>
          <a:off x="1219200" y="1828800"/>
          <a:ext cx="7024688" cy="4038600"/>
        </p:xfrm>
        <a:graphic>
          <a:graphicData uri="http://schemas.openxmlformats.org/drawingml/2006/table">
            <a:tbl>
              <a:tblPr/>
              <a:tblGrid>
                <a:gridCol w="2847975"/>
                <a:gridCol w="4176713"/>
              </a:tblGrid>
              <a:tr h="508000">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Tx/>
                        <a:buNone/>
                      </a:pPr>
                      <a:r>
                        <a:rPr kumimoji="1" lang="zh-CN" altLang="en-US" sz="2400" b="1"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rPr>
                        <a:t>产</a:t>
                      </a:r>
                      <a:r>
                        <a:rPr kumimoji="1" lang="zh-CN" altLang="en-US" sz="2400" b="1" i="0" u="none" strike="noStrike" cap="none" normalizeH="0" baseline="0" dirty="0" smtClean="0">
                          <a:ln>
                            <a:noFill/>
                          </a:ln>
                          <a:solidFill>
                            <a:schemeClr val="tx2"/>
                          </a:solidFill>
                          <a:effectLst/>
                          <a:latin typeface="Tahoma" panose="020B0604030504040204" pitchFamily="34" charset="0"/>
                          <a:ea typeface="宋体" panose="02010600030101010101" pitchFamily="2" charset="-122"/>
                        </a:rPr>
                        <a:t>  </a:t>
                      </a:r>
                      <a:r>
                        <a:rPr kumimoji="1" lang="zh-CN" altLang="en-US" sz="2400" b="1"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rPr>
                        <a:t>生</a:t>
                      </a:r>
                      <a:r>
                        <a:rPr kumimoji="1" lang="zh-CN" altLang="en-US" sz="2400" b="1" i="0" u="none" strike="noStrike" cap="none" normalizeH="0" baseline="0" dirty="0" smtClean="0">
                          <a:ln>
                            <a:noFill/>
                          </a:ln>
                          <a:solidFill>
                            <a:schemeClr val="tx2"/>
                          </a:solidFill>
                          <a:effectLst/>
                          <a:latin typeface="Tahoma" panose="020B0604030504040204" pitchFamily="34" charset="0"/>
                          <a:ea typeface="宋体" panose="02010600030101010101" pitchFamily="2" charset="-122"/>
                        </a:rPr>
                        <a:t>  </a:t>
                      </a:r>
                      <a:r>
                        <a:rPr kumimoji="1" lang="zh-CN" altLang="en-US" sz="2400" b="1"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rPr>
                        <a:t>式</a:t>
                      </a:r>
                      <a:r>
                        <a:rPr kumimoji="1" lang="zh-CN" altLang="en-US" sz="2400" b="0" i="0" u="none" strike="noStrike" cap="none" normalizeH="0" baseline="0" dirty="0" smtClean="0">
                          <a:ln>
                            <a:noFill/>
                          </a:ln>
                          <a:solidFill>
                            <a:schemeClr val="tx2"/>
                          </a:solidFill>
                          <a:effectLst/>
                          <a:latin typeface="Tahoma" panose="020B0604030504040204" pitchFamily="34" charset="0"/>
                          <a:ea typeface="宋体" panose="02010600030101010101" pitchFamily="2" charset="-122"/>
                        </a:rPr>
                        <a:t> </a:t>
                      </a:r>
                      <a:endParaRPr kumimoji="1" lang="zh-CN" altLang="en-US" sz="2400" b="0" i="0" u="none" strike="noStrike" cap="none" normalizeH="0" baseline="0" dirty="0" smtClean="0">
                        <a:ln>
                          <a:noFill/>
                        </a:ln>
                        <a:solidFill>
                          <a:schemeClr val="tx2"/>
                        </a:solidFill>
                        <a:effectLst/>
                        <a:latin typeface="Tahoma" panose="020B0604030504040204" pitchFamily="34" charset="0"/>
                        <a:ea typeface="宋体" panose="02010600030101010101" pitchFamily="2" charset="-122"/>
                      </a:endParaRP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Tx/>
                        <a:buNone/>
                      </a:pPr>
                      <a:r>
                        <a:rPr kumimoji="1" lang="zh-CN" altLang="en-US" sz="24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rPr>
                        <a:t>语</a:t>
                      </a:r>
                      <a:r>
                        <a:rPr kumimoji="1" lang="zh-CN" altLang="en-US"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zh-CN" altLang="en-US" sz="24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rPr>
                        <a:t>义</a:t>
                      </a:r>
                      <a:r>
                        <a:rPr kumimoji="1" lang="zh-CN" altLang="en-US"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zh-CN" altLang="en-US" sz="24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rPr>
                        <a:t>规</a:t>
                      </a:r>
                      <a:r>
                        <a:rPr kumimoji="1" lang="zh-CN" altLang="en-US"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zh-CN" altLang="en-US" sz="24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rPr>
                        <a:t>则</a:t>
                      </a:r>
                      <a:r>
                        <a:rPr kumimoji="1" lang="zh-CN" altLang="en-US"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endParaRPr kumimoji="1" lang="zh-CN" altLang="en-US"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endParaRP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2600">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Tx/>
                        <a:buNone/>
                      </a:pPr>
                      <a:r>
                        <a:rPr kumimoji="1" lang="en-US" altLang="zh-CN" sz="2400" b="0" i="1" u="none" strike="noStrike" cap="none" normalizeH="0" baseline="0" dirty="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dirty="0" smtClean="0">
                          <a:ln>
                            <a:noFill/>
                          </a:ln>
                          <a:solidFill>
                            <a:schemeClr val="tx2"/>
                          </a:solidFill>
                          <a:effectLst/>
                          <a:latin typeface="Tahoma" panose="020B0604030504040204" pitchFamily="34" charset="0"/>
                          <a:ea typeface="宋体" panose="02010600030101010101" pitchFamily="2" charset="-122"/>
                        </a:rPr>
                        <a:t>L </a:t>
                      </a:r>
                      <a:r>
                        <a:rPr kumimoji="1" lang="en-US" altLang="zh-CN" sz="2400" b="1" i="0" u="none" strike="noStrike" cap="none" normalizeH="0" baseline="0" dirty="0" smtClean="0">
                          <a:ln>
                            <a:noFill/>
                          </a:ln>
                          <a:solidFill>
                            <a:schemeClr val="tx2"/>
                          </a:solidFill>
                          <a:effectLst/>
                          <a:latin typeface="Tahoma" panose="020B0604030504040204" pitchFamily="34" charset="0"/>
                          <a:ea typeface="宋体" panose="02010600030101010101" pitchFamily="2" charset="-122"/>
                          <a:sym typeface="Symbol" panose="05050102010706020507" pitchFamily="18" charset="2"/>
                        </a:rPr>
                        <a:t></a:t>
                      </a:r>
                      <a:r>
                        <a:rPr kumimoji="1" lang="en-US" altLang="zh-CN" sz="2400" b="1" i="0" u="none" strike="noStrike" cap="none" normalizeH="0" baseline="0" dirty="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dirty="0" smtClean="0">
                          <a:ln>
                            <a:noFill/>
                          </a:ln>
                          <a:solidFill>
                            <a:schemeClr val="tx2"/>
                          </a:solidFill>
                          <a:effectLst/>
                          <a:latin typeface="Tahoma" panose="020B0604030504040204" pitchFamily="34" charset="0"/>
                          <a:ea typeface="宋体" panose="02010600030101010101" pitchFamily="2" charset="-122"/>
                        </a:rPr>
                        <a:t>E </a:t>
                      </a:r>
                      <a:r>
                        <a:rPr kumimoji="1" lang="en-US" altLang="zh-CN" sz="2400" b="1" i="0" u="none" strike="noStrike" cap="none" normalizeH="0" baseline="-25000" dirty="0" smtClean="0">
                          <a:ln>
                            <a:noFill/>
                          </a:ln>
                          <a:solidFill>
                            <a:schemeClr val="tx2"/>
                          </a:solidFill>
                          <a:effectLst/>
                          <a:latin typeface="Tahoma" panose="020B0604030504040204" pitchFamily="34" charset="0"/>
                          <a:ea typeface="宋体" panose="02010600030101010101" pitchFamily="2" charset="-122"/>
                        </a:rPr>
                        <a:t>n</a:t>
                      </a:r>
                      <a:r>
                        <a:rPr kumimoji="1" lang="en-US" altLang="zh-CN" sz="2400" b="1" i="0" u="none" strike="noStrike" cap="none" normalizeH="0" baseline="0" dirty="0" smtClean="0">
                          <a:ln>
                            <a:noFill/>
                          </a:ln>
                          <a:solidFill>
                            <a:schemeClr val="tx2"/>
                          </a:solidFill>
                          <a:effectLst/>
                          <a:latin typeface="Tahoma" panose="020B0604030504040204" pitchFamily="34" charset="0"/>
                          <a:ea typeface="宋体" panose="02010600030101010101" pitchFamily="2" charset="-122"/>
                        </a:rPr>
                        <a:t> </a:t>
                      </a:r>
                      <a:endParaRPr kumimoji="1" lang="en-US" altLang="zh-CN" sz="2400" b="1" i="0" u="none" strike="noStrike" cap="none" normalizeH="0" baseline="0" dirty="0" smtClean="0">
                        <a:ln>
                          <a:noFill/>
                        </a:ln>
                        <a:solidFill>
                          <a:schemeClr val="tx2"/>
                        </a:solidFill>
                        <a:effectLst/>
                        <a:latin typeface="Tahoma" panose="020B0604030504040204" pitchFamily="34" charset="0"/>
                        <a:ea typeface="宋体" panose="02010600030101010101" pitchFamily="2" charset="-122"/>
                      </a:endParaRP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Tx/>
                        <a:buNone/>
                      </a:pP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  print</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E</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val</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a:t>
                      </a: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endPar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endParaRP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Tx/>
                        <a:buNone/>
                      </a:pP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E </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sym typeface="Symbol" panose="05050102010706020507" pitchFamily="18" charset="2"/>
                        </a:rPr>
                        <a:t></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E</a:t>
                      </a:r>
                      <a:r>
                        <a:rPr kumimoji="1" lang="en-US" altLang="zh-CN" sz="2400" b="1" i="0" u="none" strike="noStrike" cap="none" normalizeH="0" baseline="-30000" smtClean="0">
                          <a:ln>
                            <a:noFill/>
                          </a:ln>
                          <a:solidFill>
                            <a:schemeClr val="tx2"/>
                          </a:solidFill>
                          <a:effectLst/>
                          <a:latin typeface="Tahoma" panose="020B0604030504040204" pitchFamily="34" charset="0"/>
                          <a:ea typeface="宋体" panose="02010600030101010101" pitchFamily="2" charset="-122"/>
                        </a:rPr>
                        <a:t>1 </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T</a:t>
                      </a: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endPar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endParaRP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Tx/>
                        <a:buNone/>
                      </a:pP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E</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val</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E</a:t>
                      </a:r>
                      <a:r>
                        <a:rPr kumimoji="1" lang="en-US" altLang="zh-CN" sz="2400" b="1" i="0" u="none" strike="noStrike" cap="none" normalizeH="0" baseline="-30000" smtClean="0">
                          <a:ln>
                            <a:noFill/>
                          </a:ln>
                          <a:solidFill>
                            <a:schemeClr val="tx2"/>
                          </a:solidFill>
                          <a:effectLst/>
                          <a:latin typeface="Tahoma" panose="020B0604030504040204" pitchFamily="34" charset="0"/>
                          <a:ea typeface="宋体" panose="02010600030101010101" pitchFamily="2" charset="-122"/>
                        </a:rPr>
                        <a:t>1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.val</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T.val</a:t>
                      </a: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endPar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endParaRP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Tx/>
                        <a:buNone/>
                      </a:pP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E </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sym typeface="Symbol" panose="05050102010706020507" pitchFamily="18" charset="2"/>
                        </a:rPr>
                        <a:t></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T</a:t>
                      </a: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endPar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endParaRP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Tx/>
                        <a:buNone/>
                      </a:pP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E</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val</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T.val</a:t>
                      </a: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endPar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endParaRP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Tx/>
                        <a:buNone/>
                      </a:pP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T </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sym typeface="Symbol" panose="05050102010706020507" pitchFamily="18" charset="2"/>
                        </a:rPr>
                        <a:t></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T</a:t>
                      </a:r>
                      <a:r>
                        <a:rPr kumimoji="1" lang="en-US" altLang="zh-CN" sz="2400" b="1" i="0" u="none" strike="noStrike" cap="none" normalizeH="0" baseline="-30000" smtClean="0">
                          <a:ln>
                            <a:noFill/>
                          </a:ln>
                          <a:solidFill>
                            <a:schemeClr val="tx2"/>
                          </a:solidFill>
                          <a:effectLst/>
                          <a:latin typeface="Tahoma" panose="020B0604030504040204" pitchFamily="34" charset="0"/>
                          <a:ea typeface="宋体" panose="02010600030101010101" pitchFamily="2" charset="-122"/>
                        </a:rPr>
                        <a:t>1 </a:t>
                      </a:r>
                      <a:r>
                        <a:rPr kumimoji="1" lang="en-US" altLang="zh-CN" sz="24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rPr>
                        <a:t>*</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F</a:t>
                      </a: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endPar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endParaRP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Tx/>
                        <a:buNone/>
                      </a:pP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T.val</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T</a:t>
                      </a:r>
                      <a:r>
                        <a:rPr kumimoji="1" lang="en-US" altLang="zh-CN" sz="2400" b="1" i="0" u="none" strike="noStrike" cap="none" normalizeH="0" baseline="-30000" smtClean="0">
                          <a:ln>
                            <a:noFill/>
                          </a:ln>
                          <a:solidFill>
                            <a:schemeClr val="tx2"/>
                          </a:solidFill>
                          <a:effectLst/>
                          <a:latin typeface="Tahoma" panose="020B0604030504040204" pitchFamily="34" charset="0"/>
                          <a:ea typeface="宋体" panose="02010600030101010101" pitchFamily="2" charset="-122"/>
                        </a:rPr>
                        <a:t>1</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val</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rPr>
                        <a:t>*</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F.val</a:t>
                      </a: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endPar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endParaRP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Tx/>
                        <a:buNone/>
                      </a:pP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T </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sym typeface="Symbol" panose="05050102010706020507" pitchFamily="18" charset="2"/>
                        </a:rPr>
                        <a:t></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F</a:t>
                      </a: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endPar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endParaRP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Tx/>
                        <a:buNone/>
                      </a:pP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T.val</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F.val</a:t>
                      </a: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endPar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endParaRP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Tx/>
                        <a:buNone/>
                      </a:pP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F</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sym typeface="Symbol" panose="05050102010706020507" pitchFamily="18" charset="2"/>
                        </a:rPr>
                        <a:t></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E</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a:t>
                      </a: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endPar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endParaRP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Tx/>
                        <a:buNone/>
                      </a:pP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F.val</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E.val</a:t>
                      </a: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endPar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endParaRP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Tx/>
                        <a:buNone/>
                      </a:pP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F </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sym typeface="Symbol" panose="05050102010706020507" pitchFamily="18" charset="2"/>
                        </a:rPr>
                        <a:t></a:t>
                      </a: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digit</a:t>
                      </a: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endPar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endParaRPr>
                    </a:p>
                  </a:txBody>
                  <a:tcPr marL="54000" marR="54000" marT="28800" marB="28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Tx/>
                        <a:buNone/>
                      </a:pPr>
                      <a:r>
                        <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  </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F.va</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l := digit</a:t>
                      </a:r>
                      <a:r>
                        <a:rPr kumimoji="1" lang="en-US" altLang="zh-CN" sz="2400" b="1" i="1" u="none" strike="noStrike" cap="none" normalizeH="0" baseline="0" smtClean="0">
                          <a:ln>
                            <a:noFill/>
                          </a:ln>
                          <a:solidFill>
                            <a:schemeClr val="tx2"/>
                          </a:solidFill>
                          <a:effectLst/>
                          <a:latin typeface="Tahoma" panose="020B0604030504040204" pitchFamily="34" charset="0"/>
                          <a:ea typeface="宋体" panose="02010600030101010101" pitchFamily="2" charset="-122"/>
                        </a:rPr>
                        <a:t>.lexval </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a:t>
                      </a:r>
                      <a:r>
                        <a:rPr kumimoji="1" lang="en-US" altLang="zh-CN" sz="2400" b="1" i="0" u="none" strike="noStrike" cap="none" normalizeH="0" baseline="0" smtClean="0">
                          <a:ln>
                            <a:noFill/>
                          </a:ln>
                          <a:solidFill>
                            <a:schemeClr val="tx2"/>
                          </a:solidFill>
                          <a:effectLst/>
                          <a:latin typeface="Times New Roman" panose="02020603050405020304"/>
                          <a:ea typeface="宋体" panose="02010600030101010101" pitchFamily="2" charset="-122"/>
                        </a:rPr>
                        <a:t>’</a:t>
                      </a:r>
                      <a:r>
                        <a:rPr kumimoji="1" lang="en-US" altLang="zh-CN" sz="2400" b="1" i="0" u="none" strike="noStrike" cap="none" normalizeH="0" baseline="0" smtClean="0">
                          <a:ln>
                            <a:noFill/>
                          </a:ln>
                          <a:solidFill>
                            <a:schemeClr val="tx2"/>
                          </a:solidFill>
                          <a:effectLst/>
                          <a:latin typeface="Tahoma" panose="020B0604030504040204" pitchFamily="34" charset="0"/>
                          <a:ea typeface="宋体" panose="02010600030101010101" pitchFamily="2" charset="-122"/>
                        </a:rPr>
                        <a:t>0</a:t>
                      </a:r>
                      <a:r>
                        <a:rPr kumimoji="1" lang="en-US" altLang="zh-CN" sz="2400" b="1" i="1" u="none" strike="noStrike" cap="none" normalizeH="0" baseline="0" smtClean="0">
                          <a:ln>
                            <a:noFill/>
                          </a:ln>
                          <a:solidFill>
                            <a:schemeClr val="tx2"/>
                          </a:solidFill>
                          <a:effectLst/>
                          <a:latin typeface="Times New Roman" panose="02020603050405020304"/>
                          <a:ea typeface="宋体" panose="02010600030101010101" pitchFamily="2" charset="-122"/>
                        </a:rPr>
                        <a:t>’</a:t>
                      </a:r>
                      <a:endParaRPr kumimoji="1" lang="en-US" altLang="zh-CN" sz="2400" b="0" i="0" u="none" strike="noStrike" cap="none" normalizeH="0" baseline="0" smtClean="0">
                        <a:ln>
                          <a:noFill/>
                        </a:ln>
                        <a:solidFill>
                          <a:schemeClr val="tx2"/>
                        </a:solidFill>
                        <a:effectLst/>
                        <a:latin typeface="Tahoma" panose="020B0604030504040204" pitchFamily="34" charset="0"/>
                        <a:ea typeface="宋体" panose="02010600030101010101" pitchFamily="2" charset="-122"/>
                      </a:endParaRPr>
                    </a:p>
                  </a:txBody>
                  <a:tcPr marL="54000" marR="54000" marT="28800" marB="28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99831" name="Group 1143"/>
          <p:cNvGraphicFramePr>
            <a:graphicFrameLocks noGrp="1"/>
          </p:cNvGraphicFramePr>
          <p:nvPr/>
        </p:nvGraphicFramePr>
        <p:xfrm>
          <a:off x="533400" y="644525"/>
          <a:ext cx="8001000" cy="2160588"/>
        </p:xfrm>
        <a:graphic>
          <a:graphicData uri="http://schemas.openxmlformats.org/drawingml/2006/table">
            <a:tbl>
              <a:tblPr/>
              <a:tblGrid>
                <a:gridCol w="1524000"/>
                <a:gridCol w="3657600"/>
                <a:gridCol w="2819400"/>
              </a:tblGrid>
              <a:tr h="422275">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Tx/>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产生式</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Tx/>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属性文法</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语法制导翻译方案</a:t>
                      </a:r>
                      <a:endPara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2275">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Tx/>
                        <a:buNone/>
                      </a:pPr>
                      <a:r>
                        <a:rPr kumimoji="1"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L → E</a:t>
                      </a:r>
                      <a:endParaRPr kumimoji="1"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print(E.post)</a:t>
                      </a:r>
                      <a:endParaRPr kumimoji="1" lang="en-US" altLang="zh-CN" sz="20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Tx/>
                        <a:buNone/>
                      </a:pPr>
                      <a:r>
                        <a:rPr kumimoji="1"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print_post(post);</a:t>
                      </a: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17550">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Tx/>
                        <a:buNone/>
                      </a:pPr>
                      <a:r>
                        <a:rPr kumimoji="1"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E→E1 + E2</a:t>
                      </a:r>
                      <a:endParaRPr kumimoji="1"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E.post:=E1.post || E2.post || '+';</a:t>
                      </a:r>
                      <a:endParaRPr kumimoji="1" lang="en-US" altLang="zh-CN" sz="20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post(k):='+';  </a:t>
                      </a:r>
                      <a:endParaRPr kumimoji="1"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k := k+1;</a:t>
                      </a:r>
                      <a:endParaRPr kumimoji="1" lang="en-US" altLang="zh-CN" sz="20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63">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E → num</a:t>
                      </a:r>
                      <a:endParaRPr kumimoji="1" lang="en-US" altLang="zh-CN" sz="20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E.post := num.lexval;</a:t>
                      </a:r>
                      <a:endParaRPr kumimoji="1" lang="en-US" altLang="zh-CN" sz="20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defRPr kumimoji="1" sz="2800">
                          <a:solidFill>
                            <a:schemeClr val="tx1"/>
                          </a:solidFill>
                          <a:latin typeface="Tahoma" panose="020B0604030504040204" pitchFamily="34" charset="0"/>
                          <a:ea typeface="宋体" panose="02010600030101010101" pitchFamily="2" charset="-122"/>
                        </a:defRPr>
                      </a:lvl1pPr>
                      <a:lvl2pPr>
                        <a:spcBef>
                          <a:spcPct val="20000"/>
                        </a:spcBef>
                        <a:buClr>
                          <a:schemeClr val="hlink"/>
                        </a:buClr>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accent1"/>
                        </a:buClr>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folHlink"/>
                        </a:buClr>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post(k):=lexval; k:=k+1;</a:t>
                      </a:r>
                      <a:endParaRPr kumimoji="1" lang="en-US" altLang="zh-CN" sz="20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3816" name="Text Box 1144"/>
          <p:cNvSpPr txBox="1"/>
          <p:nvPr/>
        </p:nvSpPr>
        <p:spPr>
          <a:xfrm>
            <a:off x="533400" y="2955925"/>
            <a:ext cx="8153400" cy="2835275"/>
          </a:xfrm>
          <a:prstGeom prst="rect">
            <a:avLst/>
          </a:prstGeom>
          <a:noFill/>
          <a:ln w="9525">
            <a:noFill/>
          </a:ln>
        </p:spPr>
        <p:txBody>
          <a:bodyPr>
            <a:spAutoFit/>
          </a:bodyPr>
          <a:lstStyle>
            <a:lvl1pPr marL="365125" indent="-255905" algn="l" rtl="0" eaLnBrk="0" fontAlgn="base" hangingPunct="0">
              <a:spcBef>
                <a:spcPts val="400"/>
              </a:spcBef>
              <a:spcAft>
                <a:spcPct val="0"/>
              </a:spcAft>
              <a:buClr>
                <a:schemeClr val="accent1"/>
              </a:buClr>
              <a:buSzPct val="68000"/>
              <a:buFont typeface="Wingdings 3" pitchFamily="18" charset="2"/>
              <a:buChar char=""/>
              <a:defRPr sz="2700" b="0" kern="1200">
                <a:solidFill>
                  <a:schemeClr val="tx1"/>
                </a:solidFill>
                <a:latin typeface="+mn-lt"/>
                <a:ea typeface="+mn-ea"/>
                <a:cs typeface="+mn-cs"/>
              </a:defRPr>
            </a:lvl1pPr>
            <a:lvl2pPr marL="621030"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9155" indent="-228600" algn="l" rtl="0" eaLnBrk="0" fontAlgn="base" hangingPunct="0">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latin typeface="Times New Roman" panose="02020603050405020304" pitchFamily="18" charset="0"/>
                <a:ea typeface="宋体" panose="02010600030101010101" pitchFamily="2" charset="-122"/>
              </a:rPr>
              <a:t>(1)  </a:t>
            </a:r>
            <a:r>
              <a:rPr lang="zh-CN" altLang="en-US" sz="2000" b="1" dirty="0">
                <a:solidFill>
                  <a:srgbClr val="FF0000"/>
                </a:solidFill>
                <a:latin typeface="Times New Roman" panose="02020603050405020304" pitchFamily="18" charset="0"/>
                <a:ea typeface="宋体" panose="02010600030101010101" pitchFamily="2" charset="-122"/>
              </a:rPr>
              <a:t>属性文法仅考虑“做什么”：</a:t>
            </a:r>
            <a:r>
              <a:rPr lang="zh-CN" altLang="en-US" sz="2000" dirty="0">
                <a:latin typeface="Times New Roman" panose="02020603050405020304" pitchFamily="18" charset="0"/>
                <a:ea typeface="宋体" panose="02010600030101010101" pitchFamily="2" charset="-122"/>
              </a:rPr>
              <a:t>用抽象的属性表示文法符号所代表的语义，如</a:t>
            </a:r>
            <a:r>
              <a:rPr lang="en-US" altLang="zh-CN" sz="2000" dirty="0">
                <a:latin typeface="Times New Roman" panose="02020603050405020304" pitchFamily="18" charset="0"/>
                <a:ea typeface="宋体" panose="02010600030101010101" pitchFamily="2" charset="-122"/>
              </a:rPr>
              <a:t>.post</a:t>
            </a:r>
            <a:r>
              <a:rPr lang="zh-CN" altLang="en-US" sz="2000" dirty="0">
                <a:latin typeface="Times New Roman" panose="02020603050405020304" pitchFamily="18" charset="0"/>
                <a:ea typeface="宋体" panose="02010600030101010101" pitchFamily="2" charset="-122"/>
              </a:rPr>
              <a:t>为表达式的后缀式表示；用抽象的算符表示语义的计算，如用‘</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表示两个子表达式后缀式的连接运算。属性和运算的具体实现细节，不在属性文法的考虑范围。</a:t>
            </a:r>
            <a:endParaRPr lang="zh-CN" altLang="en-US" sz="2000" dirty="0">
              <a:latin typeface="Times New Roman" panose="02020603050405020304" pitchFamily="18" charset="0"/>
              <a:ea typeface="宋体" panose="02010600030101010101" pitchFamily="2" charset="-122"/>
            </a:endParaRPr>
          </a:p>
          <a:p>
            <a:pPr marL="0" lvl="0" indent="0" eaLnBrk="1" hangingPunct="1">
              <a:spcBef>
                <a:spcPct val="50000"/>
              </a:spcBef>
              <a:buClrTx/>
              <a:buSzTx/>
              <a:buFontTx/>
              <a:buNone/>
            </a:pPr>
            <a:r>
              <a:rPr lang="en-US" altLang="zh-CN" sz="2000" b="1" dirty="0">
                <a:latin typeface="Times New Roman" panose="02020603050405020304" pitchFamily="18" charset="0"/>
                <a:ea typeface="宋体" panose="02010600030101010101" pitchFamily="2" charset="-122"/>
              </a:rPr>
              <a:t>(2)  </a:t>
            </a:r>
            <a:r>
              <a:rPr lang="zh-CN" altLang="en-US" sz="2000" b="1" dirty="0">
                <a:solidFill>
                  <a:srgbClr val="FF0000"/>
                </a:solidFill>
                <a:latin typeface="Times New Roman" panose="02020603050405020304" pitchFamily="18" charset="0"/>
                <a:ea typeface="宋体" panose="02010600030101010101" pitchFamily="2" charset="-122"/>
              </a:rPr>
              <a:t>语法制导翻译方案不但需要考虑“做什么”还需考虑“如何做”：</a:t>
            </a:r>
            <a:r>
              <a:rPr lang="zh-CN" altLang="en-US" sz="2000" dirty="0">
                <a:latin typeface="Times New Roman" panose="02020603050405020304" pitchFamily="18" charset="0"/>
                <a:ea typeface="宋体" panose="02010600030101010101" pitchFamily="2" charset="-122"/>
              </a:rPr>
              <a:t>例中翻译方案设计了一个数组</a:t>
            </a:r>
            <a:r>
              <a:rPr lang="en-US" altLang="zh-CN" sz="2000" dirty="0">
                <a:latin typeface="Times New Roman" panose="02020603050405020304" pitchFamily="18" charset="0"/>
                <a:ea typeface="宋体" panose="02010600030101010101" pitchFamily="2" charset="-122"/>
              </a:rPr>
              <a:t>post</a:t>
            </a:r>
            <a:r>
              <a:rPr lang="zh-CN" altLang="en-US" sz="2000" dirty="0">
                <a:latin typeface="Times New Roman" panose="02020603050405020304" pitchFamily="18" charset="0"/>
                <a:ea typeface="宋体" panose="02010600030101010101" pitchFamily="2" charset="-122"/>
              </a:rPr>
              <a:t>来存放表达式的后缀式。另外，在实现中还要考虑计数器</a:t>
            </a:r>
            <a:r>
              <a:rPr lang="en-US" altLang="zh-CN" sz="2000" dirty="0">
                <a:latin typeface="Times New Roman" panose="02020603050405020304" pitchFamily="18" charset="0"/>
                <a:ea typeface="宋体" panose="02010600030101010101" pitchFamily="2" charset="-122"/>
              </a:rPr>
              <a:t>k</a:t>
            </a:r>
            <a:r>
              <a:rPr lang="zh-CN" altLang="en-US" sz="2000" dirty="0">
                <a:latin typeface="Times New Roman" panose="02020603050405020304" pitchFamily="18" charset="0"/>
                <a:ea typeface="宋体" panose="02010600030101010101" pitchFamily="2" charset="-122"/>
              </a:rPr>
              <a:t>的初值等相关问题。</a:t>
            </a:r>
            <a:endParaRPr lang="zh-CN" altLang="en-US" sz="2000" dirty="0">
              <a:latin typeface="Times New Roman" panose="02020603050405020304" pitchFamily="18" charset="0"/>
              <a:ea typeface="宋体" panose="02010600030101010101" pitchFamily="2" charset="-122"/>
            </a:endParaRPr>
          </a:p>
          <a:p>
            <a:pPr marL="0" lvl="0" indent="0" eaLnBrk="1" hangingPunct="1">
              <a:spcBef>
                <a:spcPct val="50000"/>
              </a:spcBef>
              <a:buClrTx/>
              <a:buSzTx/>
              <a:buFontTx/>
              <a:buNone/>
            </a:pPr>
            <a:r>
              <a:rPr lang="en-US" altLang="zh-CN" sz="2000" b="1" dirty="0">
                <a:latin typeface="Times New Roman" panose="02020603050405020304" pitchFamily="18" charset="0"/>
                <a:ea typeface="宋体" panose="02010600030101010101" pitchFamily="2" charset="-122"/>
              </a:rPr>
              <a:t>(3)  </a:t>
            </a:r>
            <a:r>
              <a:rPr lang="zh-CN" altLang="en-US" sz="2000" b="1" dirty="0">
                <a:solidFill>
                  <a:srgbClr val="FF0000"/>
                </a:solidFill>
                <a:latin typeface="宋体" panose="02010600030101010101" pitchFamily="2" charset="-122"/>
                <a:ea typeface="宋体" panose="02010600030101010101" pitchFamily="2" charset="-122"/>
              </a:rPr>
              <a:t>忽略实现细节，</a:t>
            </a:r>
            <a:r>
              <a:rPr lang="zh-CN" altLang="en-US" sz="2000" b="1" dirty="0">
                <a:solidFill>
                  <a:srgbClr val="FF0000"/>
                </a:solidFill>
                <a:latin typeface="Times New Roman" panose="02020603050405020304" pitchFamily="18" charset="0"/>
                <a:ea typeface="宋体" panose="02010600030101010101" pitchFamily="2" charset="-122"/>
              </a:rPr>
              <a:t>属性文法</a:t>
            </a:r>
            <a:r>
              <a:rPr lang="zh-CN" altLang="en-US" sz="2000" b="1" dirty="0">
                <a:solidFill>
                  <a:srgbClr val="FF0000"/>
                </a:solidFill>
                <a:latin typeface="宋体" panose="02010600030101010101" pitchFamily="2" charset="-122"/>
                <a:ea typeface="宋体" panose="02010600030101010101" pitchFamily="2" charset="-122"/>
              </a:rPr>
              <a:t>和翻译方案的作用是等价的。</a:t>
            </a:r>
            <a:r>
              <a:rPr lang="zh-CN" altLang="en-US" sz="2000" b="1" dirty="0">
                <a:solidFill>
                  <a:srgbClr val="FF0000"/>
                </a:solidFill>
                <a:latin typeface="Times New Roman" panose="02020603050405020304" pitchFamily="18" charset="0"/>
                <a:ea typeface="宋体" panose="02010600030101010101" pitchFamily="2" charset="-122"/>
              </a:rPr>
              <a:t> </a:t>
            </a:r>
            <a:endParaRPr lang="zh-CN" altLang="en-US" sz="20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1026"/>
          <p:cNvSpPr/>
          <p:nvPr/>
        </p:nvSpPr>
        <p:spPr>
          <a:xfrm>
            <a:off x="533400" y="533400"/>
            <a:ext cx="8001000" cy="5216525"/>
          </a:xfrm>
          <a:prstGeom prst="rect">
            <a:avLst/>
          </a:prstGeom>
          <a:noFill/>
          <a:ln w="9525">
            <a:noFill/>
          </a:ln>
        </p:spPr>
        <p:txBody>
          <a:bodyPr>
            <a:spAutoFit/>
          </a:bodyPr>
          <a:lstStyle>
            <a:lvl1pPr marL="365125" indent="-255905" algn="l" rtl="0" eaLnBrk="0" fontAlgn="base" hangingPunct="0">
              <a:spcBef>
                <a:spcPts val="400"/>
              </a:spcBef>
              <a:spcAft>
                <a:spcPct val="0"/>
              </a:spcAft>
              <a:buClr>
                <a:schemeClr val="accent1"/>
              </a:buClr>
              <a:buSzPct val="68000"/>
              <a:buFont typeface="Wingdings 3" pitchFamily="18" charset="2"/>
              <a:buChar char=""/>
              <a:defRPr sz="2700" b="0" kern="1200">
                <a:solidFill>
                  <a:schemeClr val="tx1"/>
                </a:solidFill>
                <a:latin typeface="+mn-lt"/>
                <a:ea typeface="+mn-ea"/>
                <a:cs typeface="+mn-cs"/>
              </a:defRPr>
            </a:lvl1pPr>
            <a:lvl2pPr marL="621030"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9155" indent="-228600" algn="l" rtl="0" eaLnBrk="0" fontAlgn="base" hangingPunct="0">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b="1" dirty="0">
                <a:solidFill>
                  <a:schemeClr val="tx2"/>
                </a:solidFill>
                <a:latin typeface="宋体" panose="02010600030101010101" pitchFamily="2" charset="-122"/>
                <a:ea typeface="宋体" panose="02010600030101010101" pitchFamily="2" charset="-122"/>
              </a:rPr>
              <a:t>    </a:t>
            </a:r>
            <a:r>
              <a:rPr lang="zh-CN" altLang="en-US" sz="2800" b="1" dirty="0">
                <a:solidFill>
                  <a:schemeClr val="tx2"/>
                </a:solidFill>
                <a:latin typeface="宋体" panose="02010600030101010101" pitchFamily="2" charset="-122"/>
                <a:ea typeface="宋体" panose="02010600030101010101" pitchFamily="2" charset="-122"/>
              </a:rPr>
              <a:t>虽然语义的形式化工作已经有相当的进展，但由于语义的复杂性，使得语义分析不能象语法分析那样规范。到目前为止，语义的形式化描述并没有语法的形式化描述那样成熟，使得语义的描述处于一种</a:t>
            </a:r>
            <a:r>
              <a:rPr lang="zh-CN" altLang="en-US" sz="2800" b="1" dirty="0">
                <a:solidFill>
                  <a:srgbClr val="FF0000"/>
                </a:solidFill>
                <a:latin typeface="宋体" panose="02010600030101010101" pitchFamily="2" charset="-122"/>
                <a:ea typeface="宋体" panose="02010600030101010101" pitchFamily="2" charset="-122"/>
              </a:rPr>
              <a:t>自然语言的描述或者半形式化描述</a:t>
            </a:r>
            <a:r>
              <a:rPr lang="zh-CN" altLang="en-US" sz="2800" b="1" dirty="0">
                <a:solidFill>
                  <a:schemeClr val="tx2"/>
                </a:solidFill>
                <a:latin typeface="宋体" panose="02010600030101010101" pitchFamily="2" charset="-122"/>
                <a:ea typeface="宋体" panose="02010600030101010101" pitchFamily="2" charset="-122"/>
              </a:rPr>
              <a:t>的状态。而没有基于数学抽象的形式化描述，就很难设计出基于数学模型的统一算法来实现语义分析器的自动生成。</a:t>
            </a:r>
            <a:endParaRPr lang="zh-CN" altLang="en-US" sz="2800" b="1" dirty="0">
              <a:solidFill>
                <a:schemeClr val="tx2"/>
              </a:solidFill>
              <a:latin typeface="宋体" panose="02010600030101010101" pitchFamily="2" charset="-122"/>
              <a:ea typeface="宋体" panose="02010600030101010101" pitchFamily="2" charset="-122"/>
            </a:endParaRPr>
          </a:p>
          <a:p>
            <a:pPr marL="0" lvl="0" indent="0" eaLnBrk="1" hangingPunct="1">
              <a:spcBef>
                <a:spcPct val="0"/>
              </a:spcBef>
              <a:buClrTx/>
              <a:buSzTx/>
              <a:buFontTx/>
              <a:buNone/>
            </a:pPr>
            <a:r>
              <a:rPr lang="zh-CN" altLang="en-US" sz="2800" b="1" dirty="0">
                <a:solidFill>
                  <a:schemeClr val="tx2"/>
                </a:solidFill>
                <a:latin typeface="宋体" panose="02010600030101010101" pitchFamily="2" charset="-122"/>
                <a:ea typeface="宋体" panose="02010600030101010101" pitchFamily="2" charset="-122"/>
              </a:rPr>
              <a:t>    词</a:t>
            </a:r>
            <a:r>
              <a:rPr lang="en-US" altLang="zh-CN" sz="2800" b="1" dirty="0">
                <a:solidFill>
                  <a:schemeClr val="tx2"/>
                </a:solidFill>
                <a:latin typeface="Times New Roman" panose="02020603050405020304" pitchFamily="18" charset="0"/>
                <a:ea typeface="宋体" panose="02010600030101010101" pitchFamily="2" charset="-122"/>
              </a:rPr>
              <a:t>/</a:t>
            </a:r>
            <a:r>
              <a:rPr lang="zh-CN" altLang="en-US" sz="2800" b="1" dirty="0">
                <a:solidFill>
                  <a:schemeClr val="tx2"/>
                </a:solidFill>
                <a:latin typeface="宋体" panose="02010600030101010101" pitchFamily="2" charset="-122"/>
                <a:ea typeface="宋体" panose="02010600030101010101" pitchFamily="2" charset="-122"/>
              </a:rPr>
              <a:t>语法分析器生成器</a:t>
            </a:r>
            <a:r>
              <a:rPr lang="en-US" altLang="zh-CN" sz="2800" b="1" dirty="0">
                <a:solidFill>
                  <a:schemeClr val="tx2"/>
                </a:solidFill>
                <a:latin typeface="Times New Roman" panose="02020603050405020304" pitchFamily="18" charset="0"/>
                <a:ea typeface="宋体" panose="02010600030101010101" pitchFamily="2" charset="-122"/>
              </a:rPr>
              <a:t>LEX</a:t>
            </a:r>
            <a:r>
              <a:rPr lang="zh-CN" altLang="en-US" sz="2800" b="1" dirty="0">
                <a:solidFill>
                  <a:schemeClr val="tx2"/>
                </a:solidFill>
                <a:latin typeface="宋体" panose="02010600030101010101" pitchFamily="2" charset="-122"/>
                <a:ea typeface="宋体" panose="02010600030101010101" pitchFamily="2" charset="-122"/>
              </a:rPr>
              <a:t>和</a:t>
            </a:r>
            <a:r>
              <a:rPr lang="en-US" altLang="zh-CN" sz="2800" b="1" dirty="0">
                <a:solidFill>
                  <a:schemeClr val="tx2"/>
                </a:solidFill>
                <a:latin typeface="Times New Roman" panose="02020603050405020304" pitchFamily="18" charset="0"/>
                <a:ea typeface="宋体" panose="02010600030101010101" pitchFamily="2" charset="-122"/>
              </a:rPr>
              <a:t>YACC</a:t>
            </a:r>
            <a:r>
              <a:rPr lang="zh-CN" altLang="en-US" sz="2800" b="1" dirty="0">
                <a:solidFill>
                  <a:schemeClr val="tx2"/>
                </a:solidFill>
                <a:latin typeface="宋体" panose="02010600030101010101" pitchFamily="2" charset="-122"/>
                <a:ea typeface="宋体" panose="02010600030101010101" pitchFamily="2" charset="-122"/>
              </a:rPr>
              <a:t>为使用者提供用于描述属性的伪变量和语义栈，以支持语法制导翻译，但是语义规则的书写，仍属于普通程序设计的范畴。</a:t>
            </a:r>
            <a:r>
              <a:rPr lang="zh-CN" altLang="en-US" sz="2800" dirty="0">
                <a:solidFill>
                  <a:schemeClr val="tx2"/>
                </a:solidFill>
                <a:latin typeface="Times New Roman" panose="02020603050405020304" pitchFamily="18" charset="0"/>
                <a:ea typeface="宋体" panose="02010600030101010101" pitchFamily="2" charset="-122"/>
              </a:rPr>
              <a:t> </a:t>
            </a:r>
            <a:endParaRPr lang="zh-CN" altLang="en-US" sz="2800" dirty="0">
              <a:solidFill>
                <a:schemeClr val="tx2"/>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p:nvPr/>
        </p:nvSpPr>
        <p:spPr>
          <a:xfrm>
            <a:off x="323850" y="549275"/>
            <a:ext cx="8610600" cy="2616200"/>
          </a:xfrm>
          <a:prstGeom prst="rect">
            <a:avLst/>
          </a:prstGeom>
          <a:noFill/>
          <a:ln w="9525">
            <a:noFill/>
          </a:ln>
        </p:spPr>
        <p:txBody>
          <a:bodyPr>
            <a:spAutoFit/>
          </a:bodyPr>
          <a:lstStyle>
            <a:lvl1pPr marL="365125" indent="-255905" algn="l" rtl="0" eaLnBrk="0" fontAlgn="base" hangingPunct="0">
              <a:spcBef>
                <a:spcPts val="400"/>
              </a:spcBef>
              <a:spcAft>
                <a:spcPct val="0"/>
              </a:spcAft>
              <a:buClr>
                <a:schemeClr val="accent1"/>
              </a:buClr>
              <a:buSzPct val="68000"/>
              <a:buFont typeface="Wingdings 3" pitchFamily="18" charset="2"/>
              <a:buChar char=""/>
              <a:defRPr sz="2700" b="0" kern="1200">
                <a:solidFill>
                  <a:schemeClr val="tx1"/>
                </a:solidFill>
                <a:latin typeface="+mn-lt"/>
                <a:ea typeface="+mn-ea"/>
                <a:cs typeface="+mn-cs"/>
              </a:defRPr>
            </a:lvl1pPr>
            <a:lvl2pPr marL="621030"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9155" indent="-228600" algn="l" rtl="0" eaLnBrk="0" fontAlgn="base" hangingPunct="0">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stStyle>
          <a:p>
            <a:pPr marL="457200" lvl="0" indent="-457200" eaLnBrk="1" hangingPunct="1">
              <a:spcBef>
                <a:spcPct val="20000"/>
              </a:spcBef>
              <a:buClrTx/>
              <a:buSzTx/>
              <a:buFontTx/>
              <a:buNone/>
            </a:pPr>
            <a:r>
              <a:rPr lang="zh-CN" altLang="en-US" sz="2000" b="1" dirty="0">
                <a:latin typeface="Times New Roman" panose="02020603050405020304" pitchFamily="18" charset="0"/>
                <a:ea typeface="宋体" panose="02010600030101010101" pitchFamily="2" charset="-122"/>
              </a:rPr>
              <a:t>作业：下列文法由开始符号</a:t>
            </a:r>
            <a:r>
              <a:rPr lang="en-US" altLang="zh-CN" sz="2000" b="1" dirty="0">
                <a:latin typeface="Times New Roman" panose="02020603050405020304" pitchFamily="18" charset="0"/>
                <a:ea typeface="宋体" panose="02010600030101010101" pitchFamily="2" charset="-122"/>
              </a:rPr>
              <a:t>S</a:t>
            </a:r>
            <a:r>
              <a:rPr lang="zh-CN" altLang="en-US" sz="2000" b="1" dirty="0">
                <a:latin typeface="Times New Roman" panose="02020603050405020304" pitchFamily="18" charset="0"/>
                <a:ea typeface="宋体" panose="02010600030101010101" pitchFamily="2" charset="-122"/>
              </a:rPr>
              <a:t>产生一个二进制数，令属性</a:t>
            </a:r>
            <a:r>
              <a:rPr lang="en-US" altLang="zh-CN" sz="2000" b="1" dirty="0">
                <a:latin typeface="Times New Roman" panose="02020603050405020304" pitchFamily="18" charset="0"/>
                <a:ea typeface="宋体" panose="02010600030101010101" pitchFamily="2" charset="-122"/>
              </a:rPr>
              <a:t>val</a:t>
            </a:r>
            <a:r>
              <a:rPr lang="zh-CN" altLang="en-US" sz="2000" b="1" dirty="0">
                <a:latin typeface="Times New Roman" panose="02020603050405020304" pitchFamily="18" charset="0"/>
                <a:ea typeface="宋体" panose="02010600030101010101" pitchFamily="2" charset="-122"/>
              </a:rPr>
              <a:t>给出该数的值：</a:t>
            </a:r>
            <a:endParaRPr lang="zh-CN" altLang="en-US" sz="2000" b="1" dirty="0">
              <a:latin typeface="Times New Roman" panose="02020603050405020304" pitchFamily="18" charset="0"/>
              <a:ea typeface="宋体" panose="02010600030101010101" pitchFamily="2" charset="-122"/>
            </a:endParaRPr>
          </a:p>
          <a:p>
            <a:pPr marL="914400" lvl="1" indent="-457200" eaLnBrk="1" hangingPunct="1">
              <a:spcBef>
                <a:spcPct val="20000"/>
              </a:spcBef>
              <a:buClrTx/>
              <a:buFontTx/>
              <a:buNone/>
            </a:pPr>
            <a:r>
              <a:rPr lang="en-US" altLang="zh-CN" sz="2000" b="1" dirty="0">
                <a:latin typeface="Times New Roman" panose="02020603050405020304" pitchFamily="18" charset="0"/>
                <a:ea typeface="宋体" panose="02010600030101010101" pitchFamily="2" charset="-122"/>
              </a:rPr>
              <a:t>S → L . L | L</a:t>
            </a:r>
            <a:endParaRPr lang="en-US" altLang="zh-CN" sz="2000" b="1" dirty="0">
              <a:latin typeface="Times New Roman" panose="02020603050405020304" pitchFamily="18" charset="0"/>
              <a:ea typeface="宋体" panose="02010600030101010101" pitchFamily="2" charset="-122"/>
            </a:endParaRPr>
          </a:p>
          <a:p>
            <a:pPr marL="914400" lvl="1" indent="-457200" eaLnBrk="1" hangingPunct="1">
              <a:spcBef>
                <a:spcPct val="20000"/>
              </a:spcBef>
              <a:buClrTx/>
              <a:buFontTx/>
              <a:buNone/>
            </a:pPr>
            <a:r>
              <a:rPr lang="en-US" altLang="zh-CN" sz="2000" b="1" dirty="0">
                <a:latin typeface="Times New Roman" panose="02020603050405020304" pitchFamily="18" charset="0"/>
                <a:ea typeface="宋体" panose="02010600030101010101" pitchFamily="2" charset="-122"/>
              </a:rPr>
              <a:t>L → LB | B</a:t>
            </a:r>
            <a:endParaRPr lang="en-US" altLang="zh-CN" sz="2000" b="1" dirty="0">
              <a:latin typeface="Times New Roman" panose="02020603050405020304" pitchFamily="18" charset="0"/>
              <a:ea typeface="宋体" panose="02010600030101010101" pitchFamily="2" charset="-122"/>
            </a:endParaRPr>
          </a:p>
          <a:p>
            <a:pPr marL="914400" lvl="1" indent="-457200" eaLnBrk="1" hangingPunct="1">
              <a:spcBef>
                <a:spcPct val="20000"/>
              </a:spcBef>
              <a:buClrTx/>
              <a:buFontTx/>
              <a:buNone/>
            </a:pPr>
            <a:r>
              <a:rPr lang="en-US" altLang="zh-CN" sz="2000" b="1" dirty="0">
                <a:latin typeface="Times New Roman" panose="02020603050405020304" pitchFamily="18" charset="0"/>
                <a:ea typeface="宋体" panose="02010600030101010101" pitchFamily="2" charset="-122"/>
              </a:rPr>
              <a:t>B → 0 | 1</a:t>
            </a:r>
            <a:endParaRPr lang="en-US" altLang="zh-CN" sz="2000" b="1" dirty="0">
              <a:latin typeface="Times New Roman" panose="02020603050405020304" pitchFamily="18" charset="0"/>
              <a:ea typeface="宋体" panose="02010600030101010101" pitchFamily="2" charset="-122"/>
            </a:endParaRPr>
          </a:p>
          <a:p>
            <a:pPr marL="457200" lvl="0" indent="-457200" eaLnBrk="1" hangingPunct="1">
              <a:spcBef>
                <a:spcPct val="20000"/>
              </a:spcBef>
              <a:buClrTx/>
              <a:buSzTx/>
              <a:buFontTx/>
              <a:buNone/>
            </a:pPr>
            <a:r>
              <a:rPr lang="zh-CN" altLang="en-US" sz="2000" b="1" dirty="0">
                <a:latin typeface="Times New Roman" panose="02020603050405020304" pitchFamily="18" charset="0"/>
                <a:ea typeface="宋体" panose="02010600030101010101" pitchFamily="2" charset="-122"/>
                <a:sym typeface="Symbol" panose="05050102010706020507" pitchFamily="18" charset="2"/>
              </a:rPr>
              <a:t>试设计求</a:t>
            </a:r>
            <a:r>
              <a:rPr lang="en-US" altLang="zh-CN" sz="2000" b="1" dirty="0">
                <a:latin typeface="Times New Roman" panose="02020603050405020304" pitchFamily="18" charset="0"/>
                <a:ea typeface="宋体" panose="02010600030101010101" pitchFamily="2" charset="-122"/>
                <a:sym typeface="Symbol" panose="05050102010706020507" pitchFamily="18" charset="2"/>
              </a:rPr>
              <a:t>S.val</a:t>
            </a:r>
            <a:r>
              <a:rPr lang="zh-CN" altLang="en-US" sz="2000" b="1" dirty="0">
                <a:latin typeface="Times New Roman" panose="02020603050405020304" pitchFamily="18" charset="0"/>
                <a:ea typeface="宋体" panose="02010600030101010101" pitchFamily="2" charset="-122"/>
                <a:sym typeface="Symbol" panose="05050102010706020507" pitchFamily="18" charset="2"/>
              </a:rPr>
              <a:t>的属性文法。其中，已知</a:t>
            </a:r>
            <a:r>
              <a:rPr lang="en-US" altLang="zh-CN" sz="2000" b="1" dirty="0">
                <a:latin typeface="Times New Roman" panose="02020603050405020304" pitchFamily="18" charset="0"/>
                <a:ea typeface="宋体" panose="02010600030101010101" pitchFamily="2" charset="-122"/>
                <a:sym typeface="Symbol" panose="05050102010706020507" pitchFamily="18" charset="2"/>
              </a:rPr>
              <a:t>B</a:t>
            </a:r>
            <a:r>
              <a:rPr lang="zh-CN" altLang="en-US" sz="2000" b="1" dirty="0">
                <a:latin typeface="Times New Roman" panose="02020603050405020304" pitchFamily="18" charset="0"/>
                <a:ea typeface="宋体" panose="02010600030101010101" pitchFamily="2" charset="-122"/>
                <a:sym typeface="Symbol" panose="05050102010706020507" pitchFamily="18" charset="2"/>
              </a:rPr>
              <a:t>的属性</a:t>
            </a:r>
            <a:r>
              <a:rPr lang="en-US" altLang="zh-CN" sz="2000" b="1" dirty="0">
                <a:latin typeface="Times New Roman" panose="02020603050405020304" pitchFamily="18" charset="0"/>
                <a:ea typeface="宋体" panose="02010600030101010101" pitchFamily="2" charset="-122"/>
                <a:sym typeface="Symbol" panose="05050102010706020507" pitchFamily="18" charset="2"/>
              </a:rPr>
              <a:t>c</a:t>
            </a:r>
            <a:r>
              <a:rPr lang="zh-CN" altLang="en-US" sz="2000" b="1" dirty="0">
                <a:latin typeface="Times New Roman" panose="02020603050405020304" pitchFamily="18" charset="0"/>
                <a:ea typeface="宋体" panose="02010600030101010101" pitchFamily="2" charset="-122"/>
                <a:sym typeface="Symbol" panose="05050102010706020507" pitchFamily="18" charset="2"/>
              </a:rPr>
              <a:t>，</a:t>
            </a:r>
            <a:r>
              <a:rPr lang="en-US" altLang="zh-CN" sz="2000" b="1" dirty="0">
                <a:latin typeface="Times New Roman" panose="02020603050405020304" pitchFamily="18" charset="0"/>
                <a:ea typeface="宋体" panose="02010600030101010101" pitchFamily="2" charset="-122"/>
                <a:sym typeface="Symbol" panose="05050102010706020507" pitchFamily="18" charset="2"/>
              </a:rPr>
              <a:t>c</a:t>
            </a:r>
            <a:r>
              <a:rPr lang="zh-CN" altLang="en-US" sz="2000" b="1" dirty="0">
                <a:latin typeface="Times New Roman" panose="02020603050405020304" pitchFamily="18" charset="0"/>
                <a:ea typeface="宋体" panose="02010600030101010101" pitchFamily="2" charset="-122"/>
                <a:sym typeface="Symbol" panose="05050102010706020507" pitchFamily="18" charset="2"/>
              </a:rPr>
              <a:t>给出由</a:t>
            </a:r>
            <a:r>
              <a:rPr lang="en-US" altLang="zh-CN" sz="2000" b="1" dirty="0">
                <a:latin typeface="Times New Roman" panose="02020603050405020304" pitchFamily="18" charset="0"/>
                <a:ea typeface="宋体" panose="02010600030101010101" pitchFamily="2" charset="-122"/>
                <a:sym typeface="Symbol" panose="05050102010706020507" pitchFamily="18" charset="2"/>
              </a:rPr>
              <a:t>B</a:t>
            </a:r>
            <a:r>
              <a:rPr lang="zh-CN" altLang="en-US" sz="2000" b="1" dirty="0">
                <a:latin typeface="Times New Roman" panose="02020603050405020304" pitchFamily="18" charset="0"/>
                <a:ea typeface="宋体" panose="02010600030101010101" pitchFamily="2" charset="-122"/>
                <a:sym typeface="Symbol" panose="05050102010706020507" pitchFamily="18" charset="2"/>
              </a:rPr>
              <a:t>产生的二进位</a:t>
            </a:r>
            <a:endParaRPr lang="zh-CN" altLang="en-US" sz="2000" b="1" dirty="0">
              <a:latin typeface="Times New Roman" panose="02020603050405020304" pitchFamily="18" charset="0"/>
              <a:ea typeface="宋体" panose="02010600030101010101" pitchFamily="2" charset="-122"/>
              <a:sym typeface="Symbol" panose="05050102010706020507" pitchFamily="18" charset="2"/>
            </a:endParaRPr>
          </a:p>
          <a:p>
            <a:pPr marL="457200" lvl="0" indent="-457200" eaLnBrk="1" hangingPunct="1">
              <a:spcBef>
                <a:spcPct val="20000"/>
              </a:spcBef>
              <a:buClrTx/>
              <a:buSzTx/>
              <a:buFontTx/>
              <a:buNone/>
            </a:pPr>
            <a:r>
              <a:rPr lang="zh-CN" altLang="en-US" sz="2000" b="1" dirty="0">
                <a:latin typeface="Times New Roman" panose="02020603050405020304" pitchFamily="18" charset="0"/>
                <a:ea typeface="宋体" panose="02010600030101010101" pitchFamily="2" charset="-122"/>
                <a:sym typeface="Symbol" panose="05050102010706020507" pitchFamily="18" charset="2"/>
              </a:rPr>
              <a:t>的值。例如</a:t>
            </a:r>
            <a:r>
              <a:rPr lang="en-US" altLang="zh-CN" sz="2000" b="1" dirty="0">
                <a:latin typeface="Times New Roman" panose="02020603050405020304" pitchFamily="18" charset="0"/>
                <a:ea typeface="宋体" panose="02010600030101010101" pitchFamily="2" charset="-122"/>
                <a:sym typeface="Symbol" panose="05050102010706020507" pitchFamily="18" charset="2"/>
              </a:rPr>
              <a:t>101.101</a:t>
            </a:r>
            <a:r>
              <a:rPr lang="zh-CN" altLang="en-US" sz="2000" b="1" dirty="0">
                <a:latin typeface="Times New Roman" panose="02020603050405020304" pitchFamily="18" charset="0"/>
                <a:ea typeface="宋体" panose="02010600030101010101" pitchFamily="2" charset="-122"/>
                <a:sym typeface="Symbol" panose="05050102010706020507" pitchFamily="18" charset="2"/>
              </a:rPr>
              <a:t>， </a:t>
            </a:r>
            <a:r>
              <a:rPr lang="en-US" altLang="zh-CN" sz="2000" b="1" dirty="0">
                <a:latin typeface="Times New Roman" panose="02020603050405020304" pitchFamily="18" charset="0"/>
                <a:ea typeface="宋体" panose="02010600030101010101" pitchFamily="2" charset="-122"/>
                <a:sym typeface="Symbol" panose="05050102010706020507" pitchFamily="18" charset="2"/>
              </a:rPr>
              <a:t>S.val = 5.625</a:t>
            </a:r>
            <a:r>
              <a:rPr lang="zh-CN" altLang="en-US" sz="2000" b="1" dirty="0">
                <a:latin typeface="Times New Roman" panose="02020603050405020304" pitchFamily="18" charset="0"/>
                <a:ea typeface="宋体" panose="02010600030101010101" pitchFamily="2" charset="-122"/>
                <a:sym typeface="Symbol" panose="05050102010706020507" pitchFamily="18" charset="2"/>
              </a:rPr>
              <a:t>，其中第一个二进位的值是</a:t>
            </a:r>
            <a:r>
              <a:rPr lang="en-US" altLang="zh-CN" sz="2000" b="1" dirty="0">
                <a:latin typeface="Times New Roman" panose="02020603050405020304" pitchFamily="18" charset="0"/>
                <a:ea typeface="宋体" panose="02010600030101010101" pitchFamily="2" charset="-122"/>
                <a:sym typeface="Symbol" panose="05050102010706020507" pitchFamily="18" charset="2"/>
              </a:rPr>
              <a:t>4</a:t>
            </a:r>
            <a:r>
              <a:rPr lang="zh-CN" altLang="en-US" sz="2000" b="1" dirty="0">
                <a:latin typeface="Times New Roman" panose="02020603050405020304" pitchFamily="18" charset="0"/>
                <a:ea typeface="宋体" panose="02010600030101010101" pitchFamily="2" charset="-122"/>
                <a:sym typeface="Symbol" panose="05050102010706020507" pitchFamily="18" charset="2"/>
              </a:rPr>
              <a:t>，最后一个</a:t>
            </a:r>
            <a:endParaRPr lang="zh-CN" altLang="en-US" sz="2000" b="1" dirty="0">
              <a:latin typeface="Times New Roman" panose="02020603050405020304" pitchFamily="18" charset="0"/>
              <a:ea typeface="宋体" panose="02010600030101010101" pitchFamily="2" charset="-122"/>
              <a:sym typeface="Symbol" panose="05050102010706020507" pitchFamily="18" charset="2"/>
            </a:endParaRPr>
          </a:p>
          <a:p>
            <a:pPr marL="457200" lvl="0" indent="-457200" eaLnBrk="1" hangingPunct="1">
              <a:spcBef>
                <a:spcPct val="20000"/>
              </a:spcBef>
              <a:buClrTx/>
              <a:buSzTx/>
              <a:buFontTx/>
              <a:buNone/>
            </a:pPr>
            <a:r>
              <a:rPr lang="zh-CN" altLang="en-US" sz="2000" b="1" dirty="0">
                <a:latin typeface="Times New Roman" panose="02020603050405020304" pitchFamily="18" charset="0"/>
                <a:ea typeface="宋体" panose="02010600030101010101" pitchFamily="2" charset="-122"/>
                <a:sym typeface="Symbol" panose="05050102010706020507" pitchFamily="18" charset="2"/>
              </a:rPr>
              <a:t>二进位的值是</a:t>
            </a:r>
            <a:r>
              <a:rPr lang="en-US" altLang="zh-CN" sz="2000" b="1" dirty="0">
                <a:latin typeface="Times New Roman" panose="02020603050405020304" pitchFamily="18" charset="0"/>
                <a:ea typeface="宋体" panose="02010600030101010101" pitchFamily="2" charset="-122"/>
                <a:sym typeface="Symbol" panose="05050102010706020507" pitchFamily="18" charset="2"/>
              </a:rPr>
              <a:t>0.125</a:t>
            </a:r>
            <a:r>
              <a:rPr lang="zh-CN" altLang="en-US" sz="2000" b="1" dirty="0">
                <a:latin typeface="Times New Roman" panose="02020603050405020304" pitchFamily="18" charset="0"/>
                <a:ea typeface="宋体" panose="02010600030101010101" pitchFamily="2" charset="-122"/>
                <a:sym typeface="Symbol" panose="05050102010706020507" pitchFamily="18" charset="2"/>
              </a:rPr>
              <a:t>。</a:t>
            </a:r>
            <a:endParaRPr lang="zh-CN" altLang="en-US" sz="2000" b="1"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6866" name="Picture 2"/>
          <p:cNvPicPr>
            <a:picLocks noChangeAspect="1"/>
          </p:cNvPicPr>
          <p:nvPr/>
        </p:nvPicPr>
        <p:blipFill>
          <a:blip r:embed="rId1"/>
          <a:srcRect l="26134" t="18486" r="43684" b="42693"/>
          <a:stretch>
            <a:fillRect/>
          </a:stretch>
        </p:blipFill>
        <p:spPr>
          <a:xfrm>
            <a:off x="0" y="142875"/>
            <a:ext cx="9124950" cy="6357938"/>
          </a:xfrm>
          <a:prstGeom prst="rect">
            <a:avLst/>
          </a:prstGeom>
          <a:noFill/>
          <a:ln w="9525">
            <a:noFill/>
          </a:ln>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PP_MARK_KEY" val="e3dcda80-7150-421d-a594-9398b5d06db6"/>
  <p:tag name="COMMONDATA" val="eyJoZGlkIjoiYWZhMDYyMDkyNmI0MzgzZTQ1NzlkOWQ4NjlhNmM1ZGU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聚合">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0</TotalTime>
  <Words>1763</Words>
  <Application>WPS 演示</Application>
  <PresentationFormat>全屏显示(4:3)</PresentationFormat>
  <Paragraphs>110</Paragraphs>
  <Slides>28</Slides>
  <Notes>1</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幻灯片标题</vt:lpstr>
      </vt:variant>
      <vt:variant>
        <vt:i4>28</vt:i4>
      </vt:variant>
      <vt:variant>
        <vt:lpstr>自定义放映</vt:lpstr>
      </vt:variant>
      <vt:variant>
        <vt:i4>2</vt:i4>
      </vt:variant>
    </vt:vector>
  </HeadingPairs>
  <TitlesOfParts>
    <vt:vector size="48" baseType="lpstr">
      <vt:lpstr>Arial</vt:lpstr>
      <vt:lpstr>宋体</vt:lpstr>
      <vt:lpstr>Wingdings</vt:lpstr>
      <vt:lpstr>Times New Roman</vt:lpstr>
      <vt:lpstr>Lucida Sans Unicode</vt:lpstr>
      <vt:lpstr>黑体</vt:lpstr>
      <vt:lpstr>Wingdings 3</vt:lpstr>
      <vt:lpstr>Symbol</vt:lpstr>
      <vt:lpstr>Verdana</vt:lpstr>
      <vt:lpstr>Wingdings 2</vt:lpstr>
      <vt:lpstr>Wingdings</vt:lpstr>
      <vt:lpstr>Tahoma</vt:lpstr>
      <vt:lpstr>Symbol</vt:lpstr>
      <vt:lpstr>Wingdings 2</vt:lpstr>
      <vt:lpstr>微软雅黑</vt:lpstr>
      <vt:lpstr>Arial Unicode MS</vt:lpstr>
      <vt:lpstr>Times New Roman</vt:lpstr>
      <vt:lpstr>聚合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自定义放映1</vt:lpstr>
      <vt:lpstr>自定义放映2</vt:lpstr>
    </vt:vector>
  </TitlesOfParts>
  <Company>rgkj</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Viscual Basic6.0程序设       计实验指导与习题详解》</dc:title>
  <dc:creator>ws021</dc:creator>
  <cp:lastModifiedBy>Administrator</cp:lastModifiedBy>
  <cp:revision>382</cp:revision>
  <dcterms:created xsi:type="dcterms:W3CDTF">2001-08-16T12:48:45Z</dcterms:created>
  <dcterms:modified xsi:type="dcterms:W3CDTF">2023-05-05T11:26:16Z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87330DA5FD5E47FDB1A569CC22AEDFAE_12</vt:lpwstr>
  </property>
  <property fmtid="{D5CDD505-2E9C-101B-9397-08002B2CF9AE}" pid="3" name="KSOProductBuildVer">
    <vt:lpwstr>2052-11.1.0.14036</vt:lpwstr>
  </property>
</Properties>
</file>